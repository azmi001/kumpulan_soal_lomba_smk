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3" r:id="rId1"/>
  </p:sldMasterIdLst>
  <p:notesMasterIdLst>
    <p:notesMasterId r:id="rId17"/>
  </p:notesMasterIdLst>
  <p:handoutMasterIdLst>
    <p:handoutMasterId r:id="rId18"/>
  </p:handoutMasterIdLst>
  <p:sldIdLst>
    <p:sldId id="391" r:id="rId2"/>
    <p:sldId id="415" r:id="rId3"/>
    <p:sldId id="416" r:id="rId4"/>
    <p:sldId id="417" r:id="rId5"/>
    <p:sldId id="418" r:id="rId6"/>
    <p:sldId id="414" r:id="rId7"/>
    <p:sldId id="412" r:id="rId8"/>
    <p:sldId id="413" r:id="rId9"/>
    <p:sldId id="405" r:id="rId10"/>
    <p:sldId id="404" r:id="rId11"/>
    <p:sldId id="407" r:id="rId12"/>
    <p:sldId id="410" r:id="rId13"/>
    <p:sldId id="409" r:id="rId14"/>
    <p:sldId id="411" r:id="rId15"/>
    <p:sldId id="403" r:id="rId16"/>
  </p:sldIdLst>
  <p:sldSz cx="9144000" cy="6858000" type="screen4x3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17" autoAdjust="0"/>
    <p:restoredTop sz="93614" autoAdjust="0"/>
  </p:normalViewPr>
  <p:slideViewPr>
    <p:cSldViewPr>
      <p:cViewPr varScale="1">
        <p:scale>
          <a:sx n="112" d="100"/>
          <a:sy n="112" d="100"/>
        </p:scale>
        <p:origin x="116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0" cy="502755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699" y="0"/>
            <a:ext cx="2984870" cy="502755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A458EB7-1DCD-484E-95C0-6058811398F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7547"/>
            <a:ext cx="2984870" cy="50275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699" y="9517547"/>
            <a:ext cx="2984870" cy="50275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F8474D0F-8E47-43AE-B33C-6ECB86EF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37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0" cy="501015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0"/>
            <a:ext cx="2984870" cy="501015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E19211FD-54BC-4DC3-8B07-99C05C1CEC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1737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7546"/>
            <a:ext cx="2984870" cy="501015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7546"/>
            <a:ext cx="2984870" cy="501015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8F02C98-20B3-4E03-AC73-D66C894E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2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1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0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6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7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5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4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8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8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3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835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91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4213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7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55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0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8CE57-1383-4FBE-8D97-A3DC3F5E8AF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97D7CA-D201-49A8-AF72-6CE22DC75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07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15" r:id="rId2"/>
    <p:sldLayoutId id="2147484416" r:id="rId3"/>
    <p:sldLayoutId id="2147484417" r:id="rId4"/>
    <p:sldLayoutId id="2147484418" r:id="rId5"/>
    <p:sldLayoutId id="2147484419" r:id="rId6"/>
    <p:sldLayoutId id="2147484420" r:id="rId7"/>
    <p:sldLayoutId id="2147484421" r:id="rId8"/>
    <p:sldLayoutId id="2147484422" r:id="rId9"/>
    <p:sldLayoutId id="2147484423" r:id="rId10"/>
    <p:sldLayoutId id="2147484424" r:id="rId11"/>
    <p:sldLayoutId id="2147484425" r:id="rId12"/>
    <p:sldLayoutId id="2147484426" r:id="rId13"/>
    <p:sldLayoutId id="2147484427" r:id="rId14"/>
    <p:sldLayoutId id="2147484428" r:id="rId15"/>
    <p:sldLayoutId id="21474844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Lembar_Kerja_Microsoft_Excel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package" Target="../embeddings/Lembar_Kerja_Microsoft_Excel1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Lembar_Kerja_Microsoft_Excel2.xlsx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Lembar_Kerja_Microsoft_Excel3.xls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Lembar_Kerja_Microsoft_Excel4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Lembar_Kerja_Microsoft_Excel5.xls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Lembar_Kerja_Microsoft_Excel6.xls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tak Teks 3">
            <a:extLst>
              <a:ext uri="{FF2B5EF4-FFF2-40B4-BE49-F238E27FC236}">
                <a16:creationId xmlns:a16="http://schemas.microsoft.com/office/drawing/2014/main" id="{10BA9B86-523A-8928-541F-44FBEA8752E8}"/>
              </a:ext>
            </a:extLst>
          </p:cNvPr>
          <p:cNvSpPr txBox="1"/>
          <p:nvPr/>
        </p:nvSpPr>
        <p:spPr>
          <a:xfrm>
            <a:off x="762000" y="1600200"/>
            <a:ext cx="6629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3600" b="1" i="0" cap="all" dirty="0">
                <a:solidFill>
                  <a:srgbClr val="3159BC"/>
                </a:solidFill>
                <a:effectLst/>
              </a:rPr>
              <a:t>LKS SMK TINGKAT WILAYAH 1 </a:t>
            </a:r>
            <a:endParaRPr lang="id-ID" sz="3600" cap="all" dirty="0">
              <a:effectLst/>
            </a:endParaRPr>
          </a:p>
          <a:p>
            <a:pPr algn="ctr" rtl="0">
              <a:buNone/>
            </a:pPr>
            <a:r>
              <a:rPr lang="id-ID" sz="3600" b="1" i="0" cap="all" dirty="0">
                <a:solidFill>
                  <a:srgbClr val="3159BC"/>
                </a:solidFill>
                <a:effectLst/>
              </a:rPr>
              <a:t>JAKARTA TIMUR</a:t>
            </a:r>
            <a:endParaRPr lang="id-ID" sz="3600" cap="all" dirty="0">
              <a:effectLst/>
            </a:endParaRPr>
          </a:p>
          <a:p>
            <a:pPr algn="ctr" rtl="0">
              <a:buNone/>
            </a:pPr>
            <a:r>
              <a:rPr lang="id-ID" sz="3600" b="1" i="0" cap="all" dirty="0">
                <a:solidFill>
                  <a:srgbClr val="3159BC"/>
                </a:solidFill>
                <a:effectLst/>
              </a:rPr>
              <a:t>TAHUN 2026</a:t>
            </a:r>
            <a:endParaRPr lang="id-ID" sz="3600" cap="all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472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7AF5-6124-CB03-C2D1-FE923379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tak Teks 2">
            <a:extLst>
              <a:ext uri="{FF2B5EF4-FFF2-40B4-BE49-F238E27FC236}">
                <a16:creationId xmlns:a16="http://schemas.microsoft.com/office/drawing/2014/main" id="{49E30D8B-DF4A-6B54-C944-1A31750B6F6B}"/>
              </a:ext>
            </a:extLst>
          </p:cNvPr>
          <p:cNvSpPr txBox="1"/>
          <p:nvPr/>
        </p:nvSpPr>
        <p:spPr>
          <a:xfrm>
            <a:off x="228600" y="1219200"/>
            <a:ext cx="78486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2800" b="1" i="0" cap="all" dirty="0">
                <a:solidFill>
                  <a:srgbClr val="000000"/>
                </a:solidFill>
                <a:effectLst/>
              </a:rPr>
              <a:t>LATAR BELAKANG</a:t>
            </a:r>
          </a:p>
          <a:p>
            <a:pPr algn="ctr" rtl="0">
              <a:buNone/>
            </a:pPr>
            <a:endParaRPr lang="id-ID" sz="2800" cap="all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LKS sebagai ajang kompetisi kompetensi siswa SMK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Meningkatkan kualitas lulusan SMK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Implementasi </a:t>
            </a:r>
            <a:r>
              <a:rPr lang="id-ID" sz="2400" b="1" i="0" dirty="0" err="1">
                <a:solidFill>
                  <a:srgbClr val="000000"/>
                </a:solidFill>
                <a:effectLst/>
              </a:rPr>
              <a:t>link</a:t>
            </a:r>
            <a:r>
              <a:rPr lang="id-ID" sz="2400" b="1" i="0" dirty="0">
                <a:solidFill>
                  <a:srgbClr val="000000"/>
                </a:solidFill>
                <a:effectLst/>
              </a:rPr>
              <a:t> </a:t>
            </a:r>
            <a:r>
              <a:rPr lang="id-ID" sz="2400" b="1" i="0" dirty="0" err="1">
                <a:solidFill>
                  <a:srgbClr val="000000"/>
                </a:solidFill>
                <a:effectLst/>
              </a:rPr>
              <a:t>and</a:t>
            </a:r>
            <a:r>
              <a:rPr lang="id-ID" sz="2400" b="1" i="0" dirty="0">
                <a:solidFill>
                  <a:srgbClr val="000000"/>
                </a:solidFill>
                <a:effectLst/>
              </a:rPr>
              <a:t> </a:t>
            </a:r>
            <a:r>
              <a:rPr lang="id-ID" sz="2400" b="1" i="0" dirty="0" err="1">
                <a:solidFill>
                  <a:srgbClr val="000000"/>
                </a:solidFill>
                <a:effectLst/>
              </a:rPr>
              <a:t>match</a:t>
            </a:r>
            <a:r>
              <a:rPr lang="id-ID" sz="2400" b="1" i="0" dirty="0">
                <a:solidFill>
                  <a:srgbClr val="000000"/>
                </a:solidFill>
                <a:effectLst/>
              </a:rPr>
              <a:t> dengan dunia industri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Seleksi menuju LKS tingkat Provinsi DKI Jakarta</a:t>
            </a:r>
            <a:endParaRPr lang="id-ID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10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6AE4-CBD4-D68F-27B7-581AB92C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tak Teks 3">
            <a:extLst>
              <a:ext uri="{FF2B5EF4-FFF2-40B4-BE49-F238E27FC236}">
                <a16:creationId xmlns:a16="http://schemas.microsoft.com/office/drawing/2014/main" id="{0B8CCC57-2223-0AE1-7747-0BCF28BA995D}"/>
              </a:ext>
            </a:extLst>
          </p:cNvPr>
          <p:cNvSpPr txBox="1"/>
          <p:nvPr/>
        </p:nvSpPr>
        <p:spPr>
          <a:xfrm>
            <a:off x="609600" y="1524000"/>
            <a:ext cx="7467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2400" b="1" i="0" cap="all" dirty="0">
                <a:solidFill>
                  <a:srgbClr val="000000"/>
                </a:solidFill>
                <a:effectLst/>
              </a:rPr>
              <a:t>DASAR HUKUM</a:t>
            </a:r>
          </a:p>
          <a:p>
            <a:pPr algn="ctr" rtl="0">
              <a:buNone/>
            </a:pPr>
            <a:endParaRPr lang="id-ID" sz="2400" cap="all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Permendikbud tentang SMK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Juknis Pelaksanaan LKS Tahun 2026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Surat Edaran Dinas Pendidikan DKI Jakarta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Rapat Koordinasi Wilayah 1 Jakarta Timur</a:t>
            </a:r>
            <a:endParaRPr lang="id-ID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17015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B5CE6-1083-7DAB-DD9D-1E445550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tak Teks 2">
            <a:extLst>
              <a:ext uri="{FF2B5EF4-FFF2-40B4-BE49-F238E27FC236}">
                <a16:creationId xmlns:a16="http://schemas.microsoft.com/office/drawing/2014/main" id="{8E5633C2-D797-994F-28F1-14BC84223FEA}"/>
              </a:ext>
            </a:extLst>
          </p:cNvPr>
          <p:cNvSpPr txBox="1"/>
          <p:nvPr/>
        </p:nvSpPr>
        <p:spPr>
          <a:xfrm>
            <a:off x="533400" y="1295400"/>
            <a:ext cx="7848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2400" b="1" i="0" cap="all" dirty="0">
                <a:solidFill>
                  <a:srgbClr val="000000"/>
                </a:solidFill>
                <a:effectLst/>
              </a:rPr>
              <a:t>TUJUAN KEGIATAN</a:t>
            </a:r>
          </a:p>
          <a:p>
            <a:pPr algn="ctr" rtl="0">
              <a:buNone/>
            </a:pPr>
            <a:endParaRPr lang="id-ID" sz="2400" cap="all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Mengukur kompetensi siswa sesuai standar industri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Meningkatkan daya saing siswa SMK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Menumbuhkan sportivitas dan karakter</a:t>
            </a:r>
            <a:endParaRPr lang="id-ID" sz="24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id-ID" sz="2400" b="1" i="0" dirty="0">
                <a:solidFill>
                  <a:srgbClr val="000000"/>
                </a:solidFill>
                <a:effectLst/>
              </a:rPr>
              <a:t>Menyeleksi peserta terbaik ke tingkat provinsi</a:t>
            </a:r>
            <a:endParaRPr lang="id-ID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7826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56BE-7E7A-4083-81B8-31FA0DDB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tak Teks 3">
            <a:extLst>
              <a:ext uri="{FF2B5EF4-FFF2-40B4-BE49-F238E27FC236}">
                <a16:creationId xmlns:a16="http://schemas.microsoft.com/office/drawing/2014/main" id="{D40E71C5-8C80-843E-54EA-AAF6EAD2CB1D}"/>
              </a:ext>
            </a:extLst>
          </p:cNvPr>
          <p:cNvSpPr txBox="1"/>
          <p:nvPr/>
        </p:nvSpPr>
        <p:spPr>
          <a:xfrm>
            <a:off x="304800" y="838200"/>
            <a:ext cx="7924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TEMA &amp; NILAI KARAKTER</a:t>
            </a:r>
          </a:p>
          <a:p>
            <a:pPr algn="ctr" rtl="0">
              <a:buNone/>
            </a:pPr>
            <a:endParaRPr lang="id-ID" sz="2800" dirty="0">
              <a:effectLst/>
            </a:endParaRPr>
          </a:p>
          <a:p>
            <a:pPr algn="ctr" rtl="0">
              <a:buNone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Tema: “SMK Berprestasi, Siap Kerja, Siap Bersaing Global”</a:t>
            </a:r>
          </a:p>
          <a:p>
            <a:pPr algn="ctr" rtl="0">
              <a:buNone/>
            </a:pPr>
            <a:endParaRPr lang="id-ID" sz="2800" dirty="0">
              <a:effectLst/>
            </a:endParaRPr>
          </a:p>
          <a:p>
            <a:pPr algn="ctr" rtl="0">
              <a:buNone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Nilai yang dikembangkan:</a:t>
            </a:r>
            <a:endParaRPr lang="id-ID" sz="2800" dirty="0">
              <a:effectLst/>
            </a:endParaRP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Disiplin</a:t>
            </a:r>
            <a:endParaRPr lang="id-ID" sz="2800" dirty="0">
              <a:effectLst/>
            </a:endParaRP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Profesionalisme</a:t>
            </a:r>
            <a:endParaRPr lang="id-ID" sz="2800" dirty="0">
              <a:effectLst/>
            </a:endParaRP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Integritas</a:t>
            </a:r>
            <a:endParaRPr lang="id-ID" sz="2800" dirty="0">
              <a:effectLst/>
            </a:endParaRP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Kerja sama</a:t>
            </a:r>
            <a:endParaRPr lang="id-ID" sz="2800" dirty="0">
              <a:effectLst/>
            </a:endParaRP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id-ID" sz="2800" b="1" i="0" dirty="0">
                <a:solidFill>
                  <a:srgbClr val="000000"/>
                </a:solidFill>
                <a:effectLst/>
              </a:rPr>
              <a:t>Sportivitas</a:t>
            </a:r>
            <a:endParaRPr lang="id-ID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368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546E-E1AA-7E4C-9D3C-FA8E2791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BC851EF-7D27-819B-EE2C-862D1793D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143000"/>
          <a:ext cx="76962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780205" imgH="8755452" progId="Excel.Sheet.12">
                  <p:embed/>
                </p:oleObj>
              </mc:Choice>
              <mc:Fallback>
                <p:oleObj name="Worksheet" r:id="rId2" imgW="11780205" imgH="8755452" progId="Excel.Sheet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7AA01EB0-49BE-6992-9FB5-7A061B9FB1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1143000"/>
                        <a:ext cx="7696200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733FF1C-EA7D-7836-EB93-F295FE1047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57200"/>
          <a:ext cx="76200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780205" imgH="881332" progId="Excel.Sheet.12">
                  <p:embed/>
                </p:oleObj>
              </mc:Choice>
              <mc:Fallback>
                <p:oleObj name="Worksheet" r:id="rId4" imgW="11780205" imgH="881332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19FFEB0-DC0E-FDE6-8051-A894C27AF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457200"/>
                        <a:ext cx="7620000" cy="455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56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265FD01-1D82-3AF8-032F-1FDCEEC008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996022"/>
              </p:ext>
            </p:extLst>
          </p:nvPr>
        </p:nvGraphicFramePr>
        <p:xfrm>
          <a:off x="685800" y="990600"/>
          <a:ext cx="7848600" cy="533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918695" imgH="5788325" progId="Excel.Sheet.12">
                  <p:embed/>
                </p:oleObj>
              </mc:Choice>
              <mc:Fallback>
                <p:oleObj name="Worksheet" r:id="rId2" imgW="5918695" imgH="57883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990600"/>
                        <a:ext cx="7848600" cy="5332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4FA9EA2-A779-536F-4A5B-CC7BEB6578E4}"/>
              </a:ext>
            </a:extLst>
          </p:cNvPr>
          <p:cNvSpPr/>
          <p:nvPr/>
        </p:nvSpPr>
        <p:spPr>
          <a:xfrm>
            <a:off x="647700" y="268287"/>
            <a:ext cx="7848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DAFTAR MATA LOMBA YANG DI LAKSANKAN PADA TINGKAT NASIONAL</a:t>
            </a:r>
            <a:endParaRPr lang="en-ID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98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EB6DE2E-5AD2-6475-20D9-4CE096795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982202"/>
              </p:ext>
            </p:extLst>
          </p:nvPr>
        </p:nvGraphicFramePr>
        <p:xfrm>
          <a:off x="762000" y="304800"/>
          <a:ext cx="76962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918695" imgH="9693934" progId="Excel.Sheet.12">
                  <p:embed/>
                </p:oleObj>
              </mc:Choice>
              <mc:Fallback>
                <p:oleObj name="Worksheet" r:id="rId2" imgW="5918695" imgH="969393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304800"/>
                        <a:ext cx="76962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0884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2E52507-3642-04A7-3DEA-397CFD472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22454"/>
              </p:ext>
            </p:extLst>
          </p:nvPr>
        </p:nvGraphicFramePr>
        <p:xfrm>
          <a:off x="914400" y="1143000"/>
          <a:ext cx="74676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783819" imgH="7246548" progId="Excel.Sheet.12">
                  <p:embed/>
                </p:oleObj>
              </mc:Choice>
              <mc:Fallback>
                <p:oleObj name="Worksheet" r:id="rId2" imgW="7783819" imgH="72465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467600" cy="518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C45025B-3874-C751-476F-17C7473A45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785868"/>
              </p:ext>
            </p:extLst>
          </p:nvPr>
        </p:nvGraphicFramePr>
        <p:xfrm>
          <a:off x="598488" y="313623"/>
          <a:ext cx="77835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783819" imgH="792552" progId="Excel.Sheet.12">
                  <p:embed/>
                </p:oleObj>
              </mc:Choice>
              <mc:Fallback>
                <p:oleObj name="Worksheet" r:id="rId4" imgW="7783819" imgH="7925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8488" y="313623"/>
                        <a:ext cx="7783512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703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C3FDB61-A9C9-8A14-7DB0-185FFA028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304008"/>
              </p:ext>
            </p:extLst>
          </p:nvPr>
        </p:nvGraphicFramePr>
        <p:xfrm>
          <a:off x="681038" y="762000"/>
          <a:ext cx="7929562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783819" imgH="3582119" progId="Excel.Sheet.12">
                  <p:embed/>
                </p:oleObj>
              </mc:Choice>
              <mc:Fallback>
                <p:oleObj name="Worksheet" r:id="rId2" imgW="7783819" imgH="35821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1038" y="762000"/>
                        <a:ext cx="7929562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5642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89DA-6C01-562C-FE55-5062218D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8229600" cy="5410200"/>
          </a:xfrm>
        </p:spPr>
        <p:txBody>
          <a:bodyPr>
            <a:noAutofit/>
          </a:bodyPr>
          <a:lstStyle/>
          <a:p>
            <a:pPr fontAlgn="ctr">
              <a:lnSpc>
                <a:spcPct val="150000"/>
              </a:lnSpc>
            </a:pPr>
            <a:r>
              <a:rPr lang="fi-FI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Pelaksanaan Hari Selasa – Rabu tgl : 7- 8 April 2026</a:t>
            </a:r>
            <a:br>
              <a:rPr lang="fi-FI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Technical Meeting  : Senin, 6 April 2026 (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Mandiri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Shop Master &amp;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Teknisi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lomba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@ 1 orang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Bahan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disiapkan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masing-masing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Alat di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bawa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lomba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tersedia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LKS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Perorangan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2 Orang /Mata Lomba/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LKS Tim : 2 Tim/Mata Lomba/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LKS :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Kelas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XII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Juri 3 orang per Mata Lomba. Akan di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upayakan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Juri LKS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Tingkat Nasional (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Koordinasi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Panitia</a:t>
            </a:r>
            <a: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LKS TK. </a:t>
            </a:r>
            <a:r>
              <a:rPr lang="en-ID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Provinsi</a:t>
            </a:r>
            <a:br>
              <a:rPr lang="en-ID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D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D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300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3511-39C8-60F1-85F5-A16AB4E8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85800"/>
            <a:ext cx="6347713" cy="685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PEMBUKAAN  ( HIBRYT)</a:t>
            </a:r>
            <a:endParaRPr lang="en-ID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C83DDD-F5C4-244B-C825-46496A0E0199}"/>
              </a:ext>
            </a:extLst>
          </p:cNvPr>
          <p:cNvSpPr txBox="1">
            <a:spLocks/>
          </p:cNvSpPr>
          <p:nvPr/>
        </p:nvSpPr>
        <p:spPr>
          <a:xfrm>
            <a:off x="615802" y="1219200"/>
            <a:ext cx="7912396" cy="47988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Tanggal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: Selasa, 7 April 2026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Pukul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: 07.30 WIB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Selesai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: AULA SMKN 26 JAKARTA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:   1.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Unsur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Dinas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2.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Unsur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Sudin</a:t>
            </a:r>
          </a:p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3.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4.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Juri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5.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Penjab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          6.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Sopmaster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7.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Teknisi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8.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Guru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Pebimbing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9.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yang Lomba</a:t>
            </a:r>
          </a:p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di SMKN 26  Jakarta</a:t>
            </a:r>
            <a:b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</a:t>
            </a:r>
            <a:endParaRPr lang="en-ID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63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3CB6655-1F48-4052-D949-3A940FC7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7065"/>
            <a:ext cx="6347713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PENUTUPAN (LURING)</a:t>
            </a:r>
            <a:endParaRPr lang="en-ID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F9ED0E-2640-1520-F864-4EE0D27F679D}"/>
              </a:ext>
            </a:extLst>
          </p:cNvPr>
          <p:cNvSpPr txBox="1">
            <a:spLocks/>
          </p:cNvSpPr>
          <p:nvPr/>
        </p:nvSpPr>
        <p:spPr>
          <a:xfrm>
            <a:off x="990600" y="1447800"/>
            <a:ext cx="7315200" cy="411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Tanggal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: JUMAT , 10 April 2026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Pukul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: 13.30 WIB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Selesai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: AULA SMKN 26 JAKARTA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:  1.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Unsur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Dinas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2.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Unsur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Sudin</a:t>
            </a:r>
          </a:p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3.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4.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Perwakilan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Juri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5.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Penjab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         6. Guru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Pembimbing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7.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LKS</a:t>
            </a:r>
            <a:b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</a:t>
            </a:r>
            <a:endParaRPr lang="en-ID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534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F8CE-5707-BB40-C469-BA53EF4E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914400"/>
          </a:xfrm>
        </p:spPr>
        <p:txBody>
          <a:bodyPr/>
          <a:lstStyle/>
          <a:p>
            <a:r>
              <a:rPr lang="en-US" dirty="0"/>
              <a:t>Hadiah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3B47-556B-2970-EC5A-D88EB7C54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295400"/>
            <a:ext cx="68580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PERORANGAN</a:t>
            </a: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	  I : Rp. 2.000.000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Sertifikat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	 II : Rp. 1.500.000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Sertifikat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	III : Rp. 1.000.000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Sertifikat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BEREGU</a:t>
            </a: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	  I : Rp. 4.000.000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Sertifikat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	 II : Rp. 3.000.000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Sertifikat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	III : Rp. 2.000.000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Sertifikat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26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F21361-177A-0367-9B92-C737E2007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32362"/>
            <a:ext cx="7620000" cy="479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661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3247</TotalTime>
  <Words>545</Words>
  <Application>Microsoft Macintosh PowerPoint</Application>
  <PresentationFormat>Tampilan Layar (4:3)</PresentationFormat>
  <Paragraphs>50</Paragraphs>
  <Slides>15</Slides>
  <Notes>0</Notes>
  <HiddenSlides>0</HiddenSlides>
  <MMClips>0</MMClips>
  <ScaleCrop>false</ScaleCrop>
  <HeadingPairs>
    <vt:vector size="8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Facet</vt:lpstr>
      <vt:lpstr>Worksheet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1. Pelaksanaan Hari Selasa – Rabu tgl : 7- 8 April 2026 2. Technical Meeting  : Senin, 6 April 2026 ( Mandiri) 3. Shop Master &amp; Teknisi dari sekolah tempat lomba      @ 1 orang 4. Bahan disiapkan oleh peserta masing-masing 5. Alat di bawa oleh Peserta bila di tempat lomba tidak tersedia 6. Peserta LKS Perorangan : 2 Orang /Mata Lomba/Sekolah 7. Peserta LKS Tim : 2 Tim/Mata Lomba/Sekolah 8. Peserta LKS : Kelas X atau XI atau XII 9. Juri 3 orang per Mata Lomba. Akan di upayakan Juri LKS    Tingkat Nasional ( Koordinasi dengan Panitia LKS TK. Provinsi  </vt:lpstr>
      <vt:lpstr>PEMBUKAAN  ( HIBRYT)</vt:lpstr>
      <vt:lpstr>PENUTUPAN (LURING)</vt:lpstr>
      <vt:lpstr>Hadiah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 SMKN 71 JAKARTA</dc:title>
  <dc:creator>user</dc:creator>
  <cp:lastModifiedBy>Rugiyanto SPD</cp:lastModifiedBy>
  <cp:revision>249</cp:revision>
  <cp:lastPrinted>2024-11-04T01:43:30Z</cp:lastPrinted>
  <dcterms:created xsi:type="dcterms:W3CDTF">2021-09-30T08:56:45Z</dcterms:created>
  <dcterms:modified xsi:type="dcterms:W3CDTF">2026-02-13T01:00:33Z</dcterms:modified>
</cp:coreProperties>
</file>