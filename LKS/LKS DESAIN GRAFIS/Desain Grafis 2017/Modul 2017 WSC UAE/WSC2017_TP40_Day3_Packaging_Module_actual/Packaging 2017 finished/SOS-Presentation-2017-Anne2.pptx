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4"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4"/>
    <p:sldMasterId id="2147483707" r:id="rId5"/>
  </p:sldMasterIdLst>
  <p:notesMasterIdLst>
    <p:notesMasterId r:id="rId49"/>
  </p:notesMasterIdLst>
  <p:sldIdLst>
    <p:sldId id="256" r:id="rId6"/>
    <p:sldId id="267" r:id="rId7"/>
    <p:sldId id="261" r:id="rId8"/>
    <p:sldId id="264" r:id="rId9"/>
    <p:sldId id="262" r:id="rId10"/>
    <p:sldId id="292" r:id="rId11"/>
    <p:sldId id="318" r:id="rId12"/>
    <p:sldId id="269" r:id="rId13"/>
    <p:sldId id="273" r:id="rId14"/>
    <p:sldId id="304" r:id="rId15"/>
    <p:sldId id="314" r:id="rId16"/>
    <p:sldId id="316" r:id="rId17"/>
    <p:sldId id="315" r:id="rId18"/>
    <p:sldId id="266" r:id="rId19"/>
    <p:sldId id="274" r:id="rId20"/>
    <p:sldId id="297" r:id="rId21"/>
    <p:sldId id="320" r:id="rId22"/>
    <p:sldId id="321" r:id="rId23"/>
    <p:sldId id="336" r:id="rId24"/>
    <p:sldId id="323" r:id="rId25"/>
    <p:sldId id="324" r:id="rId26"/>
    <p:sldId id="325" r:id="rId27"/>
    <p:sldId id="326" r:id="rId28"/>
    <p:sldId id="328" r:id="rId29"/>
    <p:sldId id="329" r:id="rId30"/>
    <p:sldId id="330" r:id="rId31"/>
    <p:sldId id="331" r:id="rId32"/>
    <p:sldId id="332" r:id="rId33"/>
    <p:sldId id="333" r:id="rId34"/>
    <p:sldId id="334" r:id="rId35"/>
    <p:sldId id="335" r:id="rId36"/>
    <p:sldId id="312" r:id="rId37"/>
    <p:sldId id="286" r:id="rId38"/>
    <p:sldId id="288" r:id="rId39"/>
    <p:sldId id="313" r:id="rId40"/>
    <p:sldId id="290" r:id="rId41"/>
    <p:sldId id="291" r:id="rId42"/>
    <p:sldId id="337" r:id="rId43"/>
    <p:sldId id="339" r:id="rId44"/>
    <p:sldId id="340" r:id="rId45"/>
    <p:sldId id="341" r:id="rId46"/>
    <p:sldId id="342" r:id="rId47"/>
    <p:sldId id="343" r:id="rId48"/>
  </p:sldIdLst>
  <p:sldSz cx="9144000" cy="6858000" type="screen4x3"/>
  <p:notesSz cx="6797675" cy="9928225"/>
  <p:defaultTextStyle>
    <a:defPPr>
      <a:defRPr lang="de-DE"/>
    </a:defPPr>
    <a:lvl1pPr algn="l" defTabSz="457200" rtl="0" fontAlgn="base">
      <a:spcBef>
        <a:spcPct val="0"/>
      </a:spcBef>
      <a:spcAft>
        <a:spcPct val="0"/>
      </a:spcAft>
      <a:defRPr kern="1200">
        <a:solidFill>
          <a:schemeClr val="tx1"/>
        </a:solidFill>
        <a:latin typeface="Arial" charset="0"/>
        <a:ea typeface="ＭＳ Ｐゴシック" pitchFamily="-107"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107"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107"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107"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107" charset="-128"/>
        <a:cs typeface="+mn-cs"/>
      </a:defRPr>
    </a:lvl5pPr>
    <a:lvl6pPr marL="2286000" algn="l" defTabSz="914400" rtl="0" eaLnBrk="1" latinLnBrk="0" hangingPunct="1">
      <a:defRPr kern="1200">
        <a:solidFill>
          <a:schemeClr val="tx1"/>
        </a:solidFill>
        <a:latin typeface="Arial" charset="0"/>
        <a:ea typeface="ＭＳ Ｐゴシック" pitchFamily="-107" charset="-128"/>
        <a:cs typeface="+mn-cs"/>
      </a:defRPr>
    </a:lvl6pPr>
    <a:lvl7pPr marL="2743200" algn="l" defTabSz="914400" rtl="0" eaLnBrk="1" latinLnBrk="0" hangingPunct="1">
      <a:defRPr kern="1200">
        <a:solidFill>
          <a:schemeClr val="tx1"/>
        </a:solidFill>
        <a:latin typeface="Arial" charset="0"/>
        <a:ea typeface="ＭＳ Ｐゴシック" pitchFamily="-107" charset="-128"/>
        <a:cs typeface="+mn-cs"/>
      </a:defRPr>
    </a:lvl7pPr>
    <a:lvl8pPr marL="3200400" algn="l" defTabSz="914400" rtl="0" eaLnBrk="1" latinLnBrk="0" hangingPunct="1">
      <a:defRPr kern="1200">
        <a:solidFill>
          <a:schemeClr val="tx1"/>
        </a:solidFill>
        <a:latin typeface="Arial" charset="0"/>
        <a:ea typeface="ＭＳ Ｐゴシック" pitchFamily="-107" charset="-128"/>
        <a:cs typeface="+mn-cs"/>
      </a:defRPr>
    </a:lvl8pPr>
    <a:lvl9pPr marL="3657600" algn="l" defTabSz="914400" rtl="0" eaLnBrk="1" latinLnBrk="0" hangingPunct="1">
      <a:defRPr kern="1200">
        <a:solidFill>
          <a:schemeClr val="tx1"/>
        </a:solidFill>
        <a:latin typeface="Arial" charset="0"/>
        <a:ea typeface="ＭＳ Ｐゴシック" pitchFamily="-107" charset="-128"/>
        <a:cs typeface="+mn-cs"/>
      </a:defRPr>
    </a:lvl9pPr>
  </p:defaultTextStyle>
  <p:extLst>
    <p:ext uri="{EFAFB233-063F-42B5-8137-9DF3F51BA10A}">
      <p15:sldGuideLst xmlns:p15="http://schemas.microsoft.com/office/powerpoint/2012/main">
        <p15:guide id="1" orient="horz" pos="3173">
          <p15:clr>
            <a:srgbClr val="A4A3A4"/>
          </p15:clr>
        </p15:guide>
        <p15:guide id="2" pos="35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olz Matthias" initials="SM" lastIdx="2" clrIdx="0"/>
  <p:cmAuthor id="1" name="Feyerherm" initials="JFe" lastIdx="1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B856"/>
    <a:srgbClr val="B5D59D"/>
    <a:srgbClr val="D0E4BF"/>
    <a:srgbClr val="98C679"/>
    <a:srgbClr val="91C270"/>
    <a:srgbClr val="D9DADB"/>
    <a:srgbClr val="009EE0"/>
    <a:srgbClr val="080808"/>
    <a:srgbClr val="EC7404"/>
    <a:srgbClr val="F08E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49" autoAdjust="0"/>
    <p:restoredTop sz="91504" autoAdjust="0"/>
  </p:normalViewPr>
  <p:slideViewPr>
    <p:cSldViewPr snapToGrid="0" snapToObjects="1">
      <p:cViewPr varScale="1">
        <p:scale>
          <a:sx n="105" d="100"/>
          <a:sy n="105" d="100"/>
        </p:scale>
        <p:origin x="1352" y="184"/>
      </p:cViewPr>
      <p:guideLst>
        <p:guide orient="horz" pos="3173"/>
        <p:guide pos="350"/>
      </p:guideLst>
    </p:cSldViewPr>
  </p:slideViewPr>
  <p:notesTextViewPr>
    <p:cViewPr>
      <p:scale>
        <a:sx n="125" d="100"/>
        <a:sy n="125" d="100"/>
      </p:scale>
      <p:origin x="0" y="0"/>
    </p:cViewPr>
  </p:notesTextViewPr>
  <p:sorterViewPr>
    <p:cViewPr>
      <p:scale>
        <a:sx n="100" d="100"/>
        <a:sy n="100" d="100"/>
      </p:scale>
      <p:origin x="0" y="2604"/>
    </p:cViewPr>
  </p:sorterViewPr>
  <p:notesViewPr>
    <p:cSldViewPr snapToGrid="0" snapToObjects="1">
      <p:cViewPr varScale="1">
        <p:scale>
          <a:sx n="66" d="100"/>
          <a:sy n="66" d="100"/>
        </p:scale>
        <p:origin x="0" y="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50" Type="http://schemas.openxmlformats.org/officeDocument/2006/relationships/commentAuthors" Target="commentAuthors.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notesMaster" Target="notesMasters/notesMaster1.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endParaRPr lang="de-DE"/>
          </a:p>
        </p:txBody>
      </p:sp>
      <p:sp>
        <p:nvSpPr>
          <p:cNvPr id="32771" name="Rectangle 3"/>
          <p:cNvSpPr>
            <a:spLocks noGrp="1" noChangeArrowheads="1"/>
          </p:cNvSpPr>
          <p:nvPr>
            <p:ph type="dt" idx="1"/>
          </p:nvPr>
        </p:nvSpPr>
        <p:spPr bwMode="auto">
          <a:xfrm>
            <a:off x="3850443" y="0"/>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fld id="{E755D59A-19E7-4E76-8ECF-1B705351D9DE}" type="datetimeFigureOut">
              <a:rPr lang="de-DE"/>
              <a:pPr/>
              <a:t>10.09.17</a:t>
            </a:fld>
            <a:endParaRPr lang="de-DE"/>
          </a:p>
        </p:txBody>
      </p:sp>
      <p:sp>
        <p:nvSpPr>
          <p:cNvPr id="3277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3" name="Rectangle 5"/>
          <p:cNvSpPr>
            <a:spLocks noGrp="1" noChangeArrowheads="1"/>
          </p:cNvSpPr>
          <p:nvPr>
            <p:ph type="body" sz="quarter" idx="3"/>
          </p:nvPr>
        </p:nvSpPr>
        <p:spPr bwMode="auto">
          <a:xfrm>
            <a:off x="679768" y="4715907"/>
            <a:ext cx="5438140" cy="4467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p>
        </p:txBody>
      </p:sp>
      <p:sp>
        <p:nvSpPr>
          <p:cNvPr id="32774" name="Rectangle 6"/>
          <p:cNvSpPr>
            <a:spLocks noGrp="1" noChangeArrowheads="1"/>
          </p:cNvSpPr>
          <p:nvPr>
            <p:ph type="ftr" sz="quarter" idx="4"/>
          </p:nvPr>
        </p:nvSpPr>
        <p:spPr bwMode="auto">
          <a:xfrm>
            <a:off x="0" y="9430091"/>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endParaRPr lang="de-DE"/>
          </a:p>
        </p:txBody>
      </p:sp>
      <p:sp>
        <p:nvSpPr>
          <p:cNvPr id="32775" name="Rectangle 7"/>
          <p:cNvSpPr>
            <a:spLocks noGrp="1" noChangeArrowheads="1"/>
          </p:cNvSpPr>
          <p:nvPr>
            <p:ph type="sldNum" sz="quarter" idx="5"/>
          </p:nvPr>
        </p:nvSpPr>
        <p:spPr bwMode="auto">
          <a:xfrm>
            <a:off x="3850443" y="9430091"/>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fld id="{68212901-8644-4CDA-A7EA-D9645A6E2995}" type="slidenum">
              <a:rPr lang="de-DE"/>
              <a:pPr/>
              <a:t>‹#›</a:t>
            </a:fld>
            <a:endParaRPr lang="de-DE"/>
          </a:p>
        </p:txBody>
      </p:sp>
    </p:spTree>
    <p:extLst>
      <p:ext uri="{BB962C8B-B14F-4D97-AF65-F5344CB8AC3E}">
        <p14:creationId xmlns:p14="http://schemas.microsoft.com/office/powerpoint/2010/main" val="415935450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Calibri" pitchFamily="34" charset="0"/>
        <a:ea typeface="+mn-ea"/>
        <a:cs typeface="+mn-cs"/>
      </a:defRPr>
    </a:lvl1pPr>
    <a:lvl2pPr marL="457200" algn="l" rtl="0" fontAlgn="base">
      <a:spcBef>
        <a:spcPct val="30000"/>
      </a:spcBef>
      <a:spcAft>
        <a:spcPct val="0"/>
      </a:spcAft>
      <a:defRPr sz="1200" kern="1200">
        <a:solidFill>
          <a:schemeClr val="tx1"/>
        </a:solidFill>
        <a:latin typeface="Calibri" pitchFamily="34" charset="0"/>
        <a:ea typeface="+mn-ea"/>
        <a:cs typeface="+mn-cs"/>
      </a:defRPr>
    </a:lvl2pPr>
    <a:lvl3pPr marL="914400" algn="l" rtl="0" fontAlgn="base">
      <a:spcBef>
        <a:spcPct val="30000"/>
      </a:spcBef>
      <a:spcAft>
        <a:spcPct val="0"/>
      </a:spcAft>
      <a:defRPr sz="1200" kern="1200">
        <a:solidFill>
          <a:schemeClr val="tx1"/>
        </a:solidFill>
        <a:latin typeface="Calibri" pitchFamily="34" charset="0"/>
        <a:ea typeface="+mn-ea"/>
        <a:cs typeface="+mn-cs"/>
      </a:defRPr>
    </a:lvl3pPr>
    <a:lvl4pPr marL="1371600" algn="l" rtl="0" fontAlgn="base">
      <a:spcBef>
        <a:spcPct val="30000"/>
      </a:spcBef>
      <a:spcAft>
        <a:spcPct val="0"/>
      </a:spcAft>
      <a:defRPr sz="1200" kern="1200">
        <a:solidFill>
          <a:schemeClr val="tx1"/>
        </a:solidFill>
        <a:latin typeface="Calibri" pitchFamily="34" charset="0"/>
        <a:ea typeface="+mn-ea"/>
        <a:cs typeface="+mn-cs"/>
      </a:defRPr>
    </a:lvl4pPr>
    <a:lvl5pPr marL="1828800" algn="l" rtl="0" fontAlgn="base">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r>
              <a:rPr lang="de-AT" dirty="0" smtClean="0"/>
              <a:t>SPEAKER‘S NOTES:</a:t>
            </a:r>
          </a:p>
          <a:p>
            <a:endParaRPr lang="de-AT" dirty="0" smtClean="0"/>
          </a:p>
          <a:p>
            <a:r>
              <a:rPr lang="de-AT" dirty="0" smtClean="0"/>
              <a:t>[This</a:t>
            </a:r>
            <a:r>
              <a:rPr lang="de-AT" baseline="0" dirty="0" smtClean="0"/>
              <a:t> opening slide can be tailored to the specific situation in which it will be used, for example by adding your name and the location and date it will be presented.] </a:t>
            </a:r>
          </a:p>
          <a:p>
            <a:endParaRPr lang="de-AT" dirty="0" smtClean="0"/>
          </a:p>
          <a:p>
            <a:r>
              <a:rPr lang="de-AT" dirty="0" smtClean="0"/>
              <a:t>[This</a:t>
            </a:r>
            <a:r>
              <a:rPr lang="de-AT" baseline="0" dirty="0" smtClean="0"/>
              <a:t> first slide is an opportunity to introduce yourself and why you are there, for example: ‚</a:t>
            </a:r>
            <a:r>
              <a:rPr lang="de-AT" dirty="0" smtClean="0"/>
              <a:t>Today I</a:t>
            </a:r>
            <a:r>
              <a:rPr lang="de-AT" baseline="0" dirty="0" smtClean="0"/>
              <a:t> would like to tell you about SOS Children‘s Villages and how we strive to achieve our ultimate goal:  A loving home for every child.‘]</a:t>
            </a:r>
            <a:endParaRPr lang="de-AT" dirty="0"/>
          </a:p>
        </p:txBody>
      </p:sp>
    </p:spTree>
    <p:extLst>
      <p:ext uri="{BB962C8B-B14F-4D97-AF65-F5344CB8AC3E}">
        <p14:creationId xmlns:p14="http://schemas.microsoft.com/office/powerpoint/2010/main" val="688900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AT" dirty="0" smtClean="0"/>
              <a:t>SPEAKER‘S NOTES:</a:t>
            </a:r>
          </a:p>
          <a:p>
            <a:endParaRPr lang="de-AT" dirty="0" smtClean="0"/>
          </a:p>
          <a:p>
            <a:r>
              <a:rPr lang="de-AT" dirty="0" smtClean="0"/>
              <a:t>First</a:t>
            </a:r>
            <a:r>
              <a:rPr lang="de-AT" baseline="0" dirty="0" smtClean="0"/>
              <a:t> of all, let‘s have a look at WHY we do what we do, and the circumstances that make our work indispensable…</a:t>
            </a:r>
            <a:endParaRPr lang="de-AT" dirty="0"/>
          </a:p>
        </p:txBody>
      </p:sp>
      <p:sp>
        <p:nvSpPr>
          <p:cNvPr id="4" name="Slide Number Placeholder 3"/>
          <p:cNvSpPr>
            <a:spLocks noGrp="1"/>
          </p:cNvSpPr>
          <p:nvPr>
            <p:ph type="sldNum" sz="quarter" idx="10"/>
          </p:nvPr>
        </p:nvSpPr>
        <p:spPr/>
        <p:txBody>
          <a:bodyPr/>
          <a:lstStyle/>
          <a:p>
            <a:fld id="{68212901-8644-4CDA-A7EA-D9645A6E2995}" type="slidenum">
              <a:rPr lang="de-DE" smtClean="0"/>
              <a:pPr/>
              <a:t>2</a:t>
            </a:fld>
            <a:endParaRPr lang="de-DE"/>
          </a:p>
        </p:txBody>
      </p:sp>
    </p:spTree>
    <p:extLst>
      <p:ext uri="{BB962C8B-B14F-4D97-AF65-F5344CB8AC3E}">
        <p14:creationId xmlns:p14="http://schemas.microsoft.com/office/powerpoint/2010/main" val="2543983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de-AT" dirty="0" smtClean="0"/>
              <a:t>SPEAKER‘S NOTES:</a:t>
            </a:r>
            <a:r>
              <a:rPr lang="de-AT" baseline="0" dirty="0" smtClean="0"/>
              <a:t> </a:t>
            </a:r>
          </a:p>
          <a:p>
            <a:pPr marL="0" marR="0" indent="0" algn="l" defTabSz="914400" rtl="0" eaLnBrk="1" fontAlgn="base" latinLnBrk="0" hangingPunct="1">
              <a:lnSpc>
                <a:spcPct val="100000"/>
              </a:lnSpc>
              <a:spcBef>
                <a:spcPct val="30000"/>
              </a:spcBef>
              <a:spcAft>
                <a:spcPct val="0"/>
              </a:spcAft>
              <a:buClrTx/>
              <a:buSzTx/>
              <a:buFontTx/>
              <a:buNone/>
              <a:tabLst/>
              <a:defRPr/>
            </a:pPr>
            <a:endParaRPr lang="de-AT" dirty="0" smtClean="0"/>
          </a:p>
          <a:p>
            <a:r>
              <a:rPr lang="de-DE" dirty="0" smtClean="0"/>
              <a:t>All over the world, millions of children are growing</a:t>
            </a:r>
            <a:r>
              <a:rPr lang="de-DE" baseline="0" dirty="0" smtClean="0"/>
              <a:t> up without the care of their parents, without any supervision and in brutal living conditions.</a:t>
            </a:r>
            <a:endParaRPr lang="en-GB" dirty="0"/>
          </a:p>
        </p:txBody>
      </p:sp>
      <p:sp>
        <p:nvSpPr>
          <p:cNvPr id="4" name="Slide Number Placeholder 3"/>
          <p:cNvSpPr>
            <a:spLocks noGrp="1"/>
          </p:cNvSpPr>
          <p:nvPr>
            <p:ph type="sldNum" sz="quarter" idx="10"/>
          </p:nvPr>
        </p:nvSpPr>
        <p:spPr/>
        <p:txBody>
          <a:bodyPr/>
          <a:lstStyle/>
          <a:p>
            <a:fld id="{68212901-8644-4CDA-A7EA-D9645A6E2995}" type="slidenum">
              <a:rPr lang="de-DE" smtClean="0"/>
              <a:pPr/>
              <a:t>3</a:t>
            </a:fld>
            <a:endParaRPr lang="de-DE"/>
          </a:p>
        </p:txBody>
      </p:sp>
    </p:spTree>
    <p:extLst>
      <p:ext uri="{BB962C8B-B14F-4D97-AF65-F5344CB8AC3E}">
        <p14:creationId xmlns:p14="http://schemas.microsoft.com/office/powerpoint/2010/main" val="3134432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de-AT" dirty="0" smtClean="0"/>
              <a:t>SPEAKER‘S NOTES:</a:t>
            </a:r>
          </a:p>
          <a:p>
            <a:pPr marL="0" marR="0" indent="0" algn="l" defTabSz="914400" rtl="0" eaLnBrk="1" fontAlgn="base" latinLnBrk="0" hangingPunct="1">
              <a:lnSpc>
                <a:spcPct val="100000"/>
              </a:lnSpc>
              <a:spcBef>
                <a:spcPct val="30000"/>
              </a:spcBef>
              <a:spcAft>
                <a:spcPct val="0"/>
              </a:spcAft>
              <a:buClrTx/>
              <a:buSzTx/>
              <a:buFontTx/>
              <a:buNone/>
              <a:tabLst/>
              <a:defRPr/>
            </a:pPr>
            <a:r>
              <a:rPr lang="de-AT" baseline="0" dirty="0" smtClean="0"/>
              <a:t> </a:t>
            </a:r>
          </a:p>
          <a:p>
            <a:pPr marL="0" marR="0" indent="0" algn="l" defTabSz="914400" rtl="0" eaLnBrk="1" fontAlgn="base" latinLnBrk="0" hangingPunct="1">
              <a:lnSpc>
                <a:spcPct val="100000"/>
              </a:lnSpc>
              <a:spcBef>
                <a:spcPct val="30000"/>
              </a:spcBef>
              <a:spcAft>
                <a:spcPct val="0"/>
              </a:spcAft>
              <a:buClrTx/>
              <a:buSzTx/>
              <a:buFontTx/>
              <a:buNone/>
              <a:tabLst/>
              <a:defRPr/>
            </a:pPr>
            <a:r>
              <a:rPr lang="de-AT" baseline="0" dirty="0" err="1" smtClean="0"/>
              <a:t>Why</a:t>
            </a:r>
            <a:r>
              <a:rPr lang="de-AT" baseline="0" dirty="0" smtClean="0"/>
              <a:t> </a:t>
            </a:r>
            <a:r>
              <a:rPr lang="de-AT" baseline="0" dirty="0" err="1" smtClean="0"/>
              <a:t>are</a:t>
            </a:r>
            <a:r>
              <a:rPr lang="de-AT" baseline="0" dirty="0" smtClean="0"/>
              <a:t> so </a:t>
            </a:r>
            <a:r>
              <a:rPr lang="de-AT" baseline="0" dirty="0" err="1" smtClean="0"/>
              <a:t>many</a:t>
            </a:r>
            <a:r>
              <a:rPr lang="de-AT" baseline="0" dirty="0" smtClean="0"/>
              <a:t> </a:t>
            </a:r>
            <a:r>
              <a:rPr lang="de-AT" baseline="0" dirty="0" err="1" smtClean="0"/>
              <a:t>children</a:t>
            </a:r>
            <a:r>
              <a:rPr lang="de-AT" baseline="0" dirty="0" smtClean="0"/>
              <a:t> </a:t>
            </a:r>
            <a:r>
              <a:rPr lang="de-AT" baseline="0" dirty="0" err="1" smtClean="0"/>
              <a:t>forced</a:t>
            </a:r>
            <a:r>
              <a:rPr lang="de-AT" baseline="0" dirty="0" smtClean="0"/>
              <a:t> </a:t>
            </a:r>
            <a:r>
              <a:rPr lang="de-AT" baseline="0" dirty="0" err="1" smtClean="0"/>
              <a:t>to</a:t>
            </a:r>
            <a:r>
              <a:rPr lang="de-AT" baseline="0" dirty="0" smtClean="0"/>
              <a:t> live in such dire circumstances?</a:t>
            </a:r>
          </a:p>
          <a:p>
            <a:pPr marL="0" marR="0" indent="0" algn="l" defTabSz="914400" rtl="0" eaLnBrk="1" fontAlgn="base" latinLnBrk="0" hangingPunct="1">
              <a:lnSpc>
                <a:spcPct val="100000"/>
              </a:lnSpc>
              <a:spcBef>
                <a:spcPct val="30000"/>
              </a:spcBef>
              <a:spcAft>
                <a:spcPct val="0"/>
              </a:spcAft>
              <a:buClrTx/>
              <a:buSzTx/>
              <a:buFontTx/>
              <a:buNone/>
              <a:tabLst/>
              <a:defRPr/>
            </a:pPr>
            <a:r>
              <a:rPr lang="de-AT" baseline="0" dirty="0" smtClean="0"/>
              <a:t>This statistic is one reason – one billion children living in countries affected by war...</a:t>
            </a:r>
          </a:p>
          <a:p>
            <a:pPr marL="0" marR="0" indent="0" algn="l" defTabSz="914400" rtl="0" eaLnBrk="1" fontAlgn="base" latinLnBrk="0" hangingPunct="1">
              <a:lnSpc>
                <a:spcPct val="100000"/>
              </a:lnSpc>
              <a:spcBef>
                <a:spcPct val="30000"/>
              </a:spcBef>
              <a:spcAft>
                <a:spcPct val="0"/>
              </a:spcAft>
              <a:buClrTx/>
              <a:buSzTx/>
              <a:buFontTx/>
              <a:buNone/>
              <a:tabLst/>
              <a:defRPr/>
            </a:pPr>
            <a:r>
              <a:rPr lang="de-AT" i="1" baseline="0" dirty="0" smtClean="0"/>
              <a:t>[Note that 2009 is the latest figure we could find for this particular statistic]</a:t>
            </a:r>
          </a:p>
          <a:p>
            <a:pPr marL="0" marR="0" indent="0" algn="l" defTabSz="914400" rtl="0" eaLnBrk="1" fontAlgn="base" latinLnBrk="0" hangingPunct="1">
              <a:lnSpc>
                <a:spcPct val="100000"/>
              </a:lnSpc>
              <a:spcBef>
                <a:spcPct val="30000"/>
              </a:spcBef>
              <a:spcAft>
                <a:spcPct val="0"/>
              </a:spcAft>
              <a:buClrTx/>
              <a:buSzTx/>
              <a:buFontTx/>
              <a:buNone/>
              <a:tabLst/>
              <a:defRPr/>
            </a:pPr>
            <a:r>
              <a:rPr lang="de-AT" baseline="0" dirty="0" smtClean="0"/>
              <a:t>In addition</a:t>
            </a:r>
            <a:r>
              <a:rPr lang="de-DE" baseline="0" dirty="0" smtClean="0"/>
              <a:t>, millions of children are affected every year by natural disasters, food and water shortages, and </a:t>
            </a:r>
            <a:r>
              <a:rPr lang="de-DE" baseline="0" dirty="0" err="1" smtClean="0"/>
              <a:t>other</a:t>
            </a:r>
            <a:r>
              <a:rPr lang="de-DE" baseline="0" dirty="0" smtClean="0"/>
              <a:t> </a:t>
            </a:r>
            <a:r>
              <a:rPr lang="de-DE" baseline="0" dirty="0" err="1" smtClean="0"/>
              <a:t>traumatic</a:t>
            </a:r>
            <a:r>
              <a:rPr lang="de-DE" baseline="0" dirty="0" smtClean="0"/>
              <a:t> </a:t>
            </a:r>
            <a:r>
              <a:rPr lang="de-DE" baseline="0" dirty="0" err="1" smtClean="0"/>
              <a:t>experiences</a:t>
            </a:r>
            <a:r>
              <a:rPr lang="de-DE" baseline="0" dirty="0" smtClean="0"/>
              <a:t>…</a:t>
            </a:r>
          </a:p>
          <a:p>
            <a:endParaRPr lang="de-DE" baseline="0" dirty="0" smtClean="0"/>
          </a:p>
        </p:txBody>
      </p:sp>
      <p:sp>
        <p:nvSpPr>
          <p:cNvPr id="4" name="Slide Number Placeholder 3"/>
          <p:cNvSpPr>
            <a:spLocks noGrp="1"/>
          </p:cNvSpPr>
          <p:nvPr>
            <p:ph type="sldNum" sz="quarter" idx="10"/>
          </p:nvPr>
        </p:nvSpPr>
        <p:spPr/>
        <p:txBody>
          <a:bodyPr/>
          <a:lstStyle/>
          <a:p>
            <a:fld id="{68212901-8644-4CDA-A7EA-D9645A6E2995}" type="slidenum">
              <a:rPr lang="de-DE" smtClean="0"/>
              <a:pPr/>
              <a:t>4</a:t>
            </a:fld>
            <a:endParaRPr lang="de-DE"/>
          </a:p>
        </p:txBody>
      </p:sp>
    </p:spTree>
    <p:extLst>
      <p:ext uri="{BB962C8B-B14F-4D97-AF65-F5344CB8AC3E}">
        <p14:creationId xmlns:p14="http://schemas.microsoft.com/office/powerpoint/2010/main" val="1805161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 typeface="Arial" pitchFamily="34" charset="0"/>
              <a:buNone/>
              <a:tabLst/>
              <a:defRPr/>
            </a:pPr>
            <a:r>
              <a:rPr lang="de-AT" dirty="0" smtClean="0"/>
              <a:t>SPEAKER‘S NOTES:</a:t>
            </a:r>
          </a:p>
          <a:p>
            <a:pPr marL="0" marR="0" lvl="0" indent="0" algn="l" defTabSz="914400" rtl="0" eaLnBrk="1" fontAlgn="base" latinLnBrk="0" hangingPunct="1">
              <a:lnSpc>
                <a:spcPct val="100000"/>
              </a:lnSpc>
              <a:spcBef>
                <a:spcPct val="30000"/>
              </a:spcBef>
              <a:spcAft>
                <a:spcPct val="0"/>
              </a:spcAft>
              <a:buClrTx/>
              <a:buSzTx/>
              <a:buFont typeface="Arial" pitchFamily="34" charset="0"/>
              <a:buNone/>
              <a:tabLst/>
              <a:defRPr/>
            </a:pPr>
            <a:endParaRPr lang="de-AT" dirty="0" smtClean="0"/>
          </a:p>
          <a:p>
            <a:pPr marL="0" lvl="0" indent="0">
              <a:buFont typeface="Arial" pitchFamily="34" charset="0"/>
              <a:buNone/>
            </a:pPr>
            <a:r>
              <a:rPr lang="de-DE" sz="1200" kern="1200" dirty="0" smtClean="0">
                <a:solidFill>
                  <a:schemeClr val="tx1"/>
                </a:solidFill>
                <a:effectLst/>
                <a:latin typeface="Calibri" pitchFamily="34" charset="0"/>
                <a:ea typeface="+mn-ea"/>
                <a:cs typeface="+mn-cs"/>
              </a:rPr>
              <a:t>Everyone agrees that education is a human right, but this statistic shows how that right is being violated.</a:t>
            </a:r>
          </a:p>
          <a:p>
            <a:pPr marL="0" lvl="0" indent="0">
              <a:buFont typeface="Arial" pitchFamily="34" charset="0"/>
              <a:buNone/>
            </a:pPr>
            <a:r>
              <a:rPr lang="de-DE" sz="1200" kern="1200" dirty="0" smtClean="0">
                <a:solidFill>
                  <a:schemeClr val="tx1"/>
                </a:solidFill>
                <a:effectLst/>
                <a:latin typeface="Calibri" pitchFamily="34" charset="0"/>
                <a:ea typeface="+mn-ea"/>
                <a:cs typeface="+mn-cs"/>
              </a:rPr>
              <a:t>Many children, especially</a:t>
            </a:r>
            <a:r>
              <a:rPr lang="de-DE" sz="1200" kern="1200" baseline="0" dirty="0" smtClean="0">
                <a:solidFill>
                  <a:schemeClr val="tx1"/>
                </a:solidFill>
                <a:effectLst/>
                <a:latin typeface="Calibri" pitchFamily="34" charset="0"/>
                <a:ea typeface="+mn-ea"/>
                <a:cs typeface="+mn-cs"/>
              </a:rPr>
              <a:t> girls, drop out of school to work in order to contribute to family income. </a:t>
            </a:r>
          </a:p>
          <a:p>
            <a:pPr marL="0" lvl="0" indent="0">
              <a:buFont typeface="Arial" pitchFamily="34" charset="0"/>
              <a:buNone/>
            </a:pPr>
            <a:r>
              <a:rPr lang="de-DE" sz="1200" kern="1200" baseline="0" dirty="0" smtClean="0">
                <a:solidFill>
                  <a:schemeClr val="tx1"/>
                </a:solidFill>
                <a:effectLst/>
                <a:latin typeface="Calibri" pitchFamily="34" charset="0"/>
                <a:ea typeface="+mn-ea"/>
                <a:cs typeface="+mn-cs"/>
              </a:rPr>
              <a:t>Children from poor, less educated and marginalised families are disporportionately affected.</a:t>
            </a:r>
            <a:endParaRPr lang="en-GB" sz="1200" kern="1200" dirty="0" smtClean="0">
              <a:solidFill>
                <a:schemeClr val="tx1"/>
              </a:solidFill>
              <a:effectLst/>
              <a:latin typeface="Calibri" pitchFamily="34" charset="0"/>
              <a:ea typeface="+mn-ea"/>
              <a:cs typeface="+mn-cs"/>
            </a:endParaRPr>
          </a:p>
          <a:p>
            <a:endParaRPr lang="en-GB" dirty="0"/>
          </a:p>
        </p:txBody>
      </p:sp>
      <p:sp>
        <p:nvSpPr>
          <p:cNvPr id="4" name="Slide Number Placeholder 3"/>
          <p:cNvSpPr>
            <a:spLocks noGrp="1"/>
          </p:cNvSpPr>
          <p:nvPr>
            <p:ph type="sldNum" sz="quarter" idx="10"/>
          </p:nvPr>
        </p:nvSpPr>
        <p:spPr/>
        <p:txBody>
          <a:bodyPr/>
          <a:lstStyle/>
          <a:p>
            <a:fld id="{68212901-8644-4CDA-A7EA-D9645A6E2995}" type="slidenum">
              <a:rPr lang="de-DE" smtClean="0"/>
              <a:pPr/>
              <a:t>5</a:t>
            </a:fld>
            <a:endParaRPr lang="de-DE"/>
          </a:p>
        </p:txBody>
      </p:sp>
    </p:spTree>
    <p:extLst>
      <p:ext uri="{BB962C8B-B14F-4D97-AF65-F5344CB8AC3E}">
        <p14:creationId xmlns:p14="http://schemas.microsoft.com/office/powerpoint/2010/main" val="1259550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i="0" baseline="0" dirty="0" smtClean="0">
                <a:latin typeface="Arial" pitchFamily="34" charset="0"/>
                <a:cs typeface="Arial" pitchFamily="34" charset="0"/>
                <a:sym typeface="Wingdings" pitchFamily="2" charset="2"/>
              </a:rPr>
              <a:t>SPEAKER‘S NOTES:</a:t>
            </a:r>
          </a:p>
          <a:p>
            <a:endParaRPr lang="de-DE" i="0" baseline="0" dirty="0" smtClean="0">
              <a:latin typeface="Arial" pitchFamily="34" charset="0"/>
              <a:cs typeface="Arial" pitchFamily="34" charset="0"/>
              <a:sym typeface="Wingdings" pitchFamily="2" charset="2"/>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de-DE" i="0" baseline="0" dirty="0" smtClean="0">
                <a:latin typeface="Arial" pitchFamily="34" charset="0"/>
                <a:cs typeface="Arial" pitchFamily="34" charset="0"/>
                <a:sym typeface="Wingdings" pitchFamily="2" charset="2"/>
              </a:rPr>
              <a:t>Nearly every country on earth has signed up to the UN Convention on the Rights of the Child. That was 25 years ago. And yet those statistics tell a different story.</a:t>
            </a:r>
          </a:p>
          <a:p>
            <a:pPr marL="0" marR="0" indent="0" algn="l" defTabSz="914400" rtl="0" eaLnBrk="1" fontAlgn="base" latinLnBrk="0" hangingPunct="1">
              <a:lnSpc>
                <a:spcPct val="100000"/>
              </a:lnSpc>
              <a:spcBef>
                <a:spcPct val="30000"/>
              </a:spcBef>
              <a:spcAft>
                <a:spcPct val="0"/>
              </a:spcAft>
              <a:buClrTx/>
              <a:buSzTx/>
              <a:buFontTx/>
              <a:buNone/>
              <a:tabLst/>
              <a:defRPr/>
            </a:pPr>
            <a:endParaRPr lang="de-DE" i="0" baseline="0" dirty="0" smtClean="0">
              <a:latin typeface="Arial" pitchFamily="34" charset="0"/>
              <a:cs typeface="Arial" pitchFamily="34" charset="0"/>
              <a:sym typeface="Wingdings" pitchFamily="2" charset="2"/>
            </a:endParaRPr>
          </a:p>
          <a:p>
            <a:r>
              <a:rPr lang="de-DE" i="0" baseline="0" dirty="0" smtClean="0">
                <a:latin typeface="Arial" pitchFamily="34" charset="0"/>
                <a:cs typeface="Arial" pitchFamily="34" charset="0"/>
                <a:sym typeface="Wingdings" pitchFamily="2" charset="2"/>
              </a:rPr>
              <a:t>We cannot just stand by, without doing something, while children are in that situation.</a:t>
            </a:r>
          </a:p>
          <a:p>
            <a:endParaRPr lang="de-DE" i="0" baseline="0" dirty="0" smtClean="0">
              <a:latin typeface="Arial" pitchFamily="34" charset="0"/>
              <a:cs typeface="Arial" pitchFamily="34" charset="0"/>
              <a:sym typeface="Wingdings" pitchFamily="2" charset="2"/>
            </a:endParaRPr>
          </a:p>
          <a:p>
            <a:r>
              <a:rPr lang="de-DE" i="0" baseline="0" dirty="0" smtClean="0">
                <a:latin typeface="Arial" pitchFamily="34" charset="0"/>
                <a:cs typeface="Arial" pitchFamily="34" charset="0"/>
                <a:sym typeface="Wingdings" pitchFamily="2" charset="2"/>
              </a:rPr>
              <a:t>More than 60 years ago, this is what compelled our founder Hermann Gmeiner to establish SOS Children‘s Villages. The children who had lost their homes, their security and their families as a result of the Second World War compelled him to act. We follow in that tradition. </a:t>
            </a:r>
          </a:p>
          <a:p>
            <a:endParaRPr lang="de-DE" i="0" baseline="0" dirty="0" smtClean="0">
              <a:latin typeface="Arial" pitchFamily="34" charset="0"/>
              <a:cs typeface="Arial" pitchFamily="34" charset="0"/>
              <a:sym typeface="Wingdings" pitchFamily="2" charset="2"/>
            </a:endParaRPr>
          </a:p>
          <a:p>
            <a:r>
              <a:rPr lang="de-DE" i="0" baseline="0" dirty="0" smtClean="0">
                <a:latin typeface="Arial" pitchFamily="34" charset="0"/>
                <a:cs typeface="Arial" pitchFamily="34" charset="0"/>
                <a:sym typeface="Wingdings" pitchFamily="2" charset="2"/>
              </a:rPr>
              <a:t>In Hermann </a:t>
            </a:r>
            <a:r>
              <a:rPr lang="de-DE" i="0" baseline="0" dirty="0" err="1" smtClean="0">
                <a:latin typeface="Arial" pitchFamily="34" charset="0"/>
                <a:cs typeface="Arial" pitchFamily="34" charset="0"/>
                <a:sym typeface="Wingdings" pitchFamily="2" charset="2"/>
              </a:rPr>
              <a:t>Gmeiner‘s</a:t>
            </a:r>
            <a:r>
              <a:rPr lang="de-DE" i="0" baseline="0" dirty="0" smtClean="0">
                <a:latin typeface="Arial" pitchFamily="34" charset="0"/>
                <a:cs typeface="Arial" pitchFamily="34" charset="0"/>
                <a:sym typeface="Wingdings" pitchFamily="2" charset="2"/>
              </a:rPr>
              <a:t> </a:t>
            </a:r>
            <a:r>
              <a:rPr lang="de-DE" i="0" baseline="0" dirty="0" err="1" smtClean="0">
                <a:latin typeface="Arial" pitchFamily="34" charset="0"/>
                <a:cs typeface="Arial" pitchFamily="34" charset="0"/>
                <a:sym typeface="Wingdings" pitchFamily="2" charset="2"/>
              </a:rPr>
              <a:t>own</a:t>
            </a:r>
            <a:r>
              <a:rPr lang="de-DE" i="0" baseline="0" dirty="0" smtClean="0">
                <a:latin typeface="Arial" pitchFamily="34" charset="0"/>
                <a:cs typeface="Arial" pitchFamily="34" charset="0"/>
                <a:sym typeface="Wingdings" pitchFamily="2" charset="2"/>
              </a:rPr>
              <a:t> </a:t>
            </a:r>
            <a:r>
              <a:rPr lang="de-DE" i="0" baseline="0" dirty="0" err="1" smtClean="0">
                <a:latin typeface="Arial" pitchFamily="34" charset="0"/>
                <a:cs typeface="Arial" pitchFamily="34" charset="0"/>
                <a:sym typeface="Wingdings" pitchFamily="2" charset="2"/>
              </a:rPr>
              <a:t>words</a:t>
            </a:r>
            <a:r>
              <a:rPr lang="de-DE" i="0" baseline="0" dirty="0" smtClean="0">
                <a:latin typeface="Arial" pitchFamily="34" charset="0"/>
                <a:cs typeface="Arial" pitchFamily="34" charset="0"/>
                <a:sym typeface="Wingdings" pitchFamily="2" charset="2"/>
              </a:rPr>
              <a:t>: </a:t>
            </a:r>
            <a:r>
              <a:rPr lang="en-US" i="0" baseline="0" dirty="0" smtClean="0">
                <a:latin typeface="Arial" pitchFamily="34" charset="0"/>
                <a:cs typeface="Arial" pitchFamily="34" charset="0"/>
                <a:sym typeface="Wingdings" pitchFamily="2" charset="2"/>
              </a:rPr>
              <a:t>“ALL the children of the world are OUR children”</a:t>
            </a:r>
            <a:endParaRPr lang="de-DE" i="0" baseline="0" dirty="0" smtClean="0">
              <a:latin typeface="Arial" pitchFamily="34" charset="0"/>
              <a:cs typeface="Arial" pitchFamily="34" charset="0"/>
              <a:sym typeface="Wingdings" pitchFamily="2" charset="2"/>
            </a:endParaRPr>
          </a:p>
          <a:p>
            <a:r>
              <a:rPr lang="en-GB" sz="1200" i="1" kern="1200" dirty="0" smtClean="0">
                <a:solidFill>
                  <a:schemeClr val="tx1"/>
                </a:solidFill>
                <a:effectLst/>
                <a:latin typeface="Arial" pitchFamily="34" charset="0"/>
                <a:ea typeface="+mn-ea"/>
                <a:cs typeface="Arial" pitchFamily="34" charset="0"/>
              </a:rPr>
              <a:t> </a:t>
            </a:r>
          </a:p>
          <a:p>
            <a:r>
              <a:rPr lang="en-GB" sz="1200" kern="1200" dirty="0" smtClean="0">
                <a:solidFill>
                  <a:schemeClr val="tx1"/>
                </a:solidFill>
                <a:effectLst/>
                <a:latin typeface="Arial" pitchFamily="34" charset="0"/>
                <a:ea typeface="+mn-ea"/>
                <a:cs typeface="Arial" pitchFamily="34" charset="0"/>
              </a:rPr>
              <a:t> </a:t>
            </a:r>
          </a:p>
          <a:p>
            <a:endParaRPr lang="en-GB"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6</a:t>
            </a:fld>
            <a:endParaRPr lang="de-DE"/>
          </a:p>
        </p:txBody>
      </p:sp>
    </p:spTree>
    <p:extLst>
      <p:ext uri="{BB962C8B-B14F-4D97-AF65-F5344CB8AC3E}">
        <p14:creationId xmlns:p14="http://schemas.microsoft.com/office/powerpoint/2010/main" val="2715241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de-AT" dirty="0" smtClean="0"/>
              <a:t>SPEAKER‘S</a:t>
            </a:r>
            <a:r>
              <a:rPr lang="de-AT" baseline="0" dirty="0" smtClean="0"/>
              <a:t> NOTES</a:t>
            </a:r>
            <a:r>
              <a:rPr lang="de-AT" dirty="0" smtClean="0"/>
              <a:t>:</a:t>
            </a:r>
            <a:r>
              <a:rPr lang="de-AT" baseline="0" dirty="0" smtClean="0"/>
              <a:t> </a:t>
            </a:r>
          </a:p>
          <a:p>
            <a:pPr marL="0" marR="0" indent="0" algn="l" defTabSz="914400" rtl="0" eaLnBrk="1" fontAlgn="base" latinLnBrk="0" hangingPunct="1">
              <a:lnSpc>
                <a:spcPct val="100000"/>
              </a:lnSpc>
              <a:spcBef>
                <a:spcPct val="30000"/>
              </a:spcBef>
              <a:spcAft>
                <a:spcPct val="0"/>
              </a:spcAft>
              <a:buClrTx/>
              <a:buSzTx/>
              <a:buFontTx/>
              <a:buNone/>
              <a:tabLst/>
              <a:defRPr/>
            </a:pPr>
            <a:endParaRPr lang="de-AT"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de-AT" baseline="0" dirty="0" smtClean="0"/>
              <a:t>60 years ago, Hermann Gmeiner saw a solution: </a:t>
            </a:r>
          </a:p>
          <a:p>
            <a:pPr marL="0" marR="0" indent="0" algn="l" defTabSz="914400" rtl="0" eaLnBrk="1" fontAlgn="base" latinLnBrk="0" hangingPunct="1">
              <a:lnSpc>
                <a:spcPct val="100000"/>
              </a:lnSpc>
              <a:spcBef>
                <a:spcPct val="30000"/>
              </a:spcBef>
              <a:spcAft>
                <a:spcPct val="0"/>
              </a:spcAft>
              <a:buClrTx/>
              <a:buSzTx/>
              <a:buFontTx/>
              <a:buNone/>
              <a:tabLst/>
              <a:defRPr/>
            </a:pPr>
            <a:r>
              <a:rPr lang="de-AT" baseline="0" dirty="0" smtClean="0"/>
              <a:t>He </a:t>
            </a:r>
            <a:r>
              <a:rPr lang="de-AT" baseline="0" dirty="0" err="1" smtClean="0"/>
              <a:t>himself</a:t>
            </a:r>
            <a:r>
              <a:rPr lang="de-AT" baseline="0" dirty="0" smtClean="0"/>
              <a:t> </a:t>
            </a:r>
            <a:r>
              <a:rPr lang="de-AT" baseline="0" dirty="0" err="1" smtClean="0"/>
              <a:t>had</a:t>
            </a:r>
            <a:r>
              <a:rPr lang="de-AT" baseline="0" dirty="0" smtClean="0"/>
              <a:t> </a:t>
            </a:r>
            <a:r>
              <a:rPr lang="de-AT" baseline="0" dirty="0" err="1" smtClean="0"/>
              <a:t>been</a:t>
            </a:r>
            <a:r>
              <a:rPr lang="de-AT" baseline="0" dirty="0" smtClean="0"/>
              <a:t> </a:t>
            </a:r>
            <a:r>
              <a:rPr lang="de-AT" baseline="0" dirty="0" err="1" smtClean="0"/>
              <a:t>raised</a:t>
            </a:r>
            <a:r>
              <a:rPr lang="de-AT" baseline="0" dirty="0" smtClean="0"/>
              <a:t> not </a:t>
            </a:r>
            <a:r>
              <a:rPr lang="de-AT" baseline="0" dirty="0" err="1" smtClean="0"/>
              <a:t>by</a:t>
            </a:r>
            <a:r>
              <a:rPr lang="de-AT" baseline="0" dirty="0" smtClean="0"/>
              <a:t> </a:t>
            </a:r>
            <a:r>
              <a:rPr lang="de-AT" baseline="0" dirty="0" err="1" smtClean="0"/>
              <a:t>his</a:t>
            </a:r>
            <a:r>
              <a:rPr lang="de-AT" baseline="0" dirty="0" smtClean="0"/>
              <a:t> </a:t>
            </a:r>
            <a:r>
              <a:rPr lang="de-AT" baseline="0" dirty="0" err="1" smtClean="0"/>
              <a:t>parents</a:t>
            </a:r>
            <a:r>
              <a:rPr lang="de-AT" baseline="0" dirty="0" smtClean="0"/>
              <a:t>, but </a:t>
            </a:r>
            <a:r>
              <a:rPr lang="de-AT" baseline="0" dirty="0" err="1" smtClean="0"/>
              <a:t>by</a:t>
            </a:r>
            <a:r>
              <a:rPr lang="de-AT" baseline="0" dirty="0" smtClean="0"/>
              <a:t> </a:t>
            </a:r>
            <a:r>
              <a:rPr lang="de-AT" baseline="0" dirty="0" err="1" smtClean="0"/>
              <a:t>his</a:t>
            </a:r>
            <a:r>
              <a:rPr lang="de-AT" baseline="0" dirty="0" smtClean="0"/>
              <a:t> </a:t>
            </a:r>
            <a:r>
              <a:rPr lang="de-AT" baseline="0" dirty="0" err="1" smtClean="0"/>
              <a:t>older</a:t>
            </a:r>
            <a:r>
              <a:rPr lang="de-AT" baseline="0" dirty="0" smtClean="0"/>
              <a:t> </a:t>
            </a:r>
            <a:r>
              <a:rPr lang="de-AT" baseline="0" dirty="0" err="1" smtClean="0"/>
              <a:t>sister</a:t>
            </a:r>
            <a:r>
              <a:rPr lang="de-AT" baseline="0" dirty="0" smtClean="0"/>
              <a:t>, so he </a:t>
            </a:r>
            <a:r>
              <a:rPr lang="de-AT" baseline="0" dirty="0" err="1" smtClean="0"/>
              <a:t>knew</a:t>
            </a:r>
            <a:r>
              <a:rPr lang="de-AT" baseline="0" dirty="0" smtClean="0"/>
              <a:t> </a:t>
            </a:r>
            <a:r>
              <a:rPr lang="de-AT" baseline="0" dirty="0" err="1" smtClean="0"/>
              <a:t>that</a:t>
            </a:r>
            <a:r>
              <a:rPr lang="de-AT" baseline="0" dirty="0" smtClean="0"/>
              <a:t> </a:t>
            </a:r>
            <a:r>
              <a:rPr lang="de-AT" baseline="0" dirty="0" err="1" smtClean="0"/>
              <a:t>being</a:t>
            </a:r>
            <a:r>
              <a:rPr lang="de-AT" baseline="0" dirty="0" smtClean="0"/>
              <a:t> </a:t>
            </a:r>
            <a:r>
              <a:rPr lang="de-AT" baseline="0" dirty="0" err="1" smtClean="0"/>
              <a:t>put</a:t>
            </a:r>
            <a:r>
              <a:rPr lang="de-AT" baseline="0" dirty="0" smtClean="0"/>
              <a:t> in an </a:t>
            </a:r>
            <a:r>
              <a:rPr lang="de-AT" baseline="0" dirty="0" err="1" smtClean="0"/>
              <a:t>institution</a:t>
            </a:r>
            <a:r>
              <a:rPr lang="de-AT" baseline="0" dirty="0" smtClean="0"/>
              <a:t> was not </a:t>
            </a:r>
            <a:r>
              <a:rPr lang="de-AT" baseline="0" dirty="0" err="1" smtClean="0"/>
              <a:t>the</a:t>
            </a:r>
            <a:r>
              <a:rPr lang="de-AT" baseline="0" dirty="0" smtClean="0"/>
              <a:t> </a:t>
            </a:r>
            <a:r>
              <a:rPr lang="de-AT" baseline="0" dirty="0" err="1" smtClean="0"/>
              <a:t>only</a:t>
            </a:r>
            <a:r>
              <a:rPr lang="de-AT" baseline="0" dirty="0" smtClean="0"/>
              <a:t> alternative </a:t>
            </a:r>
            <a:r>
              <a:rPr lang="de-AT" baseline="0" dirty="0" err="1" smtClean="0"/>
              <a:t>to</a:t>
            </a:r>
            <a:r>
              <a:rPr lang="de-AT" baseline="0" dirty="0" smtClean="0"/>
              <a:t> </a:t>
            </a:r>
            <a:r>
              <a:rPr lang="de-AT" baseline="0" dirty="0" err="1" smtClean="0"/>
              <a:t>growing</a:t>
            </a:r>
            <a:r>
              <a:rPr lang="de-AT" baseline="0" dirty="0" smtClean="0"/>
              <a:t> </a:t>
            </a:r>
            <a:r>
              <a:rPr lang="de-AT" baseline="0" dirty="0" err="1" smtClean="0"/>
              <a:t>up</a:t>
            </a:r>
            <a:r>
              <a:rPr lang="de-AT" baseline="0" dirty="0" smtClean="0"/>
              <a:t> </a:t>
            </a:r>
            <a:r>
              <a:rPr lang="de-AT" baseline="0" dirty="0" err="1" smtClean="0"/>
              <a:t>with</a:t>
            </a:r>
            <a:r>
              <a:rPr lang="de-AT" baseline="0" dirty="0" smtClean="0"/>
              <a:t> </a:t>
            </a:r>
            <a:r>
              <a:rPr lang="de-AT" baseline="0" dirty="0" err="1" smtClean="0"/>
              <a:t>your</a:t>
            </a:r>
            <a:r>
              <a:rPr lang="de-AT" baseline="0" dirty="0" smtClean="0"/>
              <a:t> </a:t>
            </a:r>
            <a:r>
              <a:rPr lang="de-AT" baseline="0" dirty="0" err="1" smtClean="0"/>
              <a:t>biological</a:t>
            </a:r>
            <a:r>
              <a:rPr lang="de-AT" baseline="0" dirty="0" smtClean="0"/>
              <a:t> </a:t>
            </a:r>
            <a:r>
              <a:rPr lang="de-AT" baseline="0" dirty="0" err="1" smtClean="0"/>
              <a:t>parents</a:t>
            </a:r>
            <a:r>
              <a:rPr lang="de-AT" baseline="0" dirty="0" smtClean="0"/>
              <a:t>. He </a:t>
            </a:r>
            <a:r>
              <a:rPr lang="de-AT" baseline="0" dirty="0" err="1" smtClean="0"/>
              <a:t>decided</a:t>
            </a:r>
            <a:r>
              <a:rPr lang="de-AT" baseline="0" dirty="0" smtClean="0"/>
              <a:t> </a:t>
            </a:r>
            <a:r>
              <a:rPr lang="de-AT" baseline="0" dirty="0" err="1" smtClean="0"/>
              <a:t>to</a:t>
            </a:r>
            <a:r>
              <a:rPr lang="de-AT" baseline="0" dirty="0" smtClean="0"/>
              <a:t> CREATE </a:t>
            </a:r>
            <a:r>
              <a:rPr lang="de-AT" baseline="0" dirty="0" err="1" smtClean="0"/>
              <a:t>families</a:t>
            </a:r>
            <a:r>
              <a:rPr lang="de-AT" baseline="0" dirty="0" smtClean="0"/>
              <a:t> </a:t>
            </a:r>
            <a:r>
              <a:rPr lang="de-AT" baseline="0" dirty="0" err="1" smtClean="0"/>
              <a:t>for</a:t>
            </a:r>
            <a:r>
              <a:rPr lang="de-AT" baseline="0" dirty="0" smtClean="0"/>
              <a:t> </a:t>
            </a:r>
            <a:r>
              <a:rPr lang="de-AT" baseline="0" dirty="0" err="1" smtClean="0"/>
              <a:t>children</a:t>
            </a:r>
            <a:r>
              <a:rPr lang="de-AT" baseline="0" dirty="0" smtClean="0"/>
              <a:t> </a:t>
            </a:r>
            <a:r>
              <a:rPr lang="de-AT" baseline="0" dirty="0" err="1" smtClean="0"/>
              <a:t>who</a:t>
            </a:r>
            <a:r>
              <a:rPr lang="de-AT" baseline="0" dirty="0" smtClean="0"/>
              <a:t> </a:t>
            </a:r>
            <a:r>
              <a:rPr lang="de-AT" baseline="0" dirty="0" err="1" smtClean="0"/>
              <a:t>had</a:t>
            </a:r>
            <a:r>
              <a:rPr lang="de-AT" baseline="0" dirty="0" smtClean="0"/>
              <a:t> lost </a:t>
            </a:r>
            <a:r>
              <a:rPr lang="de-AT" baseline="0" dirty="0" err="1" smtClean="0"/>
              <a:t>their</a:t>
            </a:r>
            <a:r>
              <a:rPr lang="de-AT" baseline="0" dirty="0" smtClean="0"/>
              <a:t> </a:t>
            </a:r>
            <a:r>
              <a:rPr lang="de-AT" baseline="0" dirty="0" err="1" smtClean="0"/>
              <a:t>parents</a:t>
            </a:r>
            <a:r>
              <a:rPr lang="de-AT" baseline="0" dirty="0" smtClean="0"/>
              <a:t>.</a:t>
            </a:r>
          </a:p>
          <a:p>
            <a:pPr marL="0" marR="0" indent="0" algn="l" defTabSz="914400" rtl="0" eaLnBrk="1" fontAlgn="base" latinLnBrk="0" hangingPunct="1">
              <a:lnSpc>
                <a:spcPct val="100000"/>
              </a:lnSpc>
              <a:spcBef>
                <a:spcPct val="30000"/>
              </a:spcBef>
              <a:spcAft>
                <a:spcPct val="0"/>
              </a:spcAft>
              <a:buClrTx/>
              <a:buSzTx/>
              <a:buFontTx/>
              <a:buNone/>
              <a:tabLst/>
              <a:defRPr/>
            </a:pPr>
            <a:endParaRPr lang="de-AT"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de-DE" dirty="0" smtClean="0"/>
              <a:t>SOS</a:t>
            </a:r>
            <a:r>
              <a:rPr lang="de-DE" baseline="0" dirty="0" smtClean="0"/>
              <a:t> </a:t>
            </a:r>
            <a:r>
              <a:rPr lang="de-DE" baseline="0" dirty="0" smtClean="0">
                <a:solidFill>
                  <a:srgbClr val="FF0000"/>
                </a:solidFill>
              </a:rPr>
              <a:t>Children‘s Villages now works in 134 countries and territories to support families and help children at risk grow up in a loving home.</a:t>
            </a:r>
          </a:p>
        </p:txBody>
      </p:sp>
      <p:sp>
        <p:nvSpPr>
          <p:cNvPr id="4" name="Slide Number Placeholder 3"/>
          <p:cNvSpPr>
            <a:spLocks noGrp="1"/>
          </p:cNvSpPr>
          <p:nvPr>
            <p:ph type="sldNum" sz="quarter" idx="10"/>
          </p:nvPr>
        </p:nvSpPr>
        <p:spPr/>
        <p:txBody>
          <a:bodyPr/>
          <a:lstStyle/>
          <a:p>
            <a:fld id="{68212901-8644-4CDA-A7EA-D9645A6E2995}" type="slidenum">
              <a:rPr lang="de-DE" smtClean="0"/>
              <a:pPr/>
              <a:t>7</a:t>
            </a:fld>
            <a:endParaRPr lang="de-DE"/>
          </a:p>
        </p:txBody>
      </p:sp>
    </p:spTree>
    <p:extLst>
      <p:ext uri="{BB962C8B-B14F-4D97-AF65-F5344CB8AC3E}">
        <p14:creationId xmlns:p14="http://schemas.microsoft.com/office/powerpoint/2010/main" val="2715241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de-AT" sz="1100" dirty="0" smtClean="0"/>
              <a:t>SPEAKER‘S NOTES:</a:t>
            </a:r>
          </a:p>
          <a:p>
            <a:endParaRPr lang="de-AT" sz="1100" i="0" baseline="0" dirty="0" smtClean="0"/>
          </a:p>
          <a:p>
            <a:r>
              <a:rPr lang="de-AT" sz="1100" i="0" baseline="0" dirty="0" smtClean="0"/>
              <a:t>To provide a loving home, you have to recognise that every child is different. Every child comes from a different background, has different needs, different dreams.</a:t>
            </a:r>
          </a:p>
          <a:p>
            <a:endParaRPr lang="de-AT" sz="1100" i="0" baseline="0" dirty="0" smtClean="0"/>
          </a:p>
          <a:p>
            <a:r>
              <a:rPr lang="de-AT" sz="1100" i="0" baseline="0" dirty="0" smtClean="0"/>
              <a:t>Every child is unique. And so is the way </a:t>
            </a:r>
            <a:r>
              <a:rPr lang="de-AT" sz="1100" i="0" baseline="0" dirty="0" err="1" smtClean="0"/>
              <a:t>we</a:t>
            </a:r>
            <a:r>
              <a:rPr lang="de-AT" sz="1100" i="0" baseline="0" dirty="0" smtClean="0"/>
              <a:t> </a:t>
            </a:r>
            <a:r>
              <a:rPr lang="de-AT" sz="1100" i="0" baseline="0" dirty="0" err="1" smtClean="0"/>
              <a:t>work</a:t>
            </a:r>
            <a:r>
              <a:rPr lang="de-AT" sz="1100" i="0" baseline="0" dirty="0" smtClean="0"/>
              <a:t>.</a:t>
            </a:r>
          </a:p>
          <a:p>
            <a:endParaRPr lang="de-AT" sz="1100" i="0" baseline="0" dirty="0" smtClean="0"/>
          </a:p>
          <a:p>
            <a:endParaRPr lang="de-AT" sz="1100" i="0" baseline="0" dirty="0" smtClean="0"/>
          </a:p>
          <a:p>
            <a:endParaRPr lang="de-AT" sz="1100" i="0" baseline="0" dirty="0" smtClean="0"/>
          </a:p>
          <a:p>
            <a:endParaRPr lang="de-AT" sz="1100" i="0" baseline="0" dirty="0" smtClean="0"/>
          </a:p>
          <a:p>
            <a:endParaRPr lang="de-AT" sz="1100" i="1" baseline="0" dirty="0" smtClean="0"/>
          </a:p>
          <a:p>
            <a:endParaRPr lang="de-AT" sz="1100" i="1" baseline="0" dirty="0" smtClean="0"/>
          </a:p>
          <a:p>
            <a:endParaRPr lang="de-AT" sz="1100" i="1" baseline="0" dirty="0" smtClean="0"/>
          </a:p>
          <a:p>
            <a:r>
              <a:rPr lang="de-AT" sz="1100" i="1" baseline="0" dirty="0" smtClean="0"/>
              <a:t> </a:t>
            </a:r>
            <a:endParaRPr lang="de-AT" sz="1100" i="1" dirty="0"/>
          </a:p>
        </p:txBody>
      </p:sp>
      <p:sp>
        <p:nvSpPr>
          <p:cNvPr id="4" name="Slide Number Placeholder 3"/>
          <p:cNvSpPr>
            <a:spLocks noGrp="1"/>
          </p:cNvSpPr>
          <p:nvPr>
            <p:ph type="sldNum" sz="quarter" idx="10"/>
          </p:nvPr>
        </p:nvSpPr>
        <p:spPr/>
        <p:txBody>
          <a:bodyPr/>
          <a:lstStyle/>
          <a:p>
            <a:fld id="{68212901-8644-4CDA-A7EA-D9645A6E2995}" type="slidenum">
              <a:rPr lang="de-DE" smtClean="0"/>
              <a:pPr/>
              <a:t>8</a:t>
            </a:fld>
            <a:endParaRPr lang="de-DE"/>
          </a:p>
        </p:txBody>
      </p:sp>
    </p:spTree>
    <p:extLst>
      <p:ext uri="{BB962C8B-B14F-4D97-AF65-F5344CB8AC3E}">
        <p14:creationId xmlns:p14="http://schemas.microsoft.com/office/powerpoint/2010/main" val="2575948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de-AT" dirty="0" smtClean="0"/>
              <a:t>SPEAKER‘S NOTES:</a:t>
            </a:r>
          </a:p>
          <a:p>
            <a:pPr marL="0" marR="0" indent="0" algn="l" defTabSz="914400" rtl="0" eaLnBrk="1" fontAlgn="base" latinLnBrk="0" hangingPunct="1">
              <a:lnSpc>
                <a:spcPct val="100000"/>
              </a:lnSpc>
              <a:spcBef>
                <a:spcPct val="30000"/>
              </a:spcBef>
              <a:spcAft>
                <a:spcPct val="0"/>
              </a:spcAft>
              <a:buClrTx/>
              <a:buSzTx/>
              <a:buFontTx/>
              <a:buNone/>
              <a:tabLst/>
              <a:defRPr/>
            </a:pPr>
            <a:endParaRPr lang="de-AT"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de-AT" dirty="0" smtClean="0"/>
              <a:t>We are different because we truly</a:t>
            </a:r>
            <a:r>
              <a:rPr lang="de-AT" baseline="0" dirty="0" smtClean="0"/>
              <a:t> put the child at the centre of everything we do.</a:t>
            </a:r>
          </a:p>
          <a:p>
            <a:pPr marL="0" marR="0" indent="0" algn="l" defTabSz="914400" rtl="0" eaLnBrk="1" fontAlgn="base" latinLnBrk="0" hangingPunct="1">
              <a:lnSpc>
                <a:spcPct val="100000"/>
              </a:lnSpc>
              <a:spcBef>
                <a:spcPct val="30000"/>
              </a:spcBef>
              <a:spcAft>
                <a:spcPct val="0"/>
              </a:spcAft>
              <a:buClrTx/>
              <a:buSzTx/>
              <a:buFontTx/>
              <a:buNone/>
              <a:tabLst/>
              <a:defRPr/>
            </a:pPr>
            <a:endParaRPr lang="de-AT"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de-AT" baseline="0" dirty="0" smtClean="0"/>
              <a:t>We get to know every child in our care, and each child has an individual development plan. We talk with the children and involve them in any decisions affecting them. The individual child‘s best interests are at the heart of every decision.</a:t>
            </a:r>
          </a:p>
          <a:p>
            <a:pPr marL="0" marR="0" indent="0" algn="l" defTabSz="914400" rtl="0" eaLnBrk="1" fontAlgn="base" latinLnBrk="0" hangingPunct="1">
              <a:lnSpc>
                <a:spcPct val="100000"/>
              </a:lnSpc>
              <a:spcBef>
                <a:spcPct val="30000"/>
              </a:spcBef>
              <a:spcAft>
                <a:spcPct val="0"/>
              </a:spcAft>
              <a:buClrTx/>
              <a:buSzTx/>
              <a:buFontTx/>
              <a:buNone/>
              <a:tabLst/>
              <a:defRPr/>
            </a:pPr>
            <a:endParaRPr lang="de-AT"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de-AT" baseline="0" dirty="0" smtClean="0"/>
              <a:t>Although each child is different, our experience tells us that ALL children need long term, resilient relationships, and that these are best developed in family environments.</a:t>
            </a:r>
          </a:p>
          <a:p>
            <a:pPr marL="0" marR="0" indent="0" algn="l" defTabSz="914400" rtl="0" eaLnBrk="1" fontAlgn="base" latinLnBrk="0" hangingPunct="1">
              <a:lnSpc>
                <a:spcPct val="100000"/>
              </a:lnSpc>
              <a:spcBef>
                <a:spcPct val="30000"/>
              </a:spcBef>
              <a:spcAft>
                <a:spcPct val="0"/>
              </a:spcAft>
              <a:buClrTx/>
              <a:buSzTx/>
              <a:buFontTx/>
              <a:buNone/>
              <a:tabLst/>
              <a:defRPr/>
            </a:pPr>
            <a:endParaRPr lang="de-AT" dirty="0" smtClean="0"/>
          </a:p>
          <a:p>
            <a:endParaRPr lang="en-US" sz="1200" b="0" i="0" u="none" strike="noStrike" kern="1200" baseline="0" dirty="0" smtClean="0">
              <a:solidFill>
                <a:schemeClr val="tx1"/>
              </a:solidFill>
              <a:latin typeface="Calibri" pitchFamily="34" charset="0"/>
              <a:ea typeface="+mn-ea"/>
              <a:cs typeface="+mn-cs"/>
            </a:endParaRPr>
          </a:p>
          <a:p>
            <a:endParaRPr lang="en-US" sz="1200" b="0" i="0" u="none" strike="noStrike" kern="1200" baseline="0" dirty="0" smtClean="0">
              <a:solidFill>
                <a:schemeClr val="tx1"/>
              </a:solidFill>
              <a:latin typeface="Calibri" pitchFamily="34" charset="0"/>
              <a:ea typeface="+mn-ea"/>
              <a:cs typeface="+mn-cs"/>
            </a:endParaRPr>
          </a:p>
          <a:p>
            <a:endParaRPr lang="de-AT" i="1" dirty="0"/>
          </a:p>
        </p:txBody>
      </p:sp>
      <p:sp>
        <p:nvSpPr>
          <p:cNvPr id="4" name="Slide Number Placeholder 3"/>
          <p:cNvSpPr>
            <a:spLocks noGrp="1"/>
          </p:cNvSpPr>
          <p:nvPr>
            <p:ph type="sldNum" sz="quarter" idx="10"/>
          </p:nvPr>
        </p:nvSpPr>
        <p:spPr/>
        <p:txBody>
          <a:bodyPr/>
          <a:lstStyle/>
          <a:p>
            <a:fld id="{68212901-8644-4CDA-A7EA-D9645A6E2995}" type="slidenum">
              <a:rPr lang="de-DE" smtClean="0"/>
              <a:pPr/>
              <a:t>9</a:t>
            </a:fld>
            <a:endParaRPr lang="de-DE"/>
          </a:p>
        </p:txBody>
      </p:sp>
    </p:spTree>
    <p:extLst>
      <p:ext uri="{BB962C8B-B14F-4D97-AF65-F5344CB8AC3E}">
        <p14:creationId xmlns:p14="http://schemas.microsoft.com/office/powerpoint/2010/main" val="941596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smtClean="0">
                <a:solidFill>
                  <a:schemeClr val="tx1"/>
                </a:solidFill>
                <a:effectLst/>
                <a:latin typeface="Calibri" pitchFamily="34" charset="0"/>
                <a:ea typeface="+mn-ea"/>
                <a:cs typeface="+mn-cs"/>
              </a:rPr>
              <a:t>SPEAKER’S NOTES: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smtClean="0">
                <a:solidFill>
                  <a:schemeClr val="tx1"/>
                </a:solidFill>
                <a:effectLst/>
                <a:latin typeface="Calibri" pitchFamily="34" charset="0"/>
                <a:ea typeface="+mn-ea"/>
                <a:cs typeface="+mn-cs"/>
              </a:rPr>
              <a:t>Everything we do is oriented towards making sure that every child grows up in a caring family environment,</a:t>
            </a:r>
            <a:r>
              <a:rPr lang="en-GB" sz="1200" kern="1200" baseline="0" dirty="0" smtClean="0">
                <a:solidFill>
                  <a:schemeClr val="tx1"/>
                </a:solidFill>
                <a:effectLst/>
                <a:latin typeface="Calibri" pitchFamily="34" charset="0"/>
                <a:ea typeface="+mn-ea"/>
                <a:cs typeface="+mn-cs"/>
              </a:rPr>
              <a:t> </a:t>
            </a:r>
            <a:r>
              <a:rPr lang="en-GB" sz="1200" kern="1200" dirty="0" smtClean="0">
                <a:solidFill>
                  <a:schemeClr val="tx1"/>
                </a:solidFill>
                <a:effectLst/>
                <a:latin typeface="Calibri" pitchFamily="34" charset="0"/>
                <a:ea typeface="+mn-ea"/>
                <a:cs typeface="+mn-cs"/>
              </a:rPr>
              <a:t>where the child can be a child. That</a:t>
            </a:r>
            <a:r>
              <a:rPr lang="en-GB" sz="1200" kern="1200" baseline="0" dirty="0" smtClean="0">
                <a:solidFill>
                  <a:schemeClr val="tx1"/>
                </a:solidFill>
                <a:effectLst/>
                <a:latin typeface="Calibri" pitchFamily="34" charset="0"/>
                <a:ea typeface="+mn-ea"/>
                <a:cs typeface="+mn-cs"/>
              </a:rPr>
              <a:t> environment includes care, education, healthcare, and a social support network.</a:t>
            </a:r>
            <a:endParaRPr lang="en-GB"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smtClean="0">
                <a:solidFill>
                  <a:schemeClr val="tx1"/>
                </a:solidFill>
                <a:effectLst/>
                <a:latin typeface="Calibri" pitchFamily="34" charset="0"/>
                <a:ea typeface="+mn-ea"/>
                <a:cs typeface="+mn-cs"/>
              </a:rPr>
              <a:t>The preferred </a:t>
            </a:r>
            <a:r>
              <a:rPr lang="en-GB" sz="1200" kern="1200" baseline="0" dirty="0" smtClean="0">
                <a:solidFill>
                  <a:schemeClr val="tx1"/>
                </a:solidFill>
                <a:effectLst/>
                <a:latin typeface="Calibri" pitchFamily="34" charset="0"/>
                <a:ea typeface="+mn-ea"/>
                <a:cs typeface="+mn-cs"/>
              </a:rPr>
              <a:t>solution is always for the child to stay with their existing family – and we work with families of all types to enable them to provide a loving home for their children.</a:t>
            </a:r>
            <a:endParaRPr lang="en-GB"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kern="1200" dirty="0" smtClean="0">
              <a:solidFill>
                <a:schemeClr val="tx1"/>
              </a:solidFill>
              <a:effectLst/>
              <a:latin typeface="Calibri" pitchFamily="34" charset="0"/>
              <a:ea typeface="+mn-ea"/>
              <a:cs typeface="+mn-cs"/>
            </a:endParaRPr>
          </a:p>
          <a:p>
            <a:r>
              <a:rPr lang="en-GB" sz="1200" b="0" kern="1200" dirty="0" smtClean="0">
                <a:solidFill>
                  <a:schemeClr val="tx1"/>
                </a:solidFill>
                <a:effectLst/>
                <a:latin typeface="Calibri" pitchFamily="34" charset="0"/>
                <a:ea typeface="+mn-ea"/>
                <a:cs typeface="+mn-cs"/>
              </a:rPr>
              <a:t>When children can no longer stay with their families, </a:t>
            </a:r>
            <a:r>
              <a:rPr lang="en-GB" sz="1200" kern="1200" dirty="0" smtClean="0">
                <a:solidFill>
                  <a:schemeClr val="tx1"/>
                </a:solidFill>
                <a:effectLst/>
                <a:latin typeface="Calibri" pitchFamily="34" charset="0"/>
                <a:ea typeface="+mn-ea"/>
                <a:cs typeface="+mn-cs"/>
              </a:rPr>
              <a:t>we provide them with a loving home in an SOS family</a:t>
            </a:r>
            <a:r>
              <a:rPr lang="en-GB" sz="1200" kern="1200" baseline="0" dirty="0" smtClean="0">
                <a:solidFill>
                  <a:schemeClr val="tx1"/>
                </a:solidFill>
                <a:effectLst/>
                <a:latin typeface="Calibri" pitchFamily="34" charset="0"/>
                <a:ea typeface="+mn-ea"/>
                <a:cs typeface="+mn-cs"/>
              </a:rPr>
              <a:t>. </a:t>
            </a:r>
          </a:p>
          <a:p>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The love of a carer is essential. In our SOS Children’s Villages, the </a:t>
            </a:r>
            <a:r>
              <a:rPr lang="en-GB" sz="1200" b="0" kern="1200" dirty="0" smtClean="0">
                <a:solidFill>
                  <a:schemeClr val="tx1"/>
                </a:solidFill>
                <a:effectLst/>
                <a:latin typeface="Calibri" pitchFamily="34" charset="0"/>
                <a:ea typeface="+mn-ea"/>
                <a:cs typeface="+mn-cs"/>
              </a:rPr>
              <a:t>SOS mother builds a close relationship </a:t>
            </a:r>
            <a:r>
              <a:rPr lang="en-GB" sz="1200" kern="1200" dirty="0" smtClean="0">
                <a:solidFill>
                  <a:schemeClr val="tx1"/>
                </a:solidFill>
                <a:effectLst/>
                <a:latin typeface="Calibri" pitchFamily="34" charset="0"/>
                <a:ea typeface="+mn-ea"/>
                <a:cs typeface="+mn-cs"/>
              </a:rPr>
              <a:t>with every child entrusted to her. As a </a:t>
            </a:r>
            <a:r>
              <a:rPr lang="en-GB" sz="1200" b="0" kern="1200" dirty="0" smtClean="0">
                <a:solidFill>
                  <a:schemeClr val="tx1"/>
                </a:solidFill>
                <a:effectLst/>
                <a:latin typeface="Calibri" pitchFamily="34" charset="0"/>
                <a:ea typeface="+mn-ea"/>
                <a:cs typeface="+mn-cs"/>
              </a:rPr>
              <a:t>child-care professional, she lives together with her children, guides their development and runs her household independently. </a:t>
            </a:r>
          </a:p>
          <a:p>
            <a:pPr marL="0" indent="0">
              <a:buFont typeface="+mj-lt"/>
              <a:buNone/>
            </a:pPr>
            <a:endParaRPr lang="de-DE" sz="1200" i="1" kern="1200" baseline="0" dirty="0" smtClean="0">
              <a:solidFill>
                <a:schemeClr val="tx1"/>
              </a:solidFill>
              <a:effectLst/>
              <a:latin typeface="Calibri" pitchFamily="34" charset="0"/>
              <a:ea typeface="+mn-ea"/>
              <a:cs typeface="+mn-cs"/>
              <a:sym typeface="Wingdings" pitchFamily="2" charset="2"/>
            </a:endParaRPr>
          </a:p>
          <a:p>
            <a:pPr marL="0" indent="0">
              <a:buFont typeface="+mj-lt"/>
              <a:buNone/>
            </a:pPr>
            <a:endParaRPr lang="de-DE" sz="1200" kern="1200" dirty="0" smtClean="0">
              <a:solidFill>
                <a:schemeClr val="tx1"/>
              </a:solidFill>
              <a:effectLst/>
              <a:latin typeface="Calibri" pitchFamily="34" charset="0"/>
              <a:ea typeface="+mn-ea"/>
              <a:cs typeface="+mn-cs"/>
            </a:endParaRPr>
          </a:p>
          <a:p>
            <a:endParaRPr lang="en-GB"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de-AT" dirty="0"/>
          </a:p>
        </p:txBody>
      </p:sp>
      <p:sp>
        <p:nvSpPr>
          <p:cNvPr id="4" name="Slide Number Placeholder 3"/>
          <p:cNvSpPr>
            <a:spLocks noGrp="1"/>
          </p:cNvSpPr>
          <p:nvPr>
            <p:ph type="sldNum" sz="quarter" idx="10"/>
          </p:nvPr>
        </p:nvSpPr>
        <p:spPr/>
        <p:txBody>
          <a:bodyPr/>
          <a:lstStyle/>
          <a:p>
            <a:fld id="{68212901-8644-4CDA-A7EA-D9645A6E2995}" type="slidenum">
              <a:rPr lang="de-DE" smtClean="0"/>
              <a:pPr/>
              <a:t>10</a:t>
            </a:fld>
            <a:endParaRPr lang="de-DE"/>
          </a:p>
        </p:txBody>
      </p:sp>
    </p:spTree>
    <p:extLst>
      <p:ext uri="{BB962C8B-B14F-4D97-AF65-F5344CB8AC3E}">
        <p14:creationId xmlns:p14="http://schemas.microsoft.com/office/powerpoint/2010/main" val="1452554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Calibri" pitchFamily="34" charset="0"/>
                <a:ea typeface="+mn-ea"/>
                <a:cs typeface="+mn-cs"/>
              </a:rPr>
              <a:t>SPEAKER’S NOTES:</a:t>
            </a:r>
          </a:p>
          <a:p>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We provide support over the long term, so that each child or young person can develop resilient relationships and face life’s challenges in</a:t>
            </a:r>
            <a:r>
              <a:rPr lang="en-GB" sz="1200" kern="1200" baseline="0" dirty="0" smtClean="0">
                <a:solidFill>
                  <a:schemeClr val="tx1"/>
                </a:solidFill>
                <a:effectLst/>
                <a:latin typeface="Calibri" pitchFamily="34" charset="0"/>
                <a:ea typeface="+mn-ea"/>
                <a:cs typeface="+mn-cs"/>
              </a:rPr>
              <a:t> the future.</a:t>
            </a:r>
          </a:p>
          <a:p>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We continue our support until young people are ready to become independent.</a:t>
            </a:r>
          </a:p>
          <a:p>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We focus on enabling the child to really be themselves, and ultimately to be responsible for their own decisions and actions.</a:t>
            </a:r>
            <a:endParaRPr lang="en-GB" sz="1200" kern="1200" dirty="0" smtClean="0">
              <a:solidFill>
                <a:schemeClr val="tx1"/>
              </a:solidFill>
              <a:effectLst/>
              <a:latin typeface="Calibri" pitchFamily="34" charset="0"/>
              <a:ea typeface="+mn-ea"/>
              <a:cs typeface="+mn-cs"/>
            </a:endParaRPr>
          </a:p>
          <a:p>
            <a:endParaRPr lang="en-GB" sz="1200" kern="120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11</a:t>
            </a:fld>
            <a:endParaRPr lang="de-DE"/>
          </a:p>
        </p:txBody>
      </p:sp>
    </p:spTree>
    <p:extLst>
      <p:ext uri="{BB962C8B-B14F-4D97-AF65-F5344CB8AC3E}">
        <p14:creationId xmlns:p14="http://schemas.microsoft.com/office/powerpoint/2010/main" val="1452554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Calibri" pitchFamily="34" charset="0"/>
                <a:ea typeface="+mn-ea"/>
                <a:cs typeface="+mn-cs"/>
              </a:rPr>
              <a:t>SPEAKER’S NOTES:</a:t>
            </a:r>
          </a:p>
          <a:p>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Remember</a:t>
            </a:r>
            <a:r>
              <a:rPr lang="en-GB" sz="1200" kern="1200" baseline="0" dirty="0" smtClean="0">
                <a:solidFill>
                  <a:schemeClr val="tx1"/>
                </a:solidFill>
                <a:effectLst/>
                <a:latin typeface="Calibri" pitchFamily="34" charset="0"/>
                <a:ea typeface="+mn-ea"/>
                <a:cs typeface="+mn-cs"/>
              </a:rPr>
              <a:t> that o</a:t>
            </a:r>
            <a:r>
              <a:rPr lang="en-GB" sz="1200" kern="1200" dirty="0" smtClean="0">
                <a:solidFill>
                  <a:schemeClr val="tx1"/>
                </a:solidFill>
                <a:effectLst/>
                <a:latin typeface="Calibri" pitchFamily="34" charset="0"/>
                <a:ea typeface="+mn-ea"/>
                <a:cs typeface="+mn-cs"/>
              </a:rPr>
              <a:t>ur</a:t>
            </a:r>
            <a:r>
              <a:rPr lang="en-GB" sz="1200" kern="1200" baseline="0" dirty="0" smtClean="0">
                <a:solidFill>
                  <a:schemeClr val="tx1"/>
                </a:solidFill>
                <a:effectLst/>
                <a:latin typeface="Calibri" pitchFamily="34" charset="0"/>
                <a:ea typeface="+mn-ea"/>
                <a:cs typeface="+mn-cs"/>
              </a:rPr>
              <a:t> aim always is to keep families together. </a:t>
            </a:r>
          </a:p>
          <a:p>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And when children are unable to remain with their biological parents, we strive to ensure that brothers and sisters stay together. </a:t>
            </a:r>
          </a:p>
          <a:p>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Too often, siblings are separated when they enter alternative care. But that robs them of an important part of who they are.</a:t>
            </a:r>
          </a:p>
          <a:p>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Siblings offer each other invaluable support, and usually it is important for them to grow up together, so that they can keep their own shared history and build a shared future.</a:t>
            </a:r>
          </a:p>
        </p:txBody>
      </p:sp>
      <p:sp>
        <p:nvSpPr>
          <p:cNvPr id="4" name="Slide Number Placeholder 3"/>
          <p:cNvSpPr>
            <a:spLocks noGrp="1"/>
          </p:cNvSpPr>
          <p:nvPr>
            <p:ph type="sldNum" sz="quarter" idx="10"/>
          </p:nvPr>
        </p:nvSpPr>
        <p:spPr/>
        <p:txBody>
          <a:bodyPr/>
          <a:lstStyle/>
          <a:p>
            <a:fld id="{68212901-8644-4CDA-A7EA-D9645A6E2995}" type="slidenum">
              <a:rPr lang="de-DE" smtClean="0"/>
              <a:pPr/>
              <a:t>12</a:t>
            </a:fld>
            <a:endParaRPr lang="de-DE"/>
          </a:p>
        </p:txBody>
      </p:sp>
    </p:spTree>
    <p:extLst>
      <p:ext uri="{BB962C8B-B14F-4D97-AF65-F5344CB8AC3E}">
        <p14:creationId xmlns:p14="http://schemas.microsoft.com/office/powerpoint/2010/main" val="1452554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Calibri" pitchFamily="34" charset="0"/>
                <a:ea typeface="+mn-ea"/>
                <a:cs typeface="+mn-cs"/>
              </a:rPr>
              <a:t>SPEAKER’S NOTES:</a:t>
            </a:r>
          </a:p>
          <a:p>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We are different from other organisations because </a:t>
            </a:r>
            <a:r>
              <a:rPr lang="en-GB" sz="1200" b="0" kern="1200" dirty="0" smtClean="0">
                <a:solidFill>
                  <a:schemeClr val="tx1"/>
                </a:solidFill>
                <a:effectLst/>
                <a:latin typeface="Calibri" pitchFamily="34" charset="0"/>
                <a:ea typeface="+mn-ea"/>
                <a:cs typeface="+mn-cs"/>
              </a:rPr>
              <a:t>we focus on what each individual child needs. The foundation for this is the loving family environment, but it also includes access to health care, education, and recreation.</a:t>
            </a:r>
          </a:p>
          <a:p>
            <a:r>
              <a:rPr lang="en-GB" sz="1200" b="0" kern="1200" dirty="0" smtClean="0">
                <a:solidFill>
                  <a:schemeClr val="tx1"/>
                </a:solidFill>
                <a:effectLst/>
                <a:latin typeface="Calibri" pitchFamily="34" charset="0"/>
                <a:ea typeface="+mn-ea"/>
                <a:cs typeface="+mn-cs"/>
              </a:rPr>
              <a:t/>
            </a:r>
            <a:br>
              <a:rPr lang="en-GB" sz="1200" b="0" kern="1200" dirty="0" smtClean="0">
                <a:solidFill>
                  <a:schemeClr val="tx1"/>
                </a:solidFill>
                <a:effectLst/>
                <a:latin typeface="Calibri" pitchFamily="34" charset="0"/>
                <a:ea typeface="+mn-ea"/>
                <a:cs typeface="+mn-cs"/>
              </a:rPr>
            </a:br>
            <a:r>
              <a:rPr lang="en-GB" sz="1200" b="0" kern="1200" dirty="0" smtClean="0">
                <a:solidFill>
                  <a:schemeClr val="tx1"/>
                </a:solidFill>
                <a:effectLst/>
                <a:latin typeface="Calibri" pitchFamily="34" charset="0"/>
                <a:ea typeface="+mn-ea"/>
                <a:cs typeface="+mn-cs"/>
              </a:rPr>
              <a:t>So</a:t>
            </a:r>
            <a:r>
              <a:rPr lang="en-GB" sz="1200" b="0" kern="1200" baseline="0" dirty="0" smtClean="0">
                <a:solidFill>
                  <a:schemeClr val="tx1"/>
                </a:solidFill>
                <a:effectLst/>
                <a:latin typeface="Calibri" pitchFamily="34" charset="0"/>
                <a:ea typeface="+mn-ea"/>
                <a:cs typeface="+mn-cs"/>
              </a:rPr>
              <a:t> w</a:t>
            </a:r>
            <a:r>
              <a:rPr lang="en-GB" sz="1200" kern="1200" dirty="0" smtClean="0">
                <a:solidFill>
                  <a:schemeClr val="tx1"/>
                </a:solidFill>
                <a:effectLst/>
                <a:latin typeface="Calibri" pitchFamily="34" charset="0"/>
                <a:ea typeface="+mn-ea"/>
                <a:cs typeface="+mn-cs"/>
              </a:rPr>
              <a:t>e get to know each child we deal with as a unique individual, and we </a:t>
            </a:r>
            <a:r>
              <a:rPr lang="en-GB" sz="1200" b="0" kern="1200" dirty="0" smtClean="0">
                <a:solidFill>
                  <a:schemeClr val="tx1"/>
                </a:solidFill>
                <a:effectLst/>
                <a:latin typeface="Calibri" pitchFamily="34" charset="0"/>
                <a:ea typeface="+mn-ea"/>
                <a:cs typeface="+mn-cs"/>
              </a:rPr>
              <a:t>work with them to develop a</a:t>
            </a:r>
            <a:r>
              <a:rPr lang="en-GB" sz="1200" b="0" kern="1200" baseline="0" dirty="0" smtClean="0">
                <a:solidFill>
                  <a:schemeClr val="tx1"/>
                </a:solidFill>
                <a:effectLst/>
                <a:latin typeface="Calibri" pitchFamily="34" charset="0"/>
                <a:ea typeface="+mn-ea"/>
                <a:cs typeface="+mn-cs"/>
              </a:rPr>
              <a:t> personalised</a:t>
            </a:r>
            <a:r>
              <a:rPr lang="en-GB" sz="1200" b="0" kern="1200" dirty="0" smtClean="0">
                <a:solidFill>
                  <a:schemeClr val="tx1"/>
                </a:solidFill>
                <a:effectLst/>
                <a:latin typeface="Calibri" pitchFamily="34" charset="0"/>
                <a:ea typeface="+mn-ea"/>
                <a:cs typeface="+mn-cs"/>
              </a:rPr>
              <a:t> plan for</a:t>
            </a:r>
            <a:r>
              <a:rPr lang="en-GB" sz="1200" b="0" kern="1200" baseline="0" dirty="0" smtClean="0">
                <a:solidFill>
                  <a:schemeClr val="tx1"/>
                </a:solidFill>
                <a:effectLst/>
                <a:latin typeface="Calibri" pitchFamily="34" charset="0"/>
                <a:ea typeface="+mn-ea"/>
                <a:cs typeface="+mn-cs"/>
              </a:rPr>
              <a:t> their development</a:t>
            </a:r>
            <a:r>
              <a:rPr lang="en-GB" sz="1200" b="0" kern="1200" dirty="0" smtClean="0">
                <a:solidFill>
                  <a:schemeClr val="tx1"/>
                </a:solidFill>
                <a:effectLst/>
                <a:latin typeface="Calibri" pitchFamily="34" charset="0"/>
                <a:ea typeface="+mn-ea"/>
                <a:cs typeface="+mn-cs"/>
              </a:rPr>
              <a:t>. We involve</a:t>
            </a:r>
            <a:r>
              <a:rPr lang="en-GB" sz="1200" b="0" kern="1200" baseline="0" dirty="0" smtClean="0">
                <a:solidFill>
                  <a:schemeClr val="tx1"/>
                </a:solidFill>
                <a:effectLst/>
                <a:latin typeface="Calibri" pitchFamily="34" charset="0"/>
                <a:ea typeface="+mn-ea"/>
                <a:cs typeface="+mn-cs"/>
              </a:rPr>
              <a:t> them in the decision making process.</a:t>
            </a:r>
            <a:endParaRPr lang="en-GB" sz="1200" b="0" kern="1200" dirty="0" smtClean="0">
              <a:solidFill>
                <a:schemeClr val="tx1"/>
              </a:solidFill>
              <a:effectLst/>
              <a:latin typeface="Calibri" pitchFamily="34" charset="0"/>
              <a:ea typeface="+mn-ea"/>
              <a:cs typeface="+mn-cs"/>
            </a:endParaRPr>
          </a:p>
          <a:p>
            <a:endParaRPr lang="de-DE" sz="1200" b="1" kern="120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13</a:t>
            </a:fld>
            <a:endParaRPr lang="de-DE"/>
          </a:p>
        </p:txBody>
      </p:sp>
    </p:spTree>
    <p:extLst>
      <p:ext uri="{BB962C8B-B14F-4D97-AF65-F5344CB8AC3E}">
        <p14:creationId xmlns:p14="http://schemas.microsoft.com/office/powerpoint/2010/main" val="1452554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SPEAKER‘S NOTES:</a:t>
            </a:r>
          </a:p>
          <a:p>
            <a:endParaRPr lang="de-DE" baseline="0" dirty="0" smtClean="0"/>
          </a:p>
          <a:p>
            <a:r>
              <a:rPr lang="de-DE" baseline="0" dirty="0" smtClean="0"/>
              <a:t>Children and their families are part of the community. Children should have a place where they can build their confidence and learn in a positive, supportive community. We work to make sure that families have access to support systems and social ‚safety nets‘ provided by local governments, community leaders and other responsible authorities.</a:t>
            </a:r>
          </a:p>
          <a:p>
            <a:endParaRPr lang="de-DE" baseline="0" dirty="0" smtClean="0"/>
          </a:p>
          <a:p>
            <a:r>
              <a:rPr lang="de-DE" baseline="0" dirty="0" smtClean="0"/>
              <a:t>When we invest in the child‘s long-term development, they grow up to strengthen the communities in which they live </a:t>
            </a:r>
            <a:r>
              <a:rPr lang="de-DE" baseline="0" dirty="0" err="1" smtClean="0"/>
              <a:t>and</a:t>
            </a:r>
            <a:r>
              <a:rPr lang="de-DE" baseline="0" dirty="0" smtClean="0"/>
              <a:t> </a:t>
            </a:r>
            <a:r>
              <a:rPr lang="de-DE" baseline="0" dirty="0" err="1" smtClean="0"/>
              <a:t>indeed</a:t>
            </a:r>
            <a:r>
              <a:rPr lang="de-DE" baseline="0" dirty="0" smtClean="0"/>
              <a:t> the whole of society.</a:t>
            </a:r>
          </a:p>
          <a:p>
            <a:endParaRPr lang="de-DE" baseline="0" dirty="0" smtClean="0"/>
          </a:p>
        </p:txBody>
      </p:sp>
      <p:sp>
        <p:nvSpPr>
          <p:cNvPr id="4" name="Slide Number Placeholder 3"/>
          <p:cNvSpPr>
            <a:spLocks noGrp="1"/>
          </p:cNvSpPr>
          <p:nvPr>
            <p:ph type="sldNum" sz="quarter" idx="10"/>
          </p:nvPr>
        </p:nvSpPr>
        <p:spPr/>
        <p:txBody>
          <a:bodyPr/>
          <a:lstStyle/>
          <a:p>
            <a:fld id="{68212901-8644-4CDA-A7EA-D9645A6E2995}" type="slidenum">
              <a:rPr lang="de-DE" smtClean="0"/>
              <a:pPr/>
              <a:t>14</a:t>
            </a:fld>
            <a:endParaRPr lang="de-DE"/>
          </a:p>
        </p:txBody>
      </p:sp>
    </p:spTree>
    <p:extLst>
      <p:ext uri="{BB962C8B-B14F-4D97-AF65-F5344CB8AC3E}">
        <p14:creationId xmlns:p14="http://schemas.microsoft.com/office/powerpoint/2010/main" val="3221212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Calibri" pitchFamily="34" charset="0"/>
                <a:ea typeface="+mn-ea"/>
                <a:cs typeface="+mn-cs"/>
              </a:rPr>
              <a:t>SPEAKER’S NOTES</a:t>
            </a:r>
          </a:p>
          <a:p>
            <a:endParaRPr lang="en-US" sz="1200" b="0" i="0" u="none" strike="noStrike" kern="1200" baseline="0" dirty="0" smtClean="0">
              <a:solidFill>
                <a:schemeClr val="tx1"/>
              </a:solidFill>
              <a:latin typeface="Calibri" pitchFamily="34" charset="0"/>
              <a:ea typeface="+mn-ea"/>
              <a:cs typeface="+mn-cs"/>
            </a:endParaRPr>
          </a:p>
          <a:p>
            <a:r>
              <a:rPr lang="en-US" sz="1200" b="0" i="0" u="none" strike="noStrike" kern="1200" baseline="0" dirty="0" smtClean="0">
                <a:solidFill>
                  <a:schemeClr val="tx1"/>
                </a:solidFill>
                <a:latin typeface="Calibri" pitchFamily="34" charset="0"/>
                <a:ea typeface="+mn-ea"/>
                <a:cs typeface="+mn-cs"/>
              </a:rPr>
              <a:t>No two families are the same!</a:t>
            </a:r>
          </a:p>
          <a:p>
            <a:endParaRPr lang="en-US" sz="1200" b="0" i="1" u="none" strike="noStrike" kern="1200" baseline="0" dirty="0" smtClean="0">
              <a:solidFill>
                <a:schemeClr val="tx1"/>
              </a:solidFill>
              <a:latin typeface="Calibri" pitchFamily="34" charset="0"/>
              <a:ea typeface="+mn-ea"/>
              <a:cs typeface="+mn-cs"/>
            </a:endParaRPr>
          </a:p>
          <a:p>
            <a:r>
              <a:rPr lang="en-US" sz="1200" b="0" i="0" u="none" strike="noStrike" kern="1200" baseline="0" dirty="0" smtClean="0">
                <a:solidFill>
                  <a:schemeClr val="tx1"/>
                </a:solidFill>
                <a:latin typeface="Calibri" pitchFamily="34" charset="0"/>
                <a:ea typeface="+mn-ea"/>
                <a:cs typeface="+mn-cs"/>
              </a:rPr>
              <a:t>Here are a few types of families we work with.</a:t>
            </a:r>
          </a:p>
          <a:p>
            <a:endParaRPr lang="en-US" sz="1200" b="0" i="0" u="none" strike="noStrike" kern="1200" baseline="0" dirty="0" smtClean="0">
              <a:solidFill>
                <a:schemeClr val="tx1"/>
              </a:solidFill>
              <a:latin typeface="Calibri" pitchFamily="34" charset="0"/>
              <a:ea typeface="+mn-ea"/>
              <a:cs typeface="+mn-cs"/>
              <a:sym typeface="Wingdings" pitchFamily="2" charset="2"/>
            </a:endParaRPr>
          </a:p>
          <a:p>
            <a:r>
              <a:rPr lang="en-GB" sz="1200" i="0" kern="1200" dirty="0" smtClean="0">
                <a:solidFill>
                  <a:schemeClr val="tx1"/>
                </a:solidFill>
                <a:effectLst/>
                <a:latin typeface="Calibri" pitchFamily="34" charset="0"/>
                <a:ea typeface="+mn-ea"/>
                <a:cs typeface="+mn-cs"/>
              </a:rPr>
              <a:t>In</a:t>
            </a:r>
            <a:r>
              <a:rPr lang="en-GB" sz="1200" i="0" kern="1200" baseline="0" dirty="0" smtClean="0">
                <a:solidFill>
                  <a:schemeClr val="tx1"/>
                </a:solidFill>
                <a:effectLst/>
                <a:latin typeface="Calibri" pitchFamily="34" charset="0"/>
                <a:ea typeface="+mn-ea"/>
                <a:cs typeface="+mn-cs"/>
              </a:rPr>
              <a:t> biological families,  w</a:t>
            </a:r>
            <a:r>
              <a:rPr lang="en-GB" sz="1200" i="0" kern="1200" dirty="0" smtClean="0">
                <a:solidFill>
                  <a:schemeClr val="tx1"/>
                </a:solidFill>
                <a:effectLst/>
                <a:latin typeface="Calibri" pitchFamily="34" charset="0"/>
                <a:ea typeface="+mn-ea"/>
                <a:cs typeface="+mn-cs"/>
              </a:rPr>
              <a:t>e help children whose parents or other carers need support in order to take care of them</a:t>
            </a:r>
            <a:r>
              <a:rPr lang="en-GB" sz="1200" i="0" kern="1200" baseline="0" dirty="0" smtClean="0">
                <a:solidFill>
                  <a:schemeClr val="tx1"/>
                </a:solidFill>
                <a:effectLst/>
                <a:latin typeface="Calibri" pitchFamily="34" charset="0"/>
                <a:ea typeface="+mn-ea"/>
                <a:cs typeface="+mn-cs"/>
              </a:rPr>
              <a:t> through our family strengthening programmes.</a:t>
            </a:r>
          </a:p>
          <a:p>
            <a:endParaRPr lang="en-GB" sz="1200" i="0" kern="1200" dirty="0" smtClean="0">
              <a:solidFill>
                <a:schemeClr val="tx1"/>
              </a:solidFill>
              <a:effectLst/>
              <a:latin typeface="Calibri" pitchFamily="34" charset="0"/>
              <a:ea typeface="+mn-ea"/>
              <a:cs typeface="+mn-cs"/>
            </a:endParaRPr>
          </a:p>
          <a:p>
            <a:pPr lvl="0"/>
            <a:r>
              <a:rPr lang="en-GB" sz="1200" i="0" kern="1200" dirty="0" smtClean="0">
                <a:solidFill>
                  <a:schemeClr val="tx1"/>
                </a:solidFill>
                <a:effectLst/>
                <a:latin typeface="Calibri" pitchFamily="34" charset="0"/>
                <a:ea typeface="+mn-ea"/>
                <a:cs typeface="+mn-cs"/>
              </a:rPr>
              <a:t>Through</a:t>
            </a:r>
            <a:r>
              <a:rPr lang="en-GB" sz="1200" i="0" kern="1200" baseline="0" dirty="0" smtClean="0">
                <a:solidFill>
                  <a:schemeClr val="tx1"/>
                </a:solidFill>
                <a:effectLst/>
                <a:latin typeface="Calibri" pitchFamily="34" charset="0"/>
                <a:ea typeface="+mn-ea"/>
                <a:cs typeface="+mn-cs"/>
              </a:rPr>
              <a:t> SOS families in our SOS Children’s Villages, w</a:t>
            </a:r>
            <a:r>
              <a:rPr lang="en-GB" sz="1200" i="0" kern="1200" dirty="0" smtClean="0">
                <a:solidFill>
                  <a:schemeClr val="tx1"/>
                </a:solidFill>
                <a:effectLst/>
                <a:latin typeface="Calibri" pitchFamily="34" charset="0"/>
                <a:ea typeface="+mn-ea"/>
                <a:cs typeface="+mn-cs"/>
              </a:rPr>
              <a:t>e help children who have lost their parents or whose parents cannot take care of them.</a:t>
            </a:r>
          </a:p>
          <a:p>
            <a:endParaRPr lang="en-GB" sz="1200" i="0" kern="1200" dirty="0" smtClean="0">
              <a:solidFill>
                <a:schemeClr val="tx1"/>
              </a:solidFill>
              <a:effectLst/>
              <a:latin typeface="Calibri" pitchFamily="34" charset="0"/>
              <a:ea typeface="+mn-ea"/>
              <a:cs typeface="+mn-cs"/>
            </a:endParaRPr>
          </a:p>
          <a:p>
            <a:r>
              <a:rPr lang="en-GB" sz="1200" i="0" kern="1200" dirty="0" smtClean="0">
                <a:solidFill>
                  <a:schemeClr val="tx1"/>
                </a:solidFill>
                <a:effectLst/>
                <a:latin typeface="Calibri" pitchFamily="34" charset="0"/>
                <a:ea typeface="+mn-ea"/>
                <a:cs typeface="+mn-cs"/>
              </a:rPr>
              <a:t>And</a:t>
            </a:r>
            <a:r>
              <a:rPr lang="en-GB" sz="1200" i="0" kern="1200" baseline="0" dirty="0" smtClean="0">
                <a:solidFill>
                  <a:schemeClr val="tx1"/>
                </a:solidFill>
                <a:effectLst/>
                <a:latin typeface="Calibri" pitchFamily="34" charset="0"/>
                <a:ea typeface="+mn-ea"/>
                <a:cs typeface="+mn-cs"/>
              </a:rPr>
              <a:t> we have increasingly been working with existing foster families.</a:t>
            </a:r>
            <a:endParaRPr lang="en-GB" sz="1200" i="0" kern="1200" dirty="0" smtClean="0">
              <a:solidFill>
                <a:schemeClr val="tx1"/>
              </a:solidFill>
              <a:effectLst/>
              <a:latin typeface="Calibri" pitchFamily="34" charset="0"/>
              <a:ea typeface="+mn-ea"/>
              <a:cs typeface="+mn-cs"/>
            </a:endParaRPr>
          </a:p>
          <a:p>
            <a:endParaRPr lang="de-AT" i="1" dirty="0"/>
          </a:p>
        </p:txBody>
      </p:sp>
      <p:sp>
        <p:nvSpPr>
          <p:cNvPr id="4" name="Slide Number Placeholder 3"/>
          <p:cNvSpPr>
            <a:spLocks noGrp="1"/>
          </p:cNvSpPr>
          <p:nvPr>
            <p:ph type="sldNum" sz="quarter" idx="10"/>
          </p:nvPr>
        </p:nvSpPr>
        <p:spPr/>
        <p:txBody>
          <a:bodyPr/>
          <a:lstStyle/>
          <a:p>
            <a:fld id="{68212901-8644-4CDA-A7EA-D9645A6E2995}" type="slidenum">
              <a:rPr lang="de-DE" smtClean="0"/>
              <a:pPr/>
              <a:t>15</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Calibri" pitchFamily="34" charset="0"/>
                <a:ea typeface="+mn-ea"/>
                <a:cs typeface="+mn-cs"/>
              </a:rPr>
              <a:t>SPEAKER’S</a:t>
            </a:r>
            <a:r>
              <a:rPr lang="en-GB" sz="1200" kern="1200" baseline="0" dirty="0" smtClean="0">
                <a:solidFill>
                  <a:schemeClr val="tx1"/>
                </a:solidFill>
                <a:effectLst/>
                <a:latin typeface="Calibri" pitchFamily="34" charset="0"/>
                <a:ea typeface="+mn-ea"/>
                <a:cs typeface="+mn-cs"/>
              </a:rPr>
              <a:t> NOTES:</a:t>
            </a:r>
            <a:endParaRPr lang="en-GB" sz="1200" kern="1200" dirty="0" smtClean="0">
              <a:solidFill>
                <a:schemeClr val="tx1"/>
              </a:solidFill>
              <a:effectLst/>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smtClean="0">
              <a:solidFill>
                <a:schemeClr val="tx1"/>
              </a:solidFill>
              <a:effectLst/>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Calibri" pitchFamily="34" charset="0"/>
                <a:ea typeface="+mn-ea"/>
                <a:cs typeface="+mn-cs"/>
              </a:rPr>
              <a:t>Given that the preferred</a:t>
            </a:r>
            <a:r>
              <a:rPr lang="en-GB" sz="1200" kern="1200" baseline="0" dirty="0" smtClean="0">
                <a:solidFill>
                  <a:schemeClr val="tx1"/>
                </a:solidFill>
                <a:effectLst/>
                <a:latin typeface="Calibri" pitchFamily="34" charset="0"/>
                <a:ea typeface="+mn-ea"/>
                <a:cs typeface="+mn-cs"/>
              </a:rPr>
              <a:t> option is for children to remain in their existing families, we support families in many ways.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smtClean="0">
              <a:solidFill>
                <a:schemeClr val="tx1"/>
              </a:solidFill>
              <a:effectLst/>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smtClean="0">
                <a:ln>
                  <a:noFill/>
                </a:ln>
                <a:solidFill>
                  <a:prstClr val="black"/>
                </a:solidFill>
                <a:effectLst/>
                <a:uLnTx/>
                <a:uFillTx/>
                <a:latin typeface="Calibri" pitchFamily="34" charset="0"/>
                <a:ea typeface="+mn-ea"/>
                <a:cs typeface="+mn-cs"/>
              </a:rPr>
              <a:t>Around the world, we run 483 Family Strengthening Programmes. In these programmes, we get to know the family and develop plans that will help them deal with the specific difficulties they are facing. And then we help them access support services, which may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dirty="0" smtClean="0">
              <a:ln>
                <a:noFill/>
              </a:ln>
              <a:solidFill>
                <a:prstClr val="black"/>
              </a:solidFill>
              <a:effectLst/>
              <a:uLnTx/>
              <a:uFillTx/>
              <a:latin typeface="Calibri"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de-DE" sz="1200" b="0" i="0" u="none" strike="noStrike" kern="1200" cap="none" spc="0" normalizeH="0" baseline="0" noProof="0" dirty="0" smtClean="0">
                <a:ln>
                  <a:noFill/>
                </a:ln>
                <a:solidFill>
                  <a:prstClr val="black"/>
                </a:solidFill>
                <a:effectLst/>
                <a:uLnTx/>
                <a:uFillTx/>
                <a:latin typeface="Calibri" pitchFamily="34" charset="0"/>
                <a:ea typeface="+mn-ea"/>
                <a:cs typeface="+mn-cs"/>
              </a:rPr>
              <a:t>Access to community services, which may include medical assistance, legal counsel, or education.</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de-DE" sz="1200" b="0" i="0" u="none" strike="noStrike" kern="1200" cap="none" spc="0" normalizeH="0" baseline="0" noProof="0" dirty="0" smtClean="0">
                <a:ln>
                  <a:noFill/>
                </a:ln>
                <a:solidFill>
                  <a:prstClr val="black"/>
                </a:solidFill>
                <a:effectLst/>
                <a:uLnTx/>
                <a:uFillTx/>
                <a:latin typeface="Calibri" pitchFamily="34" charset="0"/>
                <a:ea typeface="+mn-ea"/>
                <a:cs typeface="+mn-cs"/>
              </a:rPr>
              <a:t>Coaching and vocational training for parents – to help them develop the skills they need to run a home and earn money.</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de-DE" sz="1200" b="0" i="0" u="none" strike="noStrike" kern="1200" cap="none" spc="0" normalizeH="0" baseline="0" noProof="0" dirty="0" smtClean="0">
                <a:ln>
                  <a:noFill/>
                </a:ln>
                <a:solidFill>
                  <a:prstClr val="black"/>
                </a:solidFill>
                <a:effectLst/>
                <a:uLnTx/>
                <a:uFillTx/>
                <a:latin typeface="Calibri" pitchFamily="34" charset="0"/>
                <a:ea typeface="+mn-ea"/>
                <a:cs typeface="+mn-cs"/>
              </a:rPr>
              <a:t>Advice on raising children – practical support</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de-DE" sz="1200" b="0" i="0" u="none" strike="noStrike" kern="1200" cap="none" spc="0" normalizeH="0" baseline="0" noProof="0" dirty="0" smtClean="0">
                <a:ln>
                  <a:noFill/>
                </a:ln>
                <a:solidFill>
                  <a:prstClr val="black"/>
                </a:solidFill>
                <a:effectLst/>
                <a:uLnTx/>
                <a:uFillTx/>
                <a:latin typeface="Calibri" pitchFamily="34" charset="0"/>
                <a:ea typeface="+mn-ea"/>
                <a:cs typeface="+mn-cs"/>
              </a:rPr>
              <a:t>Help with finances – which may include advice on budgeting, or even accessing small loans.</a:t>
            </a:r>
            <a:br>
              <a:rPr kumimoji="0" lang="de-DE" sz="1200" b="0" i="0" u="none" strike="noStrike" kern="1200" cap="none" spc="0" normalizeH="0" baseline="0" noProof="0" dirty="0" smtClean="0">
                <a:ln>
                  <a:noFill/>
                </a:ln>
                <a:solidFill>
                  <a:prstClr val="black"/>
                </a:solidFill>
                <a:effectLst/>
                <a:uLnTx/>
                <a:uFillTx/>
                <a:latin typeface="Calibri" pitchFamily="34" charset="0"/>
                <a:ea typeface="+mn-ea"/>
                <a:cs typeface="+mn-cs"/>
              </a:rPr>
            </a:br>
            <a:endParaRPr kumimoji="0" lang="de-DE" sz="1200" b="0" i="0" u="none" strike="noStrike" kern="1200" cap="none" spc="0" normalizeH="0" baseline="0" noProof="0" dirty="0" smtClean="0">
              <a:ln>
                <a:noFill/>
              </a:ln>
              <a:solidFill>
                <a:prstClr val="black"/>
              </a:solidFill>
              <a:effectLst/>
              <a:uLnTx/>
              <a:uFillTx/>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AT" dirty="0"/>
          </a:p>
        </p:txBody>
      </p:sp>
      <p:sp>
        <p:nvSpPr>
          <p:cNvPr id="4" name="Slide Number Placeholder 3"/>
          <p:cNvSpPr>
            <a:spLocks noGrp="1"/>
          </p:cNvSpPr>
          <p:nvPr>
            <p:ph type="sldNum" sz="quarter" idx="10"/>
          </p:nvPr>
        </p:nvSpPr>
        <p:spPr/>
        <p:txBody>
          <a:bodyPr/>
          <a:lstStyle/>
          <a:p>
            <a:fld id="{68212901-8644-4CDA-A7EA-D9645A6E2995}" type="slidenum">
              <a:rPr lang="de-DE" smtClean="0"/>
              <a:pPr/>
              <a:t>16</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Calibri" pitchFamily="34" charset="0"/>
                <a:ea typeface="+mn-ea"/>
                <a:cs typeface="+mn-cs"/>
              </a:rPr>
              <a:t>SPEAKER’S NOTES:</a:t>
            </a:r>
          </a:p>
          <a:p>
            <a:endParaRPr lang="en-GB" sz="1200" b="1" kern="1200" dirty="0" smtClean="0">
              <a:solidFill>
                <a:schemeClr val="tx1"/>
              </a:solidFill>
              <a:effectLst/>
              <a:latin typeface="Calibri" pitchFamily="34" charset="0"/>
              <a:ea typeface="+mn-ea"/>
              <a:cs typeface="+mn-cs"/>
            </a:endParaRPr>
          </a:p>
          <a:p>
            <a:r>
              <a:rPr lang="en-GB" sz="1200" b="0" kern="1200" dirty="0" smtClean="0">
                <a:solidFill>
                  <a:schemeClr val="tx1"/>
                </a:solidFill>
                <a:effectLst/>
                <a:latin typeface="Calibri" pitchFamily="34" charset="0"/>
                <a:ea typeface="+mn-ea"/>
                <a:cs typeface="+mn-cs"/>
              </a:rPr>
              <a:t>When children can no longer stay with their families, </a:t>
            </a:r>
            <a:r>
              <a:rPr lang="en-GB" sz="1200" kern="1200" dirty="0" smtClean="0">
                <a:solidFill>
                  <a:schemeClr val="tx1"/>
                </a:solidFill>
                <a:effectLst/>
                <a:latin typeface="Calibri" pitchFamily="34" charset="0"/>
                <a:ea typeface="+mn-ea"/>
                <a:cs typeface="+mn-cs"/>
              </a:rPr>
              <a:t>we provide them with a loving home in an</a:t>
            </a:r>
            <a:r>
              <a:rPr lang="en-GB" sz="1200" kern="1200" baseline="0" dirty="0" smtClean="0">
                <a:solidFill>
                  <a:schemeClr val="tx1"/>
                </a:solidFill>
                <a:effectLst/>
                <a:latin typeface="Calibri" pitchFamily="34" charset="0"/>
                <a:ea typeface="+mn-ea"/>
                <a:cs typeface="+mn-cs"/>
              </a:rPr>
              <a:t> SOS family.</a:t>
            </a:r>
            <a:endParaRPr lang="en-GB" sz="1200" kern="1200" dirty="0" smtClean="0">
              <a:solidFill>
                <a:schemeClr val="tx1"/>
              </a:solidFill>
              <a:effectLst/>
              <a:latin typeface="Calibri" pitchFamily="34" charset="0"/>
              <a:ea typeface="+mn-ea"/>
              <a:cs typeface="+mn-cs"/>
            </a:endParaRPr>
          </a:p>
          <a:p>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In the Children’s Villages, children</a:t>
            </a:r>
            <a:r>
              <a:rPr lang="en-GB" sz="1200" kern="1200" baseline="0" dirty="0" smtClean="0">
                <a:solidFill>
                  <a:schemeClr val="tx1"/>
                </a:solidFill>
                <a:effectLst/>
                <a:latin typeface="Calibri" pitchFamily="34" charset="0"/>
                <a:ea typeface="+mn-ea"/>
                <a:cs typeface="+mn-cs"/>
              </a:rPr>
              <a:t> are cared for by an </a:t>
            </a:r>
            <a:r>
              <a:rPr lang="en-GB" sz="1200" b="0" kern="1200" dirty="0" smtClean="0">
                <a:solidFill>
                  <a:schemeClr val="tx1"/>
                </a:solidFill>
                <a:effectLst/>
                <a:latin typeface="Calibri" pitchFamily="34" charset="0"/>
                <a:ea typeface="+mn-ea"/>
                <a:cs typeface="+mn-cs"/>
              </a:rPr>
              <a:t>SOS mother, who builds a close relationship with every child</a:t>
            </a:r>
            <a:r>
              <a:rPr lang="en-GB" sz="1200" b="0" kern="1200" baseline="0" dirty="0" smtClean="0">
                <a:solidFill>
                  <a:schemeClr val="tx1"/>
                </a:solidFill>
                <a:effectLst/>
                <a:latin typeface="Calibri" pitchFamily="34" charset="0"/>
                <a:ea typeface="+mn-ea"/>
                <a:cs typeface="+mn-cs"/>
              </a:rPr>
              <a:t> and </a:t>
            </a:r>
            <a:r>
              <a:rPr lang="en-GB" sz="1200" kern="1200" dirty="0" smtClean="0">
                <a:solidFill>
                  <a:schemeClr val="tx1"/>
                </a:solidFill>
                <a:effectLst/>
                <a:latin typeface="Calibri" pitchFamily="34" charset="0"/>
                <a:ea typeface="+mn-ea"/>
                <a:cs typeface="+mn-cs"/>
              </a:rPr>
              <a:t>provides the </a:t>
            </a:r>
            <a:r>
              <a:rPr lang="en-GB" sz="1200" b="0" kern="1200" dirty="0" smtClean="0">
                <a:solidFill>
                  <a:schemeClr val="tx1"/>
                </a:solidFill>
                <a:effectLst/>
                <a:latin typeface="Calibri" pitchFamily="34" charset="0"/>
                <a:ea typeface="+mn-ea"/>
                <a:cs typeface="+mn-cs"/>
              </a:rPr>
              <a:t>security, love and stability </a:t>
            </a:r>
            <a:r>
              <a:rPr lang="en-GB" sz="1200" kern="1200" dirty="0" smtClean="0">
                <a:solidFill>
                  <a:schemeClr val="tx1"/>
                </a:solidFill>
                <a:effectLst/>
                <a:latin typeface="Calibri" pitchFamily="34" charset="0"/>
                <a:ea typeface="+mn-ea"/>
                <a:cs typeface="+mn-cs"/>
              </a:rPr>
              <a:t>that each child needs. As a </a:t>
            </a:r>
            <a:r>
              <a:rPr lang="en-GB" sz="1200" b="0" kern="1200" dirty="0" smtClean="0">
                <a:solidFill>
                  <a:schemeClr val="tx1"/>
                </a:solidFill>
                <a:effectLst/>
                <a:latin typeface="Calibri" pitchFamily="34" charset="0"/>
                <a:ea typeface="+mn-ea"/>
                <a:cs typeface="+mn-cs"/>
              </a:rPr>
              <a:t>child-care professional, she lives together with her children, guides their development and runs her household independently. </a:t>
            </a:r>
          </a:p>
          <a:p>
            <a:endParaRPr lang="en-GB" sz="1200" b="0" kern="1200" dirty="0" smtClean="0">
              <a:solidFill>
                <a:schemeClr val="tx1"/>
              </a:solidFill>
              <a:effectLst/>
              <a:latin typeface="Calibri" pitchFamily="34" charset="0"/>
              <a:ea typeface="+mn-ea"/>
              <a:cs typeface="+mn-cs"/>
            </a:endParaRPr>
          </a:p>
          <a:p>
            <a:r>
              <a:rPr lang="en-GB" sz="1200" b="0" kern="1200" dirty="0" smtClean="0">
                <a:solidFill>
                  <a:schemeClr val="tx1"/>
                </a:solidFill>
                <a:effectLst/>
                <a:latin typeface="Calibri" pitchFamily="34" charset="0"/>
                <a:ea typeface="+mn-ea"/>
                <a:cs typeface="+mn-cs"/>
              </a:rPr>
              <a:t>The SOS mother creates a loving and nurturing environment where children can always</a:t>
            </a:r>
            <a:r>
              <a:rPr lang="en-GB" sz="1200" b="0" kern="1200" baseline="0" dirty="0" smtClean="0">
                <a:solidFill>
                  <a:schemeClr val="tx1"/>
                </a:solidFill>
                <a:effectLst/>
                <a:latin typeface="Calibri" pitchFamily="34" charset="0"/>
                <a:ea typeface="+mn-ea"/>
                <a:cs typeface="+mn-cs"/>
              </a:rPr>
              <a:t> feel at home.</a:t>
            </a:r>
          </a:p>
          <a:p>
            <a:endParaRPr lang="en-GB" sz="1200" b="0" kern="1200" baseline="0" dirty="0" smtClean="0">
              <a:solidFill>
                <a:schemeClr val="tx1"/>
              </a:solidFill>
              <a:effectLst/>
              <a:latin typeface="Calibri" pitchFamily="34" charset="0"/>
              <a:ea typeface="+mn-ea"/>
              <a:cs typeface="+mn-cs"/>
            </a:endParaRPr>
          </a:p>
          <a:p>
            <a:r>
              <a:rPr lang="en-GB" sz="1200" b="0" kern="1200" baseline="0" dirty="0" smtClean="0">
                <a:solidFill>
                  <a:schemeClr val="tx1"/>
                </a:solidFill>
                <a:effectLst/>
                <a:latin typeface="Calibri" pitchFamily="34" charset="0"/>
                <a:ea typeface="+mn-ea"/>
                <a:cs typeface="+mn-cs"/>
              </a:rPr>
              <a:t>The SOS Children’s Village is a real part of the community</a:t>
            </a:r>
            <a:r>
              <a:rPr lang="de-DE" sz="1200" b="0" kern="1200" baseline="0" dirty="0" smtClean="0">
                <a:solidFill>
                  <a:schemeClr val="tx1"/>
                </a:solidFill>
                <a:effectLst/>
                <a:latin typeface="Calibri" pitchFamily="34" charset="0"/>
                <a:ea typeface="+mn-ea"/>
                <a:cs typeface="+mn-cs"/>
              </a:rPr>
              <a:t>, </a:t>
            </a:r>
            <a:r>
              <a:rPr lang="de-DE" sz="1200" b="0" kern="1200" baseline="0" dirty="0" err="1" smtClean="0">
                <a:solidFill>
                  <a:schemeClr val="tx1"/>
                </a:solidFill>
                <a:effectLst/>
                <a:latin typeface="Calibri" pitchFamily="34" charset="0"/>
                <a:ea typeface="+mn-ea"/>
                <a:cs typeface="+mn-cs"/>
              </a:rPr>
              <a:t>and</a:t>
            </a:r>
            <a:r>
              <a:rPr lang="de-DE" sz="1200" b="0" kern="1200" baseline="0" dirty="0" smtClean="0">
                <a:solidFill>
                  <a:schemeClr val="tx1"/>
                </a:solidFill>
                <a:effectLst/>
                <a:latin typeface="Calibri" pitchFamily="34" charset="0"/>
                <a:ea typeface="+mn-ea"/>
                <a:cs typeface="+mn-cs"/>
              </a:rPr>
              <a:t> </a:t>
            </a:r>
            <a:r>
              <a:rPr lang="de-DE" sz="1200" b="0" kern="1200" baseline="0" dirty="0" err="1" smtClean="0">
                <a:solidFill>
                  <a:schemeClr val="tx1"/>
                </a:solidFill>
                <a:effectLst/>
                <a:latin typeface="Calibri" pitchFamily="34" charset="0"/>
                <a:ea typeface="+mn-ea"/>
                <a:cs typeface="+mn-cs"/>
              </a:rPr>
              <a:t>children</a:t>
            </a:r>
            <a:r>
              <a:rPr lang="de-DE" sz="1200" b="0" kern="1200" baseline="0" dirty="0" smtClean="0">
                <a:solidFill>
                  <a:schemeClr val="tx1"/>
                </a:solidFill>
                <a:effectLst/>
                <a:latin typeface="Calibri" pitchFamily="34" charset="0"/>
                <a:ea typeface="+mn-ea"/>
                <a:cs typeface="+mn-cs"/>
              </a:rPr>
              <a:t> </a:t>
            </a:r>
            <a:r>
              <a:rPr lang="de-DE" sz="1200" b="0" kern="1200" baseline="0" dirty="0" err="1" smtClean="0">
                <a:solidFill>
                  <a:schemeClr val="tx1"/>
                </a:solidFill>
                <a:effectLst/>
                <a:latin typeface="Calibri" pitchFamily="34" charset="0"/>
                <a:ea typeface="+mn-ea"/>
                <a:cs typeface="+mn-cs"/>
              </a:rPr>
              <a:t>have</a:t>
            </a:r>
            <a:r>
              <a:rPr lang="de-DE" sz="1200" b="0" kern="1200" baseline="0" dirty="0" smtClean="0">
                <a:solidFill>
                  <a:schemeClr val="tx1"/>
                </a:solidFill>
                <a:effectLst/>
                <a:latin typeface="Calibri" pitchFamily="34" charset="0"/>
                <a:ea typeface="+mn-ea"/>
                <a:cs typeface="+mn-cs"/>
              </a:rPr>
              <a:t> </a:t>
            </a:r>
            <a:r>
              <a:rPr lang="de-DE" sz="1200" b="0" kern="1200" baseline="0" dirty="0" err="1" smtClean="0">
                <a:solidFill>
                  <a:schemeClr val="tx1"/>
                </a:solidFill>
                <a:effectLst/>
                <a:latin typeface="Calibri" pitchFamily="34" charset="0"/>
                <a:ea typeface="+mn-ea"/>
                <a:cs typeface="+mn-cs"/>
              </a:rPr>
              <a:t>access</a:t>
            </a:r>
            <a:r>
              <a:rPr lang="de-DE" sz="1200" b="0" kern="1200" baseline="0" dirty="0" smtClean="0">
                <a:solidFill>
                  <a:schemeClr val="tx1"/>
                </a:solidFill>
                <a:effectLst/>
                <a:latin typeface="Calibri" pitchFamily="34" charset="0"/>
                <a:ea typeface="+mn-ea"/>
                <a:cs typeface="+mn-cs"/>
              </a:rPr>
              <a:t> </a:t>
            </a:r>
            <a:r>
              <a:rPr lang="de-DE" sz="1200" b="0" kern="1200" baseline="0" dirty="0" err="1" smtClean="0">
                <a:solidFill>
                  <a:schemeClr val="tx1"/>
                </a:solidFill>
                <a:effectLst/>
                <a:latin typeface="Calibri" pitchFamily="34" charset="0"/>
                <a:ea typeface="+mn-ea"/>
                <a:cs typeface="+mn-cs"/>
              </a:rPr>
              <a:t>to</a:t>
            </a:r>
            <a:r>
              <a:rPr lang="de-DE" sz="1200" b="0" kern="1200" baseline="0" dirty="0" smtClean="0">
                <a:solidFill>
                  <a:schemeClr val="tx1"/>
                </a:solidFill>
                <a:effectLst/>
                <a:latin typeface="Calibri" pitchFamily="34" charset="0"/>
                <a:ea typeface="+mn-ea"/>
                <a:cs typeface="+mn-cs"/>
              </a:rPr>
              <a:t> a </a:t>
            </a:r>
            <a:r>
              <a:rPr lang="de-DE" sz="1200" b="0" kern="1200" baseline="0" dirty="0" err="1" smtClean="0">
                <a:solidFill>
                  <a:schemeClr val="tx1"/>
                </a:solidFill>
                <a:effectLst/>
                <a:latin typeface="Calibri" pitchFamily="34" charset="0"/>
                <a:ea typeface="+mn-ea"/>
                <a:cs typeface="+mn-cs"/>
              </a:rPr>
              <a:t>range</a:t>
            </a:r>
            <a:r>
              <a:rPr lang="de-DE" sz="1200" b="0" kern="1200" baseline="0" dirty="0" smtClean="0">
                <a:solidFill>
                  <a:schemeClr val="tx1"/>
                </a:solidFill>
                <a:effectLst/>
                <a:latin typeface="Calibri" pitchFamily="34" charset="0"/>
                <a:ea typeface="+mn-ea"/>
                <a:cs typeface="+mn-cs"/>
              </a:rPr>
              <a:t> </a:t>
            </a:r>
            <a:r>
              <a:rPr lang="de-DE" sz="1200" b="0" kern="1200" baseline="0" dirty="0" err="1" smtClean="0">
                <a:solidFill>
                  <a:schemeClr val="tx1"/>
                </a:solidFill>
                <a:effectLst/>
                <a:latin typeface="Calibri" pitchFamily="34" charset="0"/>
                <a:ea typeface="+mn-ea"/>
                <a:cs typeface="+mn-cs"/>
              </a:rPr>
              <a:t>of</a:t>
            </a:r>
            <a:r>
              <a:rPr lang="de-DE" sz="1200" b="0" kern="1200" baseline="0" dirty="0" smtClean="0">
                <a:solidFill>
                  <a:schemeClr val="tx1"/>
                </a:solidFill>
                <a:effectLst/>
                <a:latin typeface="Calibri" pitchFamily="34" charset="0"/>
                <a:ea typeface="+mn-ea"/>
                <a:cs typeface="+mn-cs"/>
              </a:rPr>
              <a:t> </a:t>
            </a:r>
            <a:r>
              <a:rPr lang="de-DE" sz="1200" b="0" kern="1200" baseline="0" dirty="0" err="1" smtClean="0">
                <a:solidFill>
                  <a:schemeClr val="tx1"/>
                </a:solidFill>
                <a:effectLst/>
                <a:latin typeface="Calibri" pitchFamily="34" charset="0"/>
                <a:ea typeface="+mn-ea"/>
                <a:cs typeface="+mn-cs"/>
              </a:rPr>
              <a:t>support</a:t>
            </a:r>
            <a:r>
              <a:rPr lang="de-DE" sz="1200" b="0" kern="1200" baseline="0" dirty="0" smtClean="0">
                <a:solidFill>
                  <a:schemeClr val="tx1"/>
                </a:solidFill>
                <a:effectLst/>
                <a:latin typeface="Calibri" pitchFamily="34" charset="0"/>
                <a:ea typeface="+mn-ea"/>
                <a:cs typeface="+mn-cs"/>
              </a:rPr>
              <a:t> </a:t>
            </a:r>
            <a:r>
              <a:rPr lang="de-DE" sz="1200" b="0" kern="1200" baseline="0" dirty="0" err="1" smtClean="0">
                <a:solidFill>
                  <a:schemeClr val="tx1"/>
                </a:solidFill>
                <a:effectLst/>
                <a:latin typeface="Calibri" pitchFamily="34" charset="0"/>
                <a:ea typeface="+mn-ea"/>
                <a:cs typeface="+mn-cs"/>
              </a:rPr>
              <a:t>networks</a:t>
            </a:r>
            <a:r>
              <a:rPr lang="de-DE" sz="1200" b="0" kern="1200" baseline="0" dirty="0" smtClean="0">
                <a:solidFill>
                  <a:schemeClr val="tx1"/>
                </a:solidFill>
                <a:effectLst/>
                <a:latin typeface="Calibri" pitchFamily="34" charset="0"/>
                <a:ea typeface="+mn-ea"/>
                <a:cs typeface="+mn-cs"/>
              </a:rPr>
              <a:t>.</a:t>
            </a:r>
            <a:endParaRPr lang="en-GB" sz="1200" kern="120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17</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Calibri" pitchFamily="34" charset="0"/>
                <a:ea typeface="+mn-ea"/>
                <a:cs typeface="+mn-cs"/>
              </a:rPr>
              <a:t>SPEAKER’S NOTES:</a:t>
            </a:r>
            <a:br>
              <a:rPr lang="en-GB" sz="1200" kern="1200" dirty="0" smtClean="0">
                <a:solidFill>
                  <a:schemeClr val="tx1"/>
                </a:solidFill>
                <a:effectLst/>
                <a:latin typeface="Calibri" pitchFamily="34" charset="0"/>
                <a:ea typeface="+mn-ea"/>
                <a:cs typeface="+mn-cs"/>
              </a:rPr>
            </a:br>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We have been working more and more with foster families.</a:t>
            </a:r>
          </a:p>
          <a:p>
            <a:endParaRPr lang="en-GB"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baseline="0" dirty="0" smtClean="0">
                <a:solidFill>
                  <a:schemeClr val="tx1"/>
                </a:solidFill>
                <a:effectLst/>
                <a:latin typeface="Calibri" pitchFamily="34" charset="0"/>
                <a:ea typeface="+mn-ea"/>
                <a:cs typeface="+mn-cs"/>
              </a:rPr>
              <a:t>In every country, the relationship between SOS Children’s Villages and the state foster care system is slightly different. So our support might include:</a:t>
            </a:r>
            <a:endParaRPr lang="en-GB" sz="1200" kern="1200" dirty="0" smtClean="0">
              <a:solidFill>
                <a:schemeClr val="tx1"/>
              </a:solidFill>
              <a:effectLst/>
              <a:latin typeface="Calibri" pitchFamily="34" charset="0"/>
              <a:ea typeface="+mn-ea"/>
              <a:cs typeface="+mn-cs"/>
            </a:endParaRPr>
          </a:p>
          <a:p>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Training and other types of support for </a:t>
            </a:r>
            <a:r>
              <a:rPr lang="en-GB" sz="1200" b="1" kern="1200" dirty="0" smtClean="0">
                <a:solidFill>
                  <a:schemeClr val="tx1"/>
                </a:solidFill>
                <a:effectLst/>
                <a:latin typeface="Calibri" pitchFamily="34" charset="0"/>
                <a:ea typeface="+mn-ea"/>
                <a:cs typeface="+mn-cs"/>
              </a:rPr>
              <a:t>existing foster families </a:t>
            </a:r>
            <a:r>
              <a:rPr lang="en-GB" sz="1200" kern="1200" dirty="0" smtClean="0">
                <a:solidFill>
                  <a:schemeClr val="tx1"/>
                </a:solidFill>
                <a:effectLst/>
                <a:latin typeface="Calibri" pitchFamily="34" charset="0"/>
                <a:ea typeface="+mn-ea"/>
                <a:cs typeface="+mn-cs"/>
              </a:rPr>
              <a:t>– we draw on our experience from</a:t>
            </a:r>
            <a:r>
              <a:rPr lang="en-GB" sz="1200" kern="1200" baseline="0" dirty="0" smtClean="0">
                <a:solidFill>
                  <a:schemeClr val="tx1"/>
                </a:solidFill>
                <a:effectLst/>
                <a:latin typeface="Calibri" pitchFamily="34" charset="0"/>
                <a:ea typeface="+mn-ea"/>
                <a:cs typeface="+mn-cs"/>
              </a:rPr>
              <a:t> creating SOS families to advise foster parents on how to address some of the difficult challenges they all face.</a:t>
            </a:r>
            <a:endParaRPr lang="en-GB" sz="1200" kern="1200" dirty="0" smtClean="0">
              <a:solidFill>
                <a:schemeClr val="tx1"/>
              </a:solidFill>
              <a:effectLst/>
              <a:latin typeface="Calibri" pitchFamily="34" charset="0"/>
              <a:ea typeface="+mn-ea"/>
              <a:cs typeface="+mn-cs"/>
            </a:endParaRPr>
          </a:p>
          <a:p>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In some cases, we take</a:t>
            </a:r>
            <a:r>
              <a:rPr lang="en-GB" sz="1200" kern="1200" baseline="0" dirty="0" smtClean="0">
                <a:solidFill>
                  <a:schemeClr val="tx1"/>
                </a:solidFill>
                <a:effectLst/>
                <a:latin typeface="Calibri" pitchFamily="34" charset="0"/>
                <a:ea typeface="+mn-ea"/>
                <a:cs typeface="+mn-cs"/>
              </a:rPr>
              <a:t> </a:t>
            </a:r>
            <a:r>
              <a:rPr lang="en-GB" sz="1200" b="1" kern="1200" baseline="0" dirty="0" smtClean="0">
                <a:solidFill>
                  <a:schemeClr val="tx1"/>
                </a:solidFill>
                <a:effectLst/>
                <a:latin typeface="Calibri" pitchFamily="34" charset="0"/>
                <a:ea typeface="+mn-ea"/>
                <a:cs typeface="+mn-cs"/>
              </a:rPr>
              <a:t>primary responsibility and ongoing support </a:t>
            </a:r>
            <a:r>
              <a:rPr lang="en-GB" sz="1200" kern="1200" baseline="0" dirty="0" smtClean="0">
                <a:solidFill>
                  <a:schemeClr val="tx1"/>
                </a:solidFill>
                <a:effectLst/>
                <a:latin typeface="Calibri" pitchFamily="34" charset="0"/>
                <a:ea typeface="+mn-ea"/>
                <a:cs typeface="+mn-cs"/>
              </a:rPr>
              <a:t>for the training and supply of foster parents. This care might be provided either in the individuals’ own houses, or through SOS facilities.</a:t>
            </a:r>
          </a:p>
          <a:p>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And in other cases, SOS families are making a </a:t>
            </a:r>
            <a:r>
              <a:rPr lang="en-GB" sz="1200" b="1" kern="1200" baseline="0" dirty="0" smtClean="0">
                <a:solidFill>
                  <a:schemeClr val="tx1"/>
                </a:solidFill>
                <a:effectLst/>
                <a:latin typeface="Calibri" pitchFamily="34" charset="0"/>
                <a:ea typeface="+mn-ea"/>
                <a:cs typeface="+mn-cs"/>
              </a:rPr>
              <a:t>transition</a:t>
            </a:r>
            <a:r>
              <a:rPr lang="en-GB" sz="1200" kern="1200" baseline="0" dirty="0" smtClean="0">
                <a:solidFill>
                  <a:schemeClr val="tx1"/>
                </a:solidFill>
                <a:effectLst/>
                <a:latin typeface="Calibri" pitchFamily="34" charset="0"/>
                <a:ea typeface="+mn-ea"/>
                <a:cs typeface="+mn-cs"/>
              </a:rPr>
              <a:t> from living within an SOS Children’s Village setting to being a part of the state’s foster family system. Sometimes, the main legal responsibility for the child shifts from SOS Children’s Villages to the individual caregiver, but with continued support provided by SOS.</a:t>
            </a:r>
            <a:endParaRPr lang="en-GB" sz="1200" kern="1200" dirty="0" smtClean="0">
              <a:solidFill>
                <a:schemeClr val="tx1"/>
              </a:solidFill>
              <a:effectLst/>
              <a:latin typeface="Calibri" pitchFamily="34" charset="0"/>
              <a:ea typeface="+mn-ea"/>
              <a:cs typeface="+mn-cs"/>
            </a:endParaRPr>
          </a:p>
          <a:p>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We also work with childcare authorities to help them improve their existing foster care systems.</a:t>
            </a:r>
          </a:p>
          <a:p>
            <a:endParaRPr lang="en-GB" sz="1200" kern="1200" baseline="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18</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smtClean="0">
                <a:solidFill>
                  <a:schemeClr val="tx1"/>
                </a:solidFill>
                <a:effectLst/>
                <a:latin typeface="Calibri" pitchFamily="34" charset="0"/>
                <a:ea typeface="+mn-ea"/>
                <a:cs typeface="+mn-cs"/>
              </a:rPr>
              <a:t>SPEAKER’S NOTES:</a:t>
            </a:r>
            <a:endParaRPr lang="en-GB" sz="1200" kern="1200" baseline="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kern="1200" baseline="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Our aim is to enable children to develop into adults who have the skills to take responsibility for themselves and contribute to their communities.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Young</a:t>
            </a:r>
            <a:r>
              <a:rPr lang="en-US" baseline="0" dirty="0" smtClean="0"/>
              <a:t> people are </a:t>
            </a:r>
            <a:r>
              <a:rPr lang="de-AT" sz="1200" b="0" dirty="0" smtClean="0">
                <a:solidFill>
                  <a:schemeClr val="bg1"/>
                </a:solidFill>
              </a:rPr>
              <a:t>supported through free housing or various other youth programmes,</a:t>
            </a:r>
            <a:r>
              <a:rPr lang="de-AT" sz="1200" b="0" baseline="0" dirty="0" smtClean="0">
                <a:solidFill>
                  <a:schemeClr val="bg1"/>
                </a:solidFill>
              </a:rPr>
              <a:t> which provide...</a:t>
            </a:r>
            <a:r>
              <a:rPr lang="de-AT" sz="1200" b="0" dirty="0" smtClean="0">
                <a:solidFill>
                  <a:schemeClr val="bg1"/>
                </a:solidFill>
              </a:rPr>
              <a:t/>
            </a:r>
            <a:br>
              <a:rPr lang="de-AT" sz="1200" b="0" dirty="0" smtClean="0">
                <a:solidFill>
                  <a:schemeClr val="bg1"/>
                </a:solidFill>
              </a:rPr>
            </a:br>
            <a:endParaRPr lang="de-AT" sz="1200" b="0" dirty="0" smtClean="0">
              <a:solidFill>
                <a:schemeClr val="bg1"/>
              </a:solidFill>
            </a:endParaRPr>
          </a:p>
          <a:p>
            <a:pPr marL="171450" indent="-171450">
              <a:buFont typeface="Arial" pitchFamily="34" charset="0"/>
              <a:buChar char="•"/>
            </a:pPr>
            <a:r>
              <a:rPr lang="en-GB" sz="1200" b="1" kern="1200" dirty="0" smtClean="0">
                <a:solidFill>
                  <a:schemeClr val="tx1"/>
                </a:solidFill>
                <a:effectLst/>
                <a:latin typeface="Calibri" pitchFamily="34" charset="0"/>
                <a:ea typeface="+mn-ea"/>
                <a:cs typeface="+mn-cs"/>
              </a:rPr>
              <a:t>Education/Employment: </a:t>
            </a:r>
            <a:r>
              <a:rPr lang="en-GB" sz="1200" kern="1200" dirty="0" smtClean="0">
                <a:solidFill>
                  <a:schemeClr val="tx1"/>
                </a:solidFill>
                <a:effectLst/>
                <a:latin typeface="Calibri" pitchFamily="34" charset="0"/>
                <a:ea typeface="+mn-ea"/>
                <a:cs typeface="+mn-cs"/>
              </a:rPr>
              <a:t>We help young people develop the knowledge and skills that will help them find good employment and prepare them for the future.</a:t>
            </a:r>
          </a:p>
          <a:p>
            <a:pPr marL="171450" indent="-171450">
              <a:buFont typeface="Arial" pitchFamily="34" charset="0"/>
              <a:buChar char="•"/>
            </a:pPr>
            <a:r>
              <a:rPr lang="en-GB" sz="1200" b="1" kern="1200" dirty="0" smtClean="0">
                <a:solidFill>
                  <a:schemeClr val="tx1"/>
                </a:solidFill>
                <a:effectLst/>
                <a:latin typeface="Calibri" pitchFamily="34" charset="0"/>
                <a:ea typeface="+mn-ea"/>
                <a:cs typeface="+mn-cs"/>
              </a:rPr>
              <a:t>Housing: </a:t>
            </a:r>
            <a:r>
              <a:rPr lang="en-GB" sz="1200" kern="1200" dirty="0" smtClean="0">
                <a:solidFill>
                  <a:schemeClr val="tx1"/>
                </a:solidFill>
                <a:effectLst/>
                <a:latin typeface="Calibri" pitchFamily="34" charset="0"/>
                <a:ea typeface="+mn-ea"/>
                <a:cs typeface="+mn-cs"/>
              </a:rPr>
              <a:t>We provide adequate housing that offers security, good living conditions and easy access to amenities, employment, education and leisure facilities.</a:t>
            </a:r>
          </a:p>
          <a:p>
            <a:pPr marL="171450" indent="-171450">
              <a:buFont typeface="Arial" pitchFamily="34" charset="0"/>
              <a:buChar char="•"/>
            </a:pPr>
            <a:r>
              <a:rPr lang="en-GB" sz="1200" b="1" kern="1200" dirty="0" smtClean="0">
                <a:solidFill>
                  <a:schemeClr val="tx1"/>
                </a:solidFill>
                <a:effectLst/>
                <a:latin typeface="Calibri" pitchFamily="34" charset="0"/>
                <a:ea typeface="+mn-ea"/>
                <a:cs typeface="+mn-cs"/>
              </a:rPr>
              <a:t>Emotional and social support: </a:t>
            </a:r>
            <a:r>
              <a:rPr lang="en-GB" sz="1200" kern="1200" dirty="0" smtClean="0">
                <a:solidFill>
                  <a:schemeClr val="tx1"/>
                </a:solidFill>
                <a:effectLst/>
                <a:latin typeface="Calibri" pitchFamily="34" charset="0"/>
                <a:ea typeface="+mn-ea"/>
                <a:cs typeface="+mn-cs"/>
              </a:rPr>
              <a:t>Many young people in our care come from difficult or even traumatic backgrounds. We help them develop the emotional stability and social networks they need to grow into adults who to take responsibility for themselves and contribute to their communities.</a:t>
            </a:r>
          </a:p>
          <a:p>
            <a:pPr marL="171450" indent="-171450">
              <a:buFont typeface="Arial" pitchFamily="34" charset="0"/>
              <a:buChar char="•"/>
            </a:pPr>
            <a:r>
              <a:rPr lang="en-GB" sz="1200" b="1" kern="1200" dirty="0" smtClean="0">
                <a:solidFill>
                  <a:schemeClr val="tx1"/>
                </a:solidFill>
                <a:effectLst/>
                <a:latin typeface="Calibri" pitchFamily="34" charset="0"/>
                <a:ea typeface="+mn-ea"/>
                <a:cs typeface="+mn-cs"/>
              </a:rPr>
              <a:t>A voice: </a:t>
            </a:r>
            <a:r>
              <a:rPr lang="en-GB" sz="1200" kern="1200" dirty="0" smtClean="0">
                <a:solidFill>
                  <a:schemeClr val="tx1"/>
                </a:solidFill>
                <a:effectLst/>
                <a:latin typeface="Calibri" pitchFamily="34" charset="0"/>
                <a:ea typeface="+mn-ea"/>
                <a:cs typeface="+mn-cs"/>
              </a:rPr>
              <a:t>Many young people are not involved in decisions that deeply affect their lives. By supporting youth participation in peer research, debate and formulation of policy, SOS Children's Villages gives young people a voice.</a:t>
            </a:r>
          </a:p>
          <a:p>
            <a:pPr marL="171450" indent="-171450">
              <a:buFont typeface="Arial" pitchFamily="34" charset="0"/>
              <a:buChar char="•"/>
            </a:pPr>
            <a:endParaRPr lang="de-DE"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dirty="0" smtClean="0"/>
          </a:p>
          <a:p>
            <a:endParaRPr lang="de-AT" dirty="0" smtClean="0"/>
          </a:p>
          <a:p>
            <a:endParaRPr lang="en-GB" sz="1200" kern="120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19</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smtClean="0">
                <a:solidFill>
                  <a:schemeClr val="tx1"/>
                </a:solidFill>
                <a:effectLst/>
                <a:latin typeface="Calibri" pitchFamily="34" charset="0"/>
                <a:ea typeface="+mn-ea"/>
                <a:cs typeface="+mn-cs"/>
              </a:rPr>
              <a:t>SPEAKER’S NOTES:</a:t>
            </a:r>
            <a:endParaRPr lang="en-GB" sz="1200" kern="1200" baseline="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kern="1200" baseline="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baseline="0" dirty="0" smtClean="0">
                <a:solidFill>
                  <a:schemeClr val="tx1"/>
                </a:solidFill>
                <a:effectLst/>
                <a:latin typeface="Calibri" pitchFamily="34" charset="0"/>
                <a:ea typeface="+mn-ea"/>
                <a:cs typeface="+mn-cs"/>
              </a:rPr>
              <a:t>Education is a human right, and much of our work involves ensuring that children’s rights to an education are realised.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kern="1200" baseline="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baseline="0" dirty="0" smtClean="0">
                <a:solidFill>
                  <a:schemeClr val="tx1"/>
                </a:solidFill>
                <a:effectLst/>
                <a:latin typeface="Calibri" pitchFamily="34" charset="0"/>
                <a:ea typeface="+mn-ea"/>
                <a:cs typeface="+mn-cs"/>
              </a:rPr>
              <a:t>We help people of nearly all ages, from children to adults.</a:t>
            </a:r>
          </a:p>
          <a:p>
            <a:pPr marL="171450" marR="0" indent="-17145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GB" sz="1200" kern="1200" baseline="0" dirty="0" smtClean="0">
                <a:solidFill>
                  <a:schemeClr val="tx1"/>
                </a:solidFill>
                <a:effectLst/>
                <a:latin typeface="Calibri" pitchFamily="34" charset="0"/>
                <a:ea typeface="+mn-ea"/>
                <a:cs typeface="+mn-cs"/>
              </a:rPr>
              <a:t>About 23,000 children go to school in our SOS Kindergartens</a:t>
            </a:r>
          </a:p>
          <a:p>
            <a:pPr marL="171450" marR="0" indent="-17145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GB" sz="1200" kern="1200" baseline="0" dirty="0" smtClean="0">
                <a:solidFill>
                  <a:schemeClr val="tx1"/>
                </a:solidFill>
                <a:effectLst/>
                <a:latin typeface="Calibri" pitchFamily="34" charset="0"/>
                <a:ea typeface="+mn-ea"/>
                <a:cs typeface="+mn-cs"/>
              </a:rPr>
              <a:t>More than 107,000 children go to our Hermann Gmeiner primary schools</a:t>
            </a:r>
          </a:p>
          <a:p>
            <a:pPr marL="171450" marR="0" indent="-17145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GB" sz="1200" kern="1200" baseline="0" dirty="0" smtClean="0">
                <a:solidFill>
                  <a:schemeClr val="tx1"/>
                </a:solidFill>
                <a:effectLst/>
                <a:latin typeface="Calibri" pitchFamily="34" charset="0"/>
                <a:ea typeface="+mn-ea"/>
                <a:cs typeface="+mn-cs"/>
              </a:rPr>
              <a:t>About 16,000 adults learn job-related skills in our vocational training centres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kern="1200" baseline="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Our aim is to enable children to develop into adults who have the skills to take responsibility for themselves and contribute to their communities. </a:t>
            </a:r>
            <a:r>
              <a:rPr lang="en-GB" sz="1200" kern="1200" dirty="0" smtClean="0">
                <a:solidFill>
                  <a:schemeClr val="tx1"/>
                </a:solidFill>
                <a:effectLst/>
                <a:latin typeface="Calibri" pitchFamily="34" charset="0"/>
                <a:ea typeface="+mn-ea"/>
                <a:cs typeface="+mn-cs"/>
              </a:rPr>
              <a:t>We help children to recognise and express their own individual abilities, interests and talents.</a:t>
            </a:r>
          </a:p>
          <a:p>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We enable children to live according to their own culture and religion;</a:t>
            </a:r>
            <a:r>
              <a:rPr lang="en-GB" sz="1200" kern="1200" baseline="0" dirty="0" smtClean="0">
                <a:solidFill>
                  <a:schemeClr val="tx1"/>
                </a:solidFill>
                <a:effectLst/>
                <a:latin typeface="Calibri" pitchFamily="34" charset="0"/>
                <a:ea typeface="+mn-ea"/>
                <a:cs typeface="+mn-cs"/>
              </a:rPr>
              <a:t> our schools do not impose any particular philosophy or religion</a:t>
            </a:r>
            <a:r>
              <a:rPr lang="en-GB" sz="1200" kern="1200" dirty="0" smtClean="0">
                <a:solidFill>
                  <a:schemeClr val="tx1"/>
                </a:solidFill>
                <a:effectLst/>
                <a:latin typeface="Calibri" pitchFamily="34" charset="0"/>
                <a:ea typeface="+mn-ea"/>
                <a:cs typeface="+mn-cs"/>
              </a:rPr>
              <a:t>. We work closely with local authorities and ensure that the educational facilities we provide meet local needs</a:t>
            </a:r>
            <a:r>
              <a:rPr lang="en-GB" sz="1200" kern="1200" baseline="0" dirty="0" smtClean="0">
                <a:solidFill>
                  <a:schemeClr val="tx1"/>
                </a:solidFill>
                <a:effectLst/>
                <a:latin typeface="Calibri" pitchFamily="34" charset="0"/>
                <a:ea typeface="+mn-ea"/>
                <a:cs typeface="+mn-cs"/>
              </a:rPr>
              <a:t> and serve to benefit the community in the short and long term.</a:t>
            </a:r>
            <a:endParaRPr lang="en-GB" sz="1200" kern="1200" dirty="0" smtClean="0">
              <a:solidFill>
                <a:schemeClr val="tx1"/>
              </a:solidFill>
              <a:effectLst/>
              <a:latin typeface="Calibri" pitchFamily="34" charset="0"/>
              <a:ea typeface="+mn-ea"/>
              <a:cs typeface="+mn-cs"/>
            </a:endParaRPr>
          </a:p>
          <a:p>
            <a:endParaRPr lang="de-DE"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dirty="0" smtClean="0"/>
          </a:p>
          <a:p>
            <a:endParaRPr lang="de-AT" dirty="0" smtClean="0"/>
          </a:p>
          <a:p>
            <a:endParaRPr lang="en-GB" sz="1200" kern="120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20</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kern="1200" dirty="0" smtClean="0">
                <a:solidFill>
                  <a:schemeClr val="tx1"/>
                </a:solidFill>
                <a:effectLst/>
                <a:latin typeface="Calibri" pitchFamily="34" charset="0"/>
                <a:ea typeface="+mn-ea"/>
                <a:cs typeface="+mn-cs"/>
              </a:rPr>
              <a:t>SPEAKER’S NOTES: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000" kern="1200" baseline="0" dirty="0" smtClean="0">
              <a:solidFill>
                <a:schemeClr val="tx1"/>
              </a:solidFill>
              <a:effectLst/>
              <a:latin typeface="Calibri"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de-DE" sz="1000" b="0" dirty="0" err="1" smtClean="0">
                <a:solidFill>
                  <a:prstClr val="black"/>
                </a:solidFill>
              </a:rPr>
              <a:t>We</a:t>
            </a:r>
            <a:r>
              <a:rPr lang="de-DE" sz="1000" b="0" dirty="0" smtClean="0">
                <a:solidFill>
                  <a:prstClr val="black"/>
                </a:solidFill>
              </a:rPr>
              <a:t> </a:t>
            </a:r>
            <a:r>
              <a:rPr lang="de-DE" sz="1000" b="0" dirty="0" err="1" smtClean="0">
                <a:solidFill>
                  <a:prstClr val="black"/>
                </a:solidFill>
              </a:rPr>
              <a:t>give</a:t>
            </a:r>
            <a:r>
              <a:rPr lang="de-DE" sz="1000" b="0" dirty="0" smtClean="0">
                <a:solidFill>
                  <a:prstClr val="black"/>
                </a:solidFill>
              </a:rPr>
              <a:t> </a:t>
            </a:r>
            <a:r>
              <a:rPr lang="de-DE" sz="1000" b="0" dirty="0" err="1" smtClean="0">
                <a:solidFill>
                  <a:prstClr val="black"/>
                </a:solidFill>
              </a:rPr>
              <a:t>children</a:t>
            </a:r>
            <a:r>
              <a:rPr lang="de-DE" sz="1000" b="0" dirty="0" smtClean="0">
                <a:solidFill>
                  <a:prstClr val="black"/>
                </a:solidFill>
              </a:rPr>
              <a:t> </a:t>
            </a:r>
            <a:r>
              <a:rPr lang="de-DE" sz="1000" b="0" dirty="0" err="1" smtClean="0">
                <a:solidFill>
                  <a:prstClr val="black"/>
                </a:solidFill>
              </a:rPr>
              <a:t>and</a:t>
            </a:r>
            <a:r>
              <a:rPr lang="de-DE" sz="1000" b="0" dirty="0" smtClean="0">
                <a:solidFill>
                  <a:prstClr val="black"/>
                </a:solidFill>
              </a:rPr>
              <a:t> </a:t>
            </a:r>
            <a:r>
              <a:rPr lang="de-DE" sz="1000" b="0" dirty="0" err="1" smtClean="0">
                <a:solidFill>
                  <a:prstClr val="black"/>
                </a:solidFill>
              </a:rPr>
              <a:t>families</a:t>
            </a:r>
            <a:r>
              <a:rPr lang="de-DE" sz="1000" b="0" dirty="0" smtClean="0">
                <a:solidFill>
                  <a:prstClr val="black"/>
                </a:solidFill>
              </a:rPr>
              <a:t> </a:t>
            </a:r>
            <a:r>
              <a:rPr lang="de-DE" sz="1000" b="0" dirty="0" err="1" smtClean="0">
                <a:solidFill>
                  <a:prstClr val="black"/>
                </a:solidFill>
              </a:rPr>
              <a:t>access</a:t>
            </a:r>
            <a:r>
              <a:rPr lang="de-DE" sz="1000" b="0" dirty="0" smtClean="0">
                <a:solidFill>
                  <a:prstClr val="black"/>
                </a:solidFill>
              </a:rPr>
              <a:t> </a:t>
            </a:r>
            <a:r>
              <a:rPr lang="de-DE" sz="1000" b="0" dirty="0" err="1" smtClean="0">
                <a:solidFill>
                  <a:prstClr val="black"/>
                </a:solidFill>
              </a:rPr>
              <a:t>to</a:t>
            </a:r>
            <a:r>
              <a:rPr lang="de-DE" sz="1000" b="0" dirty="0" smtClean="0">
                <a:solidFill>
                  <a:prstClr val="black"/>
                </a:solidFill>
              </a:rPr>
              <a:t> </a:t>
            </a:r>
            <a:r>
              <a:rPr lang="de-DE" sz="1000" b="0" dirty="0" err="1" smtClean="0">
                <a:solidFill>
                  <a:prstClr val="black"/>
                </a:solidFill>
              </a:rPr>
              <a:t>medical</a:t>
            </a:r>
            <a:r>
              <a:rPr lang="de-DE" sz="1000" b="0" dirty="0" smtClean="0">
                <a:solidFill>
                  <a:prstClr val="black"/>
                </a:solidFill>
              </a:rPr>
              <a:t> professionals </a:t>
            </a:r>
            <a:r>
              <a:rPr lang="de-DE" sz="1000" b="0" dirty="0" err="1" smtClean="0">
                <a:solidFill>
                  <a:prstClr val="black"/>
                </a:solidFill>
              </a:rPr>
              <a:t>and</a:t>
            </a:r>
            <a:r>
              <a:rPr lang="de-DE" sz="1000" b="1" dirty="0" smtClean="0">
                <a:solidFill>
                  <a:prstClr val="black"/>
                </a:solidFill>
              </a:rPr>
              <a:t> </a:t>
            </a:r>
            <a:r>
              <a:rPr lang="en-GB" sz="1000" kern="1200" dirty="0" smtClean="0">
                <a:solidFill>
                  <a:schemeClr val="tx1"/>
                </a:solidFill>
                <a:effectLst/>
                <a:latin typeface="Calibri" pitchFamily="34" charset="0"/>
                <a:ea typeface="+mn-ea"/>
                <a:cs typeface="+mn-cs"/>
              </a:rPr>
              <a:t>provide individualised care.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000" kern="1200" dirty="0" smtClean="0">
              <a:solidFill>
                <a:schemeClr val="tx1"/>
              </a:solidFill>
              <a:effectLst/>
              <a:latin typeface="Calibri"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sz="1000" kern="1200" dirty="0" smtClean="0">
                <a:solidFill>
                  <a:schemeClr val="tx1"/>
                </a:solidFill>
                <a:effectLst/>
                <a:latin typeface="Calibri" pitchFamily="34" charset="0"/>
                <a:ea typeface="+mn-ea"/>
                <a:cs typeface="+mn-cs"/>
              </a:rPr>
              <a:t>In the communities where there is greatest need, we establish medical centres, which provide short and long-term</a:t>
            </a:r>
            <a:r>
              <a:rPr lang="en-GB" sz="1000" kern="1200" baseline="0" dirty="0" smtClean="0">
                <a:solidFill>
                  <a:schemeClr val="tx1"/>
                </a:solidFill>
                <a:effectLst/>
                <a:latin typeface="Calibri" pitchFamily="34" charset="0"/>
                <a:ea typeface="+mn-ea"/>
                <a:cs typeface="+mn-cs"/>
              </a:rPr>
              <a:t> treatments.</a:t>
            </a:r>
            <a:r>
              <a:rPr lang="en-US" sz="1000" b="0" dirty="0" smtClean="0"/>
              <a:t> The 794,000</a:t>
            </a:r>
            <a:r>
              <a:rPr lang="en-US" sz="1000" b="0" baseline="0" dirty="0" smtClean="0"/>
              <a:t> single services refer to short visits, for example to receive a vaccination or other medicine</a:t>
            </a:r>
          </a:p>
          <a:p>
            <a:pPr marL="0" marR="0" lvl="0" indent="0" algn="l" defTabSz="914400" rtl="0" eaLnBrk="1" fontAlgn="base" latinLnBrk="0" hangingPunct="1">
              <a:lnSpc>
                <a:spcPct val="100000"/>
              </a:lnSpc>
              <a:spcBef>
                <a:spcPct val="30000"/>
              </a:spcBef>
              <a:spcAft>
                <a:spcPct val="0"/>
              </a:spcAft>
              <a:buClrTx/>
              <a:buSzTx/>
              <a:buFont typeface="Arial" pitchFamily="34" charset="0"/>
              <a:buNone/>
              <a:tabLst/>
              <a:defRPr/>
            </a:pPr>
            <a:endParaRPr lang="en-US" sz="1000" b="0" baseline="0" dirty="0" smtClean="0"/>
          </a:p>
          <a:p>
            <a:pPr marL="0" marR="0" lvl="0" indent="0" algn="l" defTabSz="914400" rtl="0" eaLnBrk="1" fontAlgn="base" latinLnBrk="0" hangingPunct="1">
              <a:lnSpc>
                <a:spcPct val="100000"/>
              </a:lnSpc>
              <a:spcBef>
                <a:spcPct val="30000"/>
              </a:spcBef>
              <a:spcAft>
                <a:spcPct val="0"/>
              </a:spcAft>
              <a:buClrTx/>
              <a:buSzTx/>
              <a:buFont typeface="Arial" pitchFamily="34" charset="0"/>
              <a:buNone/>
              <a:tabLst/>
              <a:defRPr/>
            </a:pPr>
            <a:r>
              <a:rPr lang="en-US" sz="1000" b="0" baseline="0" dirty="0" smtClean="0"/>
              <a:t>The 62,000 service days refers to when patients remain in the facility for a day or longer</a:t>
            </a:r>
            <a:endParaRPr lang="en-US" sz="1000" b="0" dirty="0" smtClean="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000" kern="1200" baseline="0" dirty="0" smtClean="0">
              <a:solidFill>
                <a:schemeClr val="tx1"/>
              </a:solidFill>
              <a:effectLst/>
              <a:latin typeface="Calibri"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000" b="0" dirty="0" smtClean="0"/>
              <a:t>These have a focus on </a:t>
            </a:r>
            <a:r>
              <a:rPr lang="en-US" sz="1000" b="0" dirty="0" err="1" smtClean="0"/>
              <a:t>specialised</a:t>
            </a:r>
            <a:r>
              <a:rPr lang="en-US" sz="1000" b="0" dirty="0" smtClean="0"/>
              <a:t> care of women and children (including vaccines</a:t>
            </a:r>
            <a:r>
              <a:rPr lang="en-US" sz="1000" b="0" baseline="0" dirty="0" smtClean="0"/>
              <a:t> and</a:t>
            </a:r>
            <a:r>
              <a:rPr lang="en-US" sz="1000" b="0" dirty="0" smtClean="0"/>
              <a:t> childbirth facilities).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000" b="1" dirty="0" smtClean="0">
              <a:solidFill>
                <a:prstClr val="black"/>
              </a:solidFill>
            </a:endParaRPr>
          </a:p>
          <a:p>
            <a:r>
              <a:rPr lang="en-US" sz="1000" dirty="0" smtClean="0"/>
              <a:t>We also provide guidance on </a:t>
            </a:r>
            <a:r>
              <a:rPr lang="en-US" sz="1000" b="0" dirty="0" smtClean="0"/>
              <a:t>nutrition, first aid and hygiene.</a:t>
            </a:r>
          </a:p>
          <a:p>
            <a:endParaRPr lang="en-US" sz="1000" b="1" dirty="0" smtClean="0"/>
          </a:p>
          <a:p>
            <a:r>
              <a:rPr lang="en-US" sz="1000" dirty="0" smtClean="0"/>
              <a:t>We help children deal with </a:t>
            </a:r>
            <a:r>
              <a:rPr lang="en-US" sz="1000" b="0" dirty="0" smtClean="0"/>
              <a:t>emotional, social and mental problems.</a:t>
            </a:r>
          </a:p>
          <a:p>
            <a:endParaRPr lang="en-US" sz="1000" b="1"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sz="1000" dirty="0" smtClean="0"/>
              <a:t>Around 90% of our social and medical </a:t>
            </a:r>
            <a:r>
              <a:rPr lang="en-US" sz="1000" dirty="0" err="1" smtClean="0"/>
              <a:t>centres</a:t>
            </a:r>
            <a:r>
              <a:rPr lang="en-US" sz="1000" dirty="0" smtClean="0"/>
              <a:t> specifically support families and children affected by </a:t>
            </a:r>
            <a:r>
              <a:rPr lang="en-US" sz="1000" b="0" dirty="0" smtClean="0"/>
              <a:t>HIV/AIDS.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kern="1200" baseline="0" dirty="0" smtClean="0">
              <a:solidFill>
                <a:schemeClr val="tx1"/>
              </a:solidFill>
              <a:effectLst/>
              <a:latin typeface="Calibri"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b="0" kern="1200" baseline="0" dirty="0" smtClean="0">
              <a:solidFill>
                <a:schemeClr val="tx1"/>
              </a:solidFill>
              <a:effectLst/>
              <a:latin typeface="Calibri" pitchFamily="34" charset="0"/>
              <a:ea typeface="+mn-ea"/>
              <a:cs typeface="+mn-cs"/>
            </a:endParaRPr>
          </a:p>
          <a:p>
            <a:endParaRPr lang="en-GB" sz="1200" b="1" dirty="0" smtClean="0"/>
          </a:p>
          <a:p>
            <a:endParaRPr lang="en-US" sz="1200" b="1" dirty="0" smtClean="0"/>
          </a:p>
          <a:p>
            <a:endParaRPr lang="en-US" sz="1200" b="0" i="1" dirty="0" smtClean="0"/>
          </a:p>
          <a:p>
            <a:endParaRPr lang="de-DE" sz="1200" i="1" kern="120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21</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Calibri" pitchFamily="34" charset="0"/>
                <a:ea typeface="+mn-ea"/>
                <a:cs typeface="+mn-cs"/>
              </a:rPr>
              <a:t>SPEAKER’S NOTES:</a:t>
            </a:r>
            <a:endParaRPr lang="en-GB" sz="1200" kern="1200" baseline="0" dirty="0" smtClean="0">
              <a:solidFill>
                <a:schemeClr val="tx1"/>
              </a:solidFill>
              <a:effectLst/>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kern="1200" baseline="0" dirty="0" smtClean="0">
              <a:solidFill>
                <a:schemeClr val="tx1"/>
              </a:solidFill>
              <a:effectLst/>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000" dirty="0" smtClean="0">
                <a:latin typeface="HelveticaNeueLT Std Cn" pitchFamily="34" charset="0"/>
              </a:rPr>
              <a:t>Although we are not primarily a</a:t>
            </a:r>
            <a:r>
              <a:rPr lang="de-DE" sz="1000" baseline="0" dirty="0" smtClean="0">
                <a:latin typeface="HelveticaNeueLT Std Cn" pitchFamily="34" charset="0"/>
              </a:rPr>
              <a:t> humanitarian aid organisation, we do run emergency relief programmes where we already have one of our existing programmes in place. In those locations, when disasters strike, </a:t>
            </a:r>
            <a:r>
              <a:rPr lang="en-GB" sz="1000" kern="1200" dirty="0" smtClean="0">
                <a:solidFill>
                  <a:schemeClr val="tx1"/>
                </a:solidFill>
                <a:effectLst/>
                <a:latin typeface="Calibri" pitchFamily="34" charset="0"/>
                <a:ea typeface="+mn-ea"/>
                <a:cs typeface="+mn-cs"/>
              </a:rPr>
              <a:t>SOS Children’s Villages is in a strong position to promptly respond with an established infrastructure whenever children and families most need urgent assistance.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000" baseline="0" dirty="0" smtClean="0">
              <a:latin typeface="HelveticaNeueLT Std Cn"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000" baseline="0" dirty="0" smtClean="0">
                <a:latin typeface="HelveticaNeueLT Std Cn" pitchFamily="34" charset="0"/>
              </a:rPr>
              <a:t>Our emergency programmes are not permanent, and we had 7 running at the end of 2013.</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000" dirty="0" smtClean="0">
              <a:latin typeface="HelveticaNeueLT Std Cn"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dirty="0" smtClean="0">
                <a:solidFill>
                  <a:schemeClr val="tx1"/>
                </a:solidFill>
                <a:effectLst/>
                <a:latin typeface="Calibri" pitchFamily="34" charset="0"/>
                <a:ea typeface="+mn-ea"/>
                <a:cs typeface="+mn-cs"/>
              </a:rPr>
              <a:t>In situation of crisis</a:t>
            </a:r>
            <a:r>
              <a:rPr lang="en-GB" sz="1000" kern="1200" baseline="0" dirty="0" smtClean="0">
                <a:solidFill>
                  <a:schemeClr val="tx1"/>
                </a:solidFill>
                <a:effectLst/>
                <a:latin typeface="Calibri" pitchFamily="34" charset="0"/>
                <a:ea typeface="+mn-ea"/>
                <a:cs typeface="+mn-cs"/>
              </a:rPr>
              <a:t> – whether caused by</a:t>
            </a:r>
            <a:r>
              <a:rPr lang="en-GB" sz="1000" kern="1200" dirty="0" smtClean="0">
                <a:solidFill>
                  <a:schemeClr val="tx1"/>
                </a:solidFill>
                <a:effectLst/>
                <a:latin typeface="Calibri" pitchFamily="34" charset="0"/>
                <a:ea typeface="+mn-ea"/>
                <a:cs typeface="+mn-cs"/>
              </a:rPr>
              <a:t> war,</a:t>
            </a:r>
            <a:r>
              <a:rPr lang="en-GB" sz="1000" kern="1200" baseline="0" dirty="0" smtClean="0">
                <a:solidFill>
                  <a:schemeClr val="tx1"/>
                </a:solidFill>
                <a:effectLst/>
                <a:latin typeface="Calibri" pitchFamily="34" charset="0"/>
                <a:ea typeface="+mn-ea"/>
                <a:cs typeface="+mn-cs"/>
              </a:rPr>
              <a:t> natural </a:t>
            </a:r>
            <a:r>
              <a:rPr lang="en-GB" sz="1000" kern="1200" dirty="0" smtClean="0">
                <a:solidFill>
                  <a:schemeClr val="tx1"/>
                </a:solidFill>
                <a:effectLst/>
                <a:latin typeface="Calibri" pitchFamily="34" charset="0"/>
                <a:ea typeface="+mn-ea"/>
                <a:cs typeface="+mn-cs"/>
              </a:rPr>
              <a:t>disaster or other events –</a:t>
            </a:r>
            <a:r>
              <a:rPr lang="en-GB" sz="1000" kern="1200" baseline="0" dirty="0" smtClean="0">
                <a:solidFill>
                  <a:schemeClr val="tx1"/>
                </a:solidFill>
                <a:effectLst/>
                <a:latin typeface="Calibri" pitchFamily="34" charset="0"/>
                <a:ea typeface="+mn-ea"/>
                <a:cs typeface="+mn-cs"/>
              </a:rPr>
              <a:t> </a:t>
            </a:r>
            <a:r>
              <a:rPr lang="en-GB" sz="1000" kern="1200" dirty="0" smtClean="0">
                <a:solidFill>
                  <a:schemeClr val="tx1"/>
                </a:solidFill>
                <a:effectLst/>
                <a:latin typeface="Calibri" pitchFamily="34" charset="0"/>
                <a:ea typeface="+mn-ea"/>
                <a:cs typeface="+mn-cs"/>
              </a:rPr>
              <a:t>children in particular require specific protection and care,</a:t>
            </a:r>
            <a:r>
              <a:rPr lang="en-GB" sz="1000" kern="1200" baseline="0" dirty="0" smtClean="0">
                <a:solidFill>
                  <a:schemeClr val="tx1"/>
                </a:solidFill>
                <a:effectLst/>
                <a:latin typeface="Calibri" pitchFamily="34" charset="0"/>
                <a:ea typeface="+mn-ea"/>
                <a:cs typeface="+mn-cs"/>
              </a:rPr>
              <a:t> especially those who are separated from their families.</a:t>
            </a:r>
            <a:endParaRPr lang="en-GB" sz="1000" kern="1200" dirty="0" smtClean="0">
              <a:solidFill>
                <a:schemeClr val="tx1"/>
              </a:solidFill>
              <a:effectLst/>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dirty="0" smtClean="0">
                <a:solidFill>
                  <a:schemeClr val="tx1"/>
                </a:solidFill>
                <a:effectLst/>
                <a:latin typeface="Calibri" pitchFamily="34" charset="0"/>
                <a:ea typeface="+mn-ea"/>
                <a:cs typeface="+mn-cs"/>
              </a:rPr>
              <a:t/>
            </a:r>
            <a:br>
              <a:rPr lang="en-GB" sz="1000" kern="1200" dirty="0" smtClean="0">
                <a:solidFill>
                  <a:schemeClr val="tx1"/>
                </a:solidFill>
                <a:effectLst/>
                <a:latin typeface="Calibri" pitchFamily="34" charset="0"/>
                <a:ea typeface="+mn-ea"/>
                <a:cs typeface="+mn-cs"/>
              </a:rPr>
            </a:br>
            <a:r>
              <a:rPr lang="en-GB" sz="1000" kern="1200" dirty="0" smtClean="0">
                <a:solidFill>
                  <a:schemeClr val="tx1"/>
                </a:solidFill>
                <a:effectLst/>
                <a:latin typeface="Calibri" pitchFamily="34" charset="0"/>
                <a:ea typeface="+mn-ea"/>
                <a:cs typeface="+mn-cs"/>
              </a:rPr>
              <a:t>A</a:t>
            </a:r>
            <a:r>
              <a:rPr lang="en-GB" sz="1000" kern="1200" baseline="0" dirty="0" smtClean="0">
                <a:solidFill>
                  <a:schemeClr val="tx1"/>
                </a:solidFill>
                <a:effectLst/>
                <a:latin typeface="Calibri" pitchFamily="34" charset="0"/>
                <a:ea typeface="+mn-ea"/>
                <a:cs typeface="+mn-cs"/>
              </a:rPr>
              <a:t> large part of our emergency work in Haiti following the earthquake in 2010 was to help reunite children with their families.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dirty="0" smtClean="0">
              <a:latin typeface="HelveticaNeueLT Std Cn"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smtClean="0">
                <a:ln>
                  <a:noFill/>
                </a:ln>
                <a:solidFill>
                  <a:prstClr val="black"/>
                </a:solidFill>
                <a:effectLst/>
                <a:uLnTx/>
                <a:uFillTx/>
                <a:latin typeface="Calibri" pitchFamily="34" charset="0"/>
                <a:ea typeface="+mn-ea"/>
                <a:cs typeface="+mn-cs"/>
              </a:rPr>
              <a:t>If the children have no families, we take action to bring them as quickly as possible from the emergency situation into a caring family environment where their development as individuals is supported.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smtClean="0">
              <a:ln>
                <a:noFill/>
              </a:ln>
              <a:solidFill>
                <a:prstClr val="black"/>
              </a:solidFill>
              <a:effectLst/>
              <a:uLnTx/>
              <a:uFillTx/>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smtClean="0">
                <a:ln>
                  <a:noFill/>
                </a:ln>
                <a:solidFill>
                  <a:prstClr val="black"/>
                </a:solidFill>
                <a:effectLst/>
                <a:uLnTx/>
                <a:uFillTx/>
                <a:latin typeface="Calibri" pitchFamily="34" charset="0"/>
                <a:ea typeface="+mn-ea"/>
                <a:cs typeface="+mn-cs"/>
              </a:rPr>
              <a:t>Very frequently, children in these situations are </a:t>
            </a:r>
            <a:r>
              <a:rPr kumimoji="0" lang="en-US" sz="1000" b="0" i="0" u="none" strike="noStrike" kern="1200" cap="none" spc="0" normalizeH="0" baseline="0" noProof="0" dirty="0" err="1" smtClean="0">
                <a:ln>
                  <a:noFill/>
                </a:ln>
                <a:solidFill>
                  <a:prstClr val="black"/>
                </a:solidFill>
                <a:effectLst/>
                <a:uLnTx/>
                <a:uFillTx/>
                <a:latin typeface="Calibri" pitchFamily="34" charset="0"/>
                <a:ea typeface="+mn-ea"/>
                <a:cs typeface="+mn-cs"/>
              </a:rPr>
              <a:t>traumatised</a:t>
            </a:r>
            <a:r>
              <a:rPr kumimoji="0" lang="en-US" sz="1000" b="0" i="0" u="none" strike="noStrike" kern="1200" cap="none" spc="0" normalizeH="0" baseline="0" noProof="0" dirty="0" smtClean="0">
                <a:ln>
                  <a:noFill/>
                </a:ln>
                <a:solidFill>
                  <a:prstClr val="black"/>
                </a:solidFill>
                <a:effectLst/>
                <a:uLnTx/>
                <a:uFillTx/>
                <a:latin typeface="Calibri" pitchFamily="34" charset="0"/>
                <a:ea typeface="+mn-ea"/>
                <a:cs typeface="+mn-cs"/>
              </a:rPr>
              <a:t> and need extra psychological support.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smtClean="0">
              <a:ln>
                <a:noFill/>
              </a:ln>
              <a:solidFill>
                <a:prstClr val="black"/>
              </a:solidFill>
              <a:effectLst/>
              <a:uLnTx/>
              <a:uFillTx/>
              <a:latin typeface="Calibri"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smtClean="0">
                <a:ln>
                  <a:noFill/>
                </a:ln>
                <a:solidFill>
                  <a:prstClr val="black"/>
                </a:solidFill>
                <a:effectLst/>
                <a:uLnTx/>
                <a:uFillTx/>
                <a:latin typeface="Calibri" pitchFamily="34" charset="0"/>
                <a:ea typeface="+mn-ea"/>
                <a:cs typeface="+mn-cs"/>
              </a:rPr>
              <a:t>In many cases, projects that start out as a part of emergency relief work become permanent SOS </a:t>
            </a:r>
            <a:r>
              <a:rPr kumimoji="0" lang="en-US" sz="1000" b="0" i="0" u="none" strike="noStrike" kern="1200" cap="none" spc="0" normalizeH="0" baseline="0" noProof="0" dirty="0" err="1" smtClean="0">
                <a:ln>
                  <a:noFill/>
                </a:ln>
                <a:solidFill>
                  <a:prstClr val="black"/>
                </a:solidFill>
                <a:effectLst/>
                <a:uLnTx/>
                <a:uFillTx/>
                <a:latin typeface="Calibri" pitchFamily="34" charset="0"/>
                <a:ea typeface="+mn-ea"/>
                <a:cs typeface="+mn-cs"/>
              </a:rPr>
              <a:t>programmes</a:t>
            </a:r>
            <a:r>
              <a:rPr kumimoji="0" lang="en-US" sz="1000" b="0" i="0" u="none" strike="noStrike" kern="1200" cap="none" spc="0" normalizeH="0" baseline="0" noProof="0" dirty="0" smtClean="0">
                <a:ln>
                  <a:noFill/>
                </a:ln>
                <a:solidFill>
                  <a:prstClr val="black"/>
                </a:solidFill>
                <a:effectLst/>
                <a:uLnTx/>
                <a:uFillTx/>
                <a:latin typeface="Calibri"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smtClean="0">
              <a:ln>
                <a:noFill/>
              </a:ln>
              <a:solidFill>
                <a:prstClr val="black"/>
              </a:solidFill>
              <a:effectLst/>
              <a:uLnTx/>
              <a:uFillTx/>
              <a:latin typeface="Calibri" pitchFamily="34" charset="0"/>
              <a:ea typeface="+mn-ea"/>
              <a:cs typeface="+mn-cs"/>
            </a:endParaRPr>
          </a:p>
          <a:p>
            <a:endParaRPr lang="de-DE" sz="1000" i="1" kern="120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22</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Calibri" pitchFamily="34" charset="0"/>
                <a:ea typeface="+mn-ea"/>
                <a:cs typeface="+mn-cs"/>
              </a:rPr>
              <a:t>SPEAKER’S NOTES:</a:t>
            </a:r>
            <a:endParaRPr lang="en-GB" sz="1200" kern="1200" baseline="0" dirty="0" smtClean="0">
              <a:solidFill>
                <a:schemeClr val="tx1"/>
              </a:solidFill>
              <a:effectLst/>
              <a:latin typeface="Calibri" pitchFamily="34" charset="0"/>
              <a:ea typeface="+mn-ea"/>
              <a:cs typeface="+mn-cs"/>
            </a:endParaRPr>
          </a:p>
          <a:p>
            <a:endParaRPr lang="en-GB" sz="1200" b="1" kern="1200" baseline="0" dirty="0" smtClean="0">
              <a:solidFill>
                <a:schemeClr val="tx1"/>
              </a:solidFill>
              <a:effectLst/>
              <a:latin typeface="Calibri" pitchFamily="34" charset="0"/>
              <a:ea typeface="+mn-ea"/>
              <a:cs typeface="+mn-cs"/>
            </a:endParaRPr>
          </a:p>
          <a:p>
            <a:r>
              <a:rPr lang="en-US" b="0" dirty="0" smtClean="0"/>
              <a:t>We actively promote and stand up for children’s rights. </a:t>
            </a:r>
          </a:p>
          <a:p>
            <a:endParaRPr lang="en-US" b="1" dirty="0" smtClean="0"/>
          </a:p>
          <a:p>
            <a:r>
              <a:rPr lang="en-US" dirty="0" smtClean="0"/>
              <a:t>We encourage governments to meet their responsibilities and help children at risk. Our ‘Care for ME!’ campaign is working</a:t>
            </a:r>
            <a:r>
              <a:rPr lang="en-US" baseline="0" dirty="0" smtClean="0"/>
              <a:t> in more than 60 different countries to ensure that governments fulfill their responsibilities and improve the quality of care that children in alternative care are receiving.</a:t>
            </a:r>
            <a:endParaRPr lang="en-US" dirty="0" smtClean="0"/>
          </a:p>
          <a:p>
            <a:endParaRPr lang="en-US" dirty="0" smtClean="0"/>
          </a:p>
          <a:p>
            <a:r>
              <a:rPr lang="en-US" dirty="0" smtClean="0"/>
              <a:t>We work in </a:t>
            </a:r>
            <a:r>
              <a:rPr lang="en-US" b="0" dirty="0" smtClean="0"/>
              <a:t>partnerships with other NGOs, UN agencies, governments, and</a:t>
            </a:r>
            <a:r>
              <a:rPr lang="en-US" b="0" baseline="0" dirty="0" smtClean="0"/>
              <a:t> </a:t>
            </a:r>
            <a:r>
              <a:rPr lang="en-US" dirty="0" smtClean="0"/>
              <a:t>community</a:t>
            </a:r>
            <a:r>
              <a:rPr lang="en-US" baseline="0" dirty="0" smtClean="0"/>
              <a:t> </a:t>
            </a:r>
            <a:r>
              <a:rPr lang="en-US" baseline="0" dirty="0" err="1" smtClean="0"/>
              <a:t>organisations</a:t>
            </a:r>
            <a:r>
              <a:rPr lang="en-US" dirty="0" smtClean="0"/>
              <a:t> to create a strong and supportive environment for children.</a:t>
            </a:r>
          </a:p>
          <a:p>
            <a:endParaRPr lang="en-US" dirty="0" smtClean="0"/>
          </a:p>
          <a:p>
            <a:r>
              <a:rPr lang="en-US" dirty="0" smtClean="0"/>
              <a:t>We encourage </a:t>
            </a:r>
            <a:r>
              <a:rPr lang="en-US" b="0" dirty="0" smtClean="0"/>
              <a:t>children to actively take part in decision-making processes </a:t>
            </a:r>
            <a:r>
              <a:rPr lang="en-US" dirty="0" smtClean="0"/>
              <a:t>that affect their lives and whenever possible to represent themselves.</a:t>
            </a:r>
          </a:p>
          <a:p>
            <a:endParaRPr lang="en-US" dirty="0" smtClean="0"/>
          </a:p>
        </p:txBody>
      </p:sp>
      <p:sp>
        <p:nvSpPr>
          <p:cNvPr id="4" name="Slide Number Placeholder 3"/>
          <p:cNvSpPr>
            <a:spLocks noGrp="1"/>
          </p:cNvSpPr>
          <p:nvPr>
            <p:ph type="sldNum" sz="quarter" idx="10"/>
          </p:nvPr>
        </p:nvSpPr>
        <p:spPr/>
        <p:txBody>
          <a:bodyPr/>
          <a:lstStyle/>
          <a:p>
            <a:fld id="{68212901-8644-4CDA-A7EA-D9645A6E2995}" type="slidenum">
              <a:rPr lang="de-DE" smtClean="0"/>
              <a:pPr/>
              <a:t>23</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ct val="0"/>
              </a:spcBef>
              <a:buNone/>
            </a:pPr>
            <a:r>
              <a:rPr lang="en-US" baseline="0" dirty="0" smtClean="0">
                <a:solidFill>
                  <a:srgbClr val="000000"/>
                </a:solidFill>
                <a:latin typeface="Arial" charset="0"/>
              </a:rPr>
              <a:t>SPEAKER’S NOTES: </a:t>
            </a:r>
            <a:endParaRPr lang="en-US" i="1" baseline="0" dirty="0" smtClean="0">
              <a:solidFill>
                <a:srgbClr val="000000"/>
              </a:solidFill>
              <a:latin typeface="Arial" charset="0"/>
            </a:endParaRPr>
          </a:p>
          <a:p>
            <a:pPr marL="0" lvl="0" indent="0">
              <a:spcBef>
                <a:spcPct val="0"/>
              </a:spcBef>
              <a:buNone/>
            </a:pPr>
            <a:endParaRPr lang="en-US" baseline="0" dirty="0" smtClean="0">
              <a:solidFill>
                <a:srgbClr val="000000"/>
              </a:solidFill>
              <a:latin typeface="Arial" charset="0"/>
            </a:endParaRPr>
          </a:p>
          <a:p>
            <a:pPr marL="0" lvl="0" indent="0">
              <a:spcBef>
                <a:spcPct val="0"/>
              </a:spcBef>
              <a:buNone/>
            </a:pPr>
            <a:r>
              <a:rPr lang="en-US" baseline="0" dirty="0" smtClean="0">
                <a:solidFill>
                  <a:srgbClr val="000000"/>
                </a:solidFill>
                <a:latin typeface="Arial" charset="0"/>
              </a:rPr>
              <a:t>In 1949, the f</a:t>
            </a:r>
            <a:r>
              <a:rPr lang="en-US" dirty="0" smtClean="0">
                <a:solidFill>
                  <a:srgbClr val="000000"/>
                </a:solidFill>
                <a:latin typeface="Arial" charset="0"/>
              </a:rPr>
              <a:t>irst SOS Children's Village opened in </a:t>
            </a:r>
            <a:r>
              <a:rPr lang="en-US" dirty="0" err="1" smtClean="0">
                <a:solidFill>
                  <a:srgbClr val="000000"/>
                </a:solidFill>
                <a:latin typeface="Arial" charset="0"/>
              </a:rPr>
              <a:t>Imst</a:t>
            </a:r>
            <a:r>
              <a:rPr lang="en-US" dirty="0" smtClean="0">
                <a:solidFill>
                  <a:srgbClr val="000000"/>
                </a:solidFill>
                <a:latin typeface="Arial" charset="0"/>
              </a:rPr>
              <a:t>, </a:t>
            </a:r>
            <a:r>
              <a:rPr lang="en-US" smtClean="0">
                <a:solidFill>
                  <a:srgbClr val="000000"/>
                </a:solidFill>
                <a:latin typeface="Arial" charset="0"/>
              </a:rPr>
              <a:t>Austria.</a:t>
            </a:r>
            <a:endParaRPr lang="en-US" dirty="0" smtClean="0">
              <a:solidFill>
                <a:srgbClr val="000000"/>
              </a:solidFill>
              <a:latin typeface="Arial" charset="0"/>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24</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ct val="0"/>
              </a:spcBef>
              <a:buNone/>
            </a:pPr>
            <a:r>
              <a:rPr lang="en-US" baseline="0" dirty="0" smtClean="0">
                <a:solidFill>
                  <a:srgbClr val="000000"/>
                </a:solidFill>
                <a:latin typeface="Arial" charset="0"/>
              </a:rPr>
              <a:t>SPEAKER’S NOTES: </a:t>
            </a:r>
            <a:endParaRPr lang="en-US" i="1" baseline="0" dirty="0" smtClean="0">
              <a:solidFill>
                <a:srgbClr val="000000"/>
              </a:solidFill>
              <a:latin typeface="Arial" charset="0"/>
            </a:endParaRPr>
          </a:p>
          <a:p>
            <a:pPr marL="0" lvl="0" indent="0">
              <a:spcBef>
                <a:spcPct val="0"/>
              </a:spcBef>
              <a:buNone/>
            </a:pPr>
            <a:endParaRPr lang="en-US" baseline="0" dirty="0" smtClean="0">
              <a:solidFill>
                <a:srgbClr val="000000"/>
              </a:solidFill>
              <a:latin typeface="Arial" charset="0"/>
            </a:endParaRPr>
          </a:p>
          <a:p>
            <a:pPr marL="0" lvl="0" indent="0">
              <a:spcBef>
                <a:spcPct val="0"/>
              </a:spcBef>
              <a:buNone/>
            </a:pPr>
            <a:r>
              <a:rPr lang="de-DE" smtClean="0">
                <a:solidFill>
                  <a:srgbClr val="000000"/>
                </a:solidFill>
                <a:latin typeface="Arial" charset="0"/>
              </a:rPr>
              <a:t>In</a:t>
            </a:r>
            <a:r>
              <a:rPr lang="de-DE" baseline="0" smtClean="0">
                <a:solidFill>
                  <a:srgbClr val="000000"/>
                </a:solidFill>
                <a:latin typeface="Arial" charset="0"/>
              </a:rPr>
              <a:t> </a:t>
            </a:r>
            <a:r>
              <a:rPr lang="de-DE" baseline="0" dirty="0" smtClean="0">
                <a:solidFill>
                  <a:srgbClr val="000000"/>
                </a:solidFill>
                <a:latin typeface="Arial" charset="0"/>
              </a:rPr>
              <a:t>1955, a</a:t>
            </a:r>
            <a:r>
              <a:rPr lang="en-US" dirty="0" err="1" smtClean="0">
                <a:solidFill>
                  <a:srgbClr val="000000"/>
                </a:solidFill>
                <a:latin typeface="Arial" charset="0"/>
              </a:rPr>
              <a:t>ssociations</a:t>
            </a:r>
            <a:r>
              <a:rPr lang="en-US" dirty="0" smtClean="0">
                <a:solidFill>
                  <a:srgbClr val="000000"/>
                </a:solidFill>
                <a:latin typeface="Arial" charset="0"/>
              </a:rPr>
              <a:t> were established in Germany,</a:t>
            </a:r>
            <a:r>
              <a:rPr lang="en-US" baseline="0" dirty="0" smtClean="0">
                <a:solidFill>
                  <a:srgbClr val="000000"/>
                </a:solidFill>
                <a:latin typeface="Arial" charset="0"/>
              </a:rPr>
              <a:t> France and Italy</a:t>
            </a:r>
            <a:r>
              <a:rPr lang="en-US" baseline="0" smtClean="0">
                <a:solidFill>
                  <a:srgbClr val="000000"/>
                </a:solidFill>
                <a:latin typeface="Arial" charset="0"/>
              </a:rPr>
              <a:t>. </a:t>
            </a:r>
            <a:endParaRPr lang="en-US" baseline="0" dirty="0" smtClean="0">
              <a:solidFill>
                <a:srgbClr val="000000"/>
              </a:solidFill>
              <a:latin typeface="Arial" charset="0"/>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25</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ct val="0"/>
              </a:spcBef>
              <a:buNone/>
            </a:pPr>
            <a:r>
              <a:rPr lang="en-US" baseline="0" dirty="0" smtClean="0">
                <a:solidFill>
                  <a:srgbClr val="000000"/>
                </a:solidFill>
                <a:latin typeface="Arial" charset="0"/>
              </a:rPr>
              <a:t>SPEAKER’S NOTES: </a:t>
            </a:r>
            <a:endParaRPr lang="en-US" i="1" baseline="0" dirty="0" smtClean="0">
              <a:solidFill>
                <a:srgbClr val="000000"/>
              </a:solidFill>
              <a:latin typeface="Arial" charset="0"/>
            </a:endParaRPr>
          </a:p>
          <a:p>
            <a:pPr marL="0" lvl="0" indent="0">
              <a:spcBef>
                <a:spcPct val="0"/>
              </a:spcBef>
              <a:buNone/>
            </a:pPr>
            <a:endParaRPr lang="en-US" baseline="0" dirty="0" smtClean="0">
              <a:solidFill>
                <a:srgbClr val="000000"/>
              </a:solidFill>
              <a:latin typeface="Arial" charset="0"/>
            </a:endParaRPr>
          </a:p>
          <a:p>
            <a:pPr lvl="0">
              <a:spcBef>
                <a:spcPct val="0"/>
              </a:spcBef>
              <a:buNone/>
            </a:pPr>
            <a:r>
              <a:rPr lang="de-DE" smtClean="0">
                <a:solidFill>
                  <a:srgbClr val="000000"/>
                </a:solidFill>
                <a:latin typeface="Arial" charset="0"/>
              </a:rPr>
              <a:t>In</a:t>
            </a:r>
            <a:r>
              <a:rPr lang="de-DE" baseline="0" smtClean="0">
                <a:solidFill>
                  <a:srgbClr val="000000"/>
                </a:solidFill>
                <a:latin typeface="Arial" charset="0"/>
              </a:rPr>
              <a:t> </a:t>
            </a:r>
            <a:r>
              <a:rPr lang="de-DE" baseline="0" dirty="0" err="1" smtClean="0">
                <a:solidFill>
                  <a:srgbClr val="000000"/>
                </a:solidFill>
                <a:latin typeface="Arial" charset="0"/>
              </a:rPr>
              <a:t>the</a:t>
            </a:r>
            <a:r>
              <a:rPr lang="de-DE" baseline="0" dirty="0" smtClean="0">
                <a:solidFill>
                  <a:srgbClr val="000000"/>
                </a:solidFill>
                <a:latin typeface="Arial" charset="0"/>
              </a:rPr>
              <a:t> 60‘s, </a:t>
            </a:r>
            <a:r>
              <a:rPr lang="de-DE" dirty="0" smtClean="0">
                <a:solidFill>
                  <a:srgbClr val="000000"/>
                </a:solidFill>
                <a:latin typeface="Arial" charset="0"/>
              </a:rPr>
              <a:t>SOS </a:t>
            </a:r>
            <a:r>
              <a:rPr lang="de-DE" dirty="0" err="1" smtClean="0">
                <a:solidFill>
                  <a:srgbClr val="000000"/>
                </a:solidFill>
                <a:latin typeface="Arial" charset="0"/>
              </a:rPr>
              <a:t>Children‘s</a:t>
            </a:r>
            <a:r>
              <a:rPr lang="de-DE" dirty="0" smtClean="0">
                <a:solidFill>
                  <a:srgbClr val="000000"/>
                </a:solidFill>
                <a:latin typeface="Arial" charset="0"/>
              </a:rPr>
              <a:t> </a:t>
            </a:r>
            <a:r>
              <a:rPr lang="de-DE" dirty="0" err="1" smtClean="0">
                <a:solidFill>
                  <a:srgbClr val="000000"/>
                </a:solidFill>
                <a:latin typeface="Arial" charset="0"/>
              </a:rPr>
              <a:t>Villages</a:t>
            </a:r>
            <a:r>
              <a:rPr lang="de-DE" dirty="0" smtClean="0">
                <a:solidFill>
                  <a:srgbClr val="000000"/>
                </a:solidFill>
                <a:latin typeface="Arial" charset="0"/>
              </a:rPr>
              <a:t> </a:t>
            </a:r>
            <a:r>
              <a:rPr lang="en-US" dirty="0" smtClean="0">
                <a:solidFill>
                  <a:srgbClr val="000000"/>
                </a:solidFill>
                <a:latin typeface="Arial" charset="0"/>
              </a:rPr>
              <a:t>made</a:t>
            </a:r>
            <a:r>
              <a:rPr lang="en-US" baseline="0" dirty="0" smtClean="0">
                <a:solidFill>
                  <a:srgbClr val="000000"/>
                </a:solidFill>
                <a:latin typeface="Arial" charset="0"/>
              </a:rPr>
              <a:t> the leap to start working</a:t>
            </a:r>
            <a:r>
              <a:rPr lang="en-US" dirty="0" smtClean="0">
                <a:solidFill>
                  <a:srgbClr val="000000"/>
                </a:solidFill>
                <a:latin typeface="Arial" charset="0"/>
              </a:rPr>
              <a:t> outside of Europe:  in Asia</a:t>
            </a:r>
            <a:r>
              <a:rPr lang="en-US" baseline="0" dirty="0" smtClean="0">
                <a:solidFill>
                  <a:srgbClr val="000000"/>
                </a:solidFill>
                <a:latin typeface="Arial" charset="0"/>
              </a:rPr>
              <a:t> (</a:t>
            </a:r>
            <a:r>
              <a:rPr lang="en-US" dirty="0" smtClean="0">
                <a:solidFill>
                  <a:srgbClr val="000000"/>
                </a:solidFill>
                <a:latin typeface="Arial" charset="0"/>
              </a:rPr>
              <a:t>South Korea and India) and Latin America (Uruguay</a:t>
            </a:r>
            <a:r>
              <a:rPr lang="en-US" baseline="0" dirty="0" smtClean="0">
                <a:solidFill>
                  <a:srgbClr val="000000"/>
                </a:solidFill>
                <a:latin typeface="Arial" charset="0"/>
              </a:rPr>
              <a:t> and </a:t>
            </a:r>
            <a:r>
              <a:rPr lang="en-US" baseline="0" smtClean="0">
                <a:solidFill>
                  <a:srgbClr val="000000"/>
                </a:solidFill>
                <a:latin typeface="Arial" charset="0"/>
              </a:rPr>
              <a:t>Ecuador).</a:t>
            </a:r>
            <a:endParaRPr lang="en-US" baseline="0" dirty="0" smtClean="0">
              <a:solidFill>
                <a:srgbClr val="000000"/>
              </a:solidFill>
              <a:latin typeface="Arial" charset="0"/>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26</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baseline="0" smtClean="0">
                <a:solidFill>
                  <a:srgbClr val="000000"/>
                </a:solidFill>
                <a:latin typeface="Arial" charset="0"/>
              </a:rPr>
              <a:t>SPEAKER’S NOTES: </a:t>
            </a:r>
            <a:endParaRPr lang="en-US" i="1" baseline="0" smtClean="0">
              <a:solidFill>
                <a:srgbClr val="000000"/>
              </a:solidFill>
              <a:latin typeface="Arial" charset="0"/>
            </a:endParaRPr>
          </a:p>
          <a:p>
            <a:pPr lvl="0">
              <a:spcBef>
                <a:spcPct val="0"/>
              </a:spcBef>
              <a:buNone/>
            </a:pPr>
            <a:endParaRPr lang="en-US" baseline="0" smtClean="0">
              <a:solidFill>
                <a:srgbClr val="000000"/>
              </a:solidFill>
              <a:latin typeface="Arial" charset="0"/>
            </a:endParaRPr>
          </a:p>
          <a:p>
            <a:pPr lvl="0">
              <a:spcBef>
                <a:spcPct val="0"/>
              </a:spcBef>
              <a:buNone/>
            </a:pPr>
            <a:r>
              <a:rPr lang="en-US" baseline="0" smtClean="0">
                <a:solidFill>
                  <a:srgbClr val="000000"/>
                </a:solidFill>
                <a:latin typeface="Arial" charset="0"/>
              </a:rPr>
              <a:t>In </a:t>
            </a:r>
            <a:r>
              <a:rPr lang="en-US" baseline="0" dirty="0" smtClean="0">
                <a:solidFill>
                  <a:srgbClr val="000000"/>
                </a:solidFill>
                <a:latin typeface="Arial" charset="0"/>
              </a:rPr>
              <a:t>the 70’s, we went to Africa, starting with Côte d'Ivoire - soon, first </a:t>
            </a:r>
            <a:r>
              <a:rPr lang="en-US" baseline="0" dirty="0" err="1" smtClean="0">
                <a:solidFill>
                  <a:srgbClr val="000000"/>
                </a:solidFill>
                <a:latin typeface="Arial" charset="0"/>
              </a:rPr>
              <a:t>programmes</a:t>
            </a:r>
            <a:r>
              <a:rPr lang="en-US" baseline="0" dirty="0" smtClean="0">
                <a:solidFill>
                  <a:srgbClr val="000000"/>
                </a:solidFill>
                <a:latin typeface="Arial" charset="0"/>
              </a:rPr>
              <a:t> also started in Ghana, Kenya and Sierra </a:t>
            </a:r>
            <a:r>
              <a:rPr lang="en-US" baseline="0" smtClean="0">
                <a:solidFill>
                  <a:srgbClr val="000000"/>
                </a:solidFill>
                <a:latin typeface="Arial" charset="0"/>
              </a:rPr>
              <a:t>Leone.</a:t>
            </a:r>
            <a:endParaRPr lang="en-US" baseline="0" dirty="0" smtClean="0">
              <a:solidFill>
                <a:srgbClr val="000000"/>
              </a:solidFill>
              <a:latin typeface="Arial" charset="0"/>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27</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ct val="0"/>
              </a:spcBef>
              <a:buNone/>
            </a:pPr>
            <a:r>
              <a:rPr lang="en-US" baseline="0" dirty="0" smtClean="0">
                <a:solidFill>
                  <a:srgbClr val="000000"/>
                </a:solidFill>
                <a:latin typeface="Arial" charset="0"/>
              </a:rPr>
              <a:t>SPEAKER’S NOTES: </a:t>
            </a:r>
            <a:endParaRPr lang="en-US" i="1" baseline="0" dirty="0" smtClean="0">
              <a:solidFill>
                <a:srgbClr val="000000"/>
              </a:solidFill>
              <a:latin typeface="Arial" charset="0"/>
            </a:endParaRPr>
          </a:p>
          <a:p>
            <a:pPr marL="0" lvl="0" indent="0">
              <a:spcBef>
                <a:spcPct val="0"/>
              </a:spcBef>
              <a:buNone/>
            </a:pPr>
            <a:endParaRPr lang="en-US" baseline="0" smtClean="0">
              <a:solidFill>
                <a:srgbClr val="000000"/>
              </a:solidFill>
              <a:latin typeface="Arial" charset="0"/>
            </a:endParaRPr>
          </a:p>
          <a:p>
            <a:pPr marL="0" lvl="0" indent="0">
              <a:spcBef>
                <a:spcPct val="0"/>
              </a:spcBef>
              <a:buNone/>
            </a:pPr>
            <a:r>
              <a:rPr lang="en-GB" sz="1200" kern="1200" smtClean="0">
                <a:solidFill>
                  <a:schemeClr val="tx1"/>
                </a:solidFill>
                <a:effectLst/>
                <a:latin typeface="Calibri" pitchFamily="34" charset="0"/>
                <a:ea typeface="+mn-ea"/>
                <a:cs typeface="+mn-cs"/>
              </a:rPr>
              <a:t>In 1984, SOS Children’s Villages Lebanon started up an assistance programme to help war widows and their children from the neighbourhood by providing shelter, help with financial problems and basic vocational training. During the 1990’s such family strengthening programmes became a part of SOS Children’s Villages’ portfolio, thus empowering parents to better care for their children.</a:t>
            </a:r>
            <a:endParaRPr lang="de-DE" dirty="0" smtClean="0">
              <a:solidFill>
                <a:srgbClr val="000000"/>
              </a:solidFill>
              <a:latin typeface="Arial" charset="0"/>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28</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ct val="0"/>
              </a:spcBef>
              <a:buNone/>
            </a:pPr>
            <a:r>
              <a:rPr lang="en-US" baseline="0" dirty="0" smtClean="0">
                <a:solidFill>
                  <a:srgbClr val="000000"/>
                </a:solidFill>
                <a:latin typeface="Arial" charset="0"/>
              </a:rPr>
              <a:t>SPEAKER’S NOTES: </a:t>
            </a:r>
            <a:endParaRPr lang="en-US" i="1" baseline="0" dirty="0" smtClean="0">
              <a:solidFill>
                <a:srgbClr val="000000"/>
              </a:solidFill>
              <a:latin typeface="Arial" charset="0"/>
            </a:endParaRPr>
          </a:p>
          <a:p>
            <a:pPr lvl="0">
              <a:spcBef>
                <a:spcPct val="0"/>
              </a:spcBef>
              <a:buNone/>
            </a:pPr>
            <a:endParaRPr lang="en-US" baseline="0" dirty="0" smtClean="0">
              <a:solidFill>
                <a:srgbClr val="000000"/>
              </a:solidFill>
              <a:latin typeface="Arial" charset="0"/>
            </a:endParaRPr>
          </a:p>
          <a:p>
            <a:pPr lvl="0">
              <a:spcBef>
                <a:spcPct val="0"/>
              </a:spcBef>
              <a:buNone/>
            </a:pPr>
            <a:r>
              <a:rPr lang="en-US" baseline="0" smtClean="0">
                <a:solidFill>
                  <a:srgbClr val="000000"/>
                </a:solidFill>
                <a:latin typeface="Arial" charset="0"/>
              </a:rPr>
              <a:t>After </a:t>
            </a:r>
            <a:r>
              <a:rPr lang="en-US" baseline="0" dirty="0" smtClean="0">
                <a:solidFill>
                  <a:srgbClr val="000000"/>
                </a:solidFill>
                <a:latin typeface="Arial" charset="0"/>
              </a:rPr>
              <a:t>the fall of the iron curtain, SOS Children’s Villages’ work expanded into Eastern Europe: Czechoslovakia, Soviet Union, Bulgaria and </a:t>
            </a:r>
            <a:r>
              <a:rPr lang="en-US" baseline="0" smtClean="0">
                <a:solidFill>
                  <a:srgbClr val="000000"/>
                </a:solidFill>
                <a:latin typeface="Arial" charset="0"/>
              </a:rPr>
              <a:t>Romania.</a:t>
            </a:r>
            <a:endParaRPr lang="en-US" baseline="0" dirty="0" smtClean="0">
              <a:solidFill>
                <a:srgbClr val="000000"/>
              </a:solidFill>
              <a:latin typeface="Arial" charset="0"/>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29</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ct val="0"/>
              </a:spcBef>
              <a:buNone/>
            </a:pPr>
            <a:r>
              <a:rPr lang="en-US" baseline="0" dirty="0" smtClean="0">
                <a:solidFill>
                  <a:srgbClr val="000000"/>
                </a:solidFill>
                <a:latin typeface="Arial" charset="0"/>
              </a:rPr>
              <a:t>SPEAKER’S NOTES: </a:t>
            </a:r>
            <a:endParaRPr lang="en-US" i="1" baseline="0" dirty="0" smtClean="0">
              <a:solidFill>
                <a:srgbClr val="000000"/>
              </a:solidFill>
              <a:latin typeface="Arial" charset="0"/>
            </a:endParaRPr>
          </a:p>
          <a:p>
            <a:pPr marL="0" lvl="0" indent="0">
              <a:spcBef>
                <a:spcPct val="0"/>
              </a:spcBef>
              <a:buNone/>
            </a:pPr>
            <a:endParaRPr lang="en-US" baseline="0" dirty="0" smtClean="0">
              <a:solidFill>
                <a:srgbClr val="000000"/>
              </a:solidFill>
              <a:latin typeface="Arial" charset="0"/>
            </a:endParaRPr>
          </a:p>
          <a:p>
            <a:pPr marL="0" lvl="0" indent="0">
              <a:spcBef>
                <a:spcPct val="0"/>
              </a:spcBef>
              <a:buNone/>
            </a:pPr>
            <a:r>
              <a:rPr lang="en-GB" sz="1200" kern="1200" smtClean="0">
                <a:solidFill>
                  <a:schemeClr val="tx1"/>
                </a:solidFill>
                <a:effectLst/>
                <a:latin typeface="Calibri" pitchFamily="34" charset="0"/>
                <a:ea typeface="+mn-ea"/>
                <a:cs typeface="+mn-cs"/>
              </a:rPr>
              <a:t>Although Hermann Gmeiner started setting up “emergency teams” as early as the 1970’s, no emergency programme had the scale of the one following the 2004 tsunami in Southeast Asia that claimed over 230,000 lives.</a:t>
            </a:r>
          </a:p>
          <a:p>
            <a:pPr marL="0" lvl="0" indent="0">
              <a:spcBef>
                <a:spcPct val="0"/>
              </a:spcBef>
              <a:buNone/>
            </a:pPr>
            <a:r>
              <a:rPr lang="en-GB" sz="1200" kern="1200" smtClean="0">
                <a:solidFill>
                  <a:schemeClr val="tx1"/>
                </a:solidFill>
                <a:effectLst/>
                <a:latin typeface="Calibri" pitchFamily="34" charset="0"/>
                <a:ea typeface="+mn-ea"/>
                <a:cs typeface="+mn-cs"/>
              </a:rPr>
              <a:t/>
            </a:r>
            <a:br>
              <a:rPr lang="en-GB" sz="1200" kern="1200" smtClean="0">
                <a:solidFill>
                  <a:schemeClr val="tx1"/>
                </a:solidFill>
                <a:effectLst/>
                <a:latin typeface="Calibri" pitchFamily="34" charset="0"/>
                <a:ea typeface="+mn-ea"/>
                <a:cs typeface="+mn-cs"/>
              </a:rPr>
            </a:br>
            <a:r>
              <a:rPr lang="en-GB" sz="1200" kern="1200" smtClean="0">
                <a:solidFill>
                  <a:schemeClr val="tx1"/>
                </a:solidFill>
                <a:effectLst/>
                <a:latin typeface="Calibri" pitchFamily="34" charset="0"/>
                <a:ea typeface="+mn-ea"/>
                <a:cs typeface="+mn-cs"/>
              </a:rPr>
              <a:t>Around 23,000 people received direct support, 6 new SOS Children’s Villages, more than 2,200 family houses and some 20 social and educational facilities were built.</a:t>
            </a:r>
          </a:p>
          <a:p>
            <a:pPr marL="0" lvl="0" indent="0">
              <a:spcBef>
                <a:spcPct val="0"/>
              </a:spcBef>
              <a:buNone/>
            </a:pPr>
            <a:r>
              <a:rPr lang="en-GB" sz="1200" kern="1200" smtClean="0">
                <a:solidFill>
                  <a:schemeClr val="tx1"/>
                </a:solidFill>
                <a:effectLst/>
                <a:latin typeface="Calibri" pitchFamily="34" charset="0"/>
                <a:ea typeface="+mn-ea"/>
                <a:cs typeface="+mn-cs"/>
              </a:rPr>
              <a:t/>
            </a:r>
            <a:br>
              <a:rPr lang="en-GB" sz="1200" kern="1200" smtClean="0">
                <a:solidFill>
                  <a:schemeClr val="tx1"/>
                </a:solidFill>
                <a:effectLst/>
                <a:latin typeface="Calibri" pitchFamily="34" charset="0"/>
                <a:ea typeface="+mn-ea"/>
                <a:cs typeface="+mn-cs"/>
              </a:rPr>
            </a:br>
            <a:r>
              <a:rPr lang="en-GB" sz="1200" kern="1200" smtClean="0">
                <a:solidFill>
                  <a:schemeClr val="tx1"/>
                </a:solidFill>
                <a:effectLst/>
                <a:latin typeface="Calibri" pitchFamily="34" charset="0"/>
                <a:ea typeface="+mn-ea"/>
                <a:cs typeface="+mn-cs"/>
              </a:rPr>
              <a:t>Helmut Kutin once called the programme a "monument of love and care”.</a:t>
            </a:r>
            <a:endParaRPr lang="de-DE" dirty="0" smtClean="0">
              <a:solidFill>
                <a:srgbClr val="000000"/>
              </a:solidFill>
              <a:latin typeface="Arial" charset="0"/>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30</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ct val="0"/>
              </a:spcBef>
              <a:buNone/>
            </a:pPr>
            <a:r>
              <a:rPr lang="en-US" baseline="0" dirty="0" smtClean="0">
                <a:solidFill>
                  <a:srgbClr val="000000"/>
                </a:solidFill>
                <a:latin typeface="Arial" charset="0"/>
              </a:rPr>
              <a:t>SPEAKER’S NOTES: </a:t>
            </a:r>
            <a:endParaRPr lang="en-US" i="1" baseline="0" dirty="0" smtClean="0">
              <a:solidFill>
                <a:srgbClr val="000000"/>
              </a:solidFill>
              <a:latin typeface="Arial" charset="0"/>
            </a:endParaRPr>
          </a:p>
          <a:p>
            <a:pPr lvl="0">
              <a:spcBef>
                <a:spcPct val="0"/>
              </a:spcBef>
              <a:buNone/>
            </a:pPr>
            <a:endParaRPr lang="en-US" dirty="0" smtClean="0">
              <a:solidFill>
                <a:srgbClr val="000000"/>
              </a:solidFill>
              <a:latin typeface="Arial" charset="0"/>
            </a:endParaRPr>
          </a:p>
          <a:p>
            <a:pPr lvl="0">
              <a:spcBef>
                <a:spcPct val="0"/>
              </a:spcBef>
              <a:buNone/>
            </a:pPr>
            <a:r>
              <a:rPr lang="de-DE" dirty="0" smtClean="0">
                <a:solidFill>
                  <a:srgbClr val="000000"/>
                </a:solidFill>
                <a:latin typeface="Arial" charset="0"/>
              </a:rPr>
              <a:t>Today,</a:t>
            </a:r>
            <a:r>
              <a:rPr lang="de-DE" baseline="0" dirty="0" smtClean="0">
                <a:solidFill>
                  <a:srgbClr val="000000"/>
                </a:solidFill>
                <a:latin typeface="Arial" charset="0"/>
              </a:rPr>
              <a:t> </a:t>
            </a:r>
            <a:r>
              <a:rPr lang="de-DE" dirty="0" smtClean="0">
                <a:solidFill>
                  <a:srgbClr val="000000"/>
                </a:solidFill>
                <a:latin typeface="Arial" charset="0"/>
              </a:rPr>
              <a:t>the organisation is present in 134 countries and territories</a:t>
            </a:r>
          </a:p>
        </p:txBody>
      </p:sp>
      <p:sp>
        <p:nvSpPr>
          <p:cNvPr id="4" name="Slide Number Placeholder 3"/>
          <p:cNvSpPr>
            <a:spLocks noGrp="1"/>
          </p:cNvSpPr>
          <p:nvPr>
            <p:ph type="sldNum" sz="quarter" idx="10"/>
          </p:nvPr>
        </p:nvSpPr>
        <p:spPr/>
        <p:txBody>
          <a:bodyPr/>
          <a:lstStyle/>
          <a:p>
            <a:fld id="{68212901-8644-4CDA-A7EA-D9645A6E2995}" type="slidenum">
              <a:rPr lang="de-DE" smtClean="0"/>
              <a:pPr/>
              <a:t>31</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Calibri" pitchFamily="34" charset="0"/>
                <a:ea typeface="+mn-ea"/>
                <a:cs typeface="+mn-cs"/>
              </a:rPr>
              <a:t>SPEAKER’S NOTES:</a:t>
            </a:r>
            <a:br>
              <a:rPr lang="en-GB" sz="1200" kern="1200" dirty="0" smtClean="0">
                <a:solidFill>
                  <a:schemeClr val="tx1"/>
                </a:solidFill>
                <a:effectLst/>
                <a:latin typeface="Calibri" pitchFamily="34" charset="0"/>
                <a:ea typeface="+mn-ea"/>
                <a:cs typeface="+mn-cs"/>
              </a:rPr>
            </a:br>
            <a:endParaRPr lang="en-GB" sz="1200" kern="120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b="0" kern="1200" baseline="0" dirty="0" smtClean="0">
                <a:solidFill>
                  <a:schemeClr val="tx1"/>
                </a:solidFill>
                <a:effectLst/>
                <a:latin typeface="Calibri" pitchFamily="34" charset="0"/>
                <a:ea typeface="+mn-ea"/>
                <a:cs typeface="+mn-cs"/>
              </a:rPr>
              <a:t>There are many </a:t>
            </a:r>
            <a:r>
              <a:rPr lang="de-DE" sz="1200" b="0" kern="1200" baseline="0" dirty="0" smtClean="0">
                <a:solidFill>
                  <a:schemeClr val="tx1"/>
                </a:solidFill>
                <a:effectLst/>
                <a:latin typeface="Calibri" pitchFamily="34" charset="0"/>
                <a:ea typeface="+mn-ea"/>
                <a:cs typeface="+mn-cs"/>
              </a:rPr>
              <a:t>International Standards that guide our work, mainly relating to the rights of children, the quality of care that they should received, and the way we respond to humanitarian emergencies.</a:t>
            </a:r>
          </a:p>
          <a:p>
            <a:pPr marL="0" marR="0" indent="0" algn="l" defTabSz="914400" rtl="0" eaLnBrk="1" fontAlgn="base" latinLnBrk="0" hangingPunct="1">
              <a:lnSpc>
                <a:spcPct val="100000"/>
              </a:lnSpc>
              <a:spcBef>
                <a:spcPct val="30000"/>
              </a:spcBef>
              <a:spcAft>
                <a:spcPct val="0"/>
              </a:spcAft>
              <a:buClrTx/>
              <a:buSzTx/>
              <a:buFontTx/>
              <a:buNone/>
              <a:tabLst/>
              <a:defRPr/>
            </a:pPr>
            <a:endParaRPr lang="de-DE" sz="1200" b="0" kern="1200" baseline="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de-DE" sz="1200" b="0" kern="1200" baseline="0" dirty="0" smtClean="0">
                <a:solidFill>
                  <a:schemeClr val="tx1"/>
                </a:solidFill>
                <a:effectLst/>
                <a:latin typeface="Calibri" pitchFamily="34" charset="0"/>
                <a:ea typeface="+mn-ea"/>
                <a:cs typeface="+mn-cs"/>
              </a:rPr>
              <a:t>In addition, we recognise that to maintain our donors‘ trust, we need to be very transparent and rigorous in how we manage and report on our finances. So these accountability standards are important. </a:t>
            </a:r>
            <a:r>
              <a:rPr lang="en-GB" sz="1200" b="0" kern="1200" baseline="0" dirty="0" smtClean="0">
                <a:solidFill>
                  <a:schemeClr val="tx1"/>
                </a:solidFill>
                <a:effectLst/>
                <a:latin typeface="Calibri" pitchFamily="34" charset="0"/>
                <a:ea typeface="+mn-ea"/>
                <a:cs typeface="+mn-cs"/>
              </a:rPr>
              <a:t>All financial transactions are recorded in accordance with national laws and SOS accounting standards based on international accounting standards. In addition, external audits are conducted by independent, internationally recognised auditors.</a:t>
            </a:r>
          </a:p>
          <a:p>
            <a:pPr marL="0" marR="0" indent="0" algn="l" defTabSz="914400" rtl="0" eaLnBrk="1" fontAlgn="base" latinLnBrk="0" hangingPunct="1">
              <a:lnSpc>
                <a:spcPct val="100000"/>
              </a:lnSpc>
              <a:spcBef>
                <a:spcPct val="30000"/>
              </a:spcBef>
              <a:spcAft>
                <a:spcPct val="0"/>
              </a:spcAft>
              <a:buClrTx/>
              <a:buSzTx/>
              <a:buFontTx/>
              <a:buNone/>
              <a:tabLst/>
              <a:defRPr/>
            </a:pPr>
            <a:endParaRPr lang="de-DE" sz="1200" b="0" kern="1200" baseline="0" dirty="0" smtClean="0">
              <a:solidFill>
                <a:schemeClr val="tx1"/>
              </a:solidFill>
              <a:effectLst/>
              <a:latin typeface="Calibri"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de-DE" sz="1200" b="0" kern="1200" baseline="0" dirty="0" smtClean="0">
                <a:solidFill>
                  <a:schemeClr val="tx1"/>
                </a:solidFill>
                <a:effectLst/>
                <a:latin typeface="Calibri" pitchFamily="34" charset="0"/>
                <a:ea typeface="+mn-ea"/>
                <a:cs typeface="+mn-cs"/>
              </a:rPr>
              <a:t>Finally, over the years we have developed a number of policies and guidelines that ensure that we are clearly focused – with the SOS Children‘s Villages Programme Policy providing the framework. Other, more specific policies help us to protect the privacy, safety and idividuality of every child and adult we work with.</a:t>
            </a:r>
          </a:p>
          <a:p>
            <a:pPr marL="0" lvl="0" indent="0">
              <a:buFont typeface="Arial" pitchFamily="34" charset="0"/>
              <a:buNone/>
            </a:pPr>
            <a:endParaRPr lang="de-DE" sz="1000" dirty="0" smtClean="0"/>
          </a:p>
          <a:p>
            <a:endParaRPr lang="en-GB" sz="1200" b="1" kern="1200" dirty="0" smtClean="0">
              <a:solidFill>
                <a:schemeClr val="tx1"/>
              </a:solidFill>
              <a:effectLst/>
              <a:latin typeface="Calibri" pitchFamily="34" charset="0"/>
              <a:ea typeface="+mn-ea"/>
              <a:cs typeface="+mn-cs"/>
              <a:sym typeface="Wingding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32</a:t>
            </a:fld>
            <a:endParaRPr lang="de-DE"/>
          </a:p>
        </p:txBody>
      </p:sp>
    </p:spTree>
    <p:extLst>
      <p:ext uri="{BB962C8B-B14F-4D97-AF65-F5344CB8AC3E}">
        <p14:creationId xmlns:p14="http://schemas.microsoft.com/office/powerpoint/2010/main" val="2339649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kern="1200" dirty="0" smtClean="0">
                <a:solidFill>
                  <a:schemeClr val="tx1"/>
                </a:solidFill>
                <a:effectLst/>
                <a:latin typeface="Calibri" pitchFamily="34" charset="0"/>
                <a:ea typeface="+mn-ea"/>
                <a:cs typeface="+mn-cs"/>
                <a:sym typeface="Wingdings"/>
              </a:rPr>
              <a:t>SPEAKER‘S NOTES:</a:t>
            </a:r>
          </a:p>
          <a:p>
            <a:endParaRPr lang="de-DE" sz="1200" b="0" kern="1200" baseline="0" dirty="0" smtClean="0">
              <a:solidFill>
                <a:schemeClr val="tx1"/>
              </a:solidFill>
              <a:effectLst/>
              <a:latin typeface="Calibri" pitchFamily="34" charset="0"/>
              <a:ea typeface="+mn-ea"/>
              <a:cs typeface="+mn-cs"/>
              <a:sym typeface="Wingdings"/>
            </a:endParaRPr>
          </a:p>
          <a:p>
            <a:r>
              <a:rPr lang="en-GB" sz="1200" b="0" i="0" kern="1200" baseline="0" dirty="0" smtClean="0">
                <a:solidFill>
                  <a:schemeClr val="tx1"/>
                </a:solidFill>
                <a:effectLst/>
                <a:latin typeface="Calibri" pitchFamily="34" charset="0"/>
                <a:ea typeface="+mn-ea"/>
                <a:cs typeface="+mn-cs"/>
                <a:sym typeface="Wingdings"/>
              </a:rPr>
              <a:t>We are helping children and their parents all over the world. Here are the numbers of individuals we help through our core work: Children’s Villages, youth programmes, and family strengthening programmes.</a:t>
            </a:r>
          </a:p>
          <a:p>
            <a:endParaRPr lang="de-DE" sz="1200" b="0" i="0" kern="1200" baseline="0" dirty="0" smtClean="0">
              <a:solidFill>
                <a:schemeClr val="tx1"/>
              </a:solidFill>
              <a:effectLst/>
              <a:latin typeface="Calibri" pitchFamily="34" charset="0"/>
              <a:ea typeface="+mn-ea"/>
              <a:cs typeface="+mn-cs"/>
              <a:sym typeface="Wingding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b="0" i="0" kern="1200" dirty="0" smtClean="0">
                <a:solidFill>
                  <a:schemeClr val="tx1"/>
                </a:solidFill>
                <a:effectLst/>
                <a:latin typeface="Calibri" pitchFamily="34" charset="0"/>
                <a:ea typeface="+mn-ea"/>
                <a:cs typeface="+mn-cs"/>
                <a:sym typeface="Wingdings"/>
              </a:rPr>
              <a:t>[Note:</a:t>
            </a:r>
            <a:r>
              <a:rPr lang="en-GB" sz="1200" b="0" i="0" kern="1200" baseline="0" dirty="0" smtClean="0">
                <a:solidFill>
                  <a:schemeClr val="tx1"/>
                </a:solidFill>
                <a:effectLst/>
                <a:latin typeface="Calibri" pitchFamily="34" charset="0"/>
                <a:ea typeface="+mn-ea"/>
                <a:cs typeface="+mn-cs"/>
                <a:sym typeface="Wingdings"/>
              </a:rPr>
              <a:t> </a:t>
            </a:r>
            <a:r>
              <a:rPr lang="en-GB" sz="1200" b="0" i="0" kern="1200" dirty="0" smtClean="0">
                <a:solidFill>
                  <a:schemeClr val="tx1"/>
                </a:solidFill>
                <a:effectLst/>
                <a:latin typeface="Calibri" pitchFamily="34" charset="0"/>
                <a:ea typeface="+mn-ea"/>
                <a:cs typeface="+mn-cs"/>
                <a:sym typeface="Wingdings"/>
              </a:rPr>
              <a:t>Numbers can be cross-referenced with the Online Directory by adding up these numbers: CV,</a:t>
            </a:r>
            <a:r>
              <a:rPr lang="en-GB" sz="1200" b="0" i="0" kern="1200" baseline="0" dirty="0" smtClean="0">
                <a:solidFill>
                  <a:schemeClr val="tx1"/>
                </a:solidFill>
                <a:effectLst/>
                <a:latin typeface="Calibri" pitchFamily="34" charset="0"/>
                <a:ea typeface="+mn-ea"/>
                <a:cs typeface="+mn-cs"/>
                <a:sym typeface="Wingdings"/>
              </a:rPr>
              <a:t> YF1, YF2, FSP 0-17, FSP 18+.  </a:t>
            </a:r>
            <a:r>
              <a:rPr lang="de-DE" sz="1200" b="0" i="0" kern="1200" baseline="0" dirty="0" smtClean="0">
                <a:solidFill>
                  <a:schemeClr val="tx1"/>
                </a:solidFill>
                <a:effectLst/>
                <a:latin typeface="Calibri" pitchFamily="34" charset="0"/>
                <a:ea typeface="+mn-ea"/>
                <a:cs typeface="+mn-cs"/>
                <a:sym typeface="Wingdings"/>
              </a:rPr>
              <a:t>Numbers as of 1 January 2014]</a:t>
            </a:r>
            <a:endParaRPr lang="en-GB" sz="1200" b="0" i="0" kern="1200" baseline="0" dirty="0" smtClean="0">
              <a:solidFill>
                <a:schemeClr val="tx1"/>
              </a:solidFill>
              <a:effectLst/>
              <a:latin typeface="Calibri" pitchFamily="34" charset="0"/>
              <a:ea typeface="+mn-ea"/>
              <a:cs typeface="+mn-cs"/>
              <a:sym typeface="Wingding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b="0" i="0" kern="1200" baseline="0" dirty="0" smtClean="0">
              <a:solidFill>
                <a:schemeClr val="tx1"/>
              </a:solidFill>
              <a:effectLst/>
              <a:latin typeface="Calibri" pitchFamily="34" charset="0"/>
              <a:ea typeface="+mn-ea"/>
              <a:cs typeface="+mn-cs"/>
              <a:sym typeface="Wingdings"/>
            </a:endParaRPr>
          </a:p>
          <a:p>
            <a:endParaRPr lang="en-GB" sz="1200" b="0" i="0" kern="1200" dirty="0" smtClean="0">
              <a:solidFill>
                <a:schemeClr val="tx1"/>
              </a:solidFill>
              <a:effectLst/>
              <a:latin typeface="Calibri" pitchFamily="34" charset="0"/>
              <a:ea typeface="+mn-ea"/>
              <a:cs typeface="+mn-cs"/>
              <a:sym typeface="Wingding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33</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AT" dirty="0" smtClean="0"/>
              <a:t>SPEAKER‘S NOTES:</a:t>
            </a:r>
          </a:p>
          <a:p>
            <a:endParaRPr lang="de-AT" baseline="0" dirty="0" smtClean="0"/>
          </a:p>
          <a:p>
            <a:r>
              <a:rPr lang="de-AT" dirty="0" smtClean="0"/>
              <a:t>So, where does our money come from?</a:t>
            </a:r>
          </a:p>
          <a:p>
            <a:endParaRPr lang="de-AT" dirty="0" smtClean="0"/>
          </a:p>
          <a:p>
            <a:r>
              <a:rPr lang="de-AT" dirty="0" smtClean="0"/>
              <a:t>The biggest chunk of it comes from individual people. 30% of our income</a:t>
            </a:r>
            <a:r>
              <a:rPr lang="de-AT" baseline="0" dirty="0" smtClean="0"/>
              <a:t> is from single donations from ordinary people. </a:t>
            </a:r>
          </a:p>
          <a:p>
            <a:endParaRPr lang="de-AT" baseline="0" dirty="0" smtClean="0"/>
          </a:p>
          <a:p>
            <a:r>
              <a:rPr lang="de-AT" baseline="0" dirty="0" smtClean="0"/>
              <a:t>Add to that the 21% that comes from sponsorships and other forms of regular (usually monthly) donations, and you see that slightly more than half of our income is from individuals.</a:t>
            </a:r>
          </a:p>
          <a:p>
            <a:endParaRPr lang="de-AT" baseline="0" dirty="0" smtClean="0"/>
          </a:p>
          <a:p>
            <a:r>
              <a:rPr lang="de-AT" baseline="0" dirty="0" smtClean="0"/>
              <a:t>Another large chunk – 27% -- comes from governments who pay us to run programmes for them in their countries.</a:t>
            </a:r>
          </a:p>
          <a:p>
            <a:endParaRPr lang="de-AT" baseline="0" dirty="0" smtClean="0"/>
          </a:p>
          <a:p>
            <a:r>
              <a:rPr lang="de-AT" baseline="0" dirty="0" smtClean="0"/>
              <a:t>The rest are fairly small proportions:</a:t>
            </a:r>
          </a:p>
          <a:p>
            <a:r>
              <a:rPr lang="de-AT" baseline="0" dirty="0" smtClean="0"/>
              <a:t>3% from major donations – large amounts given by wealthy people</a:t>
            </a:r>
          </a:p>
          <a:p>
            <a:r>
              <a:rPr lang="de-AT" baseline="0" dirty="0" smtClean="0"/>
              <a:t>3% from foundations or lotteries</a:t>
            </a:r>
          </a:p>
          <a:p>
            <a:r>
              <a:rPr lang="de-AT" baseline="0" dirty="0" smtClean="0"/>
              <a:t>4% from companies that we partner with (though this number does not include the value of non-financial aspects of the partnership, such as donations of equipment or employee volunteering)</a:t>
            </a:r>
          </a:p>
          <a:p>
            <a:r>
              <a:rPr lang="de-AT" baseline="0" dirty="0" smtClean="0"/>
              <a:t>1% from governments who fund international work</a:t>
            </a:r>
          </a:p>
          <a:p>
            <a:r>
              <a:rPr lang="de-AT" baseline="0" dirty="0" smtClean="0"/>
              <a:t>The 9% from ‚Other Income‘ is from such non-fundraising sources – including, for example, the sale of assets, rental income from properties we own, interest from bank deposits, fees charged in vocational training centres, etc.</a:t>
            </a:r>
          </a:p>
          <a:p>
            <a:endParaRPr lang="de-AT" dirty="0" smtClean="0"/>
          </a:p>
          <a:p>
            <a:endParaRPr lang="de-AT" i="1" baseline="0" dirty="0" smtClean="0"/>
          </a:p>
          <a:p>
            <a:endParaRPr lang="de-AT" i="1" dirty="0" smtClean="0"/>
          </a:p>
        </p:txBody>
      </p:sp>
      <p:sp>
        <p:nvSpPr>
          <p:cNvPr id="4" name="Slide Number Placeholder 3"/>
          <p:cNvSpPr>
            <a:spLocks noGrp="1"/>
          </p:cNvSpPr>
          <p:nvPr>
            <p:ph type="sldNum" sz="quarter" idx="10"/>
          </p:nvPr>
        </p:nvSpPr>
        <p:spPr/>
        <p:txBody>
          <a:bodyPr/>
          <a:lstStyle/>
          <a:p>
            <a:fld id="{68212901-8644-4CDA-A7EA-D9645A6E2995}" type="slidenum">
              <a:rPr lang="de-DE" smtClean="0"/>
              <a:pPr/>
              <a:t>34</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kern="1200" dirty="0" smtClean="0">
                <a:solidFill>
                  <a:schemeClr val="tx1"/>
                </a:solidFill>
                <a:effectLst/>
                <a:latin typeface="Calibri" pitchFamily="34" charset="0"/>
                <a:ea typeface="+mn-ea"/>
                <a:cs typeface="+mn-cs"/>
                <a:sym typeface="Wingdings"/>
              </a:rPr>
              <a:t>SPEAKER‘S NOTES:</a:t>
            </a:r>
          </a:p>
          <a:p>
            <a:endParaRPr lang="de-DE" sz="1200" b="0" kern="1200" dirty="0" smtClean="0">
              <a:solidFill>
                <a:schemeClr val="tx1"/>
              </a:solidFill>
              <a:effectLst/>
              <a:latin typeface="Calibri" pitchFamily="34" charset="0"/>
              <a:ea typeface="+mn-ea"/>
              <a:cs typeface="+mn-cs"/>
              <a:sym typeface="Wingdings"/>
            </a:endParaRPr>
          </a:p>
          <a:p>
            <a:r>
              <a:rPr lang="de-DE" sz="1200" b="0" kern="1200" dirty="0" smtClean="0">
                <a:solidFill>
                  <a:schemeClr val="tx1"/>
                </a:solidFill>
                <a:effectLst/>
                <a:latin typeface="Calibri" pitchFamily="34" charset="0"/>
                <a:ea typeface="+mn-ea"/>
                <a:cs typeface="+mn-cs"/>
                <a:sym typeface="Wingdings"/>
              </a:rPr>
              <a:t>This graphic reflects the</a:t>
            </a:r>
            <a:r>
              <a:rPr lang="de-DE" sz="1200" b="0" kern="1200" baseline="0" dirty="0" smtClean="0">
                <a:solidFill>
                  <a:schemeClr val="tx1"/>
                </a:solidFill>
                <a:effectLst/>
                <a:latin typeface="Calibri" pitchFamily="34" charset="0"/>
                <a:ea typeface="+mn-ea"/>
                <a:cs typeface="+mn-cs"/>
                <a:sym typeface="Wingdings"/>
              </a:rPr>
              <a:t> different types of programmes we spend money on.</a:t>
            </a:r>
          </a:p>
          <a:p>
            <a:endParaRPr lang="de-DE" sz="1200" b="0" kern="1200" baseline="0" dirty="0" smtClean="0">
              <a:solidFill>
                <a:schemeClr val="tx1"/>
              </a:solidFill>
              <a:effectLst/>
              <a:latin typeface="Calibri" pitchFamily="34" charset="0"/>
              <a:ea typeface="+mn-ea"/>
              <a:cs typeface="+mn-cs"/>
              <a:sym typeface="Wingdings"/>
            </a:endParaRPr>
          </a:p>
          <a:p>
            <a:r>
              <a:rPr lang="de-DE" sz="1200" b="0" kern="1200" baseline="0" dirty="0" smtClean="0">
                <a:solidFill>
                  <a:schemeClr val="tx1"/>
                </a:solidFill>
                <a:effectLst/>
                <a:latin typeface="Calibri" pitchFamily="34" charset="0"/>
                <a:ea typeface="+mn-ea"/>
                <a:cs typeface="+mn-cs"/>
                <a:sym typeface="Wingdings"/>
              </a:rPr>
              <a:t>[In 2013, there were no breakdowns available for specific types of programmes (CVs, YFs, FSPs, MCs etc). These were available in 2012 and hopefully will be available again in the future.]</a:t>
            </a:r>
          </a:p>
          <a:p>
            <a:endParaRPr lang="de-DE" sz="1200" b="0" kern="1200" dirty="0" smtClean="0">
              <a:solidFill>
                <a:schemeClr val="tx1"/>
              </a:solidFill>
              <a:effectLst/>
              <a:latin typeface="Calibri" pitchFamily="34" charset="0"/>
              <a:ea typeface="+mn-ea"/>
              <a:cs typeface="+mn-cs"/>
              <a:sym typeface="Wingding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35</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de-DE" sz="1200" b="0" kern="1200" dirty="0" smtClean="0">
                <a:solidFill>
                  <a:schemeClr val="tx1"/>
                </a:solidFill>
                <a:effectLst/>
                <a:latin typeface="Calibri" pitchFamily="34" charset="0"/>
                <a:ea typeface="+mn-ea"/>
                <a:cs typeface="+mn-cs"/>
                <a:sym typeface="Wingdings"/>
              </a:rPr>
              <a:t>SPEAKER‘S NOTES: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sz="1200" kern="1200" dirty="0" smtClean="0">
              <a:solidFill>
                <a:schemeClr val="tx1"/>
              </a:solidFill>
              <a:effectLst/>
              <a:latin typeface="Calibri" pitchFamily="34" charset="0"/>
              <a:ea typeface="+mn-ea"/>
              <a:cs typeface="+mn-cs"/>
            </a:endParaRPr>
          </a:p>
          <a:p>
            <a:r>
              <a:rPr lang="en-GB" sz="1200" kern="1200" dirty="0" smtClean="0">
                <a:solidFill>
                  <a:schemeClr val="tx1"/>
                </a:solidFill>
                <a:effectLst/>
                <a:latin typeface="Calibri" pitchFamily="34" charset="0"/>
                <a:ea typeface="+mn-ea"/>
                <a:cs typeface="+mn-cs"/>
              </a:rPr>
              <a:t>For over 60 years, we at SOS Children’s Villages have been committed to supporting children at risk around the world. </a:t>
            </a:r>
            <a:r>
              <a:rPr lang="en-GB" sz="1200" b="0" kern="1200" dirty="0" smtClean="0">
                <a:solidFill>
                  <a:schemeClr val="tx1"/>
                </a:solidFill>
                <a:effectLst/>
                <a:latin typeface="Calibri" pitchFamily="34" charset="0"/>
                <a:ea typeface="+mn-ea"/>
                <a:cs typeface="+mn-cs"/>
              </a:rPr>
              <a:t>However, we need regular support from friends, corporate partners, governments and other organisations who share our values.</a:t>
            </a:r>
            <a:r>
              <a:rPr lang="en-GB" sz="1200" b="0" kern="1200" baseline="0" dirty="0" smtClean="0">
                <a:solidFill>
                  <a:schemeClr val="tx1"/>
                </a:solidFill>
                <a:effectLst/>
                <a:latin typeface="Calibri" pitchFamily="34" charset="0"/>
                <a:ea typeface="+mn-ea"/>
                <a:cs typeface="+mn-cs"/>
              </a:rPr>
              <a:t> </a:t>
            </a:r>
            <a:r>
              <a:rPr lang="en-GB" sz="1200" b="0" kern="1200" dirty="0" smtClean="0">
                <a:solidFill>
                  <a:schemeClr val="tx1"/>
                </a:solidFill>
                <a:effectLst/>
                <a:latin typeface="Calibri" pitchFamily="34" charset="0"/>
                <a:ea typeface="+mn-ea"/>
                <a:cs typeface="+mn-cs"/>
              </a:rPr>
              <a:t>So we work very hard at developing strong</a:t>
            </a:r>
            <a:r>
              <a:rPr lang="en-GB" sz="1200" b="0" kern="1200" baseline="0" dirty="0" smtClean="0">
                <a:solidFill>
                  <a:schemeClr val="tx1"/>
                </a:solidFill>
                <a:effectLst/>
                <a:latin typeface="Calibri" pitchFamily="34" charset="0"/>
                <a:ea typeface="+mn-ea"/>
                <a:cs typeface="+mn-cs"/>
              </a:rPr>
              <a:t> partnerships.</a:t>
            </a:r>
            <a:r>
              <a:rPr lang="en-GB" sz="1200" kern="1200" dirty="0" smtClean="0">
                <a:solidFill>
                  <a:schemeClr val="tx1"/>
                </a:solidFill>
                <a:effectLst/>
                <a:latin typeface="Calibri" pitchFamily="34" charset="0"/>
                <a:ea typeface="+mn-ea"/>
                <a:cs typeface="+mn-cs"/>
              </a:rPr>
              <a:t/>
            </a:r>
            <a:br>
              <a:rPr lang="en-GB" sz="1200" kern="1200" dirty="0" smtClean="0">
                <a:solidFill>
                  <a:schemeClr val="tx1"/>
                </a:solidFill>
                <a:effectLst/>
                <a:latin typeface="Calibri" pitchFamily="34" charset="0"/>
                <a:ea typeface="+mn-ea"/>
                <a:cs typeface="+mn-cs"/>
              </a:rPr>
            </a:br>
            <a:endParaRPr lang="en-GB" sz="1200" kern="1200" dirty="0" smtClean="0">
              <a:solidFill>
                <a:schemeClr val="tx1"/>
              </a:solidFill>
              <a:effectLst/>
              <a:latin typeface="Calibri" pitchFamily="34" charset="0"/>
              <a:ea typeface="+mn-ea"/>
              <a:cs typeface="+mn-cs"/>
            </a:endParaRPr>
          </a:p>
          <a:p>
            <a:r>
              <a:rPr lang="en-GB" sz="1200" b="1" kern="1200" dirty="0" smtClean="0">
                <a:solidFill>
                  <a:schemeClr val="tx1"/>
                </a:solidFill>
                <a:effectLst/>
                <a:latin typeface="Calibri" pitchFamily="34" charset="0"/>
                <a:ea typeface="+mn-ea"/>
                <a:cs typeface="+mn-cs"/>
              </a:rPr>
              <a:t>Individual donors</a:t>
            </a:r>
            <a:r>
              <a:rPr lang="en-GB" sz="1200" kern="1200" dirty="0" smtClean="0">
                <a:solidFill>
                  <a:schemeClr val="tx1"/>
                </a:solidFill>
                <a:effectLst/>
                <a:latin typeface="Calibri" pitchFamily="34" charset="0"/>
                <a:ea typeface="+mn-ea"/>
                <a:cs typeface="+mn-cs"/>
              </a:rPr>
              <a:t>: </a:t>
            </a:r>
          </a:p>
          <a:p>
            <a:r>
              <a:rPr lang="en-GB" sz="1200" kern="1200" dirty="0" smtClean="0">
                <a:solidFill>
                  <a:schemeClr val="tx1"/>
                </a:solidFill>
                <a:effectLst/>
                <a:latin typeface="Calibri" pitchFamily="34" charset="0"/>
                <a:ea typeface="+mn-ea"/>
                <a:cs typeface="+mn-cs"/>
              </a:rPr>
              <a:t>Since the very start, we have relied on individual donors. The vast majority of our income comes from one-off donations and committed giving. Individual donors also respond to our appeals when there is an emergency or any specific fundraising appeal.</a:t>
            </a:r>
          </a:p>
          <a:p>
            <a:r>
              <a:rPr lang="en-GB" sz="1200" u="sng" kern="1200" dirty="0" smtClean="0">
                <a:solidFill>
                  <a:schemeClr val="tx1"/>
                </a:solidFill>
                <a:effectLst/>
                <a:latin typeface="Calibri" pitchFamily="34" charset="0"/>
                <a:ea typeface="+mn-ea"/>
                <a:cs typeface="+mn-cs"/>
              </a:rPr>
              <a:t>Figures</a:t>
            </a:r>
            <a:r>
              <a:rPr lang="en-GB" sz="1200" u="sng" kern="1200" baseline="0" dirty="0" smtClean="0">
                <a:solidFill>
                  <a:schemeClr val="tx1"/>
                </a:solidFill>
                <a:effectLst/>
                <a:latin typeface="Calibri" pitchFamily="34" charset="0"/>
                <a:ea typeface="+mn-ea"/>
                <a:cs typeface="+mn-cs"/>
              </a:rPr>
              <a:t> from 2011: </a:t>
            </a:r>
            <a:endParaRPr lang="en-GB" sz="1200" kern="1200" baseline="0" dirty="0" smtClean="0">
              <a:solidFill>
                <a:schemeClr val="tx1"/>
              </a:solidFill>
              <a:effectLst/>
              <a:latin typeface="Calibri" pitchFamily="34" charset="0"/>
              <a:ea typeface="+mn-ea"/>
              <a:cs typeface="+mn-cs"/>
            </a:endParaRPr>
          </a:p>
          <a:p>
            <a:r>
              <a:rPr lang="en-GB" sz="1200" kern="1200" baseline="0" dirty="0" smtClean="0">
                <a:solidFill>
                  <a:schemeClr val="tx1"/>
                </a:solidFill>
                <a:effectLst/>
                <a:latin typeface="Calibri" pitchFamily="34" charset="0"/>
                <a:ea typeface="+mn-ea"/>
                <a:cs typeface="+mn-cs"/>
              </a:rPr>
              <a:t>3,481,768 	sporadic donors</a:t>
            </a:r>
          </a:p>
          <a:p>
            <a:r>
              <a:rPr lang="en-GB" sz="1200" kern="1200" baseline="0" dirty="0" smtClean="0">
                <a:solidFill>
                  <a:schemeClr val="tx1"/>
                </a:solidFill>
                <a:effectLst/>
                <a:latin typeface="Calibri" pitchFamily="34" charset="0"/>
                <a:ea typeface="+mn-ea"/>
                <a:cs typeface="+mn-cs"/>
              </a:rPr>
              <a:t>383,881 	committed givers</a:t>
            </a:r>
          </a:p>
          <a:p>
            <a:r>
              <a:rPr lang="en-GB" sz="1200" kern="1200" dirty="0" smtClean="0">
                <a:solidFill>
                  <a:schemeClr val="tx1"/>
                </a:solidFill>
                <a:effectLst/>
                <a:latin typeface="Calibri" pitchFamily="34" charset="0"/>
                <a:ea typeface="+mn-ea"/>
                <a:cs typeface="+mn-cs"/>
              </a:rPr>
              <a:t>375,804  </a:t>
            </a:r>
            <a:r>
              <a:rPr lang="en-GB" sz="1200" kern="1200" baseline="0" dirty="0" smtClean="0">
                <a:solidFill>
                  <a:schemeClr val="tx1"/>
                </a:solidFill>
                <a:effectLst/>
                <a:latin typeface="Calibri" pitchFamily="34" charset="0"/>
                <a:ea typeface="+mn-ea"/>
                <a:cs typeface="+mn-cs"/>
              </a:rPr>
              <a:t> 	sponsors</a:t>
            </a:r>
          </a:p>
          <a:p>
            <a:r>
              <a:rPr lang="en-GB" sz="1200" b="1" kern="1200" baseline="0" dirty="0" smtClean="0">
                <a:solidFill>
                  <a:schemeClr val="tx1"/>
                </a:solidFill>
                <a:effectLst/>
                <a:latin typeface="Calibri" pitchFamily="34" charset="0"/>
                <a:ea typeface="+mn-ea"/>
                <a:cs typeface="+mn-cs"/>
              </a:rPr>
              <a:t>TOTAL 	4,241,453  supporters worldwide</a:t>
            </a:r>
            <a:r>
              <a:rPr lang="en-GB" sz="1200" kern="1200" dirty="0" smtClean="0">
                <a:solidFill>
                  <a:schemeClr val="tx1"/>
                </a:solidFill>
                <a:effectLst/>
                <a:latin typeface="Calibri" pitchFamily="34" charset="0"/>
                <a:ea typeface="+mn-ea"/>
                <a:cs typeface="+mn-cs"/>
              </a:rPr>
              <a:t/>
            </a:r>
            <a:br>
              <a:rPr lang="en-GB" sz="1200" kern="1200" dirty="0" smtClean="0">
                <a:solidFill>
                  <a:schemeClr val="tx1"/>
                </a:solidFill>
                <a:effectLst/>
                <a:latin typeface="Calibri" pitchFamily="34" charset="0"/>
                <a:ea typeface="+mn-ea"/>
                <a:cs typeface="+mn-cs"/>
              </a:rPr>
            </a:br>
            <a:endParaRPr lang="en-GB" sz="1200" kern="1200" dirty="0" smtClean="0">
              <a:solidFill>
                <a:schemeClr val="tx1"/>
              </a:solidFill>
              <a:effectLst/>
              <a:latin typeface="Calibri" pitchFamily="34" charset="0"/>
              <a:ea typeface="+mn-ea"/>
              <a:cs typeface="+mn-cs"/>
            </a:endParaRPr>
          </a:p>
          <a:p>
            <a:r>
              <a:rPr lang="en-GB" sz="1200" b="1" kern="1200" dirty="0" smtClean="0">
                <a:solidFill>
                  <a:schemeClr val="tx1"/>
                </a:solidFill>
                <a:effectLst/>
                <a:latin typeface="Calibri" pitchFamily="34" charset="0"/>
                <a:ea typeface="+mn-ea"/>
                <a:cs typeface="+mn-cs"/>
              </a:rPr>
              <a:t>Governments and institutional donors</a:t>
            </a:r>
            <a:r>
              <a:rPr lang="en-GB" sz="1200" kern="1200" dirty="0" smtClean="0">
                <a:solidFill>
                  <a:schemeClr val="tx1"/>
                </a:solidFill>
                <a:effectLst/>
                <a:latin typeface="Calibri" pitchFamily="34" charset="0"/>
                <a:ea typeface="+mn-ea"/>
                <a:cs typeface="+mn-cs"/>
              </a:rPr>
              <a:t>: </a:t>
            </a:r>
          </a:p>
          <a:p>
            <a:r>
              <a:rPr lang="en-GB" sz="1200" kern="1200" dirty="0" smtClean="0">
                <a:solidFill>
                  <a:schemeClr val="tx1"/>
                </a:solidFill>
                <a:effectLst/>
                <a:latin typeface="Calibri" pitchFamily="34" charset="0"/>
                <a:ea typeface="+mn-ea"/>
                <a:cs typeface="+mn-cs"/>
              </a:rPr>
              <a:t>We</a:t>
            </a:r>
            <a:r>
              <a:rPr lang="en-GB" sz="1200" kern="1200" baseline="0" dirty="0" smtClean="0">
                <a:solidFill>
                  <a:schemeClr val="tx1"/>
                </a:solidFill>
                <a:effectLst/>
                <a:latin typeface="Calibri" pitchFamily="34" charset="0"/>
                <a:ea typeface="+mn-ea"/>
                <a:cs typeface="+mn-cs"/>
              </a:rPr>
              <a:t> have always worked closely with domestic governments to deliver services, and i</a:t>
            </a:r>
            <a:r>
              <a:rPr lang="en-GB" sz="1200" kern="1200" dirty="0" smtClean="0">
                <a:solidFill>
                  <a:schemeClr val="tx1"/>
                </a:solidFill>
                <a:effectLst/>
                <a:latin typeface="Calibri" pitchFamily="34" charset="0"/>
                <a:ea typeface="+mn-ea"/>
                <a:cs typeface="+mn-cs"/>
              </a:rPr>
              <a:t>n recent years, partnerships with institutional donors who work internationally have increasingly become an important part of our work. They go beyond financial arrangements as they build relationships that shape thinking and policies of those involved in development cooperation.</a:t>
            </a:r>
            <a:br>
              <a:rPr lang="en-GB" sz="1200" kern="1200" dirty="0" smtClean="0">
                <a:solidFill>
                  <a:schemeClr val="tx1"/>
                </a:solidFill>
                <a:effectLst/>
                <a:latin typeface="Calibri" pitchFamily="34" charset="0"/>
                <a:ea typeface="+mn-ea"/>
                <a:cs typeface="+mn-cs"/>
              </a:rPr>
            </a:br>
            <a:r>
              <a:rPr lang="en-GB" sz="1200" b="0" i="1" kern="1200" dirty="0" smtClean="0">
                <a:solidFill>
                  <a:schemeClr val="tx1"/>
                </a:solidFill>
                <a:effectLst/>
                <a:latin typeface="Calibri" pitchFamily="34" charset="0"/>
                <a:ea typeface="+mn-ea"/>
                <a:cs typeface="+mn-cs"/>
              </a:rPr>
              <a:t>Examples: </a:t>
            </a:r>
          </a:p>
          <a:p>
            <a:pPr lvl="0"/>
            <a:r>
              <a:rPr lang="en-GB" sz="1200" b="0" i="1" u="sng" kern="1200" dirty="0" smtClean="0">
                <a:solidFill>
                  <a:schemeClr val="tx1"/>
                </a:solidFill>
                <a:effectLst/>
                <a:latin typeface="Calibri" pitchFamily="34" charset="0"/>
                <a:ea typeface="+mn-ea"/>
                <a:cs typeface="+mn-cs"/>
              </a:rPr>
              <a:t>ECHO</a:t>
            </a:r>
            <a:r>
              <a:rPr lang="en-GB" sz="1200" b="0" i="1" kern="1200" dirty="0" smtClean="0">
                <a:solidFill>
                  <a:schemeClr val="tx1"/>
                </a:solidFill>
                <a:effectLst/>
                <a:latin typeface="Calibri" pitchFamily="34" charset="0"/>
                <a:ea typeface="+mn-ea"/>
                <a:cs typeface="+mn-cs"/>
              </a:rPr>
              <a:t> - Directorate for Humanitarian Aid and Civil Protection of the European Commission;</a:t>
            </a:r>
          </a:p>
          <a:p>
            <a:pPr lvl="0"/>
            <a:r>
              <a:rPr lang="en-GB" sz="1200" b="0" i="1" u="sng" kern="1200" dirty="0" err="1" smtClean="0">
                <a:solidFill>
                  <a:schemeClr val="tx1"/>
                </a:solidFill>
                <a:effectLst/>
                <a:latin typeface="Calibri" pitchFamily="34" charset="0"/>
                <a:ea typeface="+mn-ea"/>
                <a:cs typeface="+mn-cs"/>
              </a:rPr>
              <a:t>Norad</a:t>
            </a:r>
            <a:r>
              <a:rPr lang="en-GB" sz="1200" b="0" i="1" kern="1200" dirty="0" smtClean="0">
                <a:solidFill>
                  <a:schemeClr val="tx1"/>
                </a:solidFill>
                <a:effectLst/>
                <a:latin typeface="Calibri" pitchFamily="34" charset="0"/>
                <a:ea typeface="+mn-ea"/>
                <a:cs typeface="+mn-cs"/>
              </a:rPr>
              <a:t> – The Norwegian Agency for Development Cooperation</a:t>
            </a:r>
          </a:p>
          <a:p>
            <a:pPr lvl="0"/>
            <a:r>
              <a:rPr lang="en-GB" sz="1200" b="0" i="1" u="sng" kern="1200" dirty="0" smtClean="0">
                <a:solidFill>
                  <a:schemeClr val="tx1"/>
                </a:solidFill>
                <a:effectLst/>
                <a:latin typeface="Calibri" pitchFamily="34" charset="0"/>
                <a:ea typeface="+mn-ea"/>
                <a:cs typeface="+mn-cs"/>
              </a:rPr>
              <a:t>Austrian Development Cooperation</a:t>
            </a:r>
          </a:p>
          <a:p>
            <a:pPr lvl="0"/>
            <a:r>
              <a:rPr lang="en-GB" sz="1200" b="0" i="1" u="sng" kern="1200" dirty="0" smtClean="0">
                <a:solidFill>
                  <a:schemeClr val="tx1"/>
                </a:solidFill>
                <a:effectLst/>
                <a:latin typeface="Calibri" pitchFamily="34" charset="0"/>
                <a:ea typeface="+mn-ea"/>
                <a:cs typeface="+mn-cs"/>
              </a:rPr>
              <a:t>BMZ</a:t>
            </a:r>
            <a:r>
              <a:rPr lang="en-GB" sz="1200" b="0" i="1" kern="1200" dirty="0" smtClean="0">
                <a:solidFill>
                  <a:schemeClr val="tx1"/>
                </a:solidFill>
                <a:effectLst/>
                <a:latin typeface="Calibri" pitchFamily="34" charset="0"/>
                <a:ea typeface="+mn-ea"/>
                <a:cs typeface="+mn-cs"/>
              </a:rPr>
              <a:t> – Federal Ministry for Economic Cooperation and Development</a:t>
            </a:r>
          </a:p>
          <a:p>
            <a:pPr lvl="0"/>
            <a:r>
              <a:rPr lang="en-GB" sz="1200" b="0" i="1" kern="1200" dirty="0" smtClean="0">
                <a:solidFill>
                  <a:schemeClr val="tx1"/>
                </a:solidFill>
                <a:effectLst/>
                <a:latin typeface="Calibri" pitchFamily="34" charset="0"/>
                <a:ea typeface="+mn-ea"/>
                <a:cs typeface="+mn-cs"/>
              </a:rPr>
              <a:t>The Belgian Development Cooperation</a:t>
            </a:r>
          </a:p>
          <a:p>
            <a:pPr lvl="0"/>
            <a:r>
              <a:rPr lang="en-GB" sz="1200" b="0" i="1" kern="1200" dirty="0" smtClean="0">
                <a:solidFill>
                  <a:schemeClr val="tx1"/>
                </a:solidFill>
                <a:effectLst/>
                <a:latin typeface="Calibri" pitchFamily="34" charset="0"/>
                <a:ea typeface="+mn-ea"/>
                <a:cs typeface="+mn-cs"/>
              </a:rPr>
              <a:t>Ministry of Foreign Affairs Luxembourg</a:t>
            </a:r>
          </a:p>
          <a:p>
            <a:pPr lvl="0"/>
            <a:r>
              <a:rPr lang="en-GB" sz="1200" b="0" i="1" kern="1200" dirty="0" smtClean="0">
                <a:solidFill>
                  <a:schemeClr val="tx1"/>
                </a:solidFill>
                <a:effectLst/>
                <a:latin typeface="Calibri" pitchFamily="34" charset="0"/>
                <a:ea typeface="+mn-ea"/>
                <a:cs typeface="+mn-cs"/>
              </a:rPr>
              <a:t>Ministry of Foreign Affairs of the Netherlands</a:t>
            </a:r>
          </a:p>
          <a:p>
            <a:pPr lvl="0"/>
            <a:endParaRPr lang="en-GB" sz="1200" kern="1200" dirty="0" smtClean="0">
              <a:solidFill>
                <a:schemeClr val="tx1"/>
              </a:solidFill>
              <a:effectLst/>
              <a:latin typeface="Calibri" pitchFamily="34" charset="0"/>
              <a:ea typeface="+mn-ea"/>
              <a:cs typeface="+mn-cs"/>
            </a:endParaRPr>
          </a:p>
          <a:p>
            <a:r>
              <a:rPr lang="en-GB" sz="1200" b="1" kern="1200" dirty="0" smtClean="0">
                <a:solidFill>
                  <a:schemeClr val="tx1"/>
                </a:solidFill>
                <a:effectLst/>
                <a:latin typeface="Calibri" pitchFamily="34" charset="0"/>
                <a:ea typeface="+mn-ea"/>
                <a:cs typeface="+mn-cs"/>
              </a:rPr>
              <a:t>Corporate Partners: </a:t>
            </a:r>
          </a:p>
          <a:p>
            <a:r>
              <a:rPr lang="en-GB" sz="1200" kern="1200" dirty="0" smtClean="0">
                <a:solidFill>
                  <a:schemeClr val="tx1"/>
                </a:solidFill>
                <a:effectLst/>
                <a:latin typeface="Calibri" pitchFamily="34" charset="0"/>
                <a:ea typeface="+mn-ea"/>
                <a:cs typeface="+mn-cs"/>
              </a:rPr>
              <a:t>We build exciting, long-term, sustainable relationships with our corporate partners that allow us to have a meaningful and sustainable impact on the lives of children. </a:t>
            </a:r>
            <a:br>
              <a:rPr lang="en-GB" sz="1200" kern="1200" dirty="0" smtClean="0">
                <a:solidFill>
                  <a:schemeClr val="tx1"/>
                </a:solidFill>
                <a:effectLst/>
                <a:latin typeface="Calibri" pitchFamily="34" charset="0"/>
                <a:ea typeface="+mn-ea"/>
                <a:cs typeface="+mn-cs"/>
              </a:rPr>
            </a:br>
            <a:r>
              <a:rPr lang="en-GB" sz="1200" i="1" kern="1200" dirty="0" smtClean="0">
                <a:solidFill>
                  <a:schemeClr val="tx1"/>
                </a:solidFill>
                <a:effectLst/>
                <a:latin typeface="Calibri" pitchFamily="34" charset="0"/>
                <a:ea typeface="+mn-ea"/>
                <a:cs typeface="+mn-cs"/>
              </a:rPr>
              <a:t>Examples: Microsoft, the global law firm Allen &amp; </a:t>
            </a:r>
            <a:r>
              <a:rPr lang="en-GB" sz="1200" i="1" kern="1200" dirty="0" err="1" smtClean="0">
                <a:solidFill>
                  <a:schemeClr val="tx1"/>
                </a:solidFill>
                <a:effectLst/>
                <a:latin typeface="Calibri" pitchFamily="34" charset="0"/>
                <a:ea typeface="+mn-ea"/>
                <a:cs typeface="+mn-cs"/>
              </a:rPr>
              <a:t>Overy</a:t>
            </a:r>
            <a:r>
              <a:rPr lang="en-GB" sz="1200" i="1" kern="1200" dirty="0" smtClean="0">
                <a:solidFill>
                  <a:schemeClr val="tx1"/>
                </a:solidFill>
                <a:effectLst/>
                <a:latin typeface="Calibri" pitchFamily="34" charset="0"/>
                <a:ea typeface="+mn-ea"/>
                <a:cs typeface="+mn-cs"/>
              </a:rPr>
              <a:t>, Louis Vuitton, HSBC, Deutsche Post DHL</a:t>
            </a:r>
            <a:r>
              <a:rPr lang="en-GB" sz="1200" kern="1200" dirty="0" smtClean="0">
                <a:solidFill>
                  <a:schemeClr val="tx1"/>
                </a:solidFill>
                <a:effectLst/>
                <a:latin typeface="Calibri" pitchFamily="34" charset="0"/>
                <a:ea typeface="+mn-ea"/>
                <a:cs typeface="+mn-cs"/>
              </a:rPr>
              <a:t/>
            </a:r>
            <a:br>
              <a:rPr lang="en-GB" sz="1200" kern="1200" dirty="0" smtClean="0">
                <a:solidFill>
                  <a:schemeClr val="tx1"/>
                </a:solidFill>
                <a:effectLst/>
                <a:latin typeface="Calibri" pitchFamily="34" charset="0"/>
                <a:ea typeface="+mn-ea"/>
                <a:cs typeface="+mn-cs"/>
              </a:rPr>
            </a:br>
            <a:endParaRPr lang="en-GB" sz="1200" kern="1200" dirty="0" smtClean="0">
              <a:solidFill>
                <a:schemeClr val="tx1"/>
              </a:solidFill>
              <a:effectLst/>
              <a:latin typeface="Calibri" pitchFamily="34" charset="0"/>
              <a:ea typeface="+mn-ea"/>
              <a:cs typeface="+mn-cs"/>
            </a:endParaRPr>
          </a:p>
          <a:p>
            <a:r>
              <a:rPr lang="en-GB" sz="1200" b="1" kern="1200" dirty="0" smtClean="0">
                <a:solidFill>
                  <a:schemeClr val="tx1"/>
                </a:solidFill>
                <a:effectLst/>
                <a:latin typeface="Calibri" pitchFamily="34" charset="0"/>
                <a:ea typeface="+mn-ea"/>
                <a:cs typeface="+mn-cs"/>
              </a:rPr>
              <a:t>International Agencies and other NGOs</a:t>
            </a:r>
            <a:r>
              <a:rPr lang="en-GB" sz="1200" kern="1200" dirty="0" smtClean="0">
                <a:solidFill>
                  <a:schemeClr val="tx1"/>
                </a:solidFill>
                <a:effectLst/>
                <a:latin typeface="Calibri" pitchFamily="34" charset="0"/>
                <a:ea typeface="+mn-ea"/>
                <a:cs typeface="+mn-cs"/>
              </a:rPr>
              <a:t>: </a:t>
            </a:r>
          </a:p>
          <a:p>
            <a:r>
              <a:rPr lang="en-GB" sz="1200" b="0" kern="1200" dirty="0" smtClean="0">
                <a:solidFill>
                  <a:schemeClr val="tx1"/>
                </a:solidFill>
                <a:effectLst/>
                <a:latin typeface="Calibri" pitchFamily="34" charset="0"/>
                <a:ea typeface="+mn-ea"/>
                <a:cs typeface="+mn-cs"/>
              </a:rPr>
              <a:t>We believe that two organisations can achieve greater impact by working together than by working separately,</a:t>
            </a:r>
            <a:r>
              <a:rPr lang="en-GB" sz="1200" b="0" kern="1200" baseline="0" dirty="0" smtClean="0">
                <a:solidFill>
                  <a:schemeClr val="tx1"/>
                </a:solidFill>
                <a:effectLst/>
                <a:latin typeface="Calibri" pitchFamily="34" charset="0"/>
                <a:ea typeface="+mn-ea"/>
                <a:cs typeface="+mn-cs"/>
              </a:rPr>
              <a:t> and we have developed relationships with many other organisations who share our vision</a:t>
            </a:r>
            <a:r>
              <a:rPr lang="en-GB" sz="1200" b="0" kern="1200" dirty="0" smtClean="0">
                <a:solidFill>
                  <a:schemeClr val="tx1"/>
                </a:solidFill>
                <a:effectLst/>
                <a:latin typeface="Calibri" pitchFamily="34" charset="0"/>
                <a:ea typeface="+mn-ea"/>
                <a:cs typeface="+mn-cs"/>
              </a:rPr>
              <a:t>. </a:t>
            </a:r>
            <a:br>
              <a:rPr lang="en-GB" sz="1200" b="0" kern="1200" dirty="0" smtClean="0">
                <a:solidFill>
                  <a:schemeClr val="tx1"/>
                </a:solidFill>
                <a:effectLst/>
                <a:latin typeface="Calibri" pitchFamily="34" charset="0"/>
                <a:ea typeface="+mn-ea"/>
                <a:cs typeface="+mn-cs"/>
              </a:rPr>
            </a:br>
            <a:r>
              <a:rPr lang="en-GB" sz="1200" i="1" kern="1200" dirty="0" smtClean="0">
                <a:solidFill>
                  <a:schemeClr val="tx1"/>
                </a:solidFill>
                <a:effectLst/>
                <a:latin typeface="Calibri" pitchFamily="34" charset="0"/>
                <a:ea typeface="+mn-ea"/>
                <a:cs typeface="+mn-cs"/>
              </a:rPr>
              <a:t>Examples: Habitat for Humanity, Plan International, </a:t>
            </a:r>
            <a:r>
              <a:rPr lang="en-GB" sz="1200" i="1" kern="1200" dirty="0" err="1" smtClean="0">
                <a:solidFill>
                  <a:schemeClr val="tx1"/>
                </a:solidFill>
                <a:effectLst/>
                <a:latin typeface="Calibri" pitchFamily="34" charset="0"/>
                <a:ea typeface="+mn-ea"/>
                <a:cs typeface="+mn-cs"/>
              </a:rPr>
              <a:t>Unicef</a:t>
            </a:r>
            <a:r>
              <a:rPr lang="en-GB" sz="1200" i="1" kern="1200" dirty="0" smtClean="0">
                <a:solidFill>
                  <a:schemeClr val="tx1"/>
                </a:solidFill>
                <a:effectLst/>
                <a:latin typeface="Calibri" pitchFamily="34" charset="0"/>
                <a:ea typeface="+mn-ea"/>
                <a:cs typeface="+mn-cs"/>
              </a:rPr>
              <a:t>, Council of Europe</a:t>
            </a:r>
          </a:p>
          <a:p>
            <a:endParaRPr lang="de-DE" sz="1200" i="1" kern="1200" dirty="0" smtClean="0">
              <a:solidFill>
                <a:schemeClr val="tx1"/>
              </a:solidFill>
              <a:effectLst/>
              <a:latin typeface="Calibri" pitchFamily="34" charset="0"/>
              <a:ea typeface="+mn-ea"/>
              <a:cs typeface="+mn-cs"/>
            </a:endParaRPr>
          </a:p>
        </p:txBody>
      </p:sp>
      <p:sp>
        <p:nvSpPr>
          <p:cNvPr id="4" name="Slide Number Placeholder 3"/>
          <p:cNvSpPr>
            <a:spLocks noGrp="1"/>
          </p:cNvSpPr>
          <p:nvPr>
            <p:ph type="sldNum" sz="quarter" idx="10"/>
          </p:nvPr>
        </p:nvSpPr>
        <p:spPr/>
        <p:txBody>
          <a:bodyPr/>
          <a:lstStyle/>
          <a:p>
            <a:fld id="{68212901-8644-4CDA-A7EA-D9645A6E2995}" type="slidenum">
              <a:rPr lang="de-DE" smtClean="0"/>
              <a:pPr/>
              <a:t>36</a:t>
            </a:fld>
            <a:endParaRPr lang="de-DE"/>
          </a:p>
        </p:txBody>
      </p:sp>
    </p:spTree>
    <p:extLst>
      <p:ext uri="{BB962C8B-B14F-4D97-AF65-F5344CB8AC3E}">
        <p14:creationId xmlns:p14="http://schemas.microsoft.com/office/powerpoint/2010/main" val="8345484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AT" dirty="0" smtClean="0"/>
          </a:p>
        </p:txBody>
      </p:sp>
      <p:sp>
        <p:nvSpPr>
          <p:cNvPr id="4" name="Slide Number Placeholder 3"/>
          <p:cNvSpPr>
            <a:spLocks noGrp="1"/>
          </p:cNvSpPr>
          <p:nvPr>
            <p:ph type="sldNum" sz="quarter" idx="10"/>
          </p:nvPr>
        </p:nvSpPr>
        <p:spPr/>
        <p:txBody>
          <a:bodyPr/>
          <a:lstStyle/>
          <a:p>
            <a:fld id="{68212901-8644-4CDA-A7EA-D9645A6E2995}" type="slidenum">
              <a:rPr lang="de-DE" smtClean="0"/>
              <a:pPr/>
              <a:t>37</a:t>
            </a:fld>
            <a:endParaRPr lang="de-DE"/>
          </a:p>
        </p:txBody>
      </p:sp>
    </p:spTree>
    <p:extLst>
      <p:ext uri="{BB962C8B-B14F-4D97-AF65-F5344CB8AC3E}">
        <p14:creationId xmlns:p14="http://schemas.microsoft.com/office/powerpoint/2010/main" val="834548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sp>
        <p:nvSpPr>
          <p:cNvPr id="9" name="Titelplatzhalter 1"/>
          <p:cNvSpPr>
            <a:spLocks noGrp="1"/>
          </p:cNvSpPr>
          <p:nvPr>
            <p:ph type="title"/>
          </p:nvPr>
        </p:nvSpPr>
        <p:spPr>
          <a:xfrm>
            <a:off x="2431260" y="60840"/>
            <a:ext cx="6624000" cy="1917441"/>
          </a:xfrm>
          <a:prstGeom prst="rect">
            <a:avLst/>
          </a:prstGeom>
        </p:spPr>
        <p:txBody>
          <a:bodyPr vert="horz" lIns="91440" tIns="45720" rIns="91440" bIns="45720" rtlCol="0" anchor="t">
            <a:normAutofit/>
          </a:bodyPr>
          <a:lstStyle>
            <a:lvl1pPr>
              <a:lnSpc>
                <a:spcPts val="3800"/>
              </a:lnSpc>
              <a:defRPr sz="4000"/>
            </a:lvl1pPr>
          </a:lstStyle>
          <a:p>
            <a:r>
              <a:rPr lang="de-AT" smtClean="0"/>
              <a:t>Mastertitelformat bearbeiten</a:t>
            </a:r>
            <a:endParaRPr lang="de-DE" dirty="0"/>
          </a:p>
        </p:txBody>
      </p:sp>
    </p:spTree>
    <p:extLst>
      <p:ext uri="{BB962C8B-B14F-4D97-AF65-F5344CB8AC3E}">
        <p14:creationId xmlns:p14="http://schemas.microsoft.com/office/powerpoint/2010/main" val="2300587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9975" y="217488"/>
            <a:ext cx="6624638" cy="719137"/>
          </a:xfrm>
          <a:prstGeom prst="rect">
            <a:avLst/>
          </a:prstGeom>
        </p:spPr>
        <p:txBody>
          <a:bodyPr/>
          <a:lstStyle/>
          <a:p>
            <a:r>
              <a:rPr lang="en-US" dirty="0" smtClean="0"/>
              <a:t>Click to edit Master title style</a:t>
            </a:r>
            <a:endParaRPr lang="de-AT" dirty="0"/>
          </a:p>
        </p:txBody>
      </p:sp>
      <p:sp>
        <p:nvSpPr>
          <p:cNvPr id="3" name="Content Placeholder 2"/>
          <p:cNvSpPr>
            <a:spLocks noGrp="1"/>
          </p:cNvSpPr>
          <p:nvPr>
            <p:ph idx="1"/>
          </p:nvPr>
        </p:nvSpPr>
        <p:spPr>
          <a:xfrm>
            <a:off x="136525" y="1798638"/>
            <a:ext cx="8823325" cy="4887912"/>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AT" dirty="0"/>
          </a:p>
        </p:txBody>
      </p:sp>
    </p:spTree>
    <p:extLst>
      <p:ext uri="{BB962C8B-B14F-4D97-AF65-F5344CB8AC3E}">
        <p14:creationId xmlns:p14="http://schemas.microsoft.com/office/powerpoint/2010/main" val="250611393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464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9975" y="217488"/>
            <a:ext cx="6624638" cy="719137"/>
          </a:xfrm>
          <a:prstGeom prst="rect">
            <a:avLst/>
          </a:prstGeom>
        </p:spPr>
        <p:txBody>
          <a:bodyPr/>
          <a:lstStyle/>
          <a:p>
            <a:r>
              <a:rPr lang="en-US" dirty="0" smtClean="0"/>
              <a:t>Click to edit Master title style</a:t>
            </a:r>
            <a:endParaRPr lang="de-AT" dirty="0"/>
          </a:p>
        </p:txBody>
      </p:sp>
      <p:sp>
        <p:nvSpPr>
          <p:cNvPr id="3" name="Content Placeholder 2"/>
          <p:cNvSpPr>
            <a:spLocks noGrp="1"/>
          </p:cNvSpPr>
          <p:nvPr>
            <p:ph idx="1"/>
          </p:nvPr>
        </p:nvSpPr>
        <p:spPr>
          <a:xfrm>
            <a:off x="136525" y="1798638"/>
            <a:ext cx="8823325" cy="4887912"/>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AT" dirty="0"/>
          </a:p>
        </p:txBody>
      </p:sp>
    </p:spTree>
    <p:extLst>
      <p:ext uri="{BB962C8B-B14F-4D97-AF65-F5344CB8AC3E}">
        <p14:creationId xmlns:p14="http://schemas.microsoft.com/office/powerpoint/2010/main" val="17454694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image" Target="../media/image8.png"/><Relationship Id="rId12" Type="http://schemas.openxmlformats.org/officeDocument/2006/relationships/image" Target="../media/image9.jpg"/><Relationship Id="rId13" Type="http://schemas.openxmlformats.org/officeDocument/2006/relationships/image" Target="../media/image10.jp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hteck 6"/>
          <p:cNvSpPr>
            <a:spLocks noChangeAspect="1"/>
          </p:cNvSpPr>
          <p:nvPr/>
        </p:nvSpPr>
        <p:spPr>
          <a:xfrm>
            <a:off x="179388" y="1941513"/>
            <a:ext cx="8785225" cy="4751387"/>
          </a:xfrm>
          <a:prstGeom prst="rect">
            <a:avLst/>
          </a:prstGeom>
          <a:solidFill>
            <a:srgbClr val="F47920"/>
          </a:solidFill>
          <a:ln w="0">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pic>
        <p:nvPicPr>
          <p:cNvPr id="3103" name="Picture 31" descr="Home-white-bi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92100" y="5453063"/>
            <a:ext cx="1249363" cy="1077912"/>
          </a:xfrm>
          <a:prstGeom prst="rect">
            <a:avLst/>
          </a:prstGeom>
          <a:noFill/>
          <a:extLst>
            <a:ext uri="{909E8E84-426E-40DD-AFC4-6F175D3DCCD1}">
              <a14:hiddenFill xmlns:a14="http://schemas.microsoft.com/office/drawing/2010/main">
                <a:solidFill>
                  <a:srgbClr val="FFFFFF"/>
                </a:solidFill>
              </a14:hiddenFill>
            </a:ext>
          </a:extLst>
        </p:spPr>
      </p:pic>
      <p:pic>
        <p:nvPicPr>
          <p:cNvPr id="3104" name="Picture 32" descr="culture"/>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2473325" y="5592763"/>
            <a:ext cx="979488" cy="908050"/>
          </a:xfrm>
          <a:prstGeom prst="rect">
            <a:avLst/>
          </a:prstGeom>
          <a:noFill/>
          <a:extLst>
            <a:ext uri="{909E8E84-426E-40DD-AFC4-6F175D3DCCD1}">
              <a14:hiddenFill xmlns:a14="http://schemas.microsoft.com/office/drawing/2010/main">
                <a:solidFill>
                  <a:srgbClr val="FFFFFF"/>
                </a:solidFill>
              </a14:hiddenFill>
            </a:ext>
          </a:extLst>
        </p:spPr>
      </p:pic>
      <p:pic>
        <p:nvPicPr>
          <p:cNvPr id="3105" name="Picture 33" descr="education"/>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754563" y="5567363"/>
            <a:ext cx="1038225" cy="882650"/>
          </a:xfrm>
          <a:prstGeom prst="rect">
            <a:avLst/>
          </a:prstGeom>
          <a:noFill/>
          <a:extLst>
            <a:ext uri="{909E8E84-426E-40DD-AFC4-6F175D3DCCD1}">
              <a14:hiddenFill xmlns:a14="http://schemas.microsoft.com/office/drawing/2010/main">
                <a:solidFill>
                  <a:srgbClr val="FFFFFF"/>
                </a:solidFill>
              </a14:hiddenFill>
            </a:ext>
          </a:extLst>
        </p:spPr>
      </p:pic>
      <p:pic>
        <p:nvPicPr>
          <p:cNvPr id="3106" name="Picture 34" descr="family"/>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770063" y="5568950"/>
            <a:ext cx="588962" cy="931863"/>
          </a:xfrm>
          <a:prstGeom prst="rect">
            <a:avLst/>
          </a:prstGeom>
          <a:noFill/>
          <a:extLst>
            <a:ext uri="{909E8E84-426E-40DD-AFC4-6F175D3DCCD1}">
              <a14:hiddenFill xmlns:a14="http://schemas.microsoft.com/office/drawing/2010/main">
                <a:solidFill>
                  <a:srgbClr val="FFFFFF"/>
                </a:solidFill>
              </a14:hiddenFill>
            </a:ext>
          </a:extLst>
        </p:spPr>
      </p:pic>
      <p:pic>
        <p:nvPicPr>
          <p:cNvPr id="3107" name="Picture 35" descr="moments"/>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018213" y="5554663"/>
            <a:ext cx="782637" cy="923925"/>
          </a:xfrm>
          <a:prstGeom prst="rect">
            <a:avLst/>
          </a:prstGeom>
          <a:noFill/>
          <a:extLst>
            <a:ext uri="{909E8E84-426E-40DD-AFC4-6F175D3DCCD1}">
              <a14:hiddenFill xmlns:a14="http://schemas.microsoft.com/office/drawing/2010/main">
                <a:solidFill>
                  <a:srgbClr val="FFFFFF"/>
                </a:solidFill>
              </a14:hiddenFill>
            </a:ext>
          </a:extLst>
        </p:spPr>
      </p:pic>
      <p:pic>
        <p:nvPicPr>
          <p:cNvPr id="3108" name="Picture 36" descr="motherhood"/>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7035800" y="5564188"/>
            <a:ext cx="638175" cy="890587"/>
          </a:xfrm>
          <a:prstGeom prst="rect">
            <a:avLst/>
          </a:prstGeom>
          <a:noFill/>
          <a:extLst>
            <a:ext uri="{909E8E84-426E-40DD-AFC4-6F175D3DCCD1}">
              <a14:hiddenFill xmlns:a14="http://schemas.microsoft.com/office/drawing/2010/main">
                <a:solidFill>
                  <a:srgbClr val="FFFFFF"/>
                </a:solidFill>
              </a14:hiddenFill>
            </a:ext>
          </a:extLst>
        </p:spPr>
      </p:pic>
      <p:pic>
        <p:nvPicPr>
          <p:cNvPr id="3109" name="Picture 37" descr="siblings"/>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3595688" y="5529263"/>
            <a:ext cx="957262" cy="954087"/>
          </a:xfrm>
          <a:prstGeom prst="rect">
            <a:avLst/>
          </a:prstGeom>
          <a:noFill/>
          <a:extLst>
            <a:ext uri="{909E8E84-426E-40DD-AFC4-6F175D3DCCD1}">
              <a14:hiddenFill xmlns:a14="http://schemas.microsoft.com/office/drawing/2010/main">
                <a:solidFill>
                  <a:srgbClr val="FFFFFF"/>
                </a:solidFill>
              </a14:hiddenFill>
            </a:ext>
          </a:extLst>
        </p:spPr>
      </p:pic>
      <p:pic>
        <p:nvPicPr>
          <p:cNvPr id="3110" name="Picture 38" descr="village"/>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7867650" y="5602288"/>
            <a:ext cx="850900" cy="847725"/>
          </a:xfrm>
          <a:prstGeom prst="rect">
            <a:avLst/>
          </a:prstGeom>
          <a:noFill/>
          <a:extLst>
            <a:ext uri="{909E8E84-426E-40DD-AFC4-6F175D3DCCD1}">
              <a14:hiddenFill xmlns:a14="http://schemas.microsoft.com/office/drawing/2010/main">
                <a:solidFill>
                  <a:srgbClr val="FFFFFF"/>
                </a:solidFill>
              </a14:hiddenFill>
            </a:ext>
          </a:extLst>
        </p:spPr>
      </p:pic>
      <p:pic>
        <p:nvPicPr>
          <p:cNvPr id="3112" name="Picture 40"/>
          <p:cNvPicPr>
            <a:picLocks noChangeAspect="1" noChangeArrowheads="1"/>
          </p:cNvPicPr>
          <p:nvPr/>
        </p:nvPicPr>
        <p:blipFill>
          <a:blip r:embed="rId12">
            <a:extLst>
              <a:ext uri="{28A0092B-C50C-407E-A947-70E740481C1C}">
                <a14:useLocalDpi xmlns:a14="http://schemas.microsoft.com/office/drawing/2010/main" val="0"/>
              </a:ext>
            </a:extLst>
          </a:blip>
          <a:stretch>
            <a:fillRect/>
          </a:stretch>
        </p:blipFill>
        <p:spPr bwMode="auto">
          <a:xfrm>
            <a:off x="179388" y="1222882"/>
            <a:ext cx="2157412" cy="71812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79388" y="1941513"/>
            <a:ext cx="8786553" cy="4754880"/>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706" r:id="rId2"/>
  </p:sldLayoutIdLst>
  <p:timing>
    <p:tnLst>
      <p:par>
        <p:cTn id="1" dur="indefinite" restart="never" nodeType="tmRoot"/>
      </p:par>
    </p:tnLst>
  </p:timing>
  <p:hf hdr="0" ftr="0" dt="0"/>
  <p:txStyles>
    <p:titleStyle>
      <a:lvl1pPr algn="r" defTabSz="457200" rtl="0" eaLnBrk="0" fontAlgn="base" hangingPunct="0">
        <a:spcBef>
          <a:spcPct val="0"/>
        </a:spcBef>
        <a:spcAft>
          <a:spcPct val="0"/>
        </a:spcAft>
        <a:defRPr sz="3000" kern="1200">
          <a:solidFill>
            <a:srgbClr val="EC7404"/>
          </a:solidFill>
          <a:latin typeface="Arial"/>
          <a:ea typeface="ＭＳ Ｐゴシック" pitchFamily="30" charset="-128"/>
          <a:cs typeface="ＭＳ Ｐゴシック" pitchFamily="30" charset="-128"/>
        </a:defRPr>
      </a:lvl1pPr>
      <a:lvl2pPr algn="r" defTabSz="457200" rtl="0" eaLnBrk="0" fontAlgn="base" hangingPunct="0">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2pPr>
      <a:lvl3pPr algn="r" defTabSz="457200" rtl="0" eaLnBrk="0" fontAlgn="base" hangingPunct="0">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3pPr>
      <a:lvl4pPr algn="r" defTabSz="457200" rtl="0" eaLnBrk="0" fontAlgn="base" hangingPunct="0">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4pPr>
      <a:lvl5pPr algn="r" defTabSz="457200" rtl="0" eaLnBrk="0" fontAlgn="base" hangingPunct="0">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5pPr>
      <a:lvl6pPr marL="457200" algn="r" defTabSz="457200" rtl="0" fontAlgn="base">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6pPr>
      <a:lvl7pPr marL="914400" algn="r" defTabSz="457200" rtl="0" fontAlgn="base">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7pPr>
      <a:lvl8pPr marL="1371600" algn="r" defTabSz="457200" rtl="0" fontAlgn="base">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8pPr>
      <a:lvl9pPr marL="1828800" algn="r" defTabSz="457200" rtl="0" fontAlgn="base">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30"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30"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30"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30"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085925"/>
      </p:ext>
    </p:extLst>
  </p:cSld>
  <p:clrMap bg1="lt1" tx1="dk1" bg2="lt2" tx2="dk2" accent1="accent1" accent2="accent2" accent3="accent3" accent4="accent4" accent5="accent5" accent6="accent6" hlink="hlink" folHlink="folHlink"/>
  <p:sldLayoutIdLst>
    <p:sldLayoutId id="2147483708" r:id="rId1"/>
    <p:sldLayoutId id="2147483709"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youtube.com/watch?v=F2dBugdBzM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jpg"/></Relationships>
</file>

<file path=ppt/slides/_rels/slide8.xml.rels><?xml version="1.0" encoding="UTF-8" standalone="yes"?>
<Relationships xmlns="http://schemas.openxmlformats.org/package/2006/relationships"><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 Id="rId24" Type="http://schemas.openxmlformats.org/officeDocument/2006/relationships/image" Target="../media/image37.png"/><Relationship Id="rId25" Type="http://schemas.openxmlformats.org/officeDocument/2006/relationships/image" Target="../media/image38.png"/><Relationship Id="rId26" Type="http://schemas.openxmlformats.org/officeDocument/2006/relationships/image" Target="../media/image39.png"/><Relationship Id="rId27" Type="http://schemas.openxmlformats.org/officeDocument/2006/relationships/image" Target="../media/image40.png"/><Relationship Id="rId28" Type="http://schemas.openxmlformats.org/officeDocument/2006/relationships/image" Target="../media/image41.png"/><Relationship Id="rId29" Type="http://schemas.openxmlformats.org/officeDocument/2006/relationships/image" Target="../media/image42.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30" Type="http://schemas.openxmlformats.org/officeDocument/2006/relationships/image" Target="../media/image43.png"/><Relationship Id="rId31" Type="http://schemas.openxmlformats.org/officeDocument/2006/relationships/image" Target="../media/image44.png"/><Relationship Id="rId32" Type="http://schemas.openxmlformats.org/officeDocument/2006/relationships/image" Target="../media/image45.png"/><Relationship Id="rId9"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33" Type="http://schemas.openxmlformats.org/officeDocument/2006/relationships/image" Target="../media/image46.png"/><Relationship Id="rId34" Type="http://schemas.openxmlformats.org/officeDocument/2006/relationships/image" Target="../media/image47.png"/><Relationship Id="rId35" Type="http://schemas.openxmlformats.org/officeDocument/2006/relationships/image" Target="../media/image48.png"/><Relationship Id="rId36" Type="http://schemas.openxmlformats.org/officeDocument/2006/relationships/image" Target="../media/image49.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37" Type="http://schemas.openxmlformats.org/officeDocument/2006/relationships/image" Target="../media/image50.png"/><Relationship Id="rId38" Type="http://schemas.openxmlformats.org/officeDocument/2006/relationships/image" Target="../media/image51.png"/><Relationship Id="rId39" Type="http://schemas.openxmlformats.org/officeDocument/2006/relationships/image" Target="../media/image52.png"/><Relationship Id="rId40" Type="http://schemas.openxmlformats.org/officeDocument/2006/relationships/image" Target="../media/image53.png"/><Relationship Id="rId41" Type="http://schemas.openxmlformats.org/officeDocument/2006/relationships/image" Target="../media/image54.png"/><Relationship Id="rId42" Type="http://schemas.openxmlformats.org/officeDocument/2006/relationships/image" Target="../media/image55.png"/><Relationship Id="rId43" Type="http://schemas.openxmlformats.org/officeDocument/2006/relationships/image" Target="../media/image56.png"/><Relationship Id="rId44" Type="http://schemas.openxmlformats.org/officeDocument/2006/relationships/image" Target="../media/image5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3.jpeg"/></Relationships>
</file>

<file path=ppt/slides/_rels/slide15.xml.rels><?xml version="1.0" encoding="UTF-8" standalone="yes"?>
<Relationships xmlns="http://schemas.openxmlformats.org/package/2006/relationships"><Relationship Id="rId3" Type="http://schemas.openxmlformats.org/officeDocument/2006/relationships/image" Target="../media/image64.jpg"/><Relationship Id="rId4" Type="http://schemas.openxmlformats.org/officeDocument/2006/relationships/image" Target="../media/image65.jpg"/><Relationship Id="rId5" Type="http://schemas.openxmlformats.org/officeDocument/2006/relationships/image" Target="../media/image66.jpg"/><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82.jpg"/></Relationships>
</file>

<file path=ppt/slides/_rels/slide32.xml.rels><?xml version="1.0" encoding="UTF-8" standalone="yes"?>
<Relationships xmlns="http://schemas.openxmlformats.org/package/2006/relationships"><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8.jpg"/></Relationships>
</file>

<file path=ppt/slides/_rels/slide37.xml.rels><?xml version="1.0" encoding="UTF-8" standalone="yes"?>
<Relationships xmlns="http://schemas.openxmlformats.org/package/2006/relationships"><Relationship Id="rId3" Type="http://schemas.openxmlformats.org/officeDocument/2006/relationships/image" Target="../media/image89.jpeg"/><Relationship Id="rId4" Type="http://schemas.openxmlformats.org/officeDocument/2006/relationships/image" Target="../media/image9.jpg"/><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1.jpg"/><Relationship Id="rId3" Type="http://schemas.openxmlformats.org/officeDocument/2006/relationships/image" Target="../media/image92.jpg"/></Relationships>
</file>

<file path=ppt/slides/_rels/slide42.xml.rels><?xml version="1.0" encoding="UTF-8" standalone="yes"?>
<Relationships xmlns="http://schemas.openxmlformats.org/package/2006/relationships"><Relationship Id="rId3" Type="http://schemas.openxmlformats.org/officeDocument/2006/relationships/image" Target="../media/image94.png"/><Relationship Id="rId4" Type="http://schemas.openxmlformats.org/officeDocument/2006/relationships/image" Target="../media/image95.jpg"/><Relationship Id="rId1" Type="http://schemas.openxmlformats.org/officeDocument/2006/relationships/slideLayout" Target="../slideLayouts/slideLayout4.xml"/><Relationship Id="rId2" Type="http://schemas.openxmlformats.org/officeDocument/2006/relationships/image" Target="../media/image9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21402" y="191380"/>
            <a:ext cx="5348181" cy="1118255"/>
          </a:xfrm>
          <a:prstGeom prst="rect">
            <a:avLst/>
          </a:prstGeom>
          <a:noFill/>
        </p:spPr>
        <p:txBody>
          <a:bodyPr wrap="square" rtlCol="0">
            <a:spAutoFit/>
          </a:bodyPr>
          <a:lstStyle/>
          <a:p>
            <a:pPr algn="r">
              <a:lnSpc>
                <a:spcPts val="4000"/>
              </a:lnSpc>
            </a:pPr>
            <a:r>
              <a:rPr lang="de-DE" sz="4000" smtClean="0">
                <a:solidFill>
                  <a:srgbClr val="00B1E6"/>
                </a:solidFill>
              </a:rPr>
              <a:t>A LOVING HOME FOR EVERY CHILD</a:t>
            </a:r>
            <a:endParaRPr lang="en-GB" sz="4000">
              <a:solidFill>
                <a:srgbClr val="00B1E6"/>
              </a:solidFill>
            </a:endParaRPr>
          </a:p>
        </p:txBody>
      </p:sp>
      <p:sp>
        <p:nvSpPr>
          <p:cNvPr id="2" name="TextBox 1"/>
          <p:cNvSpPr txBox="1"/>
          <p:nvPr/>
        </p:nvSpPr>
        <p:spPr>
          <a:xfrm>
            <a:off x="505326" y="2815389"/>
            <a:ext cx="2334127" cy="1754326"/>
          </a:xfrm>
          <a:prstGeom prst="rect">
            <a:avLst/>
          </a:prstGeom>
          <a:noFill/>
        </p:spPr>
        <p:txBody>
          <a:bodyPr wrap="square" rtlCol="0">
            <a:spAutoFit/>
          </a:bodyPr>
          <a:lstStyle/>
          <a:p>
            <a:r>
              <a:rPr lang="en-GB" dirty="0" err="1"/>
              <a:t>Worldskills</a:t>
            </a:r>
            <a:r>
              <a:rPr lang="en-GB" dirty="0"/>
              <a:t> </a:t>
            </a:r>
          </a:p>
          <a:p>
            <a:r>
              <a:rPr lang="en-GB" dirty="0"/>
              <a:t>Abu Dhabi </a:t>
            </a:r>
            <a:r>
              <a:rPr lang="en-GB" dirty="0" smtClean="0"/>
              <a:t>2017</a:t>
            </a:r>
          </a:p>
          <a:p>
            <a:endParaRPr lang="en-GB" dirty="0"/>
          </a:p>
          <a:p>
            <a:r>
              <a:rPr lang="en-GB" dirty="0" smtClean="0">
                <a:hlinkClick r:id="rId3"/>
              </a:rPr>
              <a:t>https://www.youtube.com/watch?v=F2dBugdBzMM</a:t>
            </a:r>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009EE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2" name="Title 1"/>
          <p:cNvSpPr>
            <a:spLocks noGrp="1"/>
          </p:cNvSpPr>
          <p:nvPr>
            <p:ph type="title" idx="4294967295"/>
          </p:nvPr>
        </p:nvSpPr>
        <p:spPr>
          <a:xfrm>
            <a:off x="0" y="3070225"/>
            <a:ext cx="9144000" cy="719138"/>
          </a:xfrm>
          <a:prstGeom prst="rect">
            <a:avLst/>
          </a:prstGeom>
        </p:spPr>
        <p:txBody>
          <a:bodyPr/>
          <a:lstStyle/>
          <a:p>
            <a:pPr algn="ctr"/>
            <a:r>
              <a:rPr lang="de-AT" sz="6400" b="1" dirty="0" smtClean="0">
                <a:solidFill>
                  <a:schemeClr val="bg1"/>
                </a:solidFill>
                <a:latin typeface="Franklin Gothic Demi Cond" pitchFamily="34" charset="0"/>
              </a:rPr>
              <a:t>WHY</a:t>
            </a:r>
            <a:r>
              <a:rPr lang="de-AT" sz="4400" dirty="0" smtClean="0">
                <a:solidFill>
                  <a:schemeClr val="bg1"/>
                </a:solidFill>
                <a:latin typeface="Franklin Gothic Demi Cond" pitchFamily="34" charset="0"/>
              </a:rPr>
              <a:t> we do what we do...</a:t>
            </a:r>
            <a:endParaRPr lang="de-AT" sz="4400" dirty="0">
              <a:solidFill>
                <a:schemeClr val="bg1"/>
              </a:solidFill>
              <a:latin typeface="Franklin Gothic Demi Cond" pitchFamily="34" charset="0"/>
            </a:endParaRPr>
          </a:p>
        </p:txBody>
      </p:sp>
    </p:spTree>
    <p:extLst>
      <p:ext uri="{BB962C8B-B14F-4D97-AF65-F5344CB8AC3E}">
        <p14:creationId xmlns:p14="http://schemas.microsoft.com/office/powerpoint/2010/main" val="3042284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0884" b="-1"/>
          <a:stretch/>
        </p:blipFill>
        <p:spPr>
          <a:xfrm>
            <a:off x="0" y="-395787"/>
            <a:ext cx="9149283" cy="5428917"/>
          </a:xfrm>
          <a:prstGeom prst="rect">
            <a:avLst/>
          </a:prstGeom>
        </p:spPr>
      </p:pic>
      <p:sp>
        <p:nvSpPr>
          <p:cNvPr id="7" name="Rectangle 9"/>
          <p:cNvSpPr/>
          <p:nvPr/>
        </p:nvSpPr>
        <p:spPr>
          <a:xfrm>
            <a:off x="0" y="4478000"/>
            <a:ext cx="9159615"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615" h="2391332">
                <a:moveTo>
                  <a:pt x="0" y="0"/>
                </a:moveTo>
                <a:lnTo>
                  <a:pt x="9159615" y="526943"/>
                </a:lnTo>
                <a:lnTo>
                  <a:pt x="9149283" y="2391332"/>
                </a:lnTo>
                <a:lnTo>
                  <a:pt x="0" y="2391332"/>
                </a:lnTo>
                <a:lnTo>
                  <a:pt x="0" y="0"/>
                </a:lnTo>
                <a:close/>
              </a:path>
            </a:pathLst>
          </a:custGeom>
          <a:solidFill>
            <a:srgbClr val="009E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3"/>
          <p:cNvSpPr txBox="1">
            <a:spLocks/>
          </p:cNvSpPr>
          <p:nvPr/>
        </p:nvSpPr>
        <p:spPr bwMode="auto">
          <a:xfrm>
            <a:off x="648000" y="5114368"/>
            <a:ext cx="8254407" cy="391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4000"/>
              </a:lnSpc>
              <a:spcBef>
                <a:spcPts val="0"/>
              </a:spcBef>
              <a:buFont typeface="Wingdings" pitchFamily="2" charset="2"/>
              <a:buNone/>
            </a:pPr>
            <a:r>
              <a:rPr lang="en-US" sz="6000" b="1" kern="500" spc="-300" dirty="0" smtClean="0">
                <a:solidFill>
                  <a:schemeClr val="bg1"/>
                </a:solidFill>
                <a:latin typeface="Franklin Gothic Demi Cond" pitchFamily="34" charset="0"/>
                <a:cs typeface="Aharoni" pitchFamily="2" charset="-79"/>
              </a:rPr>
              <a:t>1</a:t>
            </a:r>
            <a:r>
              <a:rPr lang="en-US" sz="6000" b="1" kern="500" spc="300" dirty="0" smtClean="0">
                <a:solidFill>
                  <a:schemeClr val="bg1"/>
                </a:solidFill>
                <a:latin typeface="Franklin Gothic Demi Cond" pitchFamily="34" charset="0"/>
                <a:cs typeface="Aharoni" pitchFamily="2" charset="-79"/>
              </a:rPr>
              <a:t>51</a:t>
            </a:r>
            <a:r>
              <a:rPr lang="en-US" sz="6000" b="1" kern="500" dirty="0" smtClean="0">
                <a:solidFill>
                  <a:schemeClr val="bg1"/>
                </a:solidFill>
                <a:latin typeface="Franklin Gothic Demi Cond" pitchFamily="34" charset="0"/>
                <a:cs typeface="Aharoni" pitchFamily="2" charset="-79"/>
              </a:rPr>
              <a:t> </a:t>
            </a:r>
            <a:r>
              <a:rPr lang="en-US" sz="4000" b="1" kern="500" dirty="0" smtClean="0">
                <a:solidFill>
                  <a:schemeClr val="bg1"/>
                </a:solidFill>
                <a:latin typeface="Franklin Gothic Demi Cond" pitchFamily="34" charset="0"/>
                <a:cs typeface="Aharoni" pitchFamily="2" charset="-79"/>
              </a:rPr>
              <a:t>MILLION </a:t>
            </a:r>
            <a:r>
              <a:rPr lang="en-US" sz="4000" kern="500" dirty="0" smtClean="0">
                <a:solidFill>
                  <a:schemeClr val="bg1"/>
                </a:solidFill>
                <a:latin typeface="Franklin Gothic Demi Cond" pitchFamily="34" charset="0"/>
                <a:cs typeface="Aharoni" pitchFamily="2" charset="-79"/>
              </a:rPr>
              <a:t>children worldwide</a:t>
            </a:r>
          </a:p>
          <a:p>
            <a:pPr marL="0" indent="0">
              <a:lnSpc>
                <a:spcPts val="4000"/>
              </a:lnSpc>
              <a:spcBef>
                <a:spcPts val="0"/>
              </a:spcBef>
              <a:buFont typeface="Wingdings" pitchFamily="2" charset="2"/>
              <a:buNone/>
            </a:pPr>
            <a:r>
              <a:rPr lang="en-US" sz="4000" kern="500" dirty="0" smtClean="0">
                <a:solidFill>
                  <a:schemeClr val="bg1"/>
                </a:solidFill>
                <a:latin typeface="Franklin Gothic Demi Cond" pitchFamily="34" charset="0"/>
                <a:cs typeface="Aharoni" pitchFamily="2" charset="-79"/>
              </a:rPr>
              <a:t>have lost one or both parents.</a:t>
            </a:r>
          </a:p>
          <a:p>
            <a:pPr marL="0" indent="0">
              <a:lnSpc>
                <a:spcPts val="1000"/>
              </a:lnSpc>
              <a:spcBef>
                <a:spcPts val="0"/>
              </a:spcBef>
              <a:buNone/>
            </a:pPr>
            <a:r>
              <a:rPr lang="en-GB" sz="1800" i="1" dirty="0" smtClean="0">
                <a:solidFill>
                  <a:srgbClr val="A2DAF3"/>
                </a:solidFill>
              </a:rPr>
              <a:t/>
            </a:r>
            <a:br>
              <a:rPr lang="en-GB" sz="1800" i="1" dirty="0" smtClean="0">
                <a:solidFill>
                  <a:srgbClr val="A2DAF3"/>
                </a:solidFill>
              </a:rPr>
            </a:br>
            <a:r>
              <a:rPr lang="en-GB" sz="1800" i="1" dirty="0" smtClean="0">
                <a:solidFill>
                  <a:srgbClr val="A2DAF3"/>
                </a:solidFill>
              </a:rPr>
              <a:t>UNICEF</a:t>
            </a:r>
            <a:r>
              <a:rPr lang="en-GB" sz="1800" i="1" dirty="0">
                <a:solidFill>
                  <a:srgbClr val="A2DAF3"/>
                </a:solidFill>
              </a:rPr>
              <a:t> </a:t>
            </a:r>
            <a:r>
              <a:rPr lang="en-GB" sz="1800" i="1" dirty="0" smtClean="0">
                <a:solidFill>
                  <a:srgbClr val="A2DAF3"/>
                </a:solidFill>
              </a:rPr>
              <a:t>2011</a:t>
            </a:r>
            <a:endParaRPr lang="en-US" sz="1800" i="1" kern="500" dirty="0" smtClean="0">
              <a:solidFill>
                <a:srgbClr val="A2DAF3"/>
              </a:solidFill>
              <a:latin typeface="Franklin Gothic Demi Cond" pitchFamily="34" charset="0"/>
              <a:cs typeface="Aharoni" pitchFamily="2" charset="-79"/>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16761"/>
          <a:stretch/>
        </p:blipFill>
        <p:spPr>
          <a:xfrm>
            <a:off x="2325" y="0"/>
            <a:ext cx="9151200" cy="5713020"/>
          </a:xfrm>
          <a:prstGeom prst="rect">
            <a:avLst/>
          </a:prstGeom>
        </p:spPr>
      </p:pic>
      <p:sp>
        <p:nvSpPr>
          <p:cNvPr id="5" name="Rectangle 9"/>
          <p:cNvSpPr/>
          <p:nvPr/>
        </p:nvSpPr>
        <p:spPr>
          <a:xfrm>
            <a:off x="0" y="4478000"/>
            <a:ext cx="9159615"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615" h="2391332">
                <a:moveTo>
                  <a:pt x="0" y="0"/>
                </a:moveTo>
                <a:lnTo>
                  <a:pt x="9159615" y="526943"/>
                </a:lnTo>
                <a:lnTo>
                  <a:pt x="9149283" y="2391332"/>
                </a:lnTo>
                <a:lnTo>
                  <a:pt x="0" y="2391332"/>
                </a:lnTo>
                <a:lnTo>
                  <a:pt x="0" y="0"/>
                </a:lnTo>
                <a:close/>
              </a:path>
            </a:pathLst>
          </a:custGeom>
          <a:solidFill>
            <a:srgbClr val="009E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3"/>
          <p:cNvSpPr txBox="1">
            <a:spLocks/>
          </p:cNvSpPr>
          <p:nvPr/>
        </p:nvSpPr>
        <p:spPr bwMode="auto">
          <a:xfrm>
            <a:off x="648000" y="5114369"/>
            <a:ext cx="8254407" cy="1518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4000"/>
              </a:lnSpc>
              <a:spcBef>
                <a:spcPts val="0"/>
              </a:spcBef>
              <a:buNone/>
            </a:pPr>
            <a:r>
              <a:rPr lang="en-US" sz="4000" kern="500">
                <a:solidFill>
                  <a:schemeClr val="bg1"/>
                </a:solidFill>
                <a:latin typeface="Franklin Gothic Demi Cond" pitchFamily="34" charset="0"/>
                <a:cs typeface="Aharoni" pitchFamily="2" charset="-79"/>
              </a:rPr>
              <a:t>Over 1 </a:t>
            </a:r>
            <a:r>
              <a:rPr lang="en-US" sz="4000" kern="500" smtClean="0">
                <a:solidFill>
                  <a:schemeClr val="bg1"/>
                </a:solidFill>
                <a:latin typeface="Franklin Gothic Demi Cond" pitchFamily="34" charset="0"/>
                <a:cs typeface="Aharoni" pitchFamily="2" charset="-79"/>
              </a:rPr>
              <a:t>BILLION CHILDREN </a:t>
            </a:r>
            <a:r>
              <a:rPr lang="en-US" sz="4000" kern="500">
                <a:solidFill>
                  <a:schemeClr val="bg1"/>
                </a:solidFill>
                <a:latin typeface="Franklin Gothic Demi Cond" pitchFamily="34" charset="0"/>
                <a:cs typeface="Aharoni" pitchFamily="2" charset="-79"/>
              </a:rPr>
              <a:t>live </a:t>
            </a:r>
            <a:r>
              <a:rPr lang="en-US" sz="4000" kern="500" smtClean="0">
                <a:solidFill>
                  <a:schemeClr val="bg1"/>
                </a:solidFill>
                <a:latin typeface="Franklin Gothic Demi Cond" pitchFamily="34" charset="0"/>
                <a:cs typeface="Aharoni" pitchFamily="2" charset="-79"/>
              </a:rPr>
              <a:t>in </a:t>
            </a:r>
            <a:r>
              <a:rPr lang="en-US" sz="4000" kern="500">
                <a:solidFill>
                  <a:schemeClr val="bg1"/>
                </a:solidFill>
                <a:latin typeface="Franklin Gothic Demi Cond" pitchFamily="34" charset="0"/>
                <a:cs typeface="Aharoni" pitchFamily="2" charset="-79"/>
              </a:rPr>
              <a:t>countries </a:t>
            </a:r>
            <a:r>
              <a:rPr lang="en-US" sz="4000" kern="500" smtClean="0">
                <a:solidFill>
                  <a:schemeClr val="bg1"/>
                </a:solidFill>
                <a:latin typeface="Franklin Gothic Demi Cond" pitchFamily="34" charset="0"/>
                <a:cs typeface="Aharoni" pitchFamily="2" charset="-79"/>
              </a:rPr>
              <a:t>affected </a:t>
            </a:r>
            <a:r>
              <a:rPr lang="en-US" sz="4000" kern="500">
                <a:solidFill>
                  <a:schemeClr val="bg1"/>
                </a:solidFill>
                <a:latin typeface="Franklin Gothic Demi Cond" pitchFamily="34" charset="0"/>
                <a:cs typeface="Aharoni" pitchFamily="2" charset="-79"/>
              </a:rPr>
              <a:t>by </a:t>
            </a:r>
            <a:r>
              <a:rPr lang="en-US" sz="4000" kern="500" smtClean="0">
                <a:solidFill>
                  <a:schemeClr val="bg1"/>
                </a:solidFill>
                <a:latin typeface="Franklin Gothic Demi Cond" pitchFamily="34" charset="0"/>
                <a:cs typeface="Aharoni" pitchFamily="2" charset="-79"/>
              </a:rPr>
              <a:t>armed conflict</a:t>
            </a:r>
            <a:r>
              <a:rPr lang="en-US" sz="4000" kern="500">
                <a:solidFill>
                  <a:schemeClr val="bg1"/>
                </a:solidFill>
                <a:latin typeface="Franklin Gothic Demi Cond" pitchFamily="34" charset="0"/>
                <a:cs typeface="Aharoni" pitchFamily="2" charset="-79"/>
              </a:rPr>
              <a:t>.</a:t>
            </a:r>
          </a:p>
          <a:p>
            <a:pPr marL="0" indent="0">
              <a:lnSpc>
                <a:spcPts val="1000"/>
              </a:lnSpc>
              <a:spcBef>
                <a:spcPts val="0"/>
              </a:spcBef>
              <a:buNone/>
            </a:pPr>
            <a:r>
              <a:rPr lang="en-GB" sz="1800" i="1" smtClean="0">
                <a:solidFill>
                  <a:srgbClr val="A2DAF3"/>
                </a:solidFill>
              </a:rPr>
              <a:t/>
            </a:r>
            <a:br>
              <a:rPr lang="en-GB" sz="1800" i="1" smtClean="0">
                <a:solidFill>
                  <a:srgbClr val="A2DAF3"/>
                </a:solidFill>
              </a:rPr>
            </a:br>
            <a:r>
              <a:rPr lang="en-GB" sz="1800" i="1" smtClean="0">
                <a:solidFill>
                  <a:srgbClr val="A2DAF3"/>
                </a:solidFill>
              </a:rPr>
              <a:t>UNICEF</a:t>
            </a:r>
            <a:r>
              <a:rPr lang="en-GB" sz="1800" i="1">
                <a:solidFill>
                  <a:srgbClr val="A2DAF3"/>
                </a:solidFill>
              </a:rPr>
              <a:t> </a:t>
            </a:r>
            <a:r>
              <a:rPr lang="en-GB" sz="1800" i="1" smtClean="0">
                <a:solidFill>
                  <a:srgbClr val="A2DAF3"/>
                </a:solidFill>
              </a:rPr>
              <a:t>2009</a:t>
            </a:r>
            <a:endParaRPr lang="en-US" sz="1800" i="1" kern="500" dirty="0" smtClean="0">
              <a:solidFill>
                <a:srgbClr val="A2DAF3"/>
              </a:solidFill>
              <a:latin typeface="Franklin Gothic Demi Cond" pitchFamily="34" charset="0"/>
              <a:cs typeface="Aharoni" pitchFamily="2" charset="-79"/>
            </a:endParaRPr>
          </a:p>
        </p:txBody>
      </p:sp>
    </p:spTree>
    <p:extLst>
      <p:ext uri="{BB962C8B-B14F-4D97-AF65-F5344CB8AC3E}">
        <p14:creationId xmlns:p14="http://schemas.microsoft.com/office/powerpoint/2010/main" val="1381291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46176"/>
            <a:ext cx="9144000" cy="6623359"/>
          </a:xfrm>
          <a:prstGeom prst="rect">
            <a:avLst/>
          </a:prstGeom>
        </p:spPr>
      </p:pic>
      <p:sp>
        <p:nvSpPr>
          <p:cNvPr id="6" name="Rectangle 9"/>
          <p:cNvSpPr/>
          <p:nvPr/>
        </p:nvSpPr>
        <p:spPr>
          <a:xfrm>
            <a:off x="0" y="4478000"/>
            <a:ext cx="9159615"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615" h="2391332">
                <a:moveTo>
                  <a:pt x="0" y="0"/>
                </a:moveTo>
                <a:lnTo>
                  <a:pt x="9159615" y="526943"/>
                </a:lnTo>
                <a:lnTo>
                  <a:pt x="9149283" y="2391332"/>
                </a:lnTo>
                <a:lnTo>
                  <a:pt x="0" y="2391332"/>
                </a:lnTo>
                <a:lnTo>
                  <a:pt x="0" y="0"/>
                </a:lnTo>
                <a:close/>
              </a:path>
            </a:pathLst>
          </a:custGeom>
          <a:solidFill>
            <a:srgbClr val="009E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3"/>
          <p:cNvSpPr txBox="1">
            <a:spLocks/>
          </p:cNvSpPr>
          <p:nvPr/>
        </p:nvSpPr>
        <p:spPr bwMode="auto">
          <a:xfrm>
            <a:off x="648000" y="5115600"/>
            <a:ext cx="8209397" cy="269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4000"/>
              </a:lnSpc>
              <a:spcBef>
                <a:spcPts val="0"/>
              </a:spcBef>
              <a:buFont typeface="Wingdings" pitchFamily="2" charset="2"/>
              <a:buNone/>
            </a:pPr>
            <a:r>
              <a:rPr lang="en-US" sz="6000" b="1" dirty="0">
                <a:solidFill>
                  <a:schemeClr val="bg1"/>
                </a:solidFill>
                <a:latin typeface="Franklin Gothic Demi Cond" pitchFamily="34" charset="0"/>
                <a:cs typeface="Aharoni" pitchFamily="2" charset="-79"/>
              </a:rPr>
              <a:t>5</a:t>
            </a:r>
            <a:r>
              <a:rPr lang="en-US" sz="6000" b="1" dirty="0" smtClean="0">
                <a:solidFill>
                  <a:schemeClr val="bg1"/>
                </a:solidFill>
                <a:latin typeface="Franklin Gothic Demi Cond" pitchFamily="34" charset="0"/>
                <a:cs typeface="Aharoni" pitchFamily="2" charset="-79"/>
              </a:rPr>
              <a:t>7 </a:t>
            </a:r>
            <a:r>
              <a:rPr lang="en-US" sz="4000" b="1" dirty="0" smtClean="0">
                <a:solidFill>
                  <a:schemeClr val="bg1"/>
                </a:solidFill>
                <a:latin typeface="Franklin Gothic Demi Cond" pitchFamily="34" charset="0"/>
                <a:cs typeface="Aharoni" pitchFamily="2" charset="-79"/>
              </a:rPr>
              <a:t>MILLION CHILDREN </a:t>
            </a:r>
            <a:r>
              <a:rPr lang="en-US" sz="4000" dirty="0" smtClean="0">
                <a:solidFill>
                  <a:schemeClr val="bg1"/>
                </a:solidFill>
                <a:latin typeface="Franklin Gothic Demi Cond" pitchFamily="34" charset="0"/>
                <a:cs typeface="Aharoni" pitchFamily="2" charset="-79"/>
              </a:rPr>
              <a:t>of primary school age do </a:t>
            </a:r>
            <a:r>
              <a:rPr lang="en-US" sz="4000" b="1" dirty="0" smtClean="0">
                <a:solidFill>
                  <a:schemeClr val="bg1"/>
                </a:solidFill>
                <a:latin typeface="Franklin Gothic Demi Cond" pitchFamily="34" charset="0"/>
                <a:cs typeface="Aharoni" pitchFamily="2" charset="-79"/>
              </a:rPr>
              <a:t>NOT</a:t>
            </a:r>
            <a:r>
              <a:rPr lang="en-US" sz="4000" dirty="0" smtClean="0">
                <a:solidFill>
                  <a:schemeClr val="bg1"/>
                </a:solidFill>
                <a:latin typeface="Franklin Gothic Demi Cond" pitchFamily="34" charset="0"/>
                <a:cs typeface="Aharoni" pitchFamily="2" charset="-79"/>
              </a:rPr>
              <a:t> go to school.</a:t>
            </a:r>
          </a:p>
          <a:p>
            <a:pPr marL="0" lvl="0" indent="0" eaLnBrk="1" hangingPunct="1">
              <a:lnSpc>
                <a:spcPts val="1000"/>
              </a:lnSpc>
              <a:spcBef>
                <a:spcPts val="0"/>
              </a:spcBef>
              <a:buClrTx/>
              <a:buNone/>
            </a:pPr>
            <a:r>
              <a:rPr lang="en-GB" sz="1800" i="1" dirty="0">
                <a:solidFill>
                  <a:srgbClr val="A2DAF3"/>
                </a:solidFill>
                <a:latin typeface="Arial" charset="0"/>
                <a:ea typeface="ＭＳ Ｐゴシック" pitchFamily="-107" charset="-128"/>
                <a:cs typeface="+mn-cs"/>
              </a:rPr>
              <a:t/>
            </a:r>
            <a:br>
              <a:rPr lang="en-GB" sz="1800" i="1" dirty="0">
                <a:solidFill>
                  <a:srgbClr val="A2DAF3"/>
                </a:solidFill>
                <a:latin typeface="Arial" charset="0"/>
                <a:ea typeface="ＭＳ Ｐゴシック" pitchFamily="-107" charset="-128"/>
                <a:cs typeface="+mn-cs"/>
              </a:rPr>
            </a:br>
            <a:r>
              <a:rPr lang="en-GB" sz="1800" dirty="0" smtClean="0">
                <a:solidFill>
                  <a:srgbClr val="A2DAF3"/>
                </a:solidFill>
                <a:latin typeface="Arial" charset="0"/>
                <a:ea typeface="ＭＳ Ｐゴシック" pitchFamily="-107" charset="-128"/>
                <a:cs typeface="+mn-cs"/>
              </a:rPr>
              <a:t>UNESCO </a:t>
            </a:r>
            <a:r>
              <a:rPr lang="en-GB" sz="1800" dirty="0">
                <a:solidFill>
                  <a:srgbClr val="A2DAF3"/>
                </a:solidFill>
                <a:latin typeface="Arial" charset="0"/>
                <a:ea typeface="ＭＳ Ｐゴシック" pitchFamily="-107" charset="-128"/>
                <a:cs typeface="+mn-cs"/>
              </a:rPr>
              <a:t>2011</a:t>
            </a:r>
            <a:endParaRPr lang="en-US" sz="1800" kern="500" dirty="0">
              <a:solidFill>
                <a:srgbClr val="A2DAF3"/>
              </a:solidFill>
              <a:latin typeface="Franklin Gothic Demi Cond" pitchFamily="34" charset="0"/>
              <a:ea typeface="ＭＳ Ｐゴシック" pitchFamily="-107" charset="-128"/>
              <a:cs typeface="Aharoni" pitchFamily="2" charset="-79"/>
            </a:endParaRPr>
          </a:p>
          <a:p>
            <a:pPr marL="0" indent="0">
              <a:lnSpc>
                <a:spcPts val="4000"/>
              </a:lnSpc>
              <a:spcBef>
                <a:spcPts val="0"/>
              </a:spcBef>
              <a:buFont typeface="Wingdings" pitchFamily="2" charset="2"/>
              <a:buNone/>
            </a:pPr>
            <a:r>
              <a:rPr lang="en-GB" sz="4000" dirty="0" smtClean="0"/>
              <a:t> </a:t>
            </a:r>
            <a:endParaRPr lang="en-US" sz="1600" dirty="0" smtClean="0">
              <a:solidFill>
                <a:srgbClr val="A2DAF3"/>
              </a:solidFill>
              <a:latin typeface="Franklin Gothic Demi Cond" pitchFamily="34" charset="0"/>
              <a:cs typeface="Aharoni" pitchFamily="2" charset="-79"/>
            </a:endParaRPr>
          </a:p>
        </p:txBody>
      </p:sp>
    </p:spTree>
    <p:extLst>
      <p:ext uri="{BB962C8B-B14F-4D97-AF65-F5344CB8AC3E}">
        <p14:creationId xmlns:p14="http://schemas.microsoft.com/office/powerpoint/2010/main" val="1509305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788300"/>
            <a:ext cx="9143999" cy="6621538"/>
          </a:xfrm>
          <a:prstGeom prst="rect">
            <a:avLst/>
          </a:prstGeom>
        </p:spPr>
      </p:pic>
      <p:sp>
        <p:nvSpPr>
          <p:cNvPr id="5" name="Rectangle 9"/>
          <p:cNvSpPr/>
          <p:nvPr/>
        </p:nvSpPr>
        <p:spPr>
          <a:xfrm>
            <a:off x="0" y="4478000"/>
            <a:ext cx="9159615"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615" h="2391332">
                <a:moveTo>
                  <a:pt x="0" y="0"/>
                </a:moveTo>
                <a:lnTo>
                  <a:pt x="9159615" y="526943"/>
                </a:lnTo>
                <a:lnTo>
                  <a:pt x="9149283" y="2391332"/>
                </a:lnTo>
                <a:lnTo>
                  <a:pt x="0" y="2391332"/>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3"/>
          <p:cNvSpPr txBox="1">
            <a:spLocks/>
          </p:cNvSpPr>
          <p:nvPr/>
        </p:nvSpPr>
        <p:spPr bwMode="auto">
          <a:xfrm>
            <a:off x="651401" y="5191107"/>
            <a:ext cx="9143999" cy="162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000"/>
              </a:lnSpc>
              <a:buNone/>
            </a:pPr>
            <a:r>
              <a:rPr lang="en-US" sz="3400" smtClean="0">
                <a:solidFill>
                  <a:srgbClr val="009EE0"/>
                </a:solidFill>
                <a:latin typeface="Franklin Gothic Demi Cond" pitchFamily="34" charset="0"/>
                <a:cs typeface="Arial" pitchFamily="34" charset="0"/>
                <a:sym typeface="Wingdings" pitchFamily="2" charset="2"/>
              </a:rPr>
              <a:t>”</a:t>
            </a:r>
            <a:r>
              <a:rPr lang="en-US" sz="3400" spc="10" smtClean="0">
                <a:solidFill>
                  <a:srgbClr val="009EE0"/>
                </a:solidFill>
                <a:latin typeface="Franklin Gothic Demi Cond" pitchFamily="34" charset="0"/>
              </a:rPr>
              <a:t>All the children of the world are our children.”</a:t>
            </a:r>
          </a:p>
          <a:p>
            <a:pPr marL="0" indent="0">
              <a:lnSpc>
                <a:spcPts val="3000"/>
              </a:lnSpc>
              <a:buNone/>
            </a:pPr>
            <a:r>
              <a:rPr lang="en-US" sz="2400" spc="10" smtClean="0">
                <a:solidFill>
                  <a:srgbClr val="009EE0"/>
                </a:solidFill>
                <a:latin typeface="Franklin Gothic Demi Cond" pitchFamily="34" charset="0"/>
              </a:rPr>
              <a:t>(Hermann Gmeiner, founder of SOS Children’s Villages)</a:t>
            </a:r>
            <a:endParaRPr lang="en-US" sz="2400" spc="10" dirty="0" smtClean="0">
              <a:solidFill>
                <a:srgbClr val="009EE0"/>
              </a:solidFill>
              <a:latin typeface="Franklin Gothic Demi Cond" pitchFamily="34" charset="0"/>
            </a:endParaRPr>
          </a:p>
        </p:txBody>
      </p:sp>
    </p:spTree>
    <p:extLst>
      <p:ext uri="{BB962C8B-B14F-4D97-AF65-F5344CB8AC3E}">
        <p14:creationId xmlns:p14="http://schemas.microsoft.com/office/powerpoint/2010/main" val="3685636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20688"/>
            <a:ext cx="9144000" cy="6858000"/>
          </a:xfrm>
          <a:prstGeom prst="rect">
            <a:avLst/>
          </a:prstGeom>
        </p:spPr>
      </p:pic>
      <p:sp>
        <p:nvSpPr>
          <p:cNvPr id="5" name="Rectangle 9"/>
          <p:cNvSpPr/>
          <p:nvPr/>
        </p:nvSpPr>
        <p:spPr>
          <a:xfrm>
            <a:off x="0" y="4478000"/>
            <a:ext cx="9159615"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615" h="2391332">
                <a:moveTo>
                  <a:pt x="0" y="0"/>
                </a:moveTo>
                <a:lnTo>
                  <a:pt x="9159615" y="526943"/>
                </a:lnTo>
                <a:lnTo>
                  <a:pt x="9149283" y="2391332"/>
                </a:lnTo>
                <a:lnTo>
                  <a:pt x="0" y="2391332"/>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059" name="Rectangle 3"/>
          <p:cNvSpPr>
            <a:spLocks noGrp="1"/>
          </p:cNvSpPr>
          <p:nvPr>
            <p:ph idx="1"/>
          </p:nvPr>
        </p:nvSpPr>
        <p:spPr>
          <a:xfrm>
            <a:off x="651401" y="5080745"/>
            <a:ext cx="9143999" cy="1624186"/>
          </a:xfrm>
        </p:spPr>
        <p:txBody>
          <a:bodyPr/>
          <a:lstStyle/>
          <a:p>
            <a:pPr marL="0" indent="0">
              <a:lnSpc>
                <a:spcPts val="3000"/>
              </a:lnSpc>
              <a:buNone/>
            </a:pPr>
            <a:r>
              <a:rPr lang="en-US" sz="3000" spc="10" dirty="0" smtClean="0">
                <a:solidFill>
                  <a:srgbClr val="009EE0"/>
                </a:solidFill>
                <a:latin typeface="Franklin Gothic Demi Cond" pitchFamily="34" charset="0"/>
              </a:rPr>
              <a:t>We believe </a:t>
            </a:r>
            <a:r>
              <a:rPr lang="en-US" sz="3000" spc="10" smtClean="0">
                <a:solidFill>
                  <a:srgbClr val="009EE0"/>
                </a:solidFill>
                <a:latin typeface="Franklin Gothic Demi Cond" pitchFamily="34" charset="0"/>
              </a:rPr>
              <a:t>that </a:t>
            </a:r>
            <a:r>
              <a:rPr lang="en-US" sz="4000" spc="10" smtClean="0">
                <a:solidFill>
                  <a:srgbClr val="009EE0"/>
                </a:solidFill>
                <a:latin typeface="Franklin Gothic Demi Cond" pitchFamily="34" charset="0"/>
              </a:rPr>
              <a:t>every child </a:t>
            </a:r>
          </a:p>
          <a:p>
            <a:pPr marL="0" indent="0">
              <a:lnSpc>
                <a:spcPts val="3000"/>
              </a:lnSpc>
              <a:buNone/>
            </a:pPr>
            <a:r>
              <a:rPr lang="en-US" sz="4000" spc="10" smtClean="0">
                <a:solidFill>
                  <a:srgbClr val="009EE0"/>
                </a:solidFill>
                <a:latin typeface="Franklin Gothic Demi Cond" pitchFamily="34" charset="0"/>
              </a:rPr>
              <a:t>needs </a:t>
            </a:r>
            <a:r>
              <a:rPr lang="en-US" sz="4000" spc="10" dirty="0" smtClean="0">
                <a:solidFill>
                  <a:srgbClr val="009EE0"/>
                </a:solidFill>
                <a:latin typeface="Franklin Gothic Demi Cond" pitchFamily="34" charset="0"/>
              </a:rPr>
              <a:t>a </a:t>
            </a:r>
            <a:r>
              <a:rPr lang="en-US" sz="4000" spc="10" smtClean="0">
                <a:solidFill>
                  <a:srgbClr val="009EE0"/>
                </a:solidFill>
                <a:latin typeface="Franklin Gothic Demi Cond" pitchFamily="34" charset="0"/>
              </a:rPr>
              <a:t>loving home </a:t>
            </a:r>
            <a:r>
              <a:rPr lang="en-US" sz="3000" spc="10" dirty="0" smtClean="0">
                <a:solidFill>
                  <a:srgbClr val="009EE0"/>
                </a:solidFill>
                <a:latin typeface="Franklin Gothic Demi Cond" pitchFamily="34" charset="0"/>
              </a:rPr>
              <a:t>to </a:t>
            </a:r>
            <a:r>
              <a:rPr lang="en-US" sz="3000" spc="10" smtClean="0">
                <a:solidFill>
                  <a:srgbClr val="009EE0"/>
                </a:solidFill>
                <a:latin typeface="Franklin Gothic Demi Cond" pitchFamily="34" charset="0"/>
              </a:rPr>
              <a:t>flourish in and we</a:t>
            </a:r>
          </a:p>
          <a:p>
            <a:pPr marL="0" indent="0">
              <a:lnSpc>
                <a:spcPts val="3000"/>
              </a:lnSpc>
              <a:buNone/>
            </a:pPr>
            <a:r>
              <a:rPr lang="en-US" sz="3000" spc="10" smtClean="0">
                <a:solidFill>
                  <a:srgbClr val="009EE0"/>
                </a:solidFill>
                <a:latin typeface="Franklin Gothic Demi Cond" pitchFamily="34" charset="0"/>
              </a:rPr>
              <a:t>help families around the world make it happen.</a:t>
            </a:r>
            <a:endParaRPr lang="en-US" sz="3000" spc="10" dirty="0" smtClean="0">
              <a:solidFill>
                <a:srgbClr val="009EE0"/>
              </a:solidFill>
              <a:latin typeface="Franklin Gothic Demi Cond" pitchFamily="34" charset="0"/>
            </a:endParaRPr>
          </a:p>
        </p:txBody>
      </p:sp>
    </p:spTree>
    <p:extLst>
      <p:ext uri="{BB962C8B-B14F-4D97-AF65-F5344CB8AC3E}">
        <p14:creationId xmlns:p14="http://schemas.microsoft.com/office/powerpoint/2010/main" val="4151226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EC7404"/>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533650"/>
            <a:ext cx="9144000" cy="719138"/>
          </a:xfrm>
          <a:prstGeom prst="rect">
            <a:avLst/>
          </a:prstGeom>
        </p:spPr>
        <p:txBody>
          <a:bodyPr/>
          <a:lstStyle/>
          <a:p>
            <a:pPr algn="ctr">
              <a:lnSpc>
                <a:spcPct val="100000"/>
              </a:lnSpc>
            </a:pPr>
            <a:r>
              <a:rPr lang="de-AT" sz="5600" spc="20" dirty="0" smtClean="0">
                <a:solidFill>
                  <a:schemeClr val="bg1"/>
                </a:solidFill>
                <a:latin typeface="Franklin Gothic Demi Cond" pitchFamily="34" charset="0"/>
              </a:rPr>
              <a:t>Every child </a:t>
            </a:r>
            <a:r>
              <a:rPr lang="de-AT" sz="5600" spc="20" dirty="0" err="1" smtClean="0">
                <a:solidFill>
                  <a:schemeClr val="bg1"/>
                </a:solidFill>
                <a:latin typeface="Franklin Gothic Demi Cond" pitchFamily="34" charset="0"/>
              </a:rPr>
              <a:t>is</a:t>
            </a:r>
            <a:r>
              <a:rPr lang="de-AT" sz="5600" spc="20" dirty="0" smtClean="0">
                <a:solidFill>
                  <a:schemeClr val="bg1"/>
                </a:solidFill>
                <a:latin typeface="Franklin Gothic Demi Cond" pitchFamily="34" charset="0"/>
              </a:rPr>
              <a:t> </a:t>
            </a:r>
            <a:r>
              <a:rPr lang="de-AT" sz="5600" spc="20" dirty="0" err="1" smtClean="0">
                <a:solidFill>
                  <a:schemeClr val="bg1"/>
                </a:solidFill>
                <a:latin typeface="Franklin Gothic Demi Cond" pitchFamily="34" charset="0"/>
              </a:rPr>
              <a:t>unique</a:t>
            </a:r>
            <a:r>
              <a:rPr lang="de-AT" sz="5600" b="1" spc="20" dirty="0" smtClean="0">
                <a:solidFill>
                  <a:schemeClr val="bg1"/>
                </a:solidFill>
                <a:latin typeface="Franklin Gothic Demi Cond" pitchFamily="34" charset="0"/>
              </a:rPr>
              <a:t>,</a:t>
            </a:r>
            <a:r>
              <a:rPr lang="de-AT" sz="6000" spc="20" dirty="0" smtClean="0">
                <a:solidFill>
                  <a:schemeClr val="bg1"/>
                </a:solidFill>
                <a:latin typeface="Franklin Gothic Demi Cond" pitchFamily="34" charset="0"/>
              </a:rPr>
              <a:t> </a:t>
            </a:r>
            <a:br>
              <a:rPr lang="de-AT" sz="6000" spc="20" dirty="0" smtClean="0">
                <a:solidFill>
                  <a:schemeClr val="bg1"/>
                </a:solidFill>
                <a:latin typeface="Franklin Gothic Demi Cond" pitchFamily="34" charset="0"/>
              </a:rPr>
            </a:br>
            <a:r>
              <a:rPr lang="de-AT" sz="4500" spc="20" dirty="0" err="1" smtClean="0">
                <a:solidFill>
                  <a:schemeClr val="bg1"/>
                </a:solidFill>
                <a:latin typeface="Franklin Gothic Demi Cond" pitchFamily="34" charset="0"/>
              </a:rPr>
              <a:t>and</a:t>
            </a:r>
            <a:r>
              <a:rPr lang="de-AT" sz="4500" spc="20" dirty="0" smtClean="0">
                <a:solidFill>
                  <a:schemeClr val="bg1"/>
                </a:solidFill>
                <a:latin typeface="Franklin Gothic Demi Cond" pitchFamily="34" charset="0"/>
              </a:rPr>
              <a:t> so </a:t>
            </a:r>
            <a:r>
              <a:rPr lang="de-AT" sz="4500" spc="20" dirty="0" err="1" smtClean="0">
                <a:solidFill>
                  <a:schemeClr val="bg1"/>
                </a:solidFill>
                <a:latin typeface="Franklin Gothic Demi Cond" pitchFamily="34" charset="0"/>
              </a:rPr>
              <a:t>is</a:t>
            </a:r>
            <a:r>
              <a:rPr lang="de-AT" sz="4500" spc="20" dirty="0" smtClean="0">
                <a:solidFill>
                  <a:schemeClr val="bg1"/>
                </a:solidFill>
                <a:latin typeface="Franklin Gothic Demi Cond" pitchFamily="34" charset="0"/>
              </a:rPr>
              <a:t> </a:t>
            </a:r>
            <a:r>
              <a:rPr lang="de-AT" sz="4500" spc="20" dirty="0" err="1" smtClean="0">
                <a:solidFill>
                  <a:schemeClr val="bg1"/>
                </a:solidFill>
                <a:latin typeface="Franklin Gothic Demi Cond" pitchFamily="34" charset="0"/>
              </a:rPr>
              <a:t>the</a:t>
            </a:r>
            <a:r>
              <a:rPr lang="de-AT" sz="4500" spc="20" dirty="0" smtClean="0">
                <a:solidFill>
                  <a:schemeClr val="bg1"/>
                </a:solidFill>
                <a:latin typeface="Franklin Gothic Demi Cond" pitchFamily="34" charset="0"/>
              </a:rPr>
              <a:t> </a:t>
            </a:r>
            <a:r>
              <a:rPr lang="de-AT" sz="4500" spc="20" dirty="0" err="1" smtClean="0">
                <a:solidFill>
                  <a:schemeClr val="bg1"/>
                </a:solidFill>
                <a:latin typeface="Franklin Gothic Demi Cond" pitchFamily="34" charset="0"/>
              </a:rPr>
              <a:t>way</a:t>
            </a:r>
            <a:r>
              <a:rPr lang="de-AT" sz="4500" spc="20" dirty="0" smtClean="0">
                <a:solidFill>
                  <a:schemeClr val="bg1"/>
                </a:solidFill>
                <a:latin typeface="Franklin Gothic Demi Cond" pitchFamily="34" charset="0"/>
              </a:rPr>
              <a:t> </a:t>
            </a:r>
            <a:r>
              <a:rPr lang="de-AT" sz="4500" spc="20" dirty="0" err="1" smtClean="0">
                <a:solidFill>
                  <a:schemeClr val="bg1"/>
                </a:solidFill>
                <a:latin typeface="Franklin Gothic Demi Cond" pitchFamily="34" charset="0"/>
              </a:rPr>
              <a:t>we</a:t>
            </a:r>
            <a:r>
              <a:rPr lang="de-AT" sz="4500" spc="20" dirty="0" smtClean="0">
                <a:solidFill>
                  <a:schemeClr val="bg1"/>
                </a:solidFill>
                <a:latin typeface="Franklin Gothic Demi Cond" pitchFamily="34" charset="0"/>
              </a:rPr>
              <a:t> </a:t>
            </a:r>
            <a:r>
              <a:rPr lang="de-AT" sz="4500" spc="20" dirty="0" err="1" smtClean="0">
                <a:solidFill>
                  <a:schemeClr val="bg1"/>
                </a:solidFill>
                <a:latin typeface="Franklin Gothic Demi Cond" pitchFamily="34" charset="0"/>
              </a:rPr>
              <a:t>work</a:t>
            </a:r>
            <a:r>
              <a:rPr lang="de-AT" sz="4500" spc="20" dirty="0" smtClean="0">
                <a:solidFill>
                  <a:schemeClr val="bg1"/>
                </a:solidFill>
                <a:latin typeface="Franklin Gothic Demi Cond" pitchFamily="34" charset="0"/>
              </a:rPr>
              <a:t>...</a:t>
            </a:r>
            <a:endParaRPr lang="de-AT" sz="4500" spc="20" dirty="0">
              <a:solidFill>
                <a:schemeClr val="bg1"/>
              </a:solidFill>
              <a:latin typeface="Franklin Gothic Demi Cond"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3137" y="5853265"/>
            <a:ext cx="737940" cy="43750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8781" y="33153"/>
            <a:ext cx="1424818" cy="476639"/>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84676" y="114149"/>
            <a:ext cx="685096" cy="395643"/>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337535">
            <a:off x="115495" y="4601101"/>
            <a:ext cx="1353472" cy="573872"/>
          </a:xfrm>
          <a:prstGeom prst="rect">
            <a:avLst/>
          </a:prstGeom>
        </p:spPr>
      </p:pic>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16929" y="565432"/>
            <a:ext cx="861992" cy="417204"/>
          </a:xfrm>
          <a:prstGeom prst="rect">
            <a:avLst/>
          </a:prstGeom>
        </p:spPr>
      </p:pic>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0997155">
            <a:off x="176831" y="5584631"/>
            <a:ext cx="1089405" cy="498886"/>
          </a:xfrm>
          <a:prstGeom prst="rect">
            <a:avLst/>
          </a:prstGeom>
        </p:spPr>
      </p:pic>
      <p:pic>
        <p:nvPicPr>
          <p:cNvPr id="12" name="Picture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451110">
            <a:off x="7807148" y="33424"/>
            <a:ext cx="1258215" cy="392727"/>
          </a:xfrm>
          <a:prstGeom prst="rect">
            <a:avLst/>
          </a:prstGeom>
        </p:spPr>
      </p:pic>
      <p:pic>
        <p:nvPicPr>
          <p:cNvPr id="13" name="Picture 1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21161858">
            <a:off x="6567367" y="1709362"/>
            <a:ext cx="1272037" cy="581823"/>
          </a:xfrm>
          <a:prstGeom prst="rect">
            <a:avLst/>
          </a:prstGeom>
        </p:spPr>
      </p:pic>
      <p:pic>
        <p:nvPicPr>
          <p:cNvPr id="14" name="Picture 1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909176" y="1835789"/>
            <a:ext cx="1109813" cy="353477"/>
          </a:xfrm>
          <a:prstGeom prst="rect">
            <a:avLst/>
          </a:prstGeom>
        </p:spPr>
      </p:pic>
      <p:pic>
        <p:nvPicPr>
          <p:cNvPr id="15" name="Picture 14"/>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20891468">
            <a:off x="5875198" y="97891"/>
            <a:ext cx="868590" cy="545151"/>
          </a:xfrm>
          <a:prstGeom prst="rect">
            <a:avLst/>
          </a:prstGeom>
        </p:spPr>
      </p:pic>
      <p:pic>
        <p:nvPicPr>
          <p:cNvPr id="16" name="Picture 1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504313">
            <a:off x="6860787" y="463581"/>
            <a:ext cx="760069" cy="493432"/>
          </a:xfrm>
          <a:prstGeom prst="rect">
            <a:avLst/>
          </a:prstGeom>
        </p:spPr>
      </p:pic>
      <p:pic>
        <p:nvPicPr>
          <p:cNvPr id="17" name="Picture 16"/>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rot="20800353">
            <a:off x="6739241" y="797883"/>
            <a:ext cx="1352304" cy="852361"/>
          </a:xfrm>
          <a:prstGeom prst="rect">
            <a:avLst/>
          </a:prstGeom>
        </p:spPr>
      </p:pic>
      <p:pic>
        <p:nvPicPr>
          <p:cNvPr id="18" name="Picture 17"/>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rot="20800189">
            <a:off x="3071123" y="421813"/>
            <a:ext cx="1754052" cy="588103"/>
          </a:xfrm>
          <a:prstGeom prst="rect">
            <a:avLst/>
          </a:prstGeom>
        </p:spPr>
      </p:pic>
      <p:pic>
        <p:nvPicPr>
          <p:cNvPr id="19" name="Picture 18"/>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rot="20697131">
            <a:off x="81416" y="5132217"/>
            <a:ext cx="862719" cy="436620"/>
          </a:xfrm>
          <a:prstGeom prst="rect">
            <a:avLst/>
          </a:prstGeom>
        </p:spPr>
      </p:pic>
      <p:pic>
        <p:nvPicPr>
          <p:cNvPr id="20" name="Picture 19"/>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rot="530295">
            <a:off x="7959149" y="2352205"/>
            <a:ext cx="1036098" cy="457102"/>
          </a:xfrm>
          <a:prstGeom prst="rect">
            <a:avLst/>
          </a:prstGeom>
        </p:spPr>
      </p:pic>
      <p:pic>
        <p:nvPicPr>
          <p:cNvPr id="21" name="Picture 20"/>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183880" y="871380"/>
            <a:ext cx="828719" cy="406696"/>
          </a:xfrm>
          <a:prstGeom prst="rect">
            <a:avLst/>
          </a:prstGeom>
        </p:spPr>
      </p:pic>
      <p:pic>
        <p:nvPicPr>
          <p:cNvPr id="22" name="Picture 21"/>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28018" y="6196367"/>
            <a:ext cx="1620772" cy="554304"/>
          </a:xfrm>
          <a:prstGeom prst="rect">
            <a:avLst/>
          </a:prstGeom>
        </p:spPr>
      </p:pic>
      <p:pic>
        <p:nvPicPr>
          <p:cNvPr id="23" name="Picture 22"/>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rot="742683">
            <a:off x="7098887" y="218638"/>
            <a:ext cx="1157845" cy="548987"/>
          </a:xfrm>
          <a:prstGeom prst="rect">
            <a:avLst/>
          </a:prstGeom>
        </p:spPr>
      </p:pic>
      <p:pic>
        <p:nvPicPr>
          <p:cNvPr id="26" name="Picture 25"/>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rot="208404">
            <a:off x="1072436" y="5284694"/>
            <a:ext cx="896700" cy="339376"/>
          </a:xfrm>
          <a:prstGeom prst="rect">
            <a:avLst/>
          </a:prstGeom>
        </p:spPr>
      </p:pic>
      <p:pic>
        <p:nvPicPr>
          <p:cNvPr id="27" name="Picture 26"/>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rot="21064078">
            <a:off x="4960019" y="1643517"/>
            <a:ext cx="1206780" cy="315146"/>
          </a:xfrm>
          <a:prstGeom prst="rect">
            <a:avLst/>
          </a:prstGeom>
        </p:spPr>
      </p:pic>
      <p:pic>
        <p:nvPicPr>
          <p:cNvPr id="29" name="Picture 28"/>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767999">
            <a:off x="7893950" y="1391191"/>
            <a:ext cx="1019090" cy="331511"/>
          </a:xfrm>
          <a:prstGeom prst="rect">
            <a:avLst/>
          </a:prstGeom>
        </p:spPr>
      </p:pic>
      <p:pic>
        <p:nvPicPr>
          <p:cNvPr id="31" name="Picture 30"/>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3329112" y="6383229"/>
            <a:ext cx="1286868" cy="416945"/>
          </a:xfrm>
          <a:prstGeom prst="rect">
            <a:avLst/>
          </a:prstGeom>
        </p:spPr>
      </p:pic>
      <p:pic>
        <p:nvPicPr>
          <p:cNvPr id="32" name="Picture 31"/>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rot="528631">
            <a:off x="1784282" y="6219645"/>
            <a:ext cx="1363284" cy="537120"/>
          </a:xfrm>
          <a:prstGeom prst="rect">
            <a:avLst/>
          </a:prstGeom>
        </p:spPr>
      </p:pic>
      <p:pic>
        <p:nvPicPr>
          <p:cNvPr id="33" name="Picture 32"/>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4970828" y="5886050"/>
            <a:ext cx="1205893" cy="339254"/>
          </a:xfrm>
          <a:prstGeom prst="rect">
            <a:avLst/>
          </a:prstGeom>
        </p:spPr>
      </p:pic>
      <p:pic>
        <p:nvPicPr>
          <p:cNvPr id="34" name="Picture 33"/>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rot="20725834">
            <a:off x="4713565" y="6290870"/>
            <a:ext cx="769185" cy="415360"/>
          </a:xfrm>
          <a:prstGeom prst="rect">
            <a:avLst/>
          </a:prstGeom>
        </p:spPr>
      </p:pic>
      <p:pic>
        <p:nvPicPr>
          <p:cNvPr id="35" name="Picture 34"/>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0404887">
            <a:off x="3502494" y="5731110"/>
            <a:ext cx="1331230" cy="705820"/>
          </a:xfrm>
          <a:prstGeom prst="rect">
            <a:avLst/>
          </a:prstGeom>
        </p:spPr>
      </p:pic>
      <p:pic>
        <p:nvPicPr>
          <p:cNvPr id="36" name="Picture 35"/>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6356657" y="1524447"/>
            <a:ext cx="1028116" cy="322143"/>
          </a:xfrm>
          <a:prstGeom prst="rect">
            <a:avLst/>
          </a:prstGeom>
        </p:spPr>
      </p:pic>
      <p:pic>
        <p:nvPicPr>
          <p:cNvPr id="37" name="Picture 36"/>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3545136" y="1697392"/>
            <a:ext cx="1185861" cy="357187"/>
          </a:xfrm>
          <a:prstGeom prst="rect">
            <a:avLst/>
          </a:prstGeom>
        </p:spPr>
      </p:pic>
      <p:pic>
        <p:nvPicPr>
          <p:cNvPr id="39" name="Picture 38"/>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5030246" y="924162"/>
            <a:ext cx="1363032" cy="626607"/>
          </a:xfrm>
          <a:prstGeom prst="rect">
            <a:avLst/>
          </a:prstGeom>
        </p:spPr>
      </p:pic>
      <p:pic>
        <p:nvPicPr>
          <p:cNvPr id="40" name="Picture 39"/>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rot="21032055">
            <a:off x="2877724" y="5401005"/>
            <a:ext cx="1454079" cy="747298"/>
          </a:xfrm>
          <a:prstGeom prst="rect">
            <a:avLst/>
          </a:prstGeom>
        </p:spPr>
      </p:pic>
      <p:pic>
        <p:nvPicPr>
          <p:cNvPr id="41" name="Picture 40"/>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6026593" y="789752"/>
            <a:ext cx="635835" cy="359206"/>
          </a:xfrm>
          <a:prstGeom prst="rect">
            <a:avLst/>
          </a:prstGeom>
        </p:spPr>
      </p:pic>
      <p:pic>
        <p:nvPicPr>
          <p:cNvPr id="43" name="Picture 42"/>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rot="21112656">
            <a:off x="2092165" y="5249796"/>
            <a:ext cx="876687" cy="465259"/>
          </a:xfrm>
          <a:prstGeom prst="rect">
            <a:avLst/>
          </a:prstGeom>
        </p:spPr>
      </p:pic>
      <p:pic>
        <p:nvPicPr>
          <p:cNvPr id="44" name="Picture 43"/>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rot="21224189">
            <a:off x="681132" y="6042360"/>
            <a:ext cx="983038" cy="354020"/>
          </a:xfrm>
          <a:prstGeom prst="rect">
            <a:avLst/>
          </a:prstGeom>
        </p:spPr>
      </p:pic>
      <p:pic>
        <p:nvPicPr>
          <p:cNvPr id="45" name="Picture 44"/>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1212025" y="173981"/>
            <a:ext cx="1433513" cy="309563"/>
          </a:xfrm>
          <a:prstGeom prst="rect">
            <a:avLst/>
          </a:prstGeom>
        </p:spPr>
      </p:pic>
      <p:pic>
        <p:nvPicPr>
          <p:cNvPr id="47" name="Picture 46"/>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5711762" y="6250876"/>
            <a:ext cx="1252485" cy="474658"/>
          </a:xfrm>
          <a:prstGeom prst="rect">
            <a:avLst/>
          </a:prstGeom>
        </p:spPr>
      </p:pic>
      <p:pic>
        <p:nvPicPr>
          <p:cNvPr id="49" name="Picture 48"/>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1380188" y="5704694"/>
            <a:ext cx="896380" cy="367324"/>
          </a:xfrm>
          <a:prstGeom prst="rect">
            <a:avLst/>
          </a:prstGeom>
        </p:spPr>
      </p:pic>
      <p:pic>
        <p:nvPicPr>
          <p:cNvPr id="51" name="Picture 50"/>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1751190" y="590480"/>
            <a:ext cx="1180439" cy="449475"/>
          </a:xfrm>
          <a:prstGeom prst="rect">
            <a:avLst/>
          </a:prstGeom>
        </p:spPr>
      </p:pic>
      <p:pic>
        <p:nvPicPr>
          <p:cNvPr id="52" name="Picture 51"/>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rot="883825">
            <a:off x="4302519" y="1385961"/>
            <a:ext cx="777311" cy="207956"/>
          </a:xfrm>
          <a:prstGeom prst="rect">
            <a:avLst/>
          </a:prstGeom>
        </p:spPr>
      </p:pic>
      <p:pic>
        <p:nvPicPr>
          <p:cNvPr id="53" name="Picture 52"/>
          <p:cNvPicPr>
            <a:picLocks noChangeAspect="1"/>
          </p:cNvPicPr>
          <p:nvPr/>
        </p:nvPicPr>
        <p:blipFill>
          <a:blip r:embed="rId41">
            <a:extLst>
              <a:ext uri="{28A0092B-C50C-407E-A947-70E740481C1C}">
                <a14:useLocalDpi xmlns:a14="http://schemas.microsoft.com/office/drawing/2010/main" val="0"/>
              </a:ext>
            </a:extLst>
          </a:blip>
          <a:stretch>
            <a:fillRect/>
          </a:stretch>
        </p:blipFill>
        <p:spPr>
          <a:xfrm>
            <a:off x="3923434" y="877737"/>
            <a:ext cx="861242" cy="254784"/>
          </a:xfrm>
          <a:prstGeom prst="rect">
            <a:avLst/>
          </a:prstGeom>
        </p:spPr>
      </p:pic>
      <p:pic>
        <p:nvPicPr>
          <p:cNvPr id="54" name="Picture 53"/>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2604353" y="1175734"/>
            <a:ext cx="1518603" cy="449452"/>
          </a:xfrm>
          <a:prstGeom prst="rect">
            <a:avLst/>
          </a:prstGeom>
        </p:spPr>
      </p:pic>
      <p:pic>
        <p:nvPicPr>
          <p:cNvPr id="64" name="Picture 63"/>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6253141" y="5886050"/>
            <a:ext cx="1016184" cy="540817"/>
          </a:xfrm>
          <a:prstGeom prst="rect">
            <a:avLst/>
          </a:prstGeom>
        </p:spPr>
      </p:pic>
      <p:pic>
        <p:nvPicPr>
          <p:cNvPr id="66" name="Picture 65"/>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844507" y="448704"/>
            <a:ext cx="873695" cy="421242"/>
          </a:xfrm>
          <a:prstGeom prst="rect">
            <a:avLst/>
          </a:prstGeom>
        </p:spPr>
      </p:pic>
    </p:spTree>
    <p:extLst>
      <p:ext uri="{BB962C8B-B14F-4D97-AF65-F5344CB8AC3E}">
        <p14:creationId xmlns:p14="http://schemas.microsoft.com/office/powerpoint/2010/main" val="1493039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12946" y="4749899"/>
            <a:ext cx="9167851" cy="1178363"/>
          </a:xfrm>
          <a:custGeom>
            <a:avLst/>
            <a:gdLst>
              <a:gd name="connsiteX0" fmla="*/ 0 w 9358682"/>
              <a:gd name="connsiteY0" fmla="*/ 0 h 1154509"/>
              <a:gd name="connsiteX1" fmla="*/ 9358682 w 9358682"/>
              <a:gd name="connsiteY1" fmla="*/ 0 h 1154509"/>
              <a:gd name="connsiteX2" fmla="*/ 9358682 w 9358682"/>
              <a:gd name="connsiteY2" fmla="*/ 1154509 h 1154509"/>
              <a:gd name="connsiteX3" fmla="*/ 0 w 9358682"/>
              <a:gd name="connsiteY3" fmla="*/ 1154509 h 1154509"/>
              <a:gd name="connsiteX4" fmla="*/ 0 w 9358682"/>
              <a:gd name="connsiteY4" fmla="*/ 0 h 1154509"/>
              <a:gd name="connsiteX0" fmla="*/ 95416 w 9358682"/>
              <a:gd name="connsiteY0" fmla="*/ 0 h 1154509"/>
              <a:gd name="connsiteX1" fmla="*/ 9358682 w 9358682"/>
              <a:gd name="connsiteY1" fmla="*/ 0 h 1154509"/>
              <a:gd name="connsiteX2" fmla="*/ 9358682 w 9358682"/>
              <a:gd name="connsiteY2" fmla="*/ 1154509 h 1154509"/>
              <a:gd name="connsiteX3" fmla="*/ 0 w 9358682"/>
              <a:gd name="connsiteY3" fmla="*/ 1154509 h 1154509"/>
              <a:gd name="connsiteX4" fmla="*/ 95416 w 9358682"/>
              <a:gd name="connsiteY4" fmla="*/ 0 h 1154509"/>
              <a:gd name="connsiteX0" fmla="*/ 1 w 9263267"/>
              <a:gd name="connsiteY0" fmla="*/ 0 h 1154509"/>
              <a:gd name="connsiteX1" fmla="*/ 9263267 w 9263267"/>
              <a:gd name="connsiteY1" fmla="*/ 0 h 1154509"/>
              <a:gd name="connsiteX2" fmla="*/ 9263267 w 9263267"/>
              <a:gd name="connsiteY2" fmla="*/ 1154509 h 1154509"/>
              <a:gd name="connsiteX3" fmla="*/ 0 w 9263267"/>
              <a:gd name="connsiteY3" fmla="*/ 1146558 h 1154509"/>
              <a:gd name="connsiteX4" fmla="*/ 1 w 9263267"/>
              <a:gd name="connsiteY4" fmla="*/ 0 h 1154509"/>
              <a:gd name="connsiteX0" fmla="*/ 1 w 9263267"/>
              <a:gd name="connsiteY0" fmla="*/ 2971 h 1157480"/>
              <a:gd name="connsiteX1" fmla="*/ 9148995 w 9263267"/>
              <a:gd name="connsiteY1" fmla="*/ 0 h 1157480"/>
              <a:gd name="connsiteX2" fmla="*/ 9263267 w 9263267"/>
              <a:gd name="connsiteY2" fmla="*/ 2971 h 1157480"/>
              <a:gd name="connsiteX3" fmla="*/ 9263267 w 9263267"/>
              <a:gd name="connsiteY3" fmla="*/ 1157480 h 1157480"/>
              <a:gd name="connsiteX4" fmla="*/ 0 w 9263267"/>
              <a:gd name="connsiteY4" fmla="*/ 1149529 h 1157480"/>
              <a:gd name="connsiteX5" fmla="*/ 1 w 9263267"/>
              <a:gd name="connsiteY5" fmla="*/ 2971 h 1157480"/>
              <a:gd name="connsiteX0" fmla="*/ 1 w 9263267"/>
              <a:gd name="connsiteY0" fmla="*/ 2971 h 1157480"/>
              <a:gd name="connsiteX1" fmla="*/ 9148995 w 9263267"/>
              <a:gd name="connsiteY1" fmla="*/ 0 h 1157480"/>
              <a:gd name="connsiteX2" fmla="*/ 9263267 w 9263267"/>
              <a:gd name="connsiteY2" fmla="*/ 2971 h 1157480"/>
              <a:gd name="connsiteX3" fmla="*/ 9167851 w 9263267"/>
              <a:gd name="connsiteY3" fmla="*/ 1157480 h 1157480"/>
              <a:gd name="connsiteX4" fmla="*/ 0 w 9263267"/>
              <a:gd name="connsiteY4" fmla="*/ 1149529 h 1157480"/>
              <a:gd name="connsiteX5" fmla="*/ 1 w 9263267"/>
              <a:gd name="connsiteY5" fmla="*/ 2971 h 1157480"/>
              <a:gd name="connsiteX0" fmla="*/ 1 w 9167851"/>
              <a:gd name="connsiteY0" fmla="*/ 23854 h 1178363"/>
              <a:gd name="connsiteX1" fmla="*/ 9148995 w 9167851"/>
              <a:gd name="connsiteY1" fmla="*/ 20883 h 1178363"/>
              <a:gd name="connsiteX2" fmla="*/ 9151949 w 9167851"/>
              <a:gd name="connsiteY2" fmla="*/ 0 h 1178363"/>
              <a:gd name="connsiteX3" fmla="*/ 9167851 w 9167851"/>
              <a:gd name="connsiteY3" fmla="*/ 1178363 h 1178363"/>
              <a:gd name="connsiteX4" fmla="*/ 0 w 9167851"/>
              <a:gd name="connsiteY4" fmla="*/ 1170412 h 1178363"/>
              <a:gd name="connsiteX5" fmla="*/ 1 w 9167851"/>
              <a:gd name="connsiteY5" fmla="*/ 23854 h 117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67851" h="1178363">
                <a:moveTo>
                  <a:pt x="1" y="23854"/>
                </a:moveTo>
                <a:lnTo>
                  <a:pt x="9148995" y="20883"/>
                </a:lnTo>
                <a:lnTo>
                  <a:pt x="9151949" y="0"/>
                </a:lnTo>
                <a:lnTo>
                  <a:pt x="9167851" y="1178363"/>
                </a:lnTo>
                <a:lnTo>
                  <a:pt x="0" y="1170412"/>
                </a:lnTo>
                <a:cubicBezTo>
                  <a:pt x="0" y="788226"/>
                  <a:pt x="1" y="406040"/>
                  <a:pt x="1" y="23854"/>
                </a:cubicBez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3"/>
          <p:cNvSpPr txBox="1">
            <a:spLocks/>
          </p:cNvSpPr>
          <p:nvPr/>
        </p:nvSpPr>
        <p:spPr bwMode="auto">
          <a:xfrm>
            <a:off x="1" y="5041927"/>
            <a:ext cx="9143999" cy="812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ts val="4000"/>
              </a:lnSpc>
              <a:buClr>
                <a:schemeClr val="bg1"/>
              </a:buClr>
              <a:buNone/>
            </a:pPr>
            <a:r>
              <a:rPr lang="en-US" sz="3800" smtClean="0">
                <a:solidFill>
                  <a:schemeClr val="bg1"/>
                </a:solidFill>
                <a:latin typeface="Franklin Gothic Demi Cond" pitchFamily="34" charset="0"/>
              </a:rPr>
              <a:t> Whatever we do, the child is at the centre.</a:t>
            </a:r>
            <a:endParaRPr lang="en-US" sz="3800" dirty="0">
              <a:solidFill>
                <a:schemeClr val="bg1"/>
              </a:solidFill>
              <a:latin typeface="Franklin Gothic Demi Cond" pitchFamily="34" charset="0"/>
            </a:endParaRPr>
          </a:p>
          <a:p>
            <a:pPr marL="0" indent="0" algn="ctr">
              <a:lnSpc>
                <a:spcPts val="3600"/>
              </a:lnSpc>
              <a:buFont typeface="Wingdings" pitchFamily="2" charset="2"/>
              <a:buNone/>
            </a:pPr>
            <a:endParaRPr lang="en-US" sz="2900" dirty="0" smtClean="0">
              <a:solidFill>
                <a:schemeClr val="bg1"/>
              </a:solidFill>
              <a:latin typeface="HelveticaNeueLT Std Cn" pitchFamily="34" charset="0"/>
            </a:endParaRPr>
          </a:p>
          <a:p>
            <a:pPr marL="0" indent="0" algn="ctr">
              <a:lnSpc>
                <a:spcPts val="3000"/>
              </a:lnSpc>
              <a:buFont typeface="Wingdings" pitchFamily="2" charset="2"/>
              <a:buNone/>
            </a:pPr>
            <a:r>
              <a:rPr lang="en-US" sz="3000" b="1" dirty="0" smtClean="0">
                <a:solidFill>
                  <a:schemeClr val="bg1"/>
                </a:solidFill>
              </a:rPr>
              <a:t> </a:t>
            </a:r>
            <a:endParaRPr lang="en-US" sz="4000" b="1" dirty="0" smtClean="0">
              <a:solidFill>
                <a:schemeClr val="bg1"/>
              </a:solidFill>
            </a:endParaRPr>
          </a:p>
        </p:txBody>
      </p:sp>
    </p:spTree>
    <p:extLst>
      <p:ext uri="{BB962C8B-B14F-4D97-AF65-F5344CB8AC3E}">
        <p14:creationId xmlns:p14="http://schemas.microsoft.com/office/powerpoint/2010/main" val="895189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7853"/>
            <a:ext cx="9144000" cy="6858000"/>
          </a:xfrm>
          <a:prstGeom prst="rect">
            <a:avLst/>
          </a:prstGeom>
        </p:spPr>
      </p:pic>
      <p:sp>
        <p:nvSpPr>
          <p:cNvPr id="7" name="Rectangle 9"/>
          <p:cNvSpPr/>
          <p:nvPr/>
        </p:nvSpPr>
        <p:spPr>
          <a:xfrm flipH="1">
            <a:off x="-23855" y="4478000"/>
            <a:ext cx="9183469"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 name="connsiteX0" fmla="*/ 0 w 9165186"/>
              <a:gd name="connsiteY0" fmla="*/ 0 h 2391332"/>
              <a:gd name="connsiteX1" fmla="*/ 9159615 w 9165186"/>
              <a:gd name="connsiteY1" fmla="*/ 526943 h 2391332"/>
              <a:gd name="connsiteX2" fmla="*/ 9165186 w 9165186"/>
              <a:gd name="connsiteY2" fmla="*/ 2383381 h 2391332"/>
              <a:gd name="connsiteX3" fmla="*/ 0 w 9165186"/>
              <a:gd name="connsiteY3" fmla="*/ 2391332 h 2391332"/>
              <a:gd name="connsiteX4" fmla="*/ 0 w 9165186"/>
              <a:gd name="connsiteY4" fmla="*/ 0 h 2391332"/>
              <a:gd name="connsiteX0" fmla="*/ 0 w 9183469"/>
              <a:gd name="connsiteY0" fmla="*/ 0 h 2391332"/>
              <a:gd name="connsiteX1" fmla="*/ 9183469 w 9183469"/>
              <a:gd name="connsiteY1" fmla="*/ 526943 h 2391332"/>
              <a:gd name="connsiteX2" fmla="*/ 9165186 w 9183469"/>
              <a:gd name="connsiteY2" fmla="*/ 2383381 h 2391332"/>
              <a:gd name="connsiteX3" fmla="*/ 0 w 9183469"/>
              <a:gd name="connsiteY3" fmla="*/ 2391332 h 2391332"/>
              <a:gd name="connsiteX4" fmla="*/ 0 w 9183469"/>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3469" h="2391332">
                <a:moveTo>
                  <a:pt x="0" y="0"/>
                </a:moveTo>
                <a:lnTo>
                  <a:pt x="9183469" y="526943"/>
                </a:lnTo>
                <a:lnTo>
                  <a:pt x="9165186" y="2383381"/>
                </a:lnTo>
                <a:lnTo>
                  <a:pt x="0" y="2391332"/>
                </a:lnTo>
                <a:lnTo>
                  <a:pt x="0" y="0"/>
                </a:lnTo>
                <a:close/>
              </a:path>
            </a:pathLst>
          </a:custGeom>
          <a:solidFill>
            <a:srgbClr val="00B1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3"/>
          <p:cNvSpPr txBox="1">
            <a:spLocks/>
          </p:cNvSpPr>
          <p:nvPr/>
        </p:nvSpPr>
        <p:spPr bwMode="auto">
          <a:xfrm>
            <a:off x="296553" y="5307752"/>
            <a:ext cx="9143999" cy="162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600"/>
              </a:lnSpc>
              <a:buFont typeface="Wingdings" pitchFamily="2" charset="2"/>
              <a:buNone/>
            </a:pPr>
            <a:r>
              <a:rPr lang="en-US" sz="4000" dirty="0" smtClean="0">
                <a:solidFill>
                  <a:schemeClr val="bg1"/>
                </a:solidFill>
                <a:latin typeface="Franklin Gothic Demi Cond" pitchFamily="34" charset="0"/>
              </a:rPr>
              <a:t>Our unique approach:</a:t>
            </a:r>
          </a:p>
          <a:p>
            <a:pPr marL="0" indent="0">
              <a:lnSpc>
                <a:spcPts val="4000"/>
              </a:lnSpc>
              <a:buClr>
                <a:schemeClr val="bg1"/>
              </a:buClr>
              <a:buNone/>
            </a:pPr>
            <a:r>
              <a:rPr lang="en-US" sz="4000" smtClean="0">
                <a:solidFill>
                  <a:schemeClr val="bg1"/>
                </a:solidFill>
                <a:latin typeface="Franklin Gothic Demi Cond" pitchFamily="34" charset="0"/>
              </a:rPr>
              <a:t>A caring </a:t>
            </a:r>
            <a:r>
              <a:rPr lang="en-US" sz="4000" dirty="0" smtClean="0">
                <a:solidFill>
                  <a:schemeClr val="bg1"/>
                </a:solidFill>
                <a:latin typeface="Franklin Gothic Demi Cond" pitchFamily="34" charset="0"/>
              </a:rPr>
              <a:t>family environment</a:t>
            </a:r>
            <a:endParaRPr lang="en-US" sz="4000" dirty="0">
              <a:solidFill>
                <a:schemeClr val="bg1"/>
              </a:solidFill>
              <a:latin typeface="Franklin Gothic Demi Cond" pitchFamily="34" charset="0"/>
            </a:endParaRPr>
          </a:p>
          <a:p>
            <a:pPr marL="0" indent="0">
              <a:lnSpc>
                <a:spcPts val="3600"/>
              </a:lnSpc>
              <a:buFont typeface="Wingdings" pitchFamily="2" charset="2"/>
              <a:buNone/>
            </a:pPr>
            <a:endParaRPr lang="en-US" sz="4000" dirty="0" smtClean="0">
              <a:solidFill>
                <a:schemeClr val="bg1"/>
              </a:solidFill>
              <a:latin typeface="HelveticaNeueLT Std Cn" pitchFamily="34" charset="0"/>
            </a:endParaRPr>
          </a:p>
          <a:p>
            <a:pPr marL="0" indent="0">
              <a:lnSpc>
                <a:spcPts val="3000"/>
              </a:lnSpc>
              <a:buFont typeface="Wingdings" pitchFamily="2" charset="2"/>
              <a:buNone/>
            </a:pPr>
            <a:r>
              <a:rPr lang="en-US" sz="3000" b="1" dirty="0" smtClean="0">
                <a:solidFill>
                  <a:schemeClr val="bg1"/>
                </a:solidFill>
              </a:rPr>
              <a:t> </a:t>
            </a:r>
            <a:endParaRPr lang="en-US" sz="4000" b="1" dirty="0" smtClean="0">
              <a:solidFill>
                <a:schemeClr val="bg1"/>
              </a:solidFill>
            </a:endParaRPr>
          </a:p>
        </p:txBody>
      </p:sp>
    </p:spTree>
    <p:extLst>
      <p:ext uri="{BB962C8B-B14F-4D97-AF65-F5344CB8AC3E}">
        <p14:creationId xmlns:p14="http://schemas.microsoft.com/office/powerpoint/2010/main" val="3893053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r="11040"/>
          <a:stretch/>
        </p:blipFill>
        <p:spPr bwMode="auto">
          <a:xfrm>
            <a:off x="-1" y="-249376"/>
            <a:ext cx="9144001" cy="5557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9"/>
          <p:cNvSpPr/>
          <p:nvPr/>
        </p:nvSpPr>
        <p:spPr>
          <a:xfrm flipH="1">
            <a:off x="-23855" y="4478000"/>
            <a:ext cx="9183469"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 name="connsiteX0" fmla="*/ 0 w 9165186"/>
              <a:gd name="connsiteY0" fmla="*/ 0 h 2391332"/>
              <a:gd name="connsiteX1" fmla="*/ 9159615 w 9165186"/>
              <a:gd name="connsiteY1" fmla="*/ 526943 h 2391332"/>
              <a:gd name="connsiteX2" fmla="*/ 9165186 w 9165186"/>
              <a:gd name="connsiteY2" fmla="*/ 2383381 h 2391332"/>
              <a:gd name="connsiteX3" fmla="*/ 0 w 9165186"/>
              <a:gd name="connsiteY3" fmla="*/ 2391332 h 2391332"/>
              <a:gd name="connsiteX4" fmla="*/ 0 w 9165186"/>
              <a:gd name="connsiteY4" fmla="*/ 0 h 2391332"/>
              <a:gd name="connsiteX0" fmla="*/ 0 w 9183469"/>
              <a:gd name="connsiteY0" fmla="*/ 0 h 2391332"/>
              <a:gd name="connsiteX1" fmla="*/ 9183469 w 9183469"/>
              <a:gd name="connsiteY1" fmla="*/ 526943 h 2391332"/>
              <a:gd name="connsiteX2" fmla="*/ 9165186 w 9183469"/>
              <a:gd name="connsiteY2" fmla="*/ 2383381 h 2391332"/>
              <a:gd name="connsiteX3" fmla="*/ 0 w 9183469"/>
              <a:gd name="connsiteY3" fmla="*/ 2391332 h 2391332"/>
              <a:gd name="connsiteX4" fmla="*/ 0 w 9183469"/>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3469" h="2391332">
                <a:moveTo>
                  <a:pt x="0" y="0"/>
                </a:moveTo>
                <a:lnTo>
                  <a:pt x="9183469" y="526943"/>
                </a:lnTo>
                <a:lnTo>
                  <a:pt x="9165186" y="2383381"/>
                </a:lnTo>
                <a:lnTo>
                  <a:pt x="0" y="2391332"/>
                </a:lnTo>
                <a:lnTo>
                  <a:pt x="0" y="0"/>
                </a:lnTo>
                <a:close/>
              </a:path>
            </a:pathLst>
          </a:custGeom>
          <a:solidFill>
            <a:srgbClr val="E743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3"/>
          <p:cNvSpPr txBox="1">
            <a:spLocks/>
          </p:cNvSpPr>
          <p:nvPr/>
        </p:nvSpPr>
        <p:spPr bwMode="auto">
          <a:xfrm>
            <a:off x="296553" y="5307752"/>
            <a:ext cx="9143999" cy="162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600"/>
              </a:lnSpc>
              <a:buFont typeface="Wingdings" pitchFamily="2" charset="2"/>
              <a:buNone/>
            </a:pPr>
            <a:r>
              <a:rPr lang="en-US" sz="4000" dirty="0" smtClean="0">
                <a:solidFill>
                  <a:schemeClr val="bg1"/>
                </a:solidFill>
                <a:latin typeface="Franklin Gothic Demi Cond" pitchFamily="34" charset="0"/>
              </a:rPr>
              <a:t>Our unique approach:</a:t>
            </a:r>
          </a:p>
          <a:p>
            <a:pPr marL="0" indent="0">
              <a:lnSpc>
                <a:spcPts val="4000"/>
              </a:lnSpc>
              <a:buClr>
                <a:schemeClr val="bg1"/>
              </a:buClr>
              <a:buNone/>
            </a:pPr>
            <a:r>
              <a:rPr lang="en-US" sz="4000" smtClean="0">
                <a:solidFill>
                  <a:schemeClr val="bg1"/>
                </a:solidFill>
                <a:latin typeface="Franklin Gothic Demi Cond" pitchFamily="34" charset="0"/>
              </a:rPr>
              <a:t>Long-term and resilient relationships</a:t>
            </a:r>
            <a:endParaRPr lang="en-US" sz="4000" dirty="0">
              <a:solidFill>
                <a:schemeClr val="bg1"/>
              </a:solidFill>
              <a:latin typeface="Franklin Gothic Demi Cond" pitchFamily="34" charset="0"/>
            </a:endParaRPr>
          </a:p>
          <a:p>
            <a:pPr marL="0" indent="0">
              <a:lnSpc>
                <a:spcPts val="3600"/>
              </a:lnSpc>
              <a:buFont typeface="Wingdings" pitchFamily="2" charset="2"/>
              <a:buNone/>
            </a:pPr>
            <a:endParaRPr lang="en-US" sz="2900" dirty="0" smtClean="0">
              <a:solidFill>
                <a:schemeClr val="bg1"/>
              </a:solidFill>
              <a:latin typeface="Franklin Gothic Demi Cond" pitchFamily="34" charset="0"/>
            </a:endParaRPr>
          </a:p>
          <a:p>
            <a:pPr marL="0" indent="0">
              <a:lnSpc>
                <a:spcPts val="3000"/>
              </a:lnSpc>
              <a:buFont typeface="Wingdings" pitchFamily="2" charset="2"/>
              <a:buNone/>
            </a:pPr>
            <a:r>
              <a:rPr lang="en-US" sz="3000" b="1" dirty="0" smtClean="0">
                <a:solidFill>
                  <a:schemeClr val="bg1"/>
                </a:solidFill>
              </a:rPr>
              <a:t> </a:t>
            </a:r>
            <a:endParaRPr lang="en-US" sz="4000" b="1" dirty="0" smtClean="0">
              <a:solidFill>
                <a:schemeClr val="bg1"/>
              </a:solidFill>
            </a:endParaRPr>
          </a:p>
        </p:txBody>
      </p:sp>
    </p:spTree>
    <p:extLst>
      <p:ext uri="{BB962C8B-B14F-4D97-AF65-F5344CB8AC3E}">
        <p14:creationId xmlns:p14="http://schemas.microsoft.com/office/powerpoint/2010/main" val="159517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341" t="2034" r="3103" b="-2034"/>
          <a:stretch/>
        </p:blipFill>
        <p:spPr>
          <a:xfrm>
            <a:off x="-152407" y="-194615"/>
            <a:ext cx="9313356" cy="5472664"/>
          </a:xfrm>
          <a:prstGeom prst="rect">
            <a:avLst/>
          </a:prstGeom>
        </p:spPr>
      </p:pic>
      <p:sp>
        <p:nvSpPr>
          <p:cNvPr id="7" name="Rectangle 9"/>
          <p:cNvSpPr/>
          <p:nvPr/>
        </p:nvSpPr>
        <p:spPr>
          <a:xfrm flipH="1">
            <a:off x="-23855" y="4478000"/>
            <a:ext cx="9183469"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 name="connsiteX0" fmla="*/ 0 w 9165186"/>
              <a:gd name="connsiteY0" fmla="*/ 0 h 2391332"/>
              <a:gd name="connsiteX1" fmla="*/ 9159615 w 9165186"/>
              <a:gd name="connsiteY1" fmla="*/ 526943 h 2391332"/>
              <a:gd name="connsiteX2" fmla="*/ 9165186 w 9165186"/>
              <a:gd name="connsiteY2" fmla="*/ 2383381 h 2391332"/>
              <a:gd name="connsiteX3" fmla="*/ 0 w 9165186"/>
              <a:gd name="connsiteY3" fmla="*/ 2391332 h 2391332"/>
              <a:gd name="connsiteX4" fmla="*/ 0 w 9165186"/>
              <a:gd name="connsiteY4" fmla="*/ 0 h 2391332"/>
              <a:gd name="connsiteX0" fmla="*/ 0 w 9183469"/>
              <a:gd name="connsiteY0" fmla="*/ 0 h 2391332"/>
              <a:gd name="connsiteX1" fmla="*/ 9183469 w 9183469"/>
              <a:gd name="connsiteY1" fmla="*/ 526943 h 2391332"/>
              <a:gd name="connsiteX2" fmla="*/ 9165186 w 9183469"/>
              <a:gd name="connsiteY2" fmla="*/ 2383381 h 2391332"/>
              <a:gd name="connsiteX3" fmla="*/ 0 w 9183469"/>
              <a:gd name="connsiteY3" fmla="*/ 2391332 h 2391332"/>
              <a:gd name="connsiteX4" fmla="*/ 0 w 9183469"/>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3469" h="2391332">
                <a:moveTo>
                  <a:pt x="0" y="0"/>
                </a:moveTo>
                <a:lnTo>
                  <a:pt x="9183469" y="526943"/>
                </a:lnTo>
                <a:lnTo>
                  <a:pt x="9165186" y="2383381"/>
                </a:lnTo>
                <a:lnTo>
                  <a:pt x="0" y="2391332"/>
                </a:lnTo>
                <a:lnTo>
                  <a:pt x="0" y="0"/>
                </a:lnTo>
                <a:close/>
              </a:path>
            </a:pathLst>
          </a:custGeom>
          <a:solidFill>
            <a:srgbClr val="76B8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3"/>
          <p:cNvSpPr txBox="1">
            <a:spLocks/>
          </p:cNvSpPr>
          <p:nvPr/>
        </p:nvSpPr>
        <p:spPr bwMode="auto">
          <a:xfrm>
            <a:off x="296553" y="5307752"/>
            <a:ext cx="9143999" cy="162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600"/>
              </a:lnSpc>
              <a:buFont typeface="Wingdings" pitchFamily="2" charset="2"/>
              <a:buNone/>
            </a:pPr>
            <a:r>
              <a:rPr lang="en-US" sz="4000" dirty="0" smtClean="0">
                <a:solidFill>
                  <a:schemeClr val="bg1"/>
                </a:solidFill>
                <a:latin typeface="Franklin Gothic Demi Cond" pitchFamily="34" charset="0"/>
              </a:rPr>
              <a:t>Our unique approach:</a:t>
            </a:r>
          </a:p>
          <a:p>
            <a:pPr marL="0" indent="0">
              <a:lnSpc>
                <a:spcPts val="4000"/>
              </a:lnSpc>
              <a:buClr>
                <a:schemeClr val="bg1"/>
              </a:buClr>
              <a:buNone/>
            </a:pPr>
            <a:r>
              <a:rPr lang="en-US" sz="4000" smtClean="0">
                <a:solidFill>
                  <a:schemeClr val="bg1"/>
                </a:solidFill>
                <a:latin typeface="Franklin Gothic Demi Cond" pitchFamily="34" charset="0"/>
              </a:rPr>
              <a:t>Brothers and sisters stay together</a:t>
            </a:r>
            <a:endParaRPr lang="en-US" sz="4000" dirty="0">
              <a:solidFill>
                <a:schemeClr val="bg1"/>
              </a:solidFill>
              <a:latin typeface="Franklin Gothic Demi Cond" pitchFamily="34" charset="0"/>
            </a:endParaRPr>
          </a:p>
          <a:p>
            <a:pPr marL="0" indent="0">
              <a:lnSpc>
                <a:spcPts val="3600"/>
              </a:lnSpc>
              <a:buFont typeface="Wingdings" pitchFamily="2" charset="2"/>
              <a:buNone/>
            </a:pPr>
            <a:endParaRPr lang="en-US" sz="2900" dirty="0" smtClean="0">
              <a:solidFill>
                <a:schemeClr val="bg1"/>
              </a:solidFill>
              <a:latin typeface="Franklin Gothic Demi Cond" pitchFamily="34" charset="0"/>
            </a:endParaRPr>
          </a:p>
          <a:p>
            <a:pPr marL="0" indent="0">
              <a:lnSpc>
                <a:spcPts val="3000"/>
              </a:lnSpc>
              <a:buFont typeface="Wingdings" pitchFamily="2" charset="2"/>
              <a:buNone/>
            </a:pPr>
            <a:r>
              <a:rPr lang="en-US" sz="3000" b="1" dirty="0" smtClean="0">
                <a:solidFill>
                  <a:schemeClr val="bg1"/>
                </a:solidFill>
              </a:rPr>
              <a:t> </a:t>
            </a:r>
            <a:endParaRPr lang="en-US" sz="4000" b="1" dirty="0" smtClean="0">
              <a:solidFill>
                <a:schemeClr val="bg1"/>
              </a:solidFill>
            </a:endParaRPr>
          </a:p>
        </p:txBody>
      </p:sp>
    </p:spTree>
    <p:extLst>
      <p:ext uri="{BB962C8B-B14F-4D97-AF65-F5344CB8AC3E}">
        <p14:creationId xmlns:p14="http://schemas.microsoft.com/office/powerpoint/2010/main" val="4045358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0" y="-1"/>
            <a:ext cx="9144000" cy="6858001"/>
          </a:xfrm>
          <a:prstGeom prst="rect">
            <a:avLst/>
          </a:prstGeom>
        </p:spPr>
      </p:pic>
      <p:sp>
        <p:nvSpPr>
          <p:cNvPr id="7" name="Rectangle 9"/>
          <p:cNvSpPr/>
          <p:nvPr/>
        </p:nvSpPr>
        <p:spPr>
          <a:xfrm flipH="1">
            <a:off x="-23855" y="4478000"/>
            <a:ext cx="9183469"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 name="connsiteX0" fmla="*/ 0 w 9165186"/>
              <a:gd name="connsiteY0" fmla="*/ 0 h 2391332"/>
              <a:gd name="connsiteX1" fmla="*/ 9159615 w 9165186"/>
              <a:gd name="connsiteY1" fmla="*/ 526943 h 2391332"/>
              <a:gd name="connsiteX2" fmla="*/ 9165186 w 9165186"/>
              <a:gd name="connsiteY2" fmla="*/ 2383381 h 2391332"/>
              <a:gd name="connsiteX3" fmla="*/ 0 w 9165186"/>
              <a:gd name="connsiteY3" fmla="*/ 2391332 h 2391332"/>
              <a:gd name="connsiteX4" fmla="*/ 0 w 9165186"/>
              <a:gd name="connsiteY4" fmla="*/ 0 h 2391332"/>
              <a:gd name="connsiteX0" fmla="*/ 0 w 9183469"/>
              <a:gd name="connsiteY0" fmla="*/ 0 h 2391332"/>
              <a:gd name="connsiteX1" fmla="*/ 9183469 w 9183469"/>
              <a:gd name="connsiteY1" fmla="*/ 526943 h 2391332"/>
              <a:gd name="connsiteX2" fmla="*/ 9165186 w 9183469"/>
              <a:gd name="connsiteY2" fmla="*/ 2383381 h 2391332"/>
              <a:gd name="connsiteX3" fmla="*/ 0 w 9183469"/>
              <a:gd name="connsiteY3" fmla="*/ 2391332 h 2391332"/>
              <a:gd name="connsiteX4" fmla="*/ 0 w 9183469"/>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3469" h="2391332">
                <a:moveTo>
                  <a:pt x="0" y="0"/>
                </a:moveTo>
                <a:lnTo>
                  <a:pt x="9183469" y="526943"/>
                </a:lnTo>
                <a:lnTo>
                  <a:pt x="9165186" y="2383381"/>
                </a:lnTo>
                <a:lnTo>
                  <a:pt x="0" y="2391332"/>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3"/>
          <p:cNvSpPr txBox="1">
            <a:spLocks/>
          </p:cNvSpPr>
          <p:nvPr/>
        </p:nvSpPr>
        <p:spPr bwMode="auto">
          <a:xfrm>
            <a:off x="296553" y="5307752"/>
            <a:ext cx="9143999" cy="162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600"/>
              </a:lnSpc>
              <a:buFont typeface="Wingdings" pitchFamily="2" charset="2"/>
              <a:buNone/>
            </a:pPr>
            <a:r>
              <a:rPr lang="en-US" sz="4000" dirty="0" smtClean="0">
                <a:solidFill>
                  <a:schemeClr val="bg1"/>
                </a:solidFill>
                <a:latin typeface="Franklin Gothic Demi Cond" pitchFamily="34" charset="0"/>
              </a:rPr>
              <a:t>Our unique approach:</a:t>
            </a:r>
          </a:p>
          <a:p>
            <a:pPr marL="0" indent="0">
              <a:lnSpc>
                <a:spcPts val="4000"/>
              </a:lnSpc>
              <a:buClr>
                <a:schemeClr val="bg1"/>
              </a:buClr>
              <a:buNone/>
            </a:pPr>
            <a:r>
              <a:rPr lang="en-US" sz="3800" spc="-20" smtClean="0">
                <a:solidFill>
                  <a:schemeClr val="bg1"/>
                </a:solidFill>
                <a:latin typeface="Franklin Gothic Demi Cond" pitchFamily="34" charset="0"/>
              </a:rPr>
              <a:t>Individualised care for each child</a:t>
            </a:r>
            <a:endParaRPr lang="en-US" sz="3800" spc="-20" dirty="0">
              <a:solidFill>
                <a:schemeClr val="bg1"/>
              </a:solidFill>
              <a:latin typeface="Franklin Gothic Demi Cond" pitchFamily="34" charset="0"/>
            </a:endParaRPr>
          </a:p>
          <a:p>
            <a:pPr marL="0" indent="0">
              <a:lnSpc>
                <a:spcPts val="3600"/>
              </a:lnSpc>
              <a:buFont typeface="Wingdings" pitchFamily="2" charset="2"/>
              <a:buNone/>
            </a:pPr>
            <a:endParaRPr lang="en-US" sz="2900" dirty="0" smtClean="0">
              <a:solidFill>
                <a:schemeClr val="bg1"/>
              </a:solidFill>
              <a:latin typeface="HelveticaNeueLT Std Cn" pitchFamily="34" charset="0"/>
            </a:endParaRPr>
          </a:p>
          <a:p>
            <a:pPr marL="0" indent="0">
              <a:lnSpc>
                <a:spcPts val="3000"/>
              </a:lnSpc>
              <a:buFont typeface="Wingdings" pitchFamily="2" charset="2"/>
              <a:buNone/>
            </a:pPr>
            <a:r>
              <a:rPr lang="en-US" sz="3000" b="1" dirty="0" smtClean="0">
                <a:solidFill>
                  <a:schemeClr val="bg1"/>
                </a:solidFill>
              </a:rPr>
              <a:t> </a:t>
            </a:r>
            <a:endParaRPr lang="en-US" sz="4000" b="1" dirty="0" smtClean="0">
              <a:solidFill>
                <a:schemeClr val="bg1"/>
              </a:solidFill>
            </a:endParaRPr>
          </a:p>
        </p:txBody>
      </p:sp>
    </p:spTree>
    <p:extLst>
      <p:ext uri="{BB962C8B-B14F-4D97-AF65-F5344CB8AC3E}">
        <p14:creationId xmlns:p14="http://schemas.microsoft.com/office/powerpoint/2010/main" val="3002313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6" name="Rectangle 9"/>
          <p:cNvSpPr/>
          <p:nvPr/>
        </p:nvSpPr>
        <p:spPr>
          <a:xfrm flipH="1">
            <a:off x="-23855" y="4478000"/>
            <a:ext cx="9183469" cy="2391332"/>
          </a:xfrm>
          <a:custGeom>
            <a:avLst/>
            <a:gdLst>
              <a:gd name="connsiteX0" fmla="*/ 0 w 9149283"/>
              <a:gd name="connsiteY0" fmla="*/ 0 h 2391332"/>
              <a:gd name="connsiteX1" fmla="*/ 9149283 w 9149283"/>
              <a:gd name="connsiteY1" fmla="*/ 0 h 2391332"/>
              <a:gd name="connsiteX2" fmla="*/ 9149283 w 9149283"/>
              <a:gd name="connsiteY2" fmla="*/ 2391332 h 2391332"/>
              <a:gd name="connsiteX3" fmla="*/ 0 w 9149283"/>
              <a:gd name="connsiteY3" fmla="*/ 2391332 h 2391332"/>
              <a:gd name="connsiteX4" fmla="*/ 0 w 9149283"/>
              <a:gd name="connsiteY4" fmla="*/ 0 h 2391332"/>
              <a:gd name="connsiteX0" fmla="*/ 0 w 9154449"/>
              <a:gd name="connsiteY0" fmla="*/ 0 h 2391332"/>
              <a:gd name="connsiteX1" fmla="*/ 9154449 w 9154449"/>
              <a:gd name="connsiteY1" fmla="*/ 780082 h 2391332"/>
              <a:gd name="connsiteX2" fmla="*/ 9149283 w 9154449"/>
              <a:gd name="connsiteY2" fmla="*/ 2391332 h 2391332"/>
              <a:gd name="connsiteX3" fmla="*/ 0 w 9154449"/>
              <a:gd name="connsiteY3" fmla="*/ 2391332 h 2391332"/>
              <a:gd name="connsiteX4" fmla="*/ 0 w 9154449"/>
              <a:gd name="connsiteY4" fmla="*/ 0 h 2391332"/>
              <a:gd name="connsiteX0" fmla="*/ 0 w 9159615"/>
              <a:gd name="connsiteY0" fmla="*/ 0 h 2391332"/>
              <a:gd name="connsiteX1" fmla="*/ 9159615 w 9159615"/>
              <a:gd name="connsiteY1" fmla="*/ 526943 h 2391332"/>
              <a:gd name="connsiteX2" fmla="*/ 9149283 w 9159615"/>
              <a:gd name="connsiteY2" fmla="*/ 2391332 h 2391332"/>
              <a:gd name="connsiteX3" fmla="*/ 0 w 9159615"/>
              <a:gd name="connsiteY3" fmla="*/ 2391332 h 2391332"/>
              <a:gd name="connsiteX4" fmla="*/ 0 w 9159615"/>
              <a:gd name="connsiteY4" fmla="*/ 0 h 2391332"/>
              <a:gd name="connsiteX0" fmla="*/ 0 w 9165186"/>
              <a:gd name="connsiteY0" fmla="*/ 0 h 2391332"/>
              <a:gd name="connsiteX1" fmla="*/ 9159615 w 9165186"/>
              <a:gd name="connsiteY1" fmla="*/ 526943 h 2391332"/>
              <a:gd name="connsiteX2" fmla="*/ 9165186 w 9165186"/>
              <a:gd name="connsiteY2" fmla="*/ 2383381 h 2391332"/>
              <a:gd name="connsiteX3" fmla="*/ 0 w 9165186"/>
              <a:gd name="connsiteY3" fmla="*/ 2391332 h 2391332"/>
              <a:gd name="connsiteX4" fmla="*/ 0 w 9165186"/>
              <a:gd name="connsiteY4" fmla="*/ 0 h 2391332"/>
              <a:gd name="connsiteX0" fmla="*/ 0 w 9183469"/>
              <a:gd name="connsiteY0" fmla="*/ 0 h 2391332"/>
              <a:gd name="connsiteX1" fmla="*/ 9183469 w 9183469"/>
              <a:gd name="connsiteY1" fmla="*/ 526943 h 2391332"/>
              <a:gd name="connsiteX2" fmla="*/ 9165186 w 9183469"/>
              <a:gd name="connsiteY2" fmla="*/ 2383381 h 2391332"/>
              <a:gd name="connsiteX3" fmla="*/ 0 w 9183469"/>
              <a:gd name="connsiteY3" fmla="*/ 2391332 h 2391332"/>
              <a:gd name="connsiteX4" fmla="*/ 0 w 9183469"/>
              <a:gd name="connsiteY4" fmla="*/ 0 h 239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3469" h="2391332">
                <a:moveTo>
                  <a:pt x="0" y="0"/>
                </a:moveTo>
                <a:lnTo>
                  <a:pt x="9183469" y="526943"/>
                </a:lnTo>
                <a:lnTo>
                  <a:pt x="9165186" y="2383381"/>
                </a:lnTo>
                <a:lnTo>
                  <a:pt x="0" y="2391332"/>
                </a:lnTo>
                <a:lnTo>
                  <a:pt x="0" y="0"/>
                </a:lnTo>
                <a:close/>
              </a:path>
            </a:pathLst>
          </a:custGeom>
          <a:solidFill>
            <a:srgbClr val="00B1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3"/>
          <p:cNvSpPr txBox="1">
            <a:spLocks/>
          </p:cNvSpPr>
          <p:nvPr/>
        </p:nvSpPr>
        <p:spPr bwMode="auto">
          <a:xfrm>
            <a:off x="296553" y="5307752"/>
            <a:ext cx="9143999" cy="162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600"/>
              </a:lnSpc>
              <a:buFont typeface="Wingdings" pitchFamily="2" charset="2"/>
              <a:buNone/>
            </a:pPr>
            <a:r>
              <a:rPr lang="en-US" sz="4000" dirty="0" smtClean="0">
                <a:solidFill>
                  <a:schemeClr val="bg1"/>
                </a:solidFill>
                <a:latin typeface="Franklin Gothic Demi Cond" pitchFamily="34" charset="0"/>
              </a:rPr>
              <a:t>Our unique approach:</a:t>
            </a:r>
          </a:p>
          <a:p>
            <a:pPr marL="0" indent="0">
              <a:lnSpc>
                <a:spcPts val="4000"/>
              </a:lnSpc>
              <a:buClr>
                <a:schemeClr val="bg1"/>
              </a:buClr>
              <a:buNone/>
            </a:pPr>
            <a:r>
              <a:rPr lang="en-US" sz="4000" smtClean="0">
                <a:solidFill>
                  <a:schemeClr val="bg1"/>
                </a:solidFill>
                <a:latin typeface="Franklin Gothic Demi Cond" pitchFamily="34" charset="0"/>
              </a:rPr>
              <a:t>Strong social networks in the community</a:t>
            </a:r>
            <a:endParaRPr lang="en-US" sz="4000" dirty="0">
              <a:solidFill>
                <a:schemeClr val="bg1"/>
              </a:solidFill>
              <a:latin typeface="Franklin Gothic Demi Cond" pitchFamily="34" charset="0"/>
            </a:endParaRPr>
          </a:p>
          <a:p>
            <a:pPr marL="0" indent="0">
              <a:lnSpc>
                <a:spcPts val="3600"/>
              </a:lnSpc>
              <a:buFont typeface="Wingdings" pitchFamily="2" charset="2"/>
              <a:buNone/>
            </a:pPr>
            <a:endParaRPr lang="en-US" sz="4000" dirty="0" smtClean="0">
              <a:solidFill>
                <a:schemeClr val="bg1"/>
              </a:solidFill>
              <a:latin typeface="HelveticaNeueLT Std Cn" pitchFamily="34" charset="0"/>
            </a:endParaRPr>
          </a:p>
          <a:p>
            <a:pPr marL="0" indent="0">
              <a:lnSpc>
                <a:spcPts val="3000"/>
              </a:lnSpc>
              <a:buFont typeface="Wingdings" pitchFamily="2" charset="2"/>
              <a:buNone/>
            </a:pPr>
            <a:r>
              <a:rPr lang="en-US" sz="3000" b="1" dirty="0" smtClean="0">
                <a:solidFill>
                  <a:schemeClr val="bg1"/>
                </a:solidFill>
              </a:rPr>
              <a:t> </a:t>
            </a:r>
            <a:endParaRPr lang="en-US" sz="4000" b="1" dirty="0" smtClean="0">
              <a:solidFill>
                <a:schemeClr val="bg1"/>
              </a:solidFill>
            </a:endParaRPr>
          </a:p>
        </p:txBody>
      </p:sp>
    </p:spTree>
    <p:extLst>
      <p:ext uri="{BB962C8B-B14F-4D97-AF65-F5344CB8AC3E}">
        <p14:creationId xmlns:p14="http://schemas.microsoft.com/office/powerpoint/2010/main" val="3546485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rotWithShape="1">
          <a:blip r:embed="rId3">
            <a:extLst>
              <a:ext uri="{28A0092B-C50C-407E-A947-70E740481C1C}">
                <a14:useLocalDpi xmlns:a14="http://schemas.microsoft.com/office/drawing/2010/main" val="0"/>
              </a:ext>
            </a:extLst>
          </a:blip>
          <a:srcRect l="2595"/>
          <a:stretch/>
        </p:blipFill>
        <p:spPr>
          <a:xfrm>
            <a:off x="0" y="400029"/>
            <a:ext cx="4935248" cy="5186515"/>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1926" y="900752"/>
            <a:ext cx="3171255" cy="4672141"/>
          </a:xfrm>
          <a:prstGeom prst="rect">
            <a:avLst/>
          </a:prstGeom>
        </p:spPr>
      </p:pic>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23835" y="1191188"/>
            <a:ext cx="3059084" cy="4680065"/>
          </a:xfrm>
          <a:prstGeom prst="rect">
            <a:avLst/>
          </a:prstGeom>
        </p:spPr>
      </p:pic>
      <p:sp>
        <p:nvSpPr>
          <p:cNvPr id="7" name="Rectangle 6"/>
          <p:cNvSpPr/>
          <p:nvPr/>
        </p:nvSpPr>
        <p:spPr>
          <a:xfrm>
            <a:off x="5535827" y="5572897"/>
            <a:ext cx="3608173" cy="74140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7"/>
          <p:cNvSpPr/>
          <p:nvPr/>
        </p:nvSpPr>
        <p:spPr>
          <a:xfrm>
            <a:off x="0" y="5572897"/>
            <a:ext cx="3608173" cy="74140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ectangle 3"/>
          <p:cNvSpPr/>
          <p:nvPr/>
        </p:nvSpPr>
        <p:spPr>
          <a:xfrm flipV="1">
            <a:off x="-12944" y="-157735"/>
            <a:ext cx="9314317" cy="1724513"/>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14317" h="1724513">
                <a:moveTo>
                  <a:pt x="0" y="0"/>
                </a:moveTo>
                <a:lnTo>
                  <a:pt x="9283811" y="575101"/>
                </a:lnTo>
                <a:lnTo>
                  <a:pt x="9314317" y="1724513"/>
                </a:lnTo>
                <a:lnTo>
                  <a:pt x="12943" y="1673087"/>
                </a:lnTo>
                <a:cubicBezTo>
                  <a:pt x="8629" y="1115391"/>
                  <a:pt x="4314" y="557696"/>
                  <a:pt x="0"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30" name="Content Placeholder 2"/>
          <p:cNvSpPr txBox="1">
            <a:spLocks/>
          </p:cNvSpPr>
          <p:nvPr/>
        </p:nvSpPr>
        <p:spPr bwMode="auto">
          <a:xfrm>
            <a:off x="299898" y="345437"/>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600"/>
              </a:lnSpc>
              <a:buFont typeface="Wingdings" pitchFamily="2" charset="2"/>
              <a:buNone/>
            </a:pPr>
            <a:r>
              <a:rPr lang="de-DE" sz="3600" smtClean="0">
                <a:solidFill>
                  <a:schemeClr val="tx1">
                    <a:lumMod val="75000"/>
                    <a:lumOff val="25000"/>
                  </a:schemeClr>
                </a:solidFill>
                <a:latin typeface="Franklin Gothic Demi Cond" pitchFamily="34" charset="0"/>
              </a:rPr>
              <a:t>We work with different</a:t>
            </a:r>
            <a:r>
              <a:rPr lang="de-DE" sz="3600" spc="-150" smtClean="0">
                <a:solidFill>
                  <a:schemeClr val="tx1">
                    <a:lumMod val="75000"/>
                    <a:lumOff val="25000"/>
                  </a:schemeClr>
                </a:solidFill>
                <a:latin typeface="Franklin Gothic Demi Cond" pitchFamily="34" charset="0"/>
              </a:rPr>
              <a:t>  </a:t>
            </a:r>
            <a:r>
              <a:rPr lang="de-DE" sz="3600" smtClean="0">
                <a:solidFill>
                  <a:schemeClr val="tx1">
                    <a:lumMod val="75000"/>
                    <a:lumOff val="25000"/>
                  </a:schemeClr>
                </a:solidFill>
                <a:latin typeface="Franklin Gothic Demi Cond" pitchFamily="34" charset="0"/>
              </a:rPr>
              <a:t>types of families:</a:t>
            </a:r>
            <a:endParaRPr lang="en-GB" dirty="0">
              <a:solidFill>
                <a:schemeClr val="tx1">
                  <a:lumMod val="75000"/>
                  <a:lumOff val="25000"/>
                </a:schemeClr>
              </a:solidFill>
              <a:latin typeface="Franklin Gothic Demi Cond" pitchFamily="34" charset="0"/>
            </a:endParaRPr>
          </a:p>
        </p:txBody>
      </p:sp>
      <p:sp>
        <p:nvSpPr>
          <p:cNvPr id="2" name="Rectangle 1"/>
          <p:cNvSpPr/>
          <p:nvPr/>
        </p:nvSpPr>
        <p:spPr>
          <a:xfrm flipV="1">
            <a:off x="0" y="5572895"/>
            <a:ext cx="3023835" cy="1285103"/>
          </a:xfrm>
          <a:prstGeom prst="rect">
            <a:avLst/>
          </a:prstGeom>
          <a:solidFill>
            <a:srgbClr val="009E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Rectangle 31"/>
          <p:cNvSpPr/>
          <p:nvPr/>
        </p:nvSpPr>
        <p:spPr>
          <a:xfrm flipV="1">
            <a:off x="3023835" y="5572896"/>
            <a:ext cx="3067791" cy="1285103"/>
          </a:xfrm>
          <a:prstGeom prst="rect">
            <a:avLst/>
          </a:prstGeom>
          <a:solidFill>
            <a:srgbClr val="E74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Rectangle 32"/>
          <p:cNvSpPr/>
          <p:nvPr/>
        </p:nvSpPr>
        <p:spPr>
          <a:xfrm flipV="1">
            <a:off x="6080400" y="5572889"/>
            <a:ext cx="3172782" cy="1285200"/>
          </a:xfrm>
          <a:prstGeom prst="rect">
            <a:avLst/>
          </a:prstGeom>
          <a:solidFill>
            <a:srgbClr val="EC74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4" name="Content Placeholder 2"/>
          <p:cNvSpPr txBox="1">
            <a:spLocks/>
          </p:cNvSpPr>
          <p:nvPr/>
        </p:nvSpPr>
        <p:spPr bwMode="auto">
          <a:xfrm>
            <a:off x="26271" y="5723026"/>
            <a:ext cx="3002507" cy="128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ts val="3200"/>
              </a:lnSpc>
              <a:spcBef>
                <a:spcPts val="0"/>
              </a:spcBef>
              <a:buFont typeface="Wingdings" pitchFamily="2" charset="2"/>
              <a:buNone/>
            </a:pPr>
            <a:r>
              <a:rPr lang="de-DE" sz="3600" dirty="0" smtClean="0">
                <a:solidFill>
                  <a:schemeClr val="bg1"/>
                </a:solidFill>
                <a:latin typeface="Franklin Gothic Demi Cond" pitchFamily="34" charset="0"/>
              </a:rPr>
              <a:t>Biological </a:t>
            </a:r>
            <a:r>
              <a:rPr lang="de-DE" sz="3600" dirty="0" err="1" smtClean="0">
                <a:solidFill>
                  <a:schemeClr val="bg1"/>
                </a:solidFill>
                <a:latin typeface="Franklin Gothic Demi Cond" pitchFamily="34" charset="0"/>
              </a:rPr>
              <a:t>Families</a:t>
            </a:r>
            <a:r>
              <a:rPr lang="de-DE" sz="3600" dirty="0" smtClean="0">
                <a:solidFill>
                  <a:schemeClr val="bg1"/>
                </a:solidFill>
                <a:latin typeface="Franklin Gothic Demi Cond" pitchFamily="34" charset="0"/>
              </a:rPr>
              <a:t> </a:t>
            </a:r>
          </a:p>
        </p:txBody>
      </p:sp>
      <p:sp>
        <p:nvSpPr>
          <p:cNvPr id="35" name="Content Placeholder 2"/>
          <p:cNvSpPr txBox="1">
            <a:spLocks/>
          </p:cNvSpPr>
          <p:nvPr/>
        </p:nvSpPr>
        <p:spPr bwMode="auto">
          <a:xfrm>
            <a:off x="3052124" y="5916304"/>
            <a:ext cx="3002507"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ts val="3200"/>
              </a:lnSpc>
              <a:spcBef>
                <a:spcPts val="0"/>
              </a:spcBef>
              <a:buFont typeface="Wingdings" pitchFamily="2" charset="2"/>
              <a:buNone/>
            </a:pPr>
            <a:r>
              <a:rPr lang="de-DE" sz="3600" smtClean="0">
                <a:solidFill>
                  <a:schemeClr val="bg1"/>
                </a:solidFill>
                <a:latin typeface="Franklin Gothic Demi Cond" pitchFamily="34" charset="0"/>
              </a:rPr>
              <a:t>SOS Families </a:t>
            </a:r>
          </a:p>
        </p:txBody>
      </p:sp>
      <p:sp>
        <p:nvSpPr>
          <p:cNvPr id="36" name="Content Placeholder 2"/>
          <p:cNvSpPr txBox="1">
            <a:spLocks/>
          </p:cNvSpPr>
          <p:nvPr/>
        </p:nvSpPr>
        <p:spPr bwMode="auto">
          <a:xfrm>
            <a:off x="6147467" y="5899284"/>
            <a:ext cx="3002507"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ts val="3200"/>
              </a:lnSpc>
              <a:spcBef>
                <a:spcPts val="0"/>
              </a:spcBef>
              <a:buFont typeface="Wingdings" pitchFamily="2" charset="2"/>
              <a:buNone/>
            </a:pPr>
            <a:r>
              <a:rPr lang="de-DE" sz="3600" dirty="0" smtClean="0">
                <a:solidFill>
                  <a:schemeClr val="bg1"/>
                </a:solidFill>
                <a:latin typeface="Franklin Gothic Demi Cond" pitchFamily="34" charset="0"/>
              </a:rPr>
              <a:t>Foster </a:t>
            </a:r>
            <a:r>
              <a:rPr lang="de-DE" sz="3600" dirty="0" err="1" smtClean="0">
                <a:solidFill>
                  <a:schemeClr val="bg1"/>
                </a:solidFill>
                <a:latin typeface="Franklin Gothic Demi Cond" pitchFamily="34" charset="0"/>
              </a:rPr>
              <a:t>Families</a:t>
            </a:r>
            <a:r>
              <a:rPr lang="de-DE" sz="3600" dirty="0" smtClean="0">
                <a:solidFill>
                  <a:schemeClr val="bg1"/>
                </a:solidFill>
                <a:latin typeface="Franklin Gothic Demi Cond" pitchFamily="34" charset="0"/>
              </a:rPr>
              <a:t> </a:t>
            </a:r>
          </a:p>
        </p:txBody>
      </p:sp>
    </p:spTree>
    <p:extLst>
      <p:ext uri="{BB962C8B-B14F-4D97-AF65-F5344CB8AC3E}">
        <p14:creationId xmlns:p14="http://schemas.microsoft.com/office/powerpoint/2010/main" val="201550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4308"/>
          <a:stretch/>
        </p:blipFill>
        <p:spPr>
          <a:xfrm>
            <a:off x="0" y="2028005"/>
            <a:ext cx="4680000" cy="4838593"/>
          </a:xfrm>
          <a:prstGeom prst="rect">
            <a:avLst/>
          </a:prstGeom>
        </p:spPr>
      </p:pic>
      <p:sp>
        <p:nvSpPr>
          <p:cNvPr id="2" name="Rectangle 1"/>
          <p:cNvSpPr/>
          <p:nvPr/>
        </p:nvSpPr>
        <p:spPr>
          <a:xfrm>
            <a:off x="4680000" y="1692323"/>
            <a:ext cx="4464000" cy="5165677"/>
          </a:xfrm>
          <a:prstGeom prst="rect">
            <a:avLst/>
          </a:prstGeom>
          <a:solidFill>
            <a:srgbClr val="009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3"/>
          <p:cNvSpPr/>
          <p:nvPr/>
        </p:nvSpPr>
        <p:spPr>
          <a:xfrm flipV="1">
            <a:off x="-19852" y="-28904"/>
            <a:ext cx="9174995" cy="2457938"/>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 name="connsiteX0" fmla="*/ 0 w 9323842"/>
              <a:gd name="connsiteY0" fmla="*/ 0 h 2572238"/>
              <a:gd name="connsiteX1" fmla="*/ 9283811 w 9323842"/>
              <a:gd name="connsiteY1" fmla="*/ 575101 h 2572238"/>
              <a:gd name="connsiteX2" fmla="*/ 9323842 w 9323842"/>
              <a:gd name="connsiteY2" fmla="*/ 2572238 h 2572238"/>
              <a:gd name="connsiteX3" fmla="*/ 12943 w 9323842"/>
              <a:gd name="connsiteY3" fmla="*/ 16730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1993 w 9323842"/>
              <a:gd name="connsiteY3" fmla="*/ 24731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418 w 9323842"/>
              <a:gd name="connsiteY3" fmla="*/ 2463662 h 2572238"/>
              <a:gd name="connsiteX4" fmla="*/ 0 w 9323842"/>
              <a:gd name="connsiteY4" fmla="*/ 0 h 2572238"/>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285742"/>
              <a:gd name="connsiteY0" fmla="*/ 0 h 2515088"/>
              <a:gd name="connsiteX1" fmla="*/ 9283811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285742"/>
              <a:gd name="connsiteY0" fmla="*/ 0 h 2515088"/>
              <a:gd name="connsiteX1" fmla="*/ 9159986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171442"/>
              <a:gd name="connsiteY0" fmla="*/ 0 h 2505563"/>
              <a:gd name="connsiteX1" fmla="*/ 9159986 w 9171442"/>
              <a:gd name="connsiteY1" fmla="*/ 575101 h 2505563"/>
              <a:gd name="connsiteX2" fmla="*/ 9171442 w 9171442"/>
              <a:gd name="connsiteY2" fmla="*/ 2505563 h 2505563"/>
              <a:gd name="connsiteX3" fmla="*/ 3418 w 9171442"/>
              <a:gd name="connsiteY3" fmla="*/ 2463662 h 2505563"/>
              <a:gd name="connsiteX4" fmla="*/ 0 w 9171442"/>
              <a:gd name="connsiteY4" fmla="*/ 0 h 2505563"/>
              <a:gd name="connsiteX0" fmla="*/ 0 w 9160019"/>
              <a:gd name="connsiteY0" fmla="*/ 0 h 2505563"/>
              <a:gd name="connsiteX1" fmla="*/ 9159986 w 9160019"/>
              <a:gd name="connsiteY1" fmla="*/ 575101 h 2505563"/>
              <a:gd name="connsiteX2" fmla="*/ 9152392 w 9160019"/>
              <a:gd name="connsiteY2" fmla="*/ 2505563 h 2505563"/>
              <a:gd name="connsiteX3" fmla="*/ 3418 w 9160019"/>
              <a:gd name="connsiteY3" fmla="*/ 2463662 h 2505563"/>
              <a:gd name="connsiteX4" fmla="*/ 0 w 9160019"/>
              <a:gd name="connsiteY4" fmla="*/ 0 h 2505563"/>
              <a:gd name="connsiteX0" fmla="*/ 0 w 9174522"/>
              <a:gd name="connsiteY0" fmla="*/ 0 h 2463662"/>
              <a:gd name="connsiteX1" fmla="*/ 9159986 w 9174522"/>
              <a:gd name="connsiteY1" fmla="*/ 575101 h 2463662"/>
              <a:gd name="connsiteX2" fmla="*/ 9174522 w 9174522"/>
              <a:gd name="connsiteY2" fmla="*/ 2429363 h 2463662"/>
              <a:gd name="connsiteX3" fmla="*/ 3418 w 9174522"/>
              <a:gd name="connsiteY3" fmla="*/ 2463662 h 2463662"/>
              <a:gd name="connsiteX4" fmla="*/ 0 w 9174522"/>
              <a:gd name="connsiteY4" fmla="*/ 0 h 2463662"/>
              <a:gd name="connsiteX0" fmla="*/ 6909 w 9181431"/>
              <a:gd name="connsiteY0" fmla="*/ 0 h 2429363"/>
              <a:gd name="connsiteX1" fmla="*/ 9166895 w 9181431"/>
              <a:gd name="connsiteY1" fmla="*/ 575101 h 2429363"/>
              <a:gd name="connsiteX2" fmla="*/ 9181431 w 9181431"/>
              <a:gd name="connsiteY2" fmla="*/ 2429363 h 2429363"/>
              <a:gd name="connsiteX3" fmla="*/ 800 w 9181431"/>
              <a:gd name="connsiteY3" fmla="*/ 2416037 h 2429363"/>
              <a:gd name="connsiteX4" fmla="*/ 6909 w 9181431"/>
              <a:gd name="connsiteY4" fmla="*/ 0 h 2429363"/>
              <a:gd name="connsiteX0" fmla="*/ 6909 w 9181431"/>
              <a:gd name="connsiteY0" fmla="*/ 0 h 2444612"/>
              <a:gd name="connsiteX1" fmla="*/ 9166895 w 9181431"/>
              <a:gd name="connsiteY1" fmla="*/ 575101 h 2444612"/>
              <a:gd name="connsiteX2" fmla="*/ 9181431 w 9181431"/>
              <a:gd name="connsiteY2" fmla="*/ 2429363 h 2444612"/>
              <a:gd name="connsiteX3" fmla="*/ 800 w 9181431"/>
              <a:gd name="connsiteY3" fmla="*/ 2444612 h 2444612"/>
              <a:gd name="connsiteX4" fmla="*/ 6909 w 9181431"/>
              <a:gd name="connsiteY4" fmla="*/ 0 h 2444612"/>
              <a:gd name="connsiteX0" fmla="*/ 6909 w 9203570"/>
              <a:gd name="connsiteY0" fmla="*/ 0 h 2457938"/>
              <a:gd name="connsiteX1" fmla="*/ 9166895 w 9203570"/>
              <a:gd name="connsiteY1" fmla="*/ 575101 h 2457938"/>
              <a:gd name="connsiteX2" fmla="*/ 9203570 w 9203570"/>
              <a:gd name="connsiteY2" fmla="*/ 2457938 h 2457938"/>
              <a:gd name="connsiteX3" fmla="*/ 800 w 9203570"/>
              <a:gd name="connsiteY3" fmla="*/ 2444612 h 2457938"/>
              <a:gd name="connsiteX4" fmla="*/ 6909 w 9203570"/>
              <a:gd name="connsiteY4" fmla="*/ 0 h 2457938"/>
              <a:gd name="connsiteX0" fmla="*/ 6909 w 9178075"/>
              <a:gd name="connsiteY0" fmla="*/ 0 h 2457938"/>
              <a:gd name="connsiteX1" fmla="*/ 9166895 w 9178075"/>
              <a:gd name="connsiteY1" fmla="*/ 575101 h 2457938"/>
              <a:gd name="connsiteX2" fmla="*/ 9178075 w 9178075"/>
              <a:gd name="connsiteY2" fmla="*/ 2457938 h 2457938"/>
              <a:gd name="connsiteX3" fmla="*/ 800 w 9178075"/>
              <a:gd name="connsiteY3" fmla="*/ 2444612 h 2457938"/>
              <a:gd name="connsiteX4" fmla="*/ 6909 w 9178075"/>
              <a:gd name="connsiteY4" fmla="*/ 0 h 245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8075" h="2457938">
                <a:moveTo>
                  <a:pt x="6909" y="0"/>
                </a:moveTo>
                <a:lnTo>
                  <a:pt x="9166895" y="575101"/>
                </a:lnTo>
                <a:cubicBezTo>
                  <a:pt x="9167539" y="1221763"/>
                  <a:pt x="9177431" y="1811276"/>
                  <a:pt x="9178075" y="2457938"/>
                </a:cubicBezTo>
                <a:lnTo>
                  <a:pt x="800" y="2444612"/>
                </a:lnTo>
                <a:cubicBezTo>
                  <a:pt x="-3514" y="1886916"/>
                  <a:pt x="11223" y="557696"/>
                  <a:pt x="6909"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26" name="Content Placeholder 2"/>
          <p:cNvSpPr txBox="1">
            <a:spLocks/>
          </p:cNvSpPr>
          <p:nvPr/>
        </p:nvSpPr>
        <p:spPr bwMode="auto">
          <a:xfrm>
            <a:off x="280114" y="835597"/>
            <a:ext cx="8004078" cy="1316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200"/>
              </a:lnSpc>
              <a:spcBef>
                <a:spcPts val="0"/>
              </a:spcBef>
              <a:buFont typeface="Wingdings" pitchFamily="2" charset="2"/>
              <a:buNone/>
            </a:pPr>
            <a:r>
              <a:rPr lang="de-DE" b="1" dirty="0" smtClean="0">
                <a:solidFill>
                  <a:schemeClr val="tx1">
                    <a:lumMod val="90000"/>
                    <a:lumOff val="10000"/>
                  </a:schemeClr>
                </a:solidFill>
                <a:latin typeface="Arial Narrow" pitchFamily="34" charset="0"/>
                <a:cs typeface="Arial" pitchFamily="34" charset="0"/>
              </a:rPr>
              <a:t>483 family strengthening programmes </a:t>
            </a:r>
            <a:r>
              <a:rPr lang="de-DE" dirty="0" smtClean="0">
                <a:solidFill>
                  <a:schemeClr val="tx1">
                    <a:lumMod val="90000"/>
                    <a:lumOff val="10000"/>
                  </a:schemeClr>
                </a:solidFill>
                <a:latin typeface="Arial Narrow" pitchFamily="34" charset="0"/>
                <a:cs typeface="Arial" pitchFamily="34" charset="0"/>
              </a:rPr>
              <a:t>worldwide, reaching </a:t>
            </a:r>
            <a:r>
              <a:rPr lang="de-DE" b="1" dirty="0" smtClean="0">
                <a:solidFill>
                  <a:schemeClr val="tx1">
                    <a:lumMod val="90000"/>
                    <a:lumOff val="10000"/>
                  </a:schemeClr>
                </a:solidFill>
                <a:latin typeface="Arial Narrow" pitchFamily="34" charset="0"/>
                <a:cs typeface="Arial" pitchFamily="34" charset="0"/>
              </a:rPr>
              <a:t>more than 328,000 children</a:t>
            </a:r>
            <a:r>
              <a:rPr lang="de-DE" dirty="0" smtClean="0">
                <a:solidFill>
                  <a:schemeClr val="tx1">
                    <a:lumMod val="90000"/>
                    <a:lumOff val="10000"/>
                  </a:schemeClr>
                </a:solidFill>
                <a:latin typeface="Arial Narrow" pitchFamily="34" charset="0"/>
                <a:cs typeface="Arial" pitchFamily="34" charset="0"/>
              </a:rPr>
              <a:t> </a:t>
            </a:r>
            <a:r>
              <a:rPr lang="de-DE" b="1" dirty="0" smtClean="0">
                <a:solidFill>
                  <a:schemeClr val="tx1">
                    <a:lumMod val="90000"/>
                    <a:lumOff val="10000"/>
                  </a:schemeClr>
                </a:solidFill>
                <a:latin typeface="Arial Narrow" pitchFamily="34" charset="0"/>
                <a:cs typeface="Arial" pitchFamily="34" charset="0"/>
              </a:rPr>
              <a:t>and adults </a:t>
            </a:r>
            <a:r>
              <a:rPr lang="de-DE" dirty="0" smtClean="0">
                <a:solidFill>
                  <a:schemeClr val="tx1">
                    <a:lumMod val="90000"/>
                    <a:lumOff val="10000"/>
                  </a:schemeClr>
                </a:solidFill>
                <a:latin typeface="Arial Narrow" pitchFamily="34" charset="0"/>
                <a:cs typeface="Arial" pitchFamily="34" charset="0"/>
              </a:rPr>
              <a:t>help families stay together.</a:t>
            </a:r>
            <a:endParaRPr lang="en-GB" dirty="0">
              <a:solidFill>
                <a:schemeClr val="tx1">
                  <a:lumMod val="90000"/>
                  <a:lumOff val="10000"/>
                </a:schemeClr>
              </a:solidFill>
              <a:latin typeface="Arial Narrow" pitchFamily="34" charset="0"/>
              <a:cs typeface="Arial" pitchFamily="34" charset="0"/>
            </a:endParaRPr>
          </a:p>
        </p:txBody>
      </p:sp>
      <p:sp>
        <p:nvSpPr>
          <p:cNvPr id="21" name="Content Placeholder 2"/>
          <p:cNvSpPr txBox="1">
            <a:spLocks/>
          </p:cNvSpPr>
          <p:nvPr/>
        </p:nvSpPr>
        <p:spPr bwMode="auto">
          <a:xfrm>
            <a:off x="4842422" y="2563992"/>
            <a:ext cx="4138797" cy="311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000"/>
              </a:lnSpc>
              <a:spcBef>
                <a:spcPts val="0"/>
              </a:spcBef>
              <a:buClr>
                <a:srgbClr val="D4EDFA"/>
              </a:buClr>
              <a:buNone/>
            </a:pPr>
            <a:endParaRPr lang="de-DE" dirty="0" smtClean="0">
              <a:solidFill>
                <a:schemeClr val="bg1"/>
              </a:solidFill>
              <a:latin typeface="Arial Narrow" pitchFamily="34" charset="0"/>
            </a:endParaRPr>
          </a:p>
          <a:p>
            <a:pPr>
              <a:lnSpc>
                <a:spcPts val="2700"/>
              </a:lnSpc>
              <a:spcBef>
                <a:spcPts val="0"/>
              </a:spcBef>
              <a:buClr>
                <a:srgbClr val="D4EDFA"/>
              </a:buClr>
              <a:buFont typeface="Arial" pitchFamily="34" charset="0"/>
              <a:buChar char="•"/>
            </a:pPr>
            <a:r>
              <a:rPr lang="de-DE" sz="3000" dirty="0" smtClean="0">
                <a:solidFill>
                  <a:schemeClr val="bg1"/>
                </a:solidFill>
                <a:latin typeface="Arial Narrow" pitchFamily="34" charset="0"/>
              </a:rPr>
              <a:t>Access to community services</a:t>
            </a:r>
          </a:p>
          <a:p>
            <a:pPr>
              <a:lnSpc>
                <a:spcPts val="2000"/>
              </a:lnSpc>
              <a:spcBef>
                <a:spcPts val="0"/>
              </a:spcBef>
              <a:buClr>
                <a:srgbClr val="D4EDFA"/>
              </a:buClr>
              <a:buFont typeface="Arial" pitchFamily="34" charset="0"/>
              <a:buChar char="•"/>
            </a:pPr>
            <a:endParaRPr lang="de-DE" sz="3000" dirty="0" smtClean="0">
              <a:solidFill>
                <a:schemeClr val="bg1"/>
              </a:solidFill>
              <a:latin typeface="Arial Narrow" pitchFamily="34" charset="0"/>
            </a:endParaRPr>
          </a:p>
          <a:p>
            <a:pPr>
              <a:lnSpc>
                <a:spcPts val="2700"/>
              </a:lnSpc>
              <a:spcBef>
                <a:spcPts val="0"/>
              </a:spcBef>
              <a:buClr>
                <a:srgbClr val="D4EDFA"/>
              </a:buClr>
              <a:buFont typeface="Arial" pitchFamily="34" charset="0"/>
              <a:buChar char="•"/>
            </a:pPr>
            <a:r>
              <a:rPr lang="de-DE" sz="3000" dirty="0" smtClean="0">
                <a:solidFill>
                  <a:schemeClr val="bg1"/>
                </a:solidFill>
                <a:latin typeface="Arial Narrow" pitchFamily="34" charset="0"/>
              </a:rPr>
              <a:t>Coaching &amp; vocational training</a:t>
            </a:r>
          </a:p>
          <a:p>
            <a:pPr>
              <a:lnSpc>
                <a:spcPts val="2000"/>
              </a:lnSpc>
              <a:spcBef>
                <a:spcPts val="0"/>
              </a:spcBef>
              <a:buClr>
                <a:srgbClr val="D4EDFA"/>
              </a:buClr>
              <a:buFont typeface="Arial" pitchFamily="34" charset="0"/>
              <a:buChar char="•"/>
            </a:pPr>
            <a:endParaRPr lang="de-DE" sz="3000" dirty="0" smtClean="0">
              <a:solidFill>
                <a:schemeClr val="bg1"/>
              </a:solidFill>
              <a:latin typeface="Arial Narrow" pitchFamily="34" charset="0"/>
            </a:endParaRPr>
          </a:p>
          <a:p>
            <a:pPr>
              <a:lnSpc>
                <a:spcPts val="2000"/>
              </a:lnSpc>
              <a:spcBef>
                <a:spcPts val="0"/>
              </a:spcBef>
              <a:buClr>
                <a:srgbClr val="D4EDFA"/>
              </a:buClr>
              <a:buFont typeface="Arial" pitchFamily="34" charset="0"/>
              <a:buChar char="•"/>
            </a:pPr>
            <a:r>
              <a:rPr lang="de-DE" sz="3000" dirty="0" smtClean="0">
                <a:solidFill>
                  <a:schemeClr val="bg1"/>
                </a:solidFill>
                <a:latin typeface="Arial Narrow" pitchFamily="34" charset="0"/>
              </a:rPr>
              <a:t>Advice on raising children</a:t>
            </a:r>
          </a:p>
          <a:p>
            <a:pPr>
              <a:lnSpc>
                <a:spcPts val="2000"/>
              </a:lnSpc>
              <a:spcBef>
                <a:spcPts val="0"/>
              </a:spcBef>
              <a:buClr>
                <a:srgbClr val="D4EDFA"/>
              </a:buClr>
              <a:buFont typeface="Arial" pitchFamily="34" charset="0"/>
              <a:buChar char="•"/>
            </a:pPr>
            <a:endParaRPr lang="de-DE" sz="3000" dirty="0" smtClean="0">
              <a:solidFill>
                <a:schemeClr val="bg1"/>
              </a:solidFill>
              <a:latin typeface="Arial Narrow" pitchFamily="34" charset="0"/>
            </a:endParaRPr>
          </a:p>
          <a:p>
            <a:pPr>
              <a:lnSpc>
                <a:spcPts val="2600"/>
              </a:lnSpc>
              <a:spcBef>
                <a:spcPts val="0"/>
              </a:spcBef>
              <a:buClr>
                <a:srgbClr val="D4EDFA"/>
              </a:buClr>
              <a:buFont typeface="Arial" pitchFamily="34" charset="0"/>
              <a:buChar char="•"/>
            </a:pPr>
            <a:r>
              <a:rPr lang="de-DE" sz="3000" dirty="0" smtClean="0">
                <a:solidFill>
                  <a:schemeClr val="bg1"/>
                </a:solidFill>
                <a:latin typeface="Arial Narrow" pitchFamily="34" charset="0"/>
              </a:rPr>
              <a:t>Help with finances</a:t>
            </a:r>
          </a:p>
          <a:p>
            <a:pPr marL="0" indent="0">
              <a:lnSpc>
                <a:spcPts val="2800"/>
              </a:lnSpc>
              <a:spcBef>
                <a:spcPts val="0"/>
              </a:spcBef>
              <a:buFont typeface="Wingdings" pitchFamily="2" charset="2"/>
              <a:buNone/>
            </a:pPr>
            <a:endParaRPr lang="de-DE" sz="3000" dirty="0">
              <a:solidFill>
                <a:schemeClr val="bg1"/>
              </a:solidFill>
              <a:latin typeface="Arial Narrow" pitchFamily="34" charset="0"/>
            </a:endParaRPr>
          </a:p>
        </p:txBody>
      </p:sp>
      <p:sp>
        <p:nvSpPr>
          <p:cNvPr id="18" name="Content Placeholder 2"/>
          <p:cNvSpPr txBox="1">
            <a:spLocks/>
          </p:cNvSpPr>
          <p:nvPr/>
        </p:nvSpPr>
        <p:spPr bwMode="auto">
          <a:xfrm>
            <a:off x="299580" y="232245"/>
            <a:ext cx="9001811" cy="54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400"/>
              </a:lnSpc>
              <a:buFont typeface="Wingdings" pitchFamily="2" charset="2"/>
              <a:buNone/>
            </a:pPr>
            <a:r>
              <a:rPr lang="de-DE" sz="3600" dirty="0" smtClean="0">
                <a:solidFill>
                  <a:srgbClr val="00B1E6"/>
                </a:solidFill>
                <a:latin typeface="Franklin Gothic Demi Cond" pitchFamily="34" charset="0"/>
              </a:rPr>
              <a:t>Working </a:t>
            </a:r>
            <a:r>
              <a:rPr lang="de-DE" sz="3600" dirty="0" err="1" smtClean="0">
                <a:solidFill>
                  <a:srgbClr val="00B1E6"/>
                </a:solidFill>
                <a:latin typeface="Franklin Gothic Demi Cond" pitchFamily="34" charset="0"/>
              </a:rPr>
              <a:t>with</a:t>
            </a:r>
            <a:r>
              <a:rPr lang="de-DE" sz="3600" dirty="0" smtClean="0">
                <a:solidFill>
                  <a:srgbClr val="00B1E6"/>
                </a:solidFill>
                <a:latin typeface="Franklin Gothic Demi Cond" pitchFamily="34" charset="0"/>
              </a:rPr>
              <a:t> BIOLOGICAL FAMILIES</a:t>
            </a:r>
          </a:p>
          <a:p>
            <a:pPr marL="0" indent="0">
              <a:buFont typeface="Wingdings" pitchFamily="2" charset="2"/>
              <a:buNone/>
            </a:pPr>
            <a:endParaRPr lang="en-GB" dirty="0">
              <a:solidFill>
                <a:srgbClr val="E74361"/>
              </a:solidFill>
              <a:latin typeface="HelveticaNeueLT Std Cn" pitchFamily="34" charset="0"/>
            </a:endParaRPr>
          </a:p>
        </p:txBody>
      </p:sp>
    </p:spTree>
    <p:extLst>
      <p:ext uri="{BB962C8B-B14F-4D97-AF65-F5344CB8AC3E}">
        <p14:creationId xmlns:p14="http://schemas.microsoft.com/office/powerpoint/2010/main" val="39321604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b="1606"/>
          <a:stretch/>
        </p:blipFill>
        <p:spPr>
          <a:xfrm>
            <a:off x="0" y="2088107"/>
            <a:ext cx="4808824" cy="4769893"/>
          </a:xfrm>
          <a:prstGeom prst="rect">
            <a:avLst/>
          </a:prstGeom>
        </p:spPr>
      </p:pic>
      <p:sp>
        <p:nvSpPr>
          <p:cNvPr id="8" name="Rectangle 7"/>
          <p:cNvSpPr/>
          <p:nvPr/>
        </p:nvSpPr>
        <p:spPr>
          <a:xfrm>
            <a:off x="4680000" y="1692323"/>
            <a:ext cx="4464000" cy="5165677"/>
          </a:xfrm>
          <a:prstGeom prst="rect">
            <a:avLst/>
          </a:prstGeom>
          <a:solidFill>
            <a:srgbClr val="E743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3"/>
          <p:cNvSpPr/>
          <p:nvPr/>
        </p:nvSpPr>
        <p:spPr>
          <a:xfrm flipV="1">
            <a:off x="-19852" y="-28904"/>
            <a:ext cx="9174995" cy="2457938"/>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 name="connsiteX0" fmla="*/ 0 w 9323842"/>
              <a:gd name="connsiteY0" fmla="*/ 0 h 2572238"/>
              <a:gd name="connsiteX1" fmla="*/ 9283811 w 9323842"/>
              <a:gd name="connsiteY1" fmla="*/ 575101 h 2572238"/>
              <a:gd name="connsiteX2" fmla="*/ 9323842 w 9323842"/>
              <a:gd name="connsiteY2" fmla="*/ 2572238 h 2572238"/>
              <a:gd name="connsiteX3" fmla="*/ 12943 w 9323842"/>
              <a:gd name="connsiteY3" fmla="*/ 16730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1993 w 9323842"/>
              <a:gd name="connsiteY3" fmla="*/ 24731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418 w 9323842"/>
              <a:gd name="connsiteY3" fmla="*/ 2463662 h 2572238"/>
              <a:gd name="connsiteX4" fmla="*/ 0 w 9323842"/>
              <a:gd name="connsiteY4" fmla="*/ 0 h 2572238"/>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285742"/>
              <a:gd name="connsiteY0" fmla="*/ 0 h 2515088"/>
              <a:gd name="connsiteX1" fmla="*/ 9283811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285742"/>
              <a:gd name="connsiteY0" fmla="*/ 0 h 2515088"/>
              <a:gd name="connsiteX1" fmla="*/ 9159986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171442"/>
              <a:gd name="connsiteY0" fmla="*/ 0 h 2505563"/>
              <a:gd name="connsiteX1" fmla="*/ 9159986 w 9171442"/>
              <a:gd name="connsiteY1" fmla="*/ 575101 h 2505563"/>
              <a:gd name="connsiteX2" fmla="*/ 9171442 w 9171442"/>
              <a:gd name="connsiteY2" fmla="*/ 2505563 h 2505563"/>
              <a:gd name="connsiteX3" fmla="*/ 3418 w 9171442"/>
              <a:gd name="connsiteY3" fmla="*/ 2463662 h 2505563"/>
              <a:gd name="connsiteX4" fmla="*/ 0 w 9171442"/>
              <a:gd name="connsiteY4" fmla="*/ 0 h 2505563"/>
              <a:gd name="connsiteX0" fmla="*/ 0 w 9160019"/>
              <a:gd name="connsiteY0" fmla="*/ 0 h 2505563"/>
              <a:gd name="connsiteX1" fmla="*/ 9159986 w 9160019"/>
              <a:gd name="connsiteY1" fmla="*/ 575101 h 2505563"/>
              <a:gd name="connsiteX2" fmla="*/ 9152392 w 9160019"/>
              <a:gd name="connsiteY2" fmla="*/ 2505563 h 2505563"/>
              <a:gd name="connsiteX3" fmla="*/ 3418 w 9160019"/>
              <a:gd name="connsiteY3" fmla="*/ 2463662 h 2505563"/>
              <a:gd name="connsiteX4" fmla="*/ 0 w 9160019"/>
              <a:gd name="connsiteY4" fmla="*/ 0 h 2505563"/>
              <a:gd name="connsiteX0" fmla="*/ 0 w 9174522"/>
              <a:gd name="connsiteY0" fmla="*/ 0 h 2463662"/>
              <a:gd name="connsiteX1" fmla="*/ 9159986 w 9174522"/>
              <a:gd name="connsiteY1" fmla="*/ 575101 h 2463662"/>
              <a:gd name="connsiteX2" fmla="*/ 9174522 w 9174522"/>
              <a:gd name="connsiteY2" fmla="*/ 2429363 h 2463662"/>
              <a:gd name="connsiteX3" fmla="*/ 3418 w 9174522"/>
              <a:gd name="connsiteY3" fmla="*/ 2463662 h 2463662"/>
              <a:gd name="connsiteX4" fmla="*/ 0 w 9174522"/>
              <a:gd name="connsiteY4" fmla="*/ 0 h 2463662"/>
              <a:gd name="connsiteX0" fmla="*/ 6909 w 9181431"/>
              <a:gd name="connsiteY0" fmla="*/ 0 h 2429363"/>
              <a:gd name="connsiteX1" fmla="*/ 9166895 w 9181431"/>
              <a:gd name="connsiteY1" fmla="*/ 575101 h 2429363"/>
              <a:gd name="connsiteX2" fmla="*/ 9181431 w 9181431"/>
              <a:gd name="connsiteY2" fmla="*/ 2429363 h 2429363"/>
              <a:gd name="connsiteX3" fmla="*/ 800 w 9181431"/>
              <a:gd name="connsiteY3" fmla="*/ 2416037 h 2429363"/>
              <a:gd name="connsiteX4" fmla="*/ 6909 w 9181431"/>
              <a:gd name="connsiteY4" fmla="*/ 0 h 2429363"/>
              <a:gd name="connsiteX0" fmla="*/ 6909 w 9181431"/>
              <a:gd name="connsiteY0" fmla="*/ 0 h 2444612"/>
              <a:gd name="connsiteX1" fmla="*/ 9166895 w 9181431"/>
              <a:gd name="connsiteY1" fmla="*/ 575101 h 2444612"/>
              <a:gd name="connsiteX2" fmla="*/ 9181431 w 9181431"/>
              <a:gd name="connsiteY2" fmla="*/ 2429363 h 2444612"/>
              <a:gd name="connsiteX3" fmla="*/ 800 w 9181431"/>
              <a:gd name="connsiteY3" fmla="*/ 2444612 h 2444612"/>
              <a:gd name="connsiteX4" fmla="*/ 6909 w 9181431"/>
              <a:gd name="connsiteY4" fmla="*/ 0 h 2444612"/>
              <a:gd name="connsiteX0" fmla="*/ 6909 w 9203570"/>
              <a:gd name="connsiteY0" fmla="*/ 0 h 2457938"/>
              <a:gd name="connsiteX1" fmla="*/ 9166895 w 9203570"/>
              <a:gd name="connsiteY1" fmla="*/ 575101 h 2457938"/>
              <a:gd name="connsiteX2" fmla="*/ 9203570 w 9203570"/>
              <a:gd name="connsiteY2" fmla="*/ 2457938 h 2457938"/>
              <a:gd name="connsiteX3" fmla="*/ 800 w 9203570"/>
              <a:gd name="connsiteY3" fmla="*/ 2444612 h 2457938"/>
              <a:gd name="connsiteX4" fmla="*/ 6909 w 9203570"/>
              <a:gd name="connsiteY4" fmla="*/ 0 h 2457938"/>
              <a:gd name="connsiteX0" fmla="*/ 6909 w 9178075"/>
              <a:gd name="connsiteY0" fmla="*/ 0 h 2457938"/>
              <a:gd name="connsiteX1" fmla="*/ 9166895 w 9178075"/>
              <a:gd name="connsiteY1" fmla="*/ 575101 h 2457938"/>
              <a:gd name="connsiteX2" fmla="*/ 9178075 w 9178075"/>
              <a:gd name="connsiteY2" fmla="*/ 2457938 h 2457938"/>
              <a:gd name="connsiteX3" fmla="*/ 800 w 9178075"/>
              <a:gd name="connsiteY3" fmla="*/ 2444612 h 2457938"/>
              <a:gd name="connsiteX4" fmla="*/ 6909 w 9178075"/>
              <a:gd name="connsiteY4" fmla="*/ 0 h 245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8075" h="2457938">
                <a:moveTo>
                  <a:pt x="6909" y="0"/>
                </a:moveTo>
                <a:lnTo>
                  <a:pt x="9166895" y="575101"/>
                </a:lnTo>
                <a:cubicBezTo>
                  <a:pt x="9167539" y="1221763"/>
                  <a:pt x="9177431" y="1811276"/>
                  <a:pt x="9178075" y="2457938"/>
                </a:cubicBezTo>
                <a:lnTo>
                  <a:pt x="800" y="2444612"/>
                </a:lnTo>
                <a:cubicBezTo>
                  <a:pt x="-3514" y="1886916"/>
                  <a:pt x="11223" y="557696"/>
                  <a:pt x="6909"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26" name="Content Placeholder 2"/>
          <p:cNvSpPr txBox="1">
            <a:spLocks/>
          </p:cNvSpPr>
          <p:nvPr/>
        </p:nvSpPr>
        <p:spPr bwMode="auto">
          <a:xfrm>
            <a:off x="280114" y="944781"/>
            <a:ext cx="8859308" cy="1341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200"/>
              </a:lnSpc>
              <a:spcBef>
                <a:spcPts val="0"/>
              </a:spcBef>
              <a:buNone/>
            </a:pPr>
            <a:r>
              <a:rPr lang="de-DE" sz="3000" dirty="0">
                <a:solidFill>
                  <a:schemeClr val="tx1">
                    <a:lumMod val="90000"/>
                    <a:lumOff val="10000"/>
                  </a:schemeClr>
                </a:solidFill>
                <a:latin typeface="Arial Narrow" pitchFamily="34" charset="0"/>
                <a:cs typeface="Arial" pitchFamily="34" charset="0"/>
              </a:rPr>
              <a:t>More than </a:t>
            </a:r>
            <a:r>
              <a:rPr lang="de-DE" sz="3000" b="1" dirty="0" smtClean="0">
                <a:solidFill>
                  <a:schemeClr val="tx1">
                    <a:lumMod val="90000"/>
                    <a:lumOff val="10000"/>
                  </a:schemeClr>
                </a:solidFill>
                <a:latin typeface="Arial Narrow" pitchFamily="34" charset="0"/>
                <a:cs typeface="Arial" pitchFamily="34" charset="0"/>
              </a:rPr>
              <a:t>60,000 children </a:t>
            </a:r>
            <a:r>
              <a:rPr lang="de-DE" sz="3000" dirty="0" smtClean="0">
                <a:solidFill>
                  <a:schemeClr val="tx1">
                    <a:lumMod val="90000"/>
                    <a:lumOff val="10000"/>
                  </a:schemeClr>
                </a:solidFill>
                <a:latin typeface="Arial Narrow" pitchFamily="34" charset="0"/>
                <a:cs typeface="Arial" pitchFamily="34" charset="0"/>
              </a:rPr>
              <a:t>are growing </a:t>
            </a:r>
            <a:r>
              <a:rPr lang="de-DE" sz="3000" dirty="0">
                <a:solidFill>
                  <a:schemeClr val="tx1">
                    <a:lumMod val="90000"/>
                    <a:lumOff val="10000"/>
                  </a:schemeClr>
                </a:solidFill>
                <a:latin typeface="Arial Narrow" pitchFamily="34" charset="0"/>
                <a:cs typeface="Arial" pitchFamily="34" charset="0"/>
              </a:rPr>
              <a:t>up </a:t>
            </a:r>
            <a:r>
              <a:rPr lang="de-DE" sz="3000" dirty="0" smtClean="0">
                <a:solidFill>
                  <a:schemeClr val="tx1">
                    <a:lumMod val="90000"/>
                    <a:lumOff val="10000"/>
                  </a:schemeClr>
                </a:solidFill>
                <a:latin typeface="Arial Narrow" pitchFamily="34" charset="0"/>
                <a:cs typeface="Arial" pitchFamily="34" charset="0"/>
              </a:rPr>
              <a:t>in</a:t>
            </a:r>
          </a:p>
          <a:p>
            <a:pPr marL="0" indent="0">
              <a:lnSpc>
                <a:spcPts val="3200"/>
              </a:lnSpc>
              <a:spcBef>
                <a:spcPts val="0"/>
              </a:spcBef>
              <a:buNone/>
            </a:pPr>
            <a:r>
              <a:rPr lang="de-DE" sz="3000" b="1" dirty="0" smtClean="0">
                <a:solidFill>
                  <a:schemeClr val="tx1">
                    <a:lumMod val="90000"/>
                    <a:lumOff val="10000"/>
                  </a:schemeClr>
                </a:solidFill>
                <a:latin typeface="Arial Narrow" pitchFamily="34" charset="0"/>
                <a:cs typeface="Arial" pitchFamily="34" charset="0"/>
              </a:rPr>
              <a:t>6,400 SOS families </a:t>
            </a:r>
            <a:r>
              <a:rPr lang="de-DE" sz="3000" dirty="0" smtClean="0">
                <a:solidFill>
                  <a:schemeClr val="tx1">
                    <a:lumMod val="90000"/>
                    <a:lumOff val="10000"/>
                  </a:schemeClr>
                </a:solidFill>
                <a:latin typeface="Arial Narrow" pitchFamily="34" charset="0"/>
                <a:cs typeface="Arial" pitchFamily="34" charset="0"/>
              </a:rPr>
              <a:t>worldwide</a:t>
            </a:r>
            <a:endParaRPr lang="en-GB" sz="3000" dirty="0">
              <a:solidFill>
                <a:schemeClr val="tx1">
                  <a:lumMod val="90000"/>
                  <a:lumOff val="10000"/>
                </a:schemeClr>
              </a:solidFill>
              <a:latin typeface="Arial Narrow" pitchFamily="34" charset="0"/>
              <a:cs typeface="Arial" pitchFamily="34" charset="0"/>
            </a:endParaRPr>
          </a:p>
        </p:txBody>
      </p:sp>
      <p:sp>
        <p:nvSpPr>
          <p:cNvPr id="21" name="Content Placeholder 2"/>
          <p:cNvSpPr txBox="1">
            <a:spLocks/>
          </p:cNvSpPr>
          <p:nvPr/>
        </p:nvSpPr>
        <p:spPr bwMode="auto">
          <a:xfrm>
            <a:off x="4830640" y="2712069"/>
            <a:ext cx="4138797" cy="203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buClr>
                <a:srgbClr val="FBE1DE"/>
              </a:buClr>
              <a:buFont typeface="Arial" pitchFamily="34" charset="0"/>
              <a:buChar char="•"/>
            </a:pPr>
            <a:r>
              <a:rPr lang="de-DE" sz="3000" dirty="0" smtClean="0">
                <a:solidFill>
                  <a:schemeClr val="bg1"/>
                </a:solidFill>
                <a:latin typeface="Arial Narrow" pitchFamily="34" charset="0"/>
              </a:rPr>
              <a:t>Care of a mother</a:t>
            </a:r>
          </a:p>
          <a:p>
            <a:pPr>
              <a:spcBef>
                <a:spcPts val="0"/>
              </a:spcBef>
              <a:buClr>
                <a:srgbClr val="FBE1DE"/>
              </a:buClr>
              <a:buFont typeface="Arial" pitchFamily="34" charset="0"/>
              <a:buChar char="•"/>
            </a:pPr>
            <a:r>
              <a:rPr lang="de-DE" sz="3000" dirty="0">
                <a:solidFill>
                  <a:schemeClr val="bg1"/>
                </a:solidFill>
                <a:latin typeface="Arial Narrow" pitchFamily="34" charset="0"/>
              </a:rPr>
              <a:t>Loving home</a:t>
            </a:r>
          </a:p>
          <a:p>
            <a:pPr>
              <a:spcBef>
                <a:spcPts val="0"/>
              </a:spcBef>
              <a:buClr>
                <a:srgbClr val="FBE1DE"/>
              </a:buClr>
              <a:buFont typeface="Arial" pitchFamily="34" charset="0"/>
              <a:buChar char="•"/>
            </a:pPr>
            <a:r>
              <a:rPr lang="de-DE" sz="3000" dirty="0" smtClean="0">
                <a:solidFill>
                  <a:schemeClr val="bg1"/>
                </a:solidFill>
                <a:latin typeface="Arial Narrow" pitchFamily="34" charset="0"/>
              </a:rPr>
              <a:t>Supportive community</a:t>
            </a:r>
            <a:endParaRPr lang="de-DE" sz="3000" dirty="0">
              <a:solidFill>
                <a:schemeClr val="bg1"/>
              </a:solidFill>
              <a:latin typeface="Arial Narrow" pitchFamily="34" charset="0"/>
            </a:endParaRPr>
          </a:p>
        </p:txBody>
      </p:sp>
      <p:sp>
        <p:nvSpPr>
          <p:cNvPr id="18" name="Content Placeholder 2"/>
          <p:cNvSpPr txBox="1">
            <a:spLocks/>
          </p:cNvSpPr>
          <p:nvPr/>
        </p:nvSpPr>
        <p:spPr bwMode="auto">
          <a:xfrm>
            <a:off x="299580" y="341429"/>
            <a:ext cx="9001811" cy="54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400"/>
              </a:lnSpc>
              <a:buFont typeface="Wingdings" pitchFamily="2" charset="2"/>
              <a:buNone/>
            </a:pPr>
            <a:r>
              <a:rPr lang="de-DE" sz="3600" dirty="0" smtClean="0">
                <a:solidFill>
                  <a:srgbClr val="E74361"/>
                </a:solidFill>
                <a:latin typeface="Franklin Gothic Demi Cond" pitchFamily="34" charset="0"/>
              </a:rPr>
              <a:t>Working with SOS FAMILIES</a:t>
            </a:r>
          </a:p>
          <a:p>
            <a:pPr marL="0" indent="0">
              <a:buFont typeface="Wingdings" pitchFamily="2" charset="2"/>
              <a:buNone/>
            </a:pPr>
            <a:endParaRPr lang="en-GB" dirty="0">
              <a:solidFill>
                <a:srgbClr val="E74361"/>
              </a:solidFill>
              <a:latin typeface="HelveticaNeueLT Std Cn" pitchFamily="34" charset="0"/>
            </a:endParaRPr>
          </a:p>
        </p:txBody>
      </p:sp>
    </p:spTree>
    <p:extLst>
      <p:ext uri="{BB962C8B-B14F-4D97-AF65-F5344CB8AC3E}">
        <p14:creationId xmlns:p14="http://schemas.microsoft.com/office/powerpoint/2010/main" val="22115707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1427"/>
          <a:stretch/>
        </p:blipFill>
        <p:spPr>
          <a:xfrm>
            <a:off x="-19852" y="1976366"/>
            <a:ext cx="4699851" cy="4887759"/>
          </a:xfrm>
          <a:prstGeom prst="rect">
            <a:avLst/>
          </a:prstGeom>
        </p:spPr>
      </p:pic>
      <p:sp>
        <p:nvSpPr>
          <p:cNvPr id="9" name="Rectangle 8"/>
          <p:cNvSpPr/>
          <p:nvPr/>
        </p:nvSpPr>
        <p:spPr>
          <a:xfrm>
            <a:off x="4680000" y="1692323"/>
            <a:ext cx="4464000" cy="5165677"/>
          </a:xfrm>
          <a:prstGeom prst="rect">
            <a:avLst/>
          </a:prstGeom>
          <a:solidFill>
            <a:srgbClr val="EC74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Rectangle 3"/>
          <p:cNvSpPr/>
          <p:nvPr/>
        </p:nvSpPr>
        <p:spPr>
          <a:xfrm flipV="1">
            <a:off x="-19852" y="-28904"/>
            <a:ext cx="9174995" cy="2457938"/>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 name="connsiteX0" fmla="*/ 0 w 9323842"/>
              <a:gd name="connsiteY0" fmla="*/ 0 h 2572238"/>
              <a:gd name="connsiteX1" fmla="*/ 9283811 w 9323842"/>
              <a:gd name="connsiteY1" fmla="*/ 575101 h 2572238"/>
              <a:gd name="connsiteX2" fmla="*/ 9323842 w 9323842"/>
              <a:gd name="connsiteY2" fmla="*/ 2572238 h 2572238"/>
              <a:gd name="connsiteX3" fmla="*/ 12943 w 9323842"/>
              <a:gd name="connsiteY3" fmla="*/ 16730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1993 w 9323842"/>
              <a:gd name="connsiteY3" fmla="*/ 24731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418 w 9323842"/>
              <a:gd name="connsiteY3" fmla="*/ 2463662 h 2572238"/>
              <a:gd name="connsiteX4" fmla="*/ 0 w 9323842"/>
              <a:gd name="connsiteY4" fmla="*/ 0 h 2572238"/>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285742"/>
              <a:gd name="connsiteY0" fmla="*/ 0 h 2515088"/>
              <a:gd name="connsiteX1" fmla="*/ 9283811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285742"/>
              <a:gd name="connsiteY0" fmla="*/ 0 h 2515088"/>
              <a:gd name="connsiteX1" fmla="*/ 9159986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171442"/>
              <a:gd name="connsiteY0" fmla="*/ 0 h 2505563"/>
              <a:gd name="connsiteX1" fmla="*/ 9159986 w 9171442"/>
              <a:gd name="connsiteY1" fmla="*/ 575101 h 2505563"/>
              <a:gd name="connsiteX2" fmla="*/ 9171442 w 9171442"/>
              <a:gd name="connsiteY2" fmla="*/ 2505563 h 2505563"/>
              <a:gd name="connsiteX3" fmla="*/ 3418 w 9171442"/>
              <a:gd name="connsiteY3" fmla="*/ 2463662 h 2505563"/>
              <a:gd name="connsiteX4" fmla="*/ 0 w 9171442"/>
              <a:gd name="connsiteY4" fmla="*/ 0 h 2505563"/>
              <a:gd name="connsiteX0" fmla="*/ 0 w 9160019"/>
              <a:gd name="connsiteY0" fmla="*/ 0 h 2505563"/>
              <a:gd name="connsiteX1" fmla="*/ 9159986 w 9160019"/>
              <a:gd name="connsiteY1" fmla="*/ 575101 h 2505563"/>
              <a:gd name="connsiteX2" fmla="*/ 9152392 w 9160019"/>
              <a:gd name="connsiteY2" fmla="*/ 2505563 h 2505563"/>
              <a:gd name="connsiteX3" fmla="*/ 3418 w 9160019"/>
              <a:gd name="connsiteY3" fmla="*/ 2463662 h 2505563"/>
              <a:gd name="connsiteX4" fmla="*/ 0 w 9160019"/>
              <a:gd name="connsiteY4" fmla="*/ 0 h 2505563"/>
              <a:gd name="connsiteX0" fmla="*/ 0 w 9174522"/>
              <a:gd name="connsiteY0" fmla="*/ 0 h 2463662"/>
              <a:gd name="connsiteX1" fmla="*/ 9159986 w 9174522"/>
              <a:gd name="connsiteY1" fmla="*/ 575101 h 2463662"/>
              <a:gd name="connsiteX2" fmla="*/ 9174522 w 9174522"/>
              <a:gd name="connsiteY2" fmla="*/ 2429363 h 2463662"/>
              <a:gd name="connsiteX3" fmla="*/ 3418 w 9174522"/>
              <a:gd name="connsiteY3" fmla="*/ 2463662 h 2463662"/>
              <a:gd name="connsiteX4" fmla="*/ 0 w 9174522"/>
              <a:gd name="connsiteY4" fmla="*/ 0 h 2463662"/>
              <a:gd name="connsiteX0" fmla="*/ 6909 w 9181431"/>
              <a:gd name="connsiteY0" fmla="*/ 0 h 2429363"/>
              <a:gd name="connsiteX1" fmla="*/ 9166895 w 9181431"/>
              <a:gd name="connsiteY1" fmla="*/ 575101 h 2429363"/>
              <a:gd name="connsiteX2" fmla="*/ 9181431 w 9181431"/>
              <a:gd name="connsiteY2" fmla="*/ 2429363 h 2429363"/>
              <a:gd name="connsiteX3" fmla="*/ 800 w 9181431"/>
              <a:gd name="connsiteY3" fmla="*/ 2416037 h 2429363"/>
              <a:gd name="connsiteX4" fmla="*/ 6909 w 9181431"/>
              <a:gd name="connsiteY4" fmla="*/ 0 h 2429363"/>
              <a:gd name="connsiteX0" fmla="*/ 6909 w 9181431"/>
              <a:gd name="connsiteY0" fmla="*/ 0 h 2444612"/>
              <a:gd name="connsiteX1" fmla="*/ 9166895 w 9181431"/>
              <a:gd name="connsiteY1" fmla="*/ 575101 h 2444612"/>
              <a:gd name="connsiteX2" fmla="*/ 9181431 w 9181431"/>
              <a:gd name="connsiteY2" fmla="*/ 2429363 h 2444612"/>
              <a:gd name="connsiteX3" fmla="*/ 800 w 9181431"/>
              <a:gd name="connsiteY3" fmla="*/ 2444612 h 2444612"/>
              <a:gd name="connsiteX4" fmla="*/ 6909 w 9181431"/>
              <a:gd name="connsiteY4" fmla="*/ 0 h 2444612"/>
              <a:gd name="connsiteX0" fmla="*/ 6909 w 9203570"/>
              <a:gd name="connsiteY0" fmla="*/ 0 h 2457938"/>
              <a:gd name="connsiteX1" fmla="*/ 9166895 w 9203570"/>
              <a:gd name="connsiteY1" fmla="*/ 575101 h 2457938"/>
              <a:gd name="connsiteX2" fmla="*/ 9203570 w 9203570"/>
              <a:gd name="connsiteY2" fmla="*/ 2457938 h 2457938"/>
              <a:gd name="connsiteX3" fmla="*/ 800 w 9203570"/>
              <a:gd name="connsiteY3" fmla="*/ 2444612 h 2457938"/>
              <a:gd name="connsiteX4" fmla="*/ 6909 w 9203570"/>
              <a:gd name="connsiteY4" fmla="*/ 0 h 2457938"/>
              <a:gd name="connsiteX0" fmla="*/ 6909 w 9178075"/>
              <a:gd name="connsiteY0" fmla="*/ 0 h 2457938"/>
              <a:gd name="connsiteX1" fmla="*/ 9166895 w 9178075"/>
              <a:gd name="connsiteY1" fmla="*/ 575101 h 2457938"/>
              <a:gd name="connsiteX2" fmla="*/ 9178075 w 9178075"/>
              <a:gd name="connsiteY2" fmla="*/ 2457938 h 2457938"/>
              <a:gd name="connsiteX3" fmla="*/ 800 w 9178075"/>
              <a:gd name="connsiteY3" fmla="*/ 2444612 h 2457938"/>
              <a:gd name="connsiteX4" fmla="*/ 6909 w 9178075"/>
              <a:gd name="connsiteY4" fmla="*/ 0 h 245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8075" h="2457938">
                <a:moveTo>
                  <a:pt x="6909" y="0"/>
                </a:moveTo>
                <a:lnTo>
                  <a:pt x="9166895" y="575101"/>
                </a:lnTo>
                <a:cubicBezTo>
                  <a:pt x="9167539" y="1221763"/>
                  <a:pt x="9177431" y="1811276"/>
                  <a:pt x="9178075" y="2457938"/>
                </a:cubicBezTo>
                <a:lnTo>
                  <a:pt x="800" y="2444612"/>
                </a:lnTo>
                <a:cubicBezTo>
                  <a:pt x="-3514" y="1886916"/>
                  <a:pt x="11223" y="557696"/>
                  <a:pt x="6909"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8" name="Content Placeholder 2"/>
          <p:cNvSpPr txBox="1">
            <a:spLocks/>
          </p:cNvSpPr>
          <p:nvPr/>
        </p:nvSpPr>
        <p:spPr bwMode="auto">
          <a:xfrm>
            <a:off x="299580" y="341428"/>
            <a:ext cx="9001811" cy="5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400"/>
              </a:lnSpc>
              <a:buFont typeface="Wingdings" pitchFamily="2" charset="2"/>
              <a:buNone/>
            </a:pPr>
            <a:r>
              <a:rPr lang="de-DE" sz="3600" dirty="0" smtClean="0">
                <a:solidFill>
                  <a:srgbClr val="EC7404"/>
                </a:solidFill>
                <a:latin typeface="Franklin Gothic Demi Cond" pitchFamily="34" charset="0"/>
              </a:rPr>
              <a:t>Working with FOSTER FAMILIES</a:t>
            </a:r>
          </a:p>
          <a:p>
            <a:pPr marL="0" indent="0">
              <a:buFont typeface="Wingdings" pitchFamily="2" charset="2"/>
              <a:buNone/>
            </a:pPr>
            <a:endParaRPr lang="en-GB" dirty="0">
              <a:solidFill>
                <a:srgbClr val="E74361"/>
              </a:solidFill>
              <a:latin typeface="HelveticaNeueLT Std Cn" pitchFamily="34" charset="0"/>
            </a:endParaRPr>
          </a:p>
        </p:txBody>
      </p:sp>
      <p:sp>
        <p:nvSpPr>
          <p:cNvPr id="26" name="Content Placeholder 2"/>
          <p:cNvSpPr txBox="1">
            <a:spLocks/>
          </p:cNvSpPr>
          <p:nvPr/>
        </p:nvSpPr>
        <p:spPr bwMode="auto">
          <a:xfrm>
            <a:off x="285932" y="944781"/>
            <a:ext cx="8859308"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200"/>
              </a:lnSpc>
              <a:spcBef>
                <a:spcPts val="0"/>
              </a:spcBef>
              <a:buNone/>
            </a:pPr>
            <a:r>
              <a:rPr lang="en-GB" sz="3000">
                <a:solidFill>
                  <a:schemeClr val="tx1">
                    <a:lumMod val="90000"/>
                    <a:lumOff val="10000"/>
                  </a:schemeClr>
                </a:solidFill>
                <a:latin typeface="Arial Narrow" pitchFamily="34" charset="0"/>
                <a:cs typeface="Arial" pitchFamily="34" charset="0"/>
              </a:rPr>
              <a:t>More than </a:t>
            </a:r>
            <a:r>
              <a:rPr lang="en-GB" sz="3000" b="1">
                <a:solidFill>
                  <a:schemeClr val="tx1">
                    <a:lumMod val="90000"/>
                    <a:lumOff val="10000"/>
                  </a:schemeClr>
                </a:solidFill>
                <a:latin typeface="Arial Narrow" pitchFamily="34" charset="0"/>
                <a:cs typeface="Arial" pitchFamily="34" charset="0"/>
              </a:rPr>
              <a:t>500 foster families worldwide </a:t>
            </a:r>
            <a:r>
              <a:rPr lang="en-GB" sz="3000" b="1" smtClean="0">
                <a:solidFill>
                  <a:schemeClr val="tx1">
                    <a:lumMod val="90000"/>
                    <a:lumOff val="10000"/>
                  </a:schemeClr>
                </a:solidFill>
                <a:latin typeface="Arial Narrow" pitchFamily="34" charset="0"/>
                <a:cs typeface="Arial" pitchFamily="34" charset="0"/>
              </a:rPr>
              <a:t/>
            </a:r>
            <a:br>
              <a:rPr lang="en-GB" sz="3000" b="1" smtClean="0">
                <a:solidFill>
                  <a:schemeClr val="tx1">
                    <a:lumMod val="90000"/>
                    <a:lumOff val="10000"/>
                  </a:schemeClr>
                </a:solidFill>
                <a:latin typeface="Arial Narrow" pitchFamily="34" charset="0"/>
                <a:cs typeface="Arial" pitchFamily="34" charset="0"/>
              </a:rPr>
            </a:br>
            <a:r>
              <a:rPr lang="en-GB" sz="3000" smtClean="0">
                <a:solidFill>
                  <a:schemeClr val="tx1">
                    <a:lumMod val="90000"/>
                    <a:lumOff val="10000"/>
                  </a:schemeClr>
                </a:solidFill>
                <a:latin typeface="Arial Narrow" pitchFamily="34" charset="0"/>
                <a:cs typeface="Arial" pitchFamily="34" charset="0"/>
              </a:rPr>
              <a:t>are </a:t>
            </a:r>
            <a:r>
              <a:rPr lang="en-GB" sz="3000">
                <a:solidFill>
                  <a:schemeClr val="tx1">
                    <a:lumMod val="90000"/>
                    <a:lumOff val="10000"/>
                  </a:schemeClr>
                </a:solidFill>
                <a:latin typeface="Arial Narrow" pitchFamily="34" charset="0"/>
                <a:cs typeface="Arial" pitchFamily="34" charset="0"/>
              </a:rPr>
              <a:t>receiving support from SOS Children’s Villages</a:t>
            </a:r>
            <a:endParaRPr lang="en-GB" sz="3000" dirty="0">
              <a:solidFill>
                <a:schemeClr val="tx1">
                  <a:lumMod val="90000"/>
                  <a:lumOff val="10000"/>
                </a:schemeClr>
              </a:solidFill>
              <a:latin typeface="Arial Narrow" pitchFamily="34" charset="0"/>
              <a:cs typeface="Arial" pitchFamily="34" charset="0"/>
            </a:endParaRPr>
          </a:p>
        </p:txBody>
      </p:sp>
      <p:sp>
        <p:nvSpPr>
          <p:cNvPr id="8" name="Content Placeholder 2"/>
          <p:cNvSpPr txBox="1">
            <a:spLocks/>
          </p:cNvSpPr>
          <p:nvPr/>
        </p:nvSpPr>
        <p:spPr bwMode="auto">
          <a:xfrm>
            <a:off x="4846406" y="2901261"/>
            <a:ext cx="4138797" cy="203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ts val="2700"/>
              </a:lnSpc>
              <a:spcBef>
                <a:spcPts val="0"/>
              </a:spcBef>
              <a:buClr>
                <a:srgbClr val="FBE1DE"/>
              </a:buClr>
              <a:buFont typeface="Arial" pitchFamily="34" charset="0"/>
              <a:buChar char="•"/>
            </a:pPr>
            <a:r>
              <a:rPr lang="de-DE" sz="3000" smtClean="0">
                <a:solidFill>
                  <a:schemeClr val="bg1"/>
                </a:solidFill>
                <a:latin typeface="Arial Narrow" pitchFamily="34" charset="0"/>
              </a:rPr>
              <a:t>Training and support for exisiting foster parents</a:t>
            </a:r>
            <a:br>
              <a:rPr lang="de-DE" sz="3000" smtClean="0">
                <a:solidFill>
                  <a:schemeClr val="bg1"/>
                </a:solidFill>
                <a:latin typeface="Arial Narrow" pitchFamily="34" charset="0"/>
              </a:rPr>
            </a:br>
            <a:endParaRPr lang="de-DE" sz="3000" smtClean="0">
              <a:solidFill>
                <a:schemeClr val="bg1"/>
              </a:solidFill>
              <a:latin typeface="Arial Narrow" pitchFamily="34" charset="0"/>
            </a:endParaRPr>
          </a:p>
          <a:p>
            <a:pPr>
              <a:lnSpc>
                <a:spcPts val="2700"/>
              </a:lnSpc>
              <a:spcBef>
                <a:spcPts val="0"/>
              </a:spcBef>
              <a:buClr>
                <a:srgbClr val="FBE1DE"/>
              </a:buClr>
              <a:buFont typeface="Arial" pitchFamily="34" charset="0"/>
              <a:buChar char="•"/>
            </a:pPr>
            <a:r>
              <a:rPr lang="de-DE" sz="3000" smtClean="0">
                <a:solidFill>
                  <a:schemeClr val="bg1"/>
                </a:solidFill>
                <a:latin typeface="Arial Narrow" pitchFamily="34" charset="0"/>
              </a:rPr>
              <a:t>Primary responsibility</a:t>
            </a:r>
          </a:p>
          <a:p>
            <a:pPr>
              <a:lnSpc>
                <a:spcPts val="2700"/>
              </a:lnSpc>
              <a:spcBef>
                <a:spcPts val="0"/>
              </a:spcBef>
              <a:buClr>
                <a:srgbClr val="FBE1DE"/>
              </a:buClr>
              <a:buFont typeface="Arial" pitchFamily="34" charset="0"/>
              <a:buChar char="•"/>
            </a:pPr>
            <a:endParaRPr lang="de-DE" sz="3000">
              <a:solidFill>
                <a:schemeClr val="bg1"/>
              </a:solidFill>
              <a:latin typeface="Arial Narrow" pitchFamily="34" charset="0"/>
            </a:endParaRPr>
          </a:p>
          <a:p>
            <a:pPr>
              <a:lnSpc>
                <a:spcPts val="2700"/>
              </a:lnSpc>
              <a:spcBef>
                <a:spcPts val="0"/>
              </a:spcBef>
              <a:buClr>
                <a:srgbClr val="FBE1DE"/>
              </a:buClr>
              <a:buFont typeface="Arial" pitchFamily="34" charset="0"/>
              <a:buChar char="•"/>
            </a:pPr>
            <a:r>
              <a:rPr lang="de-DE" sz="3000">
                <a:solidFill>
                  <a:schemeClr val="bg1"/>
                </a:solidFill>
                <a:latin typeface="Arial Narrow" pitchFamily="34" charset="0"/>
              </a:rPr>
              <a:t>Transition of families </a:t>
            </a:r>
            <a:r>
              <a:rPr lang="de-DE" sz="3000" smtClean="0">
                <a:solidFill>
                  <a:schemeClr val="bg1"/>
                </a:solidFill>
                <a:latin typeface="Arial Narrow" pitchFamily="34" charset="0"/>
              </a:rPr>
              <a:t/>
            </a:r>
            <a:br>
              <a:rPr lang="de-DE" sz="3000" smtClean="0">
                <a:solidFill>
                  <a:schemeClr val="bg1"/>
                </a:solidFill>
                <a:latin typeface="Arial Narrow" pitchFamily="34" charset="0"/>
              </a:rPr>
            </a:br>
            <a:r>
              <a:rPr lang="de-DE" sz="3000" smtClean="0">
                <a:solidFill>
                  <a:schemeClr val="bg1"/>
                </a:solidFill>
                <a:latin typeface="Arial Narrow" pitchFamily="34" charset="0"/>
              </a:rPr>
              <a:t>from </a:t>
            </a:r>
            <a:r>
              <a:rPr lang="de-DE" sz="3000">
                <a:solidFill>
                  <a:schemeClr val="bg1"/>
                </a:solidFill>
                <a:latin typeface="Arial Narrow" pitchFamily="34" charset="0"/>
              </a:rPr>
              <a:t>SOS to the state system</a:t>
            </a:r>
          </a:p>
          <a:p>
            <a:pPr marL="0" indent="0">
              <a:lnSpc>
                <a:spcPts val="2700"/>
              </a:lnSpc>
              <a:spcBef>
                <a:spcPts val="0"/>
              </a:spcBef>
              <a:buClr>
                <a:srgbClr val="FBE1DE"/>
              </a:buClr>
              <a:buNone/>
            </a:pPr>
            <a:endParaRPr lang="de-DE" sz="3000" dirty="0">
              <a:solidFill>
                <a:schemeClr val="bg1"/>
              </a:solidFill>
              <a:latin typeface="Arial Narrow" pitchFamily="34" charset="0"/>
            </a:endParaRPr>
          </a:p>
        </p:txBody>
      </p:sp>
    </p:spTree>
    <p:extLst>
      <p:ext uri="{BB962C8B-B14F-4D97-AF65-F5344CB8AC3E}">
        <p14:creationId xmlns:p14="http://schemas.microsoft.com/office/powerpoint/2010/main" val="37902196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580" r="2580"/>
          <a:stretch/>
        </p:blipFill>
        <p:spPr>
          <a:xfrm>
            <a:off x="-19852" y="1801332"/>
            <a:ext cx="9174996" cy="5066430"/>
          </a:xfrm>
          <a:prstGeom prst="rect">
            <a:avLst/>
          </a:prstGeom>
        </p:spPr>
      </p:pic>
      <p:sp>
        <p:nvSpPr>
          <p:cNvPr id="16" name="Rectangle 15"/>
          <p:cNvSpPr/>
          <p:nvPr/>
        </p:nvSpPr>
        <p:spPr>
          <a:xfrm>
            <a:off x="4680001" y="311644"/>
            <a:ext cx="4459422" cy="6546356"/>
          </a:xfrm>
          <a:prstGeom prst="rect">
            <a:avLst/>
          </a:prstGeom>
          <a:solidFill>
            <a:schemeClr val="tx1">
              <a:alpha val="57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Rectangle 3"/>
          <p:cNvSpPr/>
          <p:nvPr/>
        </p:nvSpPr>
        <p:spPr>
          <a:xfrm flipV="1">
            <a:off x="-19852" y="-28904"/>
            <a:ext cx="9174995" cy="2457938"/>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 name="connsiteX0" fmla="*/ 0 w 9323842"/>
              <a:gd name="connsiteY0" fmla="*/ 0 h 2572238"/>
              <a:gd name="connsiteX1" fmla="*/ 9283811 w 9323842"/>
              <a:gd name="connsiteY1" fmla="*/ 575101 h 2572238"/>
              <a:gd name="connsiteX2" fmla="*/ 9323842 w 9323842"/>
              <a:gd name="connsiteY2" fmla="*/ 2572238 h 2572238"/>
              <a:gd name="connsiteX3" fmla="*/ 12943 w 9323842"/>
              <a:gd name="connsiteY3" fmla="*/ 16730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1993 w 9323842"/>
              <a:gd name="connsiteY3" fmla="*/ 24731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418 w 9323842"/>
              <a:gd name="connsiteY3" fmla="*/ 2463662 h 2572238"/>
              <a:gd name="connsiteX4" fmla="*/ 0 w 9323842"/>
              <a:gd name="connsiteY4" fmla="*/ 0 h 2572238"/>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285742"/>
              <a:gd name="connsiteY0" fmla="*/ 0 h 2515088"/>
              <a:gd name="connsiteX1" fmla="*/ 9283811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285742"/>
              <a:gd name="connsiteY0" fmla="*/ 0 h 2515088"/>
              <a:gd name="connsiteX1" fmla="*/ 9159986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171442"/>
              <a:gd name="connsiteY0" fmla="*/ 0 h 2505563"/>
              <a:gd name="connsiteX1" fmla="*/ 9159986 w 9171442"/>
              <a:gd name="connsiteY1" fmla="*/ 575101 h 2505563"/>
              <a:gd name="connsiteX2" fmla="*/ 9171442 w 9171442"/>
              <a:gd name="connsiteY2" fmla="*/ 2505563 h 2505563"/>
              <a:gd name="connsiteX3" fmla="*/ 3418 w 9171442"/>
              <a:gd name="connsiteY3" fmla="*/ 2463662 h 2505563"/>
              <a:gd name="connsiteX4" fmla="*/ 0 w 9171442"/>
              <a:gd name="connsiteY4" fmla="*/ 0 h 2505563"/>
              <a:gd name="connsiteX0" fmla="*/ 0 w 9160019"/>
              <a:gd name="connsiteY0" fmla="*/ 0 h 2505563"/>
              <a:gd name="connsiteX1" fmla="*/ 9159986 w 9160019"/>
              <a:gd name="connsiteY1" fmla="*/ 575101 h 2505563"/>
              <a:gd name="connsiteX2" fmla="*/ 9152392 w 9160019"/>
              <a:gd name="connsiteY2" fmla="*/ 2505563 h 2505563"/>
              <a:gd name="connsiteX3" fmla="*/ 3418 w 9160019"/>
              <a:gd name="connsiteY3" fmla="*/ 2463662 h 2505563"/>
              <a:gd name="connsiteX4" fmla="*/ 0 w 9160019"/>
              <a:gd name="connsiteY4" fmla="*/ 0 h 2505563"/>
              <a:gd name="connsiteX0" fmla="*/ 0 w 9174522"/>
              <a:gd name="connsiteY0" fmla="*/ 0 h 2463662"/>
              <a:gd name="connsiteX1" fmla="*/ 9159986 w 9174522"/>
              <a:gd name="connsiteY1" fmla="*/ 575101 h 2463662"/>
              <a:gd name="connsiteX2" fmla="*/ 9174522 w 9174522"/>
              <a:gd name="connsiteY2" fmla="*/ 2429363 h 2463662"/>
              <a:gd name="connsiteX3" fmla="*/ 3418 w 9174522"/>
              <a:gd name="connsiteY3" fmla="*/ 2463662 h 2463662"/>
              <a:gd name="connsiteX4" fmla="*/ 0 w 9174522"/>
              <a:gd name="connsiteY4" fmla="*/ 0 h 2463662"/>
              <a:gd name="connsiteX0" fmla="*/ 6909 w 9181431"/>
              <a:gd name="connsiteY0" fmla="*/ 0 h 2429363"/>
              <a:gd name="connsiteX1" fmla="*/ 9166895 w 9181431"/>
              <a:gd name="connsiteY1" fmla="*/ 575101 h 2429363"/>
              <a:gd name="connsiteX2" fmla="*/ 9181431 w 9181431"/>
              <a:gd name="connsiteY2" fmla="*/ 2429363 h 2429363"/>
              <a:gd name="connsiteX3" fmla="*/ 800 w 9181431"/>
              <a:gd name="connsiteY3" fmla="*/ 2416037 h 2429363"/>
              <a:gd name="connsiteX4" fmla="*/ 6909 w 9181431"/>
              <a:gd name="connsiteY4" fmla="*/ 0 h 2429363"/>
              <a:gd name="connsiteX0" fmla="*/ 6909 w 9181431"/>
              <a:gd name="connsiteY0" fmla="*/ 0 h 2444612"/>
              <a:gd name="connsiteX1" fmla="*/ 9166895 w 9181431"/>
              <a:gd name="connsiteY1" fmla="*/ 575101 h 2444612"/>
              <a:gd name="connsiteX2" fmla="*/ 9181431 w 9181431"/>
              <a:gd name="connsiteY2" fmla="*/ 2429363 h 2444612"/>
              <a:gd name="connsiteX3" fmla="*/ 800 w 9181431"/>
              <a:gd name="connsiteY3" fmla="*/ 2444612 h 2444612"/>
              <a:gd name="connsiteX4" fmla="*/ 6909 w 9181431"/>
              <a:gd name="connsiteY4" fmla="*/ 0 h 2444612"/>
              <a:gd name="connsiteX0" fmla="*/ 6909 w 9203570"/>
              <a:gd name="connsiteY0" fmla="*/ 0 h 2457938"/>
              <a:gd name="connsiteX1" fmla="*/ 9166895 w 9203570"/>
              <a:gd name="connsiteY1" fmla="*/ 575101 h 2457938"/>
              <a:gd name="connsiteX2" fmla="*/ 9203570 w 9203570"/>
              <a:gd name="connsiteY2" fmla="*/ 2457938 h 2457938"/>
              <a:gd name="connsiteX3" fmla="*/ 800 w 9203570"/>
              <a:gd name="connsiteY3" fmla="*/ 2444612 h 2457938"/>
              <a:gd name="connsiteX4" fmla="*/ 6909 w 9203570"/>
              <a:gd name="connsiteY4" fmla="*/ 0 h 2457938"/>
              <a:gd name="connsiteX0" fmla="*/ 6909 w 9178075"/>
              <a:gd name="connsiteY0" fmla="*/ 0 h 2457938"/>
              <a:gd name="connsiteX1" fmla="*/ 9166895 w 9178075"/>
              <a:gd name="connsiteY1" fmla="*/ 575101 h 2457938"/>
              <a:gd name="connsiteX2" fmla="*/ 9178075 w 9178075"/>
              <a:gd name="connsiteY2" fmla="*/ 2457938 h 2457938"/>
              <a:gd name="connsiteX3" fmla="*/ 800 w 9178075"/>
              <a:gd name="connsiteY3" fmla="*/ 2444612 h 2457938"/>
              <a:gd name="connsiteX4" fmla="*/ 6909 w 9178075"/>
              <a:gd name="connsiteY4" fmla="*/ 0 h 245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8075" h="2457938">
                <a:moveTo>
                  <a:pt x="6909" y="0"/>
                </a:moveTo>
                <a:lnTo>
                  <a:pt x="9166895" y="575101"/>
                </a:lnTo>
                <a:cubicBezTo>
                  <a:pt x="9167539" y="1221763"/>
                  <a:pt x="9177431" y="1811276"/>
                  <a:pt x="9178075" y="2457938"/>
                </a:cubicBezTo>
                <a:lnTo>
                  <a:pt x="800" y="2444612"/>
                </a:lnTo>
                <a:cubicBezTo>
                  <a:pt x="-3514" y="1886916"/>
                  <a:pt x="11223" y="557696"/>
                  <a:pt x="6909"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8" name="Content Placeholder 2"/>
          <p:cNvSpPr txBox="1">
            <a:spLocks/>
          </p:cNvSpPr>
          <p:nvPr/>
        </p:nvSpPr>
        <p:spPr bwMode="auto">
          <a:xfrm>
            <a:off x="4850912" y="2670002"/>
            <a:ext cx="4621928" cy="3364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ts val="2600"/>
              </a:lnSpc>
              <a:spcBef>
                <a:spcPts val="0"/>
              </a:spcBef>
              <a:spcAft>
                <a:spcPts val="2000"/>
              </a:spcAft>
              <a:buClr>
                <a:srgbClr val="009EE0"/>
              </a:buClr>
              <a:buFont typeface="Arial" pitchFamily="34" charset="0"/>
              <a:buChar char="•"/>
            </a:pPr>
            <a:r>
              <a:rPr lang="en-US" dirty="0" smtClean="0">
                <a:solidFill>
                  <a:schemeClr val="bg1"/>
                </a:solidFill>
                <a:latin typeface="Arial Narrow" pitchFamily="34" charset="0"/>
              </a:rPr>
              <a:t>Education and </a:t>
            </a:r>
            <a:br>
              <a:rPr lang="en-US" dirty="0" smtClean="0">
                <a:solidFill>
                  <a:schemeClr val="bg1"/>
                </a:solidFill>
                <a:latin typeface="Arial Narrow" pitchFamily="34" charset="0"/>
              </a:rPr>
            </a:br>
            <a:r>
              <a:rPr lang="en-US" dirty="0" smtClean="0">
                <a:solidFill>
                  <a:schemeClr val="bg1"/>
                </a:solidFill>
                <a:latin typeface="Arial Narrow" pitchFamily="34" charset="0"/>
              </a:rPr>
              <a:t>employment opportunities</a:t>
            </a:r>
          </a:p>
          <a:p>
            <a:pPr>
              <a:lnSpc>
                <a:spcPts val="2600"/>
              </a:lnSpc>
              <a:spcBef>
                <a:spcPts val="0"/>
              </a:spcBef>
              <a:spcAft>
                <a:spcPts val="2000"/>
              </a:spcAft>
              <a:buClr>
                <a:srgbClr val="009EE0"/>
              </a:buClr>
              <a:buFont typeface="Arial" pitchFamily="34" charset="0"/>
              <a:buChar char="•"/>
            </a:pPr>
            <a:r>
              <a:rPr lang="en-US" dirty="0" smtClean="0">
                <a:solidFill>
                  <a:schemeClr val="bg1"/>
                </a:solidFill>
                <a:latin typeface="Arial Narrow" pitchFamily="34" charset="0"/>
              </a:rPr>
              <a:t>Safe housing </a:t>
            </a:r>
          </a:p>
          <a:p>
            <a:pPr>
              <a:lnSpc>
                <a:spcPts val="2600"/>
              </a:lnSpc>
              <a:spcBef>
                <a:spcPts val="0"/>
              </a:spcBef>
              <a:spcAft>
                <a:spcPts val="2000"/>
              </a:spcAft>
              <a:buClr>
                <a:srgbClr val="009EE0"/>
              </a:buClr>
              <a:buFont typeface="Arial" pitchFamily="34" charset="0"/>
              <a:buChar char="•"/>
            </a:pPr>
            <a:r>
              <a:rPr lang="en-US" dirty="0" smtClean="0">
                <a:solidFill>
                  <a:schemeClr val="bg1"/>
                </a:solidFill>
                <a:latin typeface="Arial Narrow" pitchFamily="34" charset="0"/>
              </a:rPr>
              <a:t>Emotional and </a:t>
            </a:r>
            <a:br>
              <a:rPr lang="en-US" dirty="0" smtClean="0">
                <a:solidFill>
                  <a:schemeClr val="bg1"/>
                </a:solidFill>
                <a:latin typeface="Arial Narrow" pitchFamily="34" charset="0"/>
              </a:rPr>
            </a:br>
            <a:r>
              <a:rPr lang="en-US" dirty="0" smtClean="0">
                <a:solidFill>
                  <a:schemeClr val="bg1"/>
                </a:solidFill>
                <a:latin typeface="Arial Narrow" pitchFamily="34" charset="0"/>
              </a:rPr>
              <a:t>social support</a:t>
            </a:r>
          </a:p>
          <a:p>
            <a:pPr>
              <a:lnSpc>
                <a:spcPts val="2600"/>
              </a:lnSpc>
              <a:spcBef>
                <a:spcPts val="0"/>
              </a:spcBef>
              <a:spcAft>
                <a:spcPts val="2000"/>
              </a:spcAft>
              <a:buClr>
                <a:srgbClr val="009EE0"/>
              </a:buClr>
              <a:buFont typeface="Arial" pitchFamily="34" charset="0"/>
              <a:buChar char="•"/>
            </a:pPr>
            <a:r>
              <a:rPr lang="en-US" dirty="0">
                <a:solidFill>
                  <a:schemeClr val="bg1"/>
                </a:solidFill>
                <a:latin typeface="Arial Narrow" pitchFamily="34" charset="0"/>
              </a:rPr>
              <a:t>A</a:t>
            </a:r>
            <a:r>
              <a:rPr lang="en-US" dirty="0" smtClean="0">
                <a:solidFill>
                  <a:schemeClr val="bg1"/>
                </a:solidFill>
                <a:latin typeface="Arial Narrow" pitchFamily="34" charset="0"/>
              </a:rPr>
              <a:t> </a:t>
            </a:r>
            <a:r>
              <a:rPr lang="en-US" dirty="0">
                <a:solidFill>
                  <a:schemeClr val="bg1"/>
                </a:solidFill>
                <a:latin typeface="Arial Narrow" pitchFamily="34" charset="0"/>
              </a:rPr>
              <a:t>voice</a:t>
            </a:r>
          </a:p>
          <a:p>
            <a:pPr marL="0" indent="0">
              <a:lnSpc>
                <a:spcPts val="2000"/>
              </a:lnSpc>
              <a:spcBef>
                <a:spcPts val="0"/>
              </a:spcBef>
              <a:buClr>
                <a:srgbClr val="D4EDFA"/>
              </a:buClr>
              <a:buNone/>
            </a:pPr>
            <a:endParaRPr lang="de-DE" i="1" dirty="0" smtClean="0">
              <a:solidFill>
                <a:schemeClr val="bg1"/>
              </a:solidFill>
              <a:latin typeface="HelveticaNeueLT Std Cn" pitchFamily="34" charset="0"/>
            </a:endParaRPr>
          </a:p>
          <a:p>
            <a:pPr marL="0" indent="0">
              <a:lnSpc>
                <a:spcPts val="2800"/>
              </a:lnSpc>
              <a:spcBef>
                <a:spcPts val="0"/>
              </a:spcBef>
              <a:buFont typeface="Wingdings" pitchFamily="2" charset="2"/>
              <a:buNone/>
            </a:pPr>
            <a:endParaRPr lang="en-GB" dirty="0">
              <a:latin typeface="HelveticaNeueLT Std Cn" pitchFamily="34" charset="0"/>
            </a:endParaRPr>
          </a:p>
        </p:txBody>
      </p:sp>
      <p:sp>
        <p:nvSpPr>
          <p:cNvPr id="26" name="Content Placeholder 2"/>
          <p:cNvSpPr txBox="1">
            <a:spLocks/>
          </p:cNvSpPr>
          <p:nvPr/>
        </p:nvSpPr>
        <p:spPr bwMode="auto">
          <a:xfrm>
            <a:off x="280114" y="944781"/>
            <a:ext cx="8859308"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200"/>
              </a:lnSpc>
              <a:spcBef>
                <a:spcPts val="0"/>
              </a:spcBef>
              <a:buNone/>
            </a:pPr>
            <a:r>
              <a:rPr lang="de-DE" sz="3000" spc="30" dirty="0" smtClean="0">
                <a:solidFill>
                  <a:schemeClr val="tx1">
                    <a:lumMod val="90000"/>
                    <a:lumOff val="10000"/>
                  </a:schemeClr>
                </a:solidFill>
                <a:latin typeface="Arial Narrow" pitchFamily="34" charset="0"/>
              </a:rPr>
              <a:t>More than </a:t>
            </a:r>
            <a:r>
              <a:rPr lang="de-DE" sz="3000" b="1" spc="30" dirty="0" smtClean="0">
                <a:solidFill>
                  <a:schemeClr val="tx1">
                    <a:lumMod val="90000"/>
                    <a:lumOff val="10000"/>
                  </a:schemeClr>
                </a:solidFill>
                <a:latin typeface="Arial Narrow" pitchFamily="34" charset="0"/>
              </a:rPr>
              <a:t>20,000 </a:t>
            </a:r>
            <a:r>
              <a:rPr lang="de-DE" sz="3000" b="1" spc="30" dirty="0">
                <a:solidFill>
                  <a:schemeClr val="tx1">
                    <a:lumMod val="90000"/>
                    <a:lumOff val="10000"/>
                  </a:schemeClr>
                </a:solidFill>
                <a:latin typeface="Arial Narrow" pitchFamily="34" charset="0"/>
              </a:rPr>
              <a:t>young people </a:t>
            </a:r>
            <a:r>
              <a:rPr lang="de-DE" sz="3000" spc="30" dirty="0">
                <a:solidFill>
                  <a:schemeClr val="tx1">
                    <a:lumMod val="90000"/>
                    <a:lumOff val="10000"/>
                  </a:schemeClr>
                </a:solidFill>
                <a:latin typeface="Arial Narrow" pitchFamily="34" charset="0"/>
              </a:rPr>
              <a:t>supported through </a:t>
            </a:r>
          </a:p>
          <a:p>
            <a:pPr marL="0" indent="0">
              <a:lnSpc>
                <a:spcPts val="3200"/>
              </a:lnSpc>
              <a:spcBef>
                <a:spcPts val="0"/>
              </a:spcBef>
              <a:buNone/>
            </a:pPr>
            <a:r>
              <a:rPr lang="de-DE" sz="3000" b="1" spc="30" dirty="0" smtClean="0">
                <a:solidFill>
                  <a:schemeClr val="tx1">
                    <a:lumMod val="90000"/>
                    <a:lumOff val="10000"/>
                  </a:schemeClr>
                </a:solidFill>
                <a:latin typeface="Arial Narrow" pitchFamily="34" charset="0"/>
              </a:rPr>
              <a:t>640 </a:t>
            </a:r>
            <a:r>
              <a:rPr lang="de-DE" sz="3000" b="1" spc="30" dirty="0">
                <a:solidFill>
                  <a:schemeClr val="tx1">
                    <a:lumMod val="90000"/>
                    <a:lumOff val="10000"/>
                  </a:schemeClr>
                </a:solidFill>
                <a:latin typeface="Arial Narrow" pitchFamily="34" charset="0"/>
              </a:rPr>
              <a:t>youth programmes </a:t>
            </a:r>
            <a:r>
              <a:rPr lang="de-DE" sz="3000" spc="30" dirty="0">
                <a:solidFill>
                  <a:schemeClr val="tx1">
                    <a:lumMod val="90000"/>
                    <a:lumOff val="10000"/>
                  </a:schemeClr>
                </a:solidFill>
                <a:latin typeface="Arial Narrow" pitchFamily="34" charset="0"/>
              </a:rPr>
              <a:t>worldwide. </a:t>
            </a:r>
            <a:endParaRPr lang="en-GB" sz="3000" spc="30" dirty="0">
              <a:solidFill>
                <a:schemeClr val="tx1">
                  <a:lumMod val="90000"/>
                  <a:lumOff val="10000"/>
                </a:schemeClr>
              </a:solidFill>
              <a:latin typeface="Arial Narrow" pitchFamily="34" charset="0"/>
            </a:endParaRPr>
          </a:p>
        </p:txBody>
      </p:sp>
      <p:sp>
        <p:nvSpPr>
          <p:cNvPr id="18" name="Content Placeholder 2"/>
          <p:cNvSpPr txBox="1">
            <a:spLocks/>
          </p:cNvSpPr>
          <p:nvPr/>
        </p:nvSpPr>
        <p:spPr bwMode="auto">
          <a:xfrm>
            <a:off x="299580" y="341429"/>
            <a:ext cx="9001811" cy="54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400"/>
              </a:lnSpc>
              <a:buFont typeface="Wingdings" pitchFamily="2" charset="2"/>
              <a:buNone/>
            </a:pPr>
            <a:r>
              <a:rPr lang="de-DE" sz="3600" dirty="0" smtClean="0">
                <a:solidFill>
                  <a:srgbClr val="00B1E6"/>
                </a:solidFill>
                <a:latin typeface="Franklin Gothic Demi Cond" pitchFamily="34" charset="0"/>
              </a:rPr>
              <a:t>Youth Programmes</a:t>
            </a:r>
          </a:p>
        </p:txBody>
      </p:sp>
    </p:spTree>
    <p:extLst>
      <p:ext uri="{BB962C8B-B14F-4D97-AF65-F5344CB8AC3E}">
        <p14:creationId xmlns:p14="http://schemas.microsoft.com/office/powerpoint/2010/main" val="13598549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b="19129"/>
          <a:stretch/>
        </p:blipFill>
        <p:spPr>
          <a:xfrm>
            <a:off x="0" y="1405745"/>
            <a:ext cx="9144000" cy="5452255"/>
          </a:xfrm>
          <a:prstGeom prst="rect">
            <a:avLst/>
          </a:prstGeom>
        </p:spPr>
      </p:pic>
      <p:sp>
        <p:nvSpPr>
          <p:cNvPr id="12" name="Rectangle 11"/>
          <p:cNvSpPr/>
          <p:nvPr/>
        </p:nvSpPr>
        <p:spPr>
          <a:xfrm>
            <a:off x="4680001" y="311644"/>
            <a:ext cx="4459422" cy="6546356"/>
          </a:xfrm>
          <a:prstGeom prst="rect">
            <a:avLst/>
          </a:prstGeom>
          <a:solidFill>
            <a:schemeClr val="tx1">
              <a:alpha val="2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3"/>
          <p:cNvSpPr/>
          <p:nvPr/>
        </p:nvSpPr>
        <p:spPr>
          <a:xfrm flipV="1">
            <a:off x="-19852" y="-28904"/>
            <a:ext cx="9174995" cy="2457938"/>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 name="connsiteX0" fmla="*/ 0 w 9323842"/>
              <a:gd name="connsiteY0" fmla="*/ 0 h 2572238"/>
              <a:gd name="connsiteX1" fmla="*/ 9283811 w 9323842"/>
              <a:gd name="connsiteY1" fmla="*/ 575101 h 2572238"/>
              <a:gd name="connsiteX2" fmla="*/ 9323842 w 9323842"/>
              <a:gd name="connsiteY2" fmla="*/ 2572238 h 2572238"/>
              <a:gd name="connsiteX3" fmla="*/ 12943 w 9323842"/>
              <a:gd name="connsiteY3" fmla="*/ 16730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1993 w 9323842"/>
              <a:gd name="connsiteY3" fmla="*/ 24731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418 w 9323842"/>
              <a:gd name="connsiteY3" fmla="*/ 2463662 h 2572238"/>
              <a:gd name="connsiteX4" fmla="*/ 0 w 9323842"/>
              <a:gd name="connsiteY4" fmla="*/ 0 h 2572238"/>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285742"/>
              <a:gd name="connsiteY0" fmla="*/ 0 h 2515088"/>
              <a:gd name="connsiteX1" fmla="*/ 9283811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285742"/>
              <a:gd name="connsiteY0" fmla="*/ 0 h 2515088"/>
              <a:gd name="connsiteX1" fmla="*/ 9159986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171442"/>
              <a:gd name="connsiteY0" fmla="*/ 0 h 2505563"/>
              <a:gd name="connsiteX1" fmla="*/ 9159986 w 9171442"/>
              <a:gd name="connsiteY1" fmla="*/ 575101 h 2505563"/>
              <a:gd name="connsiteX2" fmla="*/ 9171442 w 9171442"/>
              <a:gd name="connsiteY2" fmla="*/ 2505563 h 2505563"/>
              <a:gd name="connsiteX3" fmla="*/ 3418 w 9171442"/>
              <a:gd name="connsiteY3" fmla="*/ 2463662 h 2505563"/>
              <a:gd name="connsiteX4" fmla="*/ 0 w 9171442"/>
              <a:gd name="connsiteY4" fmla="*/ 0 h 2505563"/>
              <a:gd name="connsiteX0" fmla="*/ 0 w 9160019"/>
              <a:gd name="connsiteY0" fmla="*/ 0 h 2505563"/>
              <a:gd name="connsiteX1" fmla="*/ 9159986 w 9160019"/>
              <a:gd name="connsiteY1" fmla="*/ 575101 h 2505563"/>
              <a:gd name="connsiteX2" fmla="*/ 9152392 w 9160019"/>
              <a:gd name="connsiteY2" fmla="*/ 2505563 h 2505563"/>
              <a:gd name="connsiteX3" fmla="*/ 3418 w 9160019"/>
              <a:gd name="connsiteY3" fmla="*/ 2463662 h 2505563"/>
              <a:gd name="connsiteX4" fmla="*/ 0 w 9160019"/>
              <a:gd name="connsiteY4" fmla="*/ 0 h 2505563"/>
              <a:gd name="connsiteX0" fmla="*/ 0 w 9174522"/>
              <a:gd name="connsiteY0" fmla="*/ 0 h 2463662"/>
              <a:gd name="connsiteX1" fmla="*/ 9159986 w 9174522"/>
              <a:gd name="connsiteY1" fmla="*/ 575101 h 2463662"/>
              <a:gd name="connsiteX2" fmla="*/ 9174522 w 9174522"/>
              <a:gd name="connsiteY2" fmla="*/ 2429363 h 2463662"/>
              <a:gd name="connsiteX3" fmla="*/ 3418 w 9174522"/>
              <a:gd name="connsiteY3" fmla="*/ 2463662 h 2463662"/>
              <a:gd name="connsiteX4" fmla="*/ 0 w 9174522"/>
              <a:gd name="connsiteY4" fmla="*/ 0 h 2463662"/>
              <a:gd name="connsiteX0" fmla="*/ 6909 w 9181431"/>
              <a:gd name="connsiteY0" fmla="*/ 0 h 2429363"/>
              <a:gd name="connsiteX1" fmla="*/ 9166895 w 9181431"/>
              <a:gd name="connsiteY1" fmla="*/ 575101 h 2429363"/>
              <a:gd name="connsiteX2" fmla="*/ 9181431 w 9181431"/>
              <a:gd name="connsiteY2" fmla="*/ 2429363 h 2429363"/>
              <a:gd name="connsiteX3" fmla="*/ 800 w 9181431"/>
              <a:gd name="connsiteY3" fmla="*/ 2416037 h 2429363"/>
              <a:gd name="connsiteX4" fmla="*/ 6909 w 9181431"/>
              <a:gd name="connsiteY4" fmla="*/ 0 h 2429363"/>
              <a:gd name="connsiteX0" fmla="*/ 6909 w 9181431"/>
              <a:gd name="connsiteY0" fmla="*/ 0 h 2444612"/>
              <a:gd name="connsiteX1" fmla="*/ 9166895 w 9181431"/>
              <a:gd name="connsiteY1" fmla="*/ 575101 h 2444612"/>
              <a:gd name="connsiteX2" fmla="*/ 9181431 w 9181431"/>
              <a:gd name="connsiteY2" fmla="*/ 2429363 h 2444612"/>
              <a:gd name="connsiteX3" fmla="*/ 800 w 9181431"/>
              <a:gd name="connsiteY3" fmla="*/ 2444612 h 2444612"/>
              <a:gd name="connsiteX4" fmla="*/ 6909 w 9181431"/>
              <a:gd name="connsiteY4" fmla="*/ 0 h 2444612"/>
              <a:gd name="connsiteX0" fmla="*/ 6909 w 9203570"/>
              <a:gd name="connsiteY0" fmla="*/ 0 h 2457938"/>
              <a:gd name="connsiteX1" fmla="*/ 9166895 w 9203570"/>
              <a:gd name="connsiteY1" fmla="*/ 575101 h 2457938"/>
              <a:gd name="connsiteX2" fmla="*/ 9203570 w 9203570"/>
              <a:gd name="connsiteY2" fmla="*/ 2457938 h 2457938"/>
              <a:gd name="connsiteX3" fmla="*/ 800 w 9203570"/>
              <a:gd name="connsiteY3" fmla="*/ 2444612 h 2457938"/>
              <a:gd name="connsiteX4" fmla="*/ 6909 w 9203570"/>
              <a:gd name="connsiteY4" fmla="*/ 0 h 2457938"/>
              <a:gd name="connsiteX0" fmla="*/ 6909 w 9178075"/>
              <a:gd name="connsiteY0" fmla="*/ 0 h 2457938"/>
              <a:gd name="connsiteX1" fmla="*/ 9166895 w 9178075"/>
              <a:gd name="connsiteY1" fmla="*/ 575101 h 2457938"/>
              <a:gd name="connsiteX2" fmla="*/ 9178075 w 9178075"/>
              <a:gd name="connsiteY2" fmla="*/ 2457938 h 2457938"/>
              <a:gd name="connsiteX3" fmla="*/ 800 w 9178075"/>
              <a:gd name="connsiteY3" fmla="*/ 2444612 h 2457938"/>
              <a:gd name="connsiteX4" fmla="*/ 6909 w 9178075"/>
              <a:gd name="connsiteY4" fmla="*/ 0 h 245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8075" h="2457938">
                <a:moveTo>
                  <a:pt x="6909" y="0"/>
                </a:moveTo>
                <a:lnTo>
                  <a:pt x="9166895" y="575101"/>
                </a:lnTo>
                <a:cubicBezTo>
                  <a:pt x="9167539" y="1221763"/>
                  <a:pt x="9177431" y="1811276"/>
                  <a:pt x="9178075" y="2457938"/>
                </a:cubicBezTo>
                <a:lnTo>
                  <a:pt x="800" y="2444612"/>
                </a:lnTo>
                <a:cubicBezTo>
                  <a:pt x="-3514" y="1886916"/>
                  <a:pt x="11223" y="557696"/>
                  <a:pt x="6909"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8" name="Content Placeholder 2"/>
          <p:cNvSpPr txBox="1">
            <a:spLocks/>
          </p:cNvSpPr>
          <p:nvPr/>
        </p:nvSpPr>
        <p:spPr bwMode="auto">
          <a:xfrm>
            <a:off x="4841387" y="2581719"/>
            <a:ext cx="4405578" cy="3364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spcBef>
                <a:spcPts val="1500"/>
              </a:spcBef>
              <a:buClr>
                <a:srgbClr val="00B1E6"/>
              </a:buClr>
              <a:buFont typeface="Arial" pitchFamily="34" charset="0"/>
              <a:buChar char="•"/>
            </a:pPr>
            <a:r>
              <a:rPr lang="de-DE" dirty="0" smtClean="0">
                <a:solidFill>
                  <a:schemeClr val="bg1"/>
                </a:solidFill>
                <a:latin typeface="Arial Narrow" pitchFamily="34" charset="0"/>
              </a:rPr>
              <a:t>Education is a human right</a:t>
            </a:r>
            <a:endParaRPr lang="de-DE" b="1" dirty="0">
              <a:solidFill>
                <a:schemeClr val="bg1"/>
              </a:solidFill>
              <a:latin typeface="Arial Narrow" pitchFamily="34" charset="0"/>
            </a:endParaRPr>
          </a:p>
          <a:p>
            <a:pPr lvl="0">
              <a:lnSpc>
                <a:spcPts val="3000"/>
              </a:lnSpc>
              <a:spcBef>
                <a:spcPts val="1500"/>
              </a:spcBef>
              <a:buClr>
                <a:srgbClr val="00B1E6"/>
              </a:buClr>
              <a:buFont typeface="Arial" pitchFamily="34" charset="0"/>
              <a:buChar char="•"/>
            </a:pPr>
            <a:r>
              <a:rPr lang="de-DE" dirty="0" smtClean="0">
                <a:solidFill>
                  <a:schemeClr val="bg1"/>
                </a:solidFill>
                <a:latin typeface="Arial Narrow" pitchFamily="34" charset="0"/>
              </a:rPr>
              <a:t>Enable children to develop into responsible adults</a:t>
            </a:r>
          </a:p>
          <a:p>
            <a:pPr lvl="0">
              <a:lnSpc>
                <a:spcPts val="3000"/>
              </a:lnSpc>
              <a:spcBef>
                <a:spcPts val="1500"/>
              </a:spcBef>
              <a:buClr>
                <a:srgbClr val="00B1E6"/>
              </a:buClr>
              <a:buFont typeface="Arial" pitchFamily="34" charset="0"/>
              <a:buChar char="•"/>
            </a:pPr>
            <a:r>
              <a:rPr lang="de-DE" dirty="0" smtClean="0">
                <a:solidFill>
                  <a:schemeClr val="bg1"/>
                </a:solidFill>
                <a:latin typeface="Arial Narrow" pitchFamily="34" charset="0"/>
              </a:rPr>
              <a:t>Local needs and cultural sensitivities</a:t>
            </a:r>
            <a:endParaRPr lang="de-DE" dirty="0">
              <a:solidFill>
                <a:schemeClr val="bg1"/>
              </a:solidFill>
              <a:latin typeface="Arial Narrow" pitchFamily="34" charset="0"/>
            </a:endParaRPr>
          </a:p>
          <a:p>
            <a:pPr marL="0" indent="0">
              <a:lnSpc>
                <a:spcPts val="2000"/>
              </a:lnSpc>
              <a:spcBef>
                <a:spcPts val="0"/>
              </a:spcBef>
              <a:buClr>
                <a:srgbClr val="D4EDFA"/>
              </a:buClr>
              <a:buNone/>
            </a:pPr>
            <a:endParaRPr lang="de-DE" i="1" dirty="0" smtClean="0">
              <a:solidFill>
                <a:schemeClr val="bg1"/>
              </a:solidFill>
              <a:latin typeface="HelveticaNeueLT Std Cn" pitchFamily="34" charset="0"/>
            </a:endParaRPr>
          </a:p>
          <a:p>
            <a:pPr marL="0" indent="0">
              <a:lnSpc>
                <a:spcPts val="2800"/>
              </a:lnSpc>
              <a:spcBef>
                <a:spcPts val="0"/>
              </a:spcBef>
              <a:buFont typeface="Wingdings" pitchFamily="2" charset="2"/>
              <a:buNone/>
            </a:pPr>
            <a:endParaRPr lang="en-GB" dirty="0">
              <a:latin typeface="HelveticaNeueLT Std Cn" pitchFamily="34" charset="0"/>
            </a:endParaRPr>
          </a:p>
        </p:txBody>
      </p:sp>
      <p:sp>
        <p:nvSpPr>
          <p:cNvPr id="26" name="Content Placeholder 2"/>
          <p:cNvSpPr txBox="1">
            <a:spLocks/>
          </p:cNvSpPr>
          <p:nvPr/>
        </p:nvSpPr>
        <p:spPr bwMode="auto">
          <a:xfrm>
            <a:off x="280114" y="849531"/>
            <a:ext cx="8859308" cy="1303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dirty="0" smtClean="0">
                <a:solidFill>
                  <a:schemeClr val="tx1">
                    <a:lumMod val="90000"/>
                    <a:lumOff val="10000"/>
                  </a:schemeClr>
                </a:solidFill>
                <a:latin typeface="Arial Narrow" pitchFamily="34" charset="0"/>
              </a:rPr>
              <a:t>More than </a:t>
            </a:r>
            <a:r>
              <a:rPr lang="de-DE" b="1" dirty="0" smtClean="0">
                <a:solidFill>
                  <a:schemeClr val="tx1">
                    <a:lumMod val="90000"/>
                    <a:lumOff val="10000"/>
                  </a:schemeClr>
                </a:solidFill>
                <a:latin typeface="Arial Narrow" pitchFamily="34" charset="0"/>
              </a:rPr>
              <a:t>130,000 children </a:t>
            </a:r>
            <a:r>
              <a:rPr lang="de-DE" dirty="0" smtClean="0">
                <a:solidFill>
                  <a:schemeClr val="tx1">
                    <a:lumMod val="90000"/>
                    <a:lumOff val="10000"/>
                  </a:schemeClr>
                </a:solidFill>
                <a:latin typeface="Arial Narrow" pitchFamily="34" charset="0"/>
              </a:rPr>
              <a:t>attend one of our </a:t>
            </a:r>
            <a:r>
              <a:rPr lang="de-DE" b="1" dirty="0" smtClean="0">
                <a:solidFill>
                  <a:schemeClr val="tx1">
                    <a:lumMod val="90000"/>
                    <a:lumOff val="10000"/>
                  </a:schemeClr>
                </a:solidFill>
                <a:latin typeface="Arial Narrow" pitchFamily="34" charset="0"/>
              </a:rPr>
              <a:t>400 kindergartens or primary schools; </a:t>
            </a:r>
            <a:r>
              <a:rPr lang="de-DE" dirty="0" smtClean="0">
                <a:solidFill>
                  <a:schemeClr val="tx1">
                    <a:lumMod val="90000"/>
                    <a:lumOff val="10000"/>
                  </a:schemeClr>
                </a:solidFill>
                <a:latin typeface="Arial Narrow" pitchFamily="34" charset="0"/>
              </a:rPr>
              <a:t>and more than </a:t>
            </a:r>
            <a:r>
              <a:rPr lang="de-DE" b="1" dirty="0" smtClean="0">
                <a:solidFill>
                  <a:schemeClr val="tx1">
                    <a:lumMod val="90000"/>
                    <a:lumOff val="10000"/>
                  </a:schemeClr>
                </a:solidFill>
                <a:latin typeface="Arial Narrow" pitchFamily="34" charset="0"/>
              </a:rPr>
              <a:t>16,000 young people and adults </a:t>
            </a:r>
            <a:r>
              <a:rPr lang="de-DE" dirty="0" smtClean="0">
                <a:solidFill>
                  <a:schemeClr val="tx1">
                    <a:lumMod val="90000"/>
                    <a:lumOff val="10000"/>
                  </a:schemeClr>
                </a:solidFill>
                <a:latin typeface="Arial Narrow" pitchFamily="34" charset="0"/>
              </a:rPr>
              <a:t>benefit from </a:t>
            </a:r>
            <a:r>
              <a:rPr lang="de-DE" b="1" dirty="0" smtClean="0">
                <a:solidFill>
                  <a:schemeClr val="tx1">
                    <a:lumMod val="90000"/>
                    <a:lumOff val="10000"/>
                  </a:schemeClr>
                </a:solidFill>
                <a:latin typeface="Arial Narrow" pitchFamily="34" charset="0"/>
              </a:rPr>
              <a:t>vocational training</a:t>
            </a:r>
            <a:endParaRPr lang="en-GB" b="1" dirty="0">
              <a:solidFill>
                <a:schemeClr val="tx1">
                  <a:lumMod val="90000"/>
                  <a:lumOff val="10000"/>
                </a:schemeClr>
              </a:solidFill>
              <a:latin typeface="Arial Narrow" pitchFamily="34" charset="0"/>
            </a:endParaRPr>
          </a:p>
        </p:txBody>
      </p:sp>
      <p:sp>
        <p:nvSpPr>
          <p:cNvPr id="18" name="Content Placeholder 2"/>
          <p:cNvSpPr txBox="1">
            <a:spLocks/>
          </p:cNvSpPr>
          <p:nvPr/>
        </p:nvSpPr>
        <p:spPr bwMode="auto">
          <a:xfrm>
            <a:off x="299580" y="341429"/>
            <a:ext cx="9001811" cy="54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400"/>
              </a:lnSpc>
              <a:buFont typeface="Wingdings" pitchFamily="2" charset="2"/>
              <a:buNone/>
            </a:pPr>
            <a:r>
              <a:rPr lang="de-DE" sz="3600" dirty="0" smtClean="0">
                <a:solidFill>
                  <a:srgbClr val="00B1E6"/>
                </a:solidFill>
                <a:latin typeface="Franklin Gothic Demi Cond" pitchFamily="34" charset="0"/>
              </a:rPr>
              <a:t>Education and Development</a:t>
            </a:r>
          </a:p>
        </p:txBody>
      </p:sp>
    </p:spTree>
    <p:extLst>
      <p:ext uri="{BB962C8B-B14F-4D97-AF65-F5344CB8AC3E}">
        <p14:creationId xmlns:p14="http://schemas.microsoft.com/office/powerpoint/2010/main" val="16678808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3132" r="1807"/>
          <a:stretch/>
        </p:blipFill>
        <p:spPr>
          <a:xfrm>
            <a:off x="-9526" y="1854208"/>
            <a:ext cx="9164669" cy="5008833"/>
          </a:xfrm>
          <a:prstGeom prst="rect">
            <a:avLst/>
          </a:prstGeom>
        </p:spPr>
      </p:pic>
      <p:sp>
        <p:nvSpPr>
          <p:cNvPr id="8" name="Rectangle 7"/>
          <p:cNvSpPr/>
          <p:nvPr/>
        </p:nvSpPr>
        <p:spPr>
          <a:xfrm>
            <a:off x="4680001" y="311643"/>
            <a:ext cx="4475142" cy="6555709"/>
          </a:xfrm>
          <a:prstGeom prst="rect">
            <a:avLst/>
          </a:prstGeom>
          <a:solidFill>
            <a:schemeClr val="tx1">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3"/>
          <p:cNvSpPr/>
          <p:nvPr/>
        </p:nvSpPr>
        <p:spPr>
          <a:xfrm flipV="1">
            <a:off x="-19852" y="-28904"/>
            <a:ext cx="9174995" cy="2457938"/>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 name="connsiteX0" fmla="*/ 0 w 9323842"/>
              <a:gd name="connsiteY0" fmla="*/ 0 h 2572238"/>
              <a:gd name="connsiteX1" fmla="*/ 9283811 w 9323842"/>
              <a:gd name="connsiteY1" fmla="*/ 575101 h 2572238"/>
              <a:gd name="connsiteX2" fmla="*/ 9323842 w 9323842"/>
              <a:gd name="connsiteY2" fmla="*/ 2572238 h 2572238"/>
              <a:gd name="connsiteX3" fmla="*/ 12943 w 9323842"/>
              <a:gd name="connsiteY3" fmla="*/ 16730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1993 w 9323842"/>
              <a:gd name="connsiteY3" fmla="*/ 24731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418 w 9323842"/>
              <a:gd name="connsiteY3" fmla="*/ 2463662 h 2572238"/>
              <a:gd name="connsiteX4" fmla="*/ 0 w 9323842"/>
              <a:gd name="connsiteY4" fmla="*/ 0 h 2572238"/>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285742"/>
              <a:gd name="connsiteY0" fmla="*/ 0 h 2515088"/>
              <a:gd name="connsiteX1" fmla="*/ 9283811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285742"/>
              <a:gd name="connsiteY0" fmla="*/ 0 h 2515088"/>
              <a:gd name="connsiteX1" fmla="*/ 9159986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171442"/>
              <a:gd name="connsiteY0" fmla="*/ 0 h 2505563"/>
              <a:gd name="connsiteX1" fmla="*/ 9159986 w 9171442"/>
              <a:gd name="connsiteY1" fmla="*/ 575101 h 2505563"/>
              <a:gd name="connsiteX2" fmla="*/ 9171442 w 9171442"/>
              <a:gd name="connsiteY2" fmla="*/ 2505563 h 2505563"/>
              <a:gd name="connsiteX3" fmla="*/ 3418 w 9171442"/>
              <a:gd name="connsiteY3" fmla="*/ 2463662 h 2505563"/>
              <a:gd name="connsiteX4" fmla="*/ 0 w 9171442"/>
              <a:gd name="connsiteY4" fmla="*/ 0 h 2505563"/>
              <a:gd name="connsiteX0" fmla="*/ 0 w 9160019"/>
              <a:gd name="connsiteY0" fmla="*/ 0 h 2505563"/>
              <a:gd name="connsiteX1" fmla="*/ 9159986 w 9160019"/>
              <a:gd name="connsiteY1" fmla="*/ 575101 h 2505563"/>
              <a:gd name="connsiteX2" fmla="*/ 9152392 w 9160019"/>
              <a:gd name="connsiteY2" fmla="*/ 2505563 h 2505563"/>
              <a:gd name="connsiteX3" fmla="*/ 3418 w 9160019"/>
              <a:gd name="connsiteY3" fmla="*/ 2463662 h 2505563"/>
              <a:gd name="connsiteX4" fmla="*/ 0 w 9160019"/>
              <a:gd name="connsiteY4" fmla="*/ 0 h 2505563"/>
              <a:gd name="connsiteX0" fmla="*/ 0 w 9174522"/>
              <a:gd name="connsiteY0" fmla="*/ 0 h 2463662"/>
              <a:gd name="connsiteX1" fmla="*/ 9159986 w 9174522"/>
              <a:gd name="connsiteY1" fmla="*/ 575101 h 2463662"/>
              <a:gd name="connsiteX2" fmla="*/ 9174522 w 9174522"/>
              <a:gd name="connsiteY2" fmla="*/ 2429363 h 2463662"/>
              <a:gd name="connsiteX3" fmla="*/ 3418 w 9174522"/>
              <a:gd name="connsiteY3" fmla="*/ 2463662 h 2463662"/>
              <a:gd name="connsiteX4" fmla="*/ 0 w 9174522"/>
              <a:gd name="connsiteY4" fmla="*/ 0 h 2463662"/>
              <a:gd name="connsiteX0" fmla="*/ 6909 w 9181431"/>
              <a:gd name="connsiteY0" fmla="*/ 0 h 2429363"/>
              <a:gd name="connsiteX1" fmla="*/ 9166895 w 9181431"/>
              <a:gd name="connsiteY1" fmla="*/ 575101 h 2429363"/>
              <a:gd name="connsiteX2" fmla="*/ 9181431 w 9181431"/>
              <a:gd name="connsiteY2" fmla="*/ 2429363 h 2429363"/>
              <a:gd name="connsiteX3" fmla="*/ 800 w 9181431"/>
              <a:gd name="connsiteY3" fmla="*/ 2416037 h 2429363"/>
              <a:gd name="connsiteX4" fmla="*/ 6909 w 9181431"/>
              <a:gd name="connsiteY4" fmla="*/ 0 h 2429363"/>
              <a:gd name="connsiteX0" fmla="*/ 6909 w 9181431"/>
              <a:gd name="connsiteY0" fmla="*/ 0 h 2444612"/>
              <a:gd name="connsiteX1" fmla="*/ 9166895 w 9181431"/>
              <a:gd name="connsiteY1" fmla="*/ 575101 h 2444612"/>
              <a:gd name="connsiteX2" fmla="*/ 9181431 w 9181431"/>
              <a:gd name="connsiteY2" fmla="*/ 2429363 h 2444612"/>
              <a:gd name="connsiteX3" fmla="*/ 800 w 9181431"/>
              <a:gd name="connsiteY3" fmla="*/ 2444612 h 2444612"/>
              <a:gd name="connsiteX4" fmla="*/ 6909 w 9181431"/>
              <a:gd name="connsiteY4" fmla="*/ 0 h 2444612"/>
              <a:gd name="connsiteX0" fmla="*/ 6909 w 9203570"/>
              <a:gd name="connsiteY0" fmla="*/ 0 h 2457938"/>
              <a:gd name="connsiteX1" fmla="*/ 9166895 w 9203570"/>
              <a:gd name="connsiteY1" fmla="*/ 575101 h 2457938"/>
              <a:gd name="connsiteX2" fmla="*/ 9203570 w 9203570"/>
              <a:gd name="connsiteY2" fmla="*/ 2457938 h 2457938"/>
              <a:gd name="connsiteX3" fmla="*/ 800 w 9203570"/>
              <a:gd name="connsiteY3" fmla="*/ 2444612 h 2457938"/>
              <a:gd name="connsiteX4" fmla="*/ 6909 w 9203570"/>
              <a:gd name="connsiteY4" fmla="*/ 0 h 2457938"/>
              <a:gd name="connsiteX0" fmla="*/ 6909 w 9178075"/>
              <a:gd name="connsiteY0" fmla="*/ 0 h 2457938"/>
              <a:gd name="connsiteX1" fmla="*/ 9166895 w 9178075"/>
              <a:gd name="connsiteY1" fmla="*/ 575101 h 2457938"/>
              <a:gd name="connsiteX2" fmla="*/ 9178075 w 9178075"/>
              <a:gd name="connsiteY2" fmla="*/ 2457938 h 2457938"/>
              <a:gd name="connsiteX3" fmla="*/ 800 w 9178075"/>
              <a:gd name="connsiteY3" fmla="*/ 2444612 h 2457938"/>
              <a:gd name="connsiteX4" fmla="*/ 6909 w 9178075"/>
              <a:gd name="connsiteY4" fmla="*/ 0 h 245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8075" h="2457938">
                <a:moveTo>
                  <a:pt x="6909" y="0"/>
                </a:moveTo>
                <a:lnTo>
                  <a:pt x="9166895" y="575101"/>
                </a:lnTo>
                <a:cubicBezTo>
                  <a:pt x="9167539" y="1221763"/>
                  <a:pt x="9177431" y="1811276"/>
                  <a:pt x="9178075" y="2457938"/>
                </a:cubicBezTo>
                <a:lnTo>
                  <a:pt x="800" y="2444612"/>
                </a:lnTo>
                <a:cubicBezTo>
                  <a:pt x="-3514" y="1886916"/>
                  <a:pt x="11223" y="557696"/>
                  <a:pt x="6909"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26" name="Content Placeholder 2"/>
          <p:cNvSpPr txBox="1">
            <a:spLocks/>
          </p:cNvSpPr>
          <p:nvPr/>
        </p:nvSpPr>
        <p:spPr bwMode="auto">
          <a:xfrm>
            <a:off x="280114" y="944781"/>
            <a:ext cx="8859308"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b="1" dirty="0" smtClean="0">
                <a:solidFill>
                  <a:schemeClr val="tx1">
                    <a:lumMod val="90000"/>
                    <a:lumOff val="10000"/>
                  </a:schemeClr>
                </a:solidFill>
                <a:latin typeface="Arial Narrow" pitchFamily="34" charset="0"/>
              </a:rPr>
              <a:t>75 SOS </a:t>
            </a:r>
            <a:r>
              <a:rPr lang="de-DE" b="1" dirty="0">
                <a:solidFill>
                  <a:schemeClr val="tx1">
                    <a:lumMod val="90000"/>
                    <a:lumOff val="10000"/>
                  </a:schemeClr>
                </a:solidFill>
                <a:latin typeface="Arial Narrow" pitchFamily="34" charset="0"/>
              </a:rPr>
              <a:t>m</a:t>
            </a:r>
            <a:r>
              <a:rPr lang="de-DE" b="1" dirty="0" smtClean="0">
                <a:solidFill>
                  <a:schemeClr val="tx1">
                    <a:lumMod val="90000"/>
                    <a:lumOff val="10000"/>
                  </a:schemeClr>
                </a:solidFill>
                <a:latin typeface="Arial Narrow" pitchFamily="34" charset="0"/>
              </a:rPr>
              <a:t>edical centres </a:t>
            </a:r>
            <a:r>
              <a:rPr lang="de-DE" dirty="0">
                <a:solidFill>
                  <a:schemeClr val="tx1">
                    <a:lumMod val="90000"/>
                    <a:lumOff val="10000"/>
                  </a:schemeClr>
                </a:solidFill>
                <a:latin typeface="Arial Narrow" pitchFamily="34" charset="0"/>
              </a:rPr>
              <a:t>offering </a:t>
            </a:r>
            <a:r>
              <a:rPr lang="de-DE" b="1" dirty="0" smtClean="0">
                <a:solidFill>
                  <a:schemeClr val="tx1">
                    <a:lumMod val="90000"/>
                    <a:lumOff val="10000"/>
                  </a:schemeClr>
                </a:solidFill>
                <a:latin typeface="Arial Narrow" pitchFamily="34" charset="0"/>
              </a:rPr>
              <a:t>794,000 </a:t>
            </a:r>
            <a:r>
              <a:rPr lang="de-DE" b="1" dirty="0">
                <a:solidFill>
                  <a:schemeClr val="tx1">
                    <a:lumMod val="90000"/>
                    <a:lumOff val="10000"/>
                  </a:schemeClr>
                </a:solidFill>
                <a:latin typeface="Arial Narrow" pitchFamily="34" charset="0"/>
              </a:rPr>
              <a:t>single services </a:t>
            </a:r>
            <a:r>
              <a:rPr lang="de-DE" dirty="0">
                <a:solidFill>
                  <a:schemeClr val="tx1">
                    <a:lumMod val="90000"/>
                    <a:lumOff val="10000"/>
                  </a:schemeClr>
                </a:solidFill>
                <a:latin typeface="Arial Narrow" pitchFamily="34" charset="0"/>
              </a:rPr>
              <a:t>and </a:t>
            </a:r>
            <a:r>
              <a:rPr lang="de-DE" b="1" dirty="0" smtClean="0">
                <a:solidFill>
                  <a:schemeClr val="tx1">
                    <a:lumMod val="90000"/>
                    <a:lumOff val="10000"/>
                  </a:schemeClr>
                </a:solidFill>
                <a:latin typeface="Arial Narrow" pitchFamily="34" charset="0"/>
              </a:rPr>
              <a:t>62,000</a:t>
            </a:r>
            <a:r>
              <a:rPr lang="de-DE" dirty="0" smtClean="0">
                <a:solidFill>
                  <a:schemeClr val="tx1">
                    <a:lumMod val="90000"/>
                    <a:lumOff val="10000"/>
                  </a:schemeClr>
                </a:solidFill>
                <a:latin typeface="Arial Narrow" pitchFamily="34" charset="0"/>
              </a:rPr>
              <a:t> </a:t>
            </a:r>
            <a:r>
              <a:rPr lang="de-DE" b="1" dirty="0" smtClean="0">
                <a:solidFill>
                  <a:schemeClr val="tx1">
                    <a:lumMod val="90000"/>
                    <a:lumOff val="10000"/>
                  </a:schemeClr>
                </a:solidFill>
                <a:latin typeface="Arial Narrow" pitchFamily="34" charset="0"/>
              </a:rPr>
              <a:t>service </a:t>
            </a:r>
            <a:r>
              <a:rPr lang="de-DE" b="1" dirty="0">
                <a:solidFill>
                  <a:schemeClr val="tx1">
                    <a:lumMod val="90000"/>
                    <a:lumOff val="10000"/>
                  </a:schemeClr>
                </a:solidFill>
                <a:latin typeface="Arial Narrow" pitchFamily="34" charset="0"/>
              </a:rPr>
              <a:t>days </a:t>
            </a:r>
            <a:r>
              <a:rPr lang="de-DE" dirty="0">
                <a:solidFill>
                  <a:schemeClr val="tx1">
                    <a:lumMod val="90000"/>
                    <a:lumOff val="10000"/>
                  </a:schemeClr>
                </a:solidFill>
                <a:latin typeface="Arial Narrow" pitchFamily="34" charset="0"/>
              </a:rPr>
              <a:t>help families stay healthy.</a:t>
            </a:r>
            <a:endParaRPr lang="en-GB" dirty="0">
              <a:solidFill>
                <a:schemeClr val="tx1">
                  <a:lumMod val="90000"/>
                  <a:lumOff val="10000"/>
                </a:schemeClr>
              </a:solidFill>
              <a:latin typeface="Arial Narrow" pitchFamily="34" charset="0"/>
            </a:endParaRPr>
          </a:p>
        </p:txBody>
      </p:sp>
      <p:sp>
        <p:nvSpPr>
          <p:cNvPr id="18" name="Content Placeholder 2"/>
          <p:cNvSpPr txBox="1">
            <a:spLocks/>
          </p:cNvSpPr>
          <p:nvPr/>
        </p:nvSpPr>
        <p:spPr bwMode="auto">
          <a:xfrm>
            <a:off x="299580" y="341429"/>
            <a:ext cx="9001811" cy="54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400"/>
              </a:lnSpc>
              <a:buFont typeface="Wingdings" pitchFamily="2" charset="2"/>
              <a:buNone/>
            </a:pPr>
            <a:r>
              <a:rPr lang="de-DE" sz="3600" dirty="0" smtClean="0">
                <a:solidFill>
                  <a:srgbClr val="00B1E6"/>
                </a:solidFill>
                <a:latin typeface="Franklin Gothic Demi Cond" pitchFamily="34" charset="0"/>
              </a:rPr>
              <a:t>Maternal and child healthcare</a:t>
            </a:r>
          </a:p>
        </p:txBody>
      </p:sp>
      <p:sp>
        <p:nvSpPr>
          <p:cNvPr id="13" name="Content Placeholder 2"/>
          <p:cNvSpPr txBox="1">
            <a:spLocks/>
          </p:cNvSpPr>
          <p:nvPr/>
        </p:nvSpPr>
        <p:spPr bwMode="auto">
          <a:xfrm>
            <a:off x="4847104" y="2623222"/>
            <a:ext cx="4447509" cy="344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ts val="2800"/>
              </a:lnSpc>
              <a:spcBef>
                <a:spcPts val="1500"/>
              </a:spcBef>
              <a:buClr>
                <a:srgbClr val="00B1E6"/>
              </a:buClr>
              <a:buFont typeface="Arial" pitchFamily="34" charset="0"/>
              <a:buChar char="•"/>
            </a:pPr>
            <a:r>
              <a:rPr lang="de-DE" dirty="0" smtClean="0">
                <a:solidFill>
                  <a:schemeClr val="bg1"/>
                </a:solidFill>
                <a:latin typeface="Arial Narrow" pitchFamily="34" charset="0"/>
              </a:rPr>
              <a:t>Specialised care </a:t>
            </a:r>
            <a:r>
              <a:rPr lang="de-DE" dirty="0" err="1" smtClean="0">
                <a:solidFill>
                  <a:schemeClr val="bg1"/>
                </a:solidFill>
                <a:latin typeface="Arial Narrow" pitchFamily="34" charset="0"/>
              </a:rPr>
              <a:t>for</a:t>
            </a:r>
            <a:r>
              <a:rPr lang="de-DE" dirty="0" smtClean="0">
                <a:solidFill>
                  <a:schemeClr val="bg1"/>
                </a:solidFill>
                <a:latin typeface="Arial Narrow" pitchFamily="34" charset="0"/>
              </a:rPr>
              <a:t> </a:t>
            </a:r>
            <a:br>
              <a:rPr lang="de-DE" dirty="0" smtClean="0">
                <a:solidFill>
                  <a:schemeClr val="bg1"/>
                </a:solidFill>
                <a:latin typeface="Arial Narrow" pitchFamily="34" charset="0"/>
              </a:rPr>
            </a:br>
            <a:r>
              <a:rPr lang="de-DE" dirty="0" err="1" smtClean="0">
                <a:solidFill>
                  <a:schemeClr val="bg1"/>
                </a:solidFill>
                <a:latin typeface="Arial Narrow" pitchFamily="34" charset="0"/>
              </a:rPr>
              <a:t>women</a:t>
            </a:r>
            <a:r>
              <a:rPr lang="de-DE" dirty="0" smtClean="0">
                <a:solidFill>
                  <a:schemeClr val="bg1"/>
                </a:solidFill>
                <a:latin typeface="Arial Narrow" pitchFamily="34" charset="0"/>
              </a:rPr>
              <a:t> </a:t>
            </a:r>
            <a:r>
              <a:rPr lang="de-DE" dirty="0" err="1" smtClean="0">
                <a:solidFill>
                  <a:schemeClr val="bg1"/>
                </a:solidFill>
                <a:latin typeface="Arial Narrow" pitchFamily="34" charset="0"/>
              </a:rPr>
              <a:t>and</a:t>
            </a:r>
            <a:r>
              <a:rPr lang="de-DE" dirty="0" smtClean="0">
                <a:solidFill>
                  <a:schemeClr val="bg1"/>
                </a:solidFill>
                <a:latin typeface="Arial Narrow" pitchFamily="34" charset="0"/>
              </a:rPr>
              <a:t> children </a:t>
            </a:r>
            <a:endParaRPr lang="de-DE" i="1" dirty="0">
              <a:solidFill>
                <a:schemeClr val="bg1"/>
              </a:solidFill>
              <a:latin typeface="Arial Narrow" pitchFamily="34" charset="0"/>
            </a:endParaRPr>
          </a:p>
          <a:p>
            <a:pPr lvl="0">
              <a:lnSpc>
                <a:spcPts val="2800"/>
              </a:lnSpc>
              <a:spcBef>
                <a:spcPts val="1500"/>
              </a:spcBef>
              <a:buClr>
                <a:srgbClr val="00B1E6"/>
              </a:buClr>
              <a:buFont typeface="Arial" pitchFamily="34" charset="0"/>
              <a:buChar char="•"/>
            </a:pPr>
            <a:r>
              <a:rPr lang="de-DE" dirty="0" smtClean="0">
                <a:solidFill>
                  <a:schemeClr val="bg1"/>
                </a:solidFill>
                <a:latin typeface="Arial Narrow" pitchFamily="34" charset="0"/>
              </a:rPr>
              <a:t>Nutrition, first </a:t>
            </a:r>
            <a:r>
              <a:rPr lang="de-DE" dirty="0" err="1" smtClean="0">
                <a:solidFill>
                  <a:schemeClr val="bg1"/>
                </a:solidFill>
                <a:latin typeface="Arial Narrow" pitchFamily="34" charset="0"/>
              </a:rPr>
              <a:t>aid</a:t>
            </a:r>
            <a:r>
              <a:rPr lang="de-DE" dirty="0" smtClean="0">
                <a:solidFill>
                  <a:schemeClr val="bg1"/>
                </a:solidFill>
                <a:latin typeface="Arial Narrow" pitchFamily="34" charset="0"/>
              </a:rPr>
              <a:t> &amp; hygiene</a:t>
            </a:r>
            <a:endParaRPr lang="de-DE" dirty="0">
              <a:solidFill>
                <a:schemeClr val="bg1"/>
              </a:solidFill>
              <a:latin typeface="Arial Narrow" pitchFamily="34" charset="0"/>
            </a:endParaRPr>
          </a:p>
          <a:p>
            <a:pPr lvl="0">
              <a:lnSpc>
                <a:spcPts val="2800"/>
              </a:lnSpc>
              <a:spcBef>
                <a:spcPts val="1500"/>
              </a:spcBef>
              <a:buClr>
                <a:srgbClr val="00B1E6"/>
              </a:buClr>
              <a:buFont typeface="Arial" pitchFamily="34" charset="0"/>
              <a:buChar char="•"/>
            </a:pPr>
            <a:r>
              <a:rPr lang="de-DE" dirty="0" smtClean="0">
                <a:solidFill>
                  <a:schemeClr val="bg1"/>
                </a:solidFill>
                <a:latin typeface="Arial Narrow" pitchFamily="34" charset="0"/>
              </a:rPr>
              <a:t>Support for children with emotional, social </a:t>
            </a:r>
            <a:r>
              <a:rPr lang="de-DE" dirty="0" err="1" smtClean="0">
                <a:solidFill>
                  <a:schemeClr val="bg1"/>
                </a:solidFill>
                <a:latin typeface="Arial Narrow" pitchFamily="34" charset="0"/>
              </a:rPr>
              <a:t>and</a:t>
            </a:r>
            <a:r>
              <a:rPr lang="de-DE" dirty="0" smtClean="0">
                <a:solidFill>
                  <a:schemeClr val="bg1"/>
                </a:solidFill>
                <a:latin typeface="Arial Narrow" pitchFamily="34" charset="0"/>
              </a:rPr>
              <a:t> </a:t>
            </a:r>
            <a:br>
              <a:rPr lang="de-DE" dirty="0" smtClean="0">
                <a:solidFill>
                  <a:schemeClr val="bg1"/>
                </a:solidFill>
                <a:latin typeface="Arial Narrow" pitchFamily="34" charset="0"/>
              </a:rPr>
            </a:br>
            <a:r>
              <a:rPr lang="de-DE" dirty="0" smtClean="0">
                <a:solidFill>
                  <a:schemeClr val="bg1"/>
                </a:solidFill>
                <a:latin typeface="Arial Narrow" pitchFamily="34" charset="0"/>
              </a:rPr>
              <a:t>mental problems</a:t>
            </a:r>
          </a:p>
          <a:p>
            <a:pPr>
              <a:lnSpc>
                <a:spcPts val="2800"/>
              </a:lnSpc>
              <a:spcBef>
                <a:spcPts val="1500"/>
              </a:spcBef>
              <a:buClr>
                <a:srgbClr val="00B1E6"/>
              </a:buClr>
              <a:buFont typeface="Arial" pitchFamily="34" charset="0"/>
              <a:buChar char="•"/>
            </a:pPr>
            <a:r>
              <a:rPr lang="de-DE" dirty="0" smtClean="0">
                <a:solidFill>
                  <a:schemeClr val="bg1"/>
                </a:solidFill>
                <a:latin typeface="Arial Narrow" pitchFamily="34" charset="0"/>
              </a:rPr>
              <a:t>Specific support for HIV/AIDS</a:t>
            </a:r>
            <a:endParaRPr lang="de-DE" dirty="0">
              <a:solidFill>
                <a:schemeClr val="bg1"/>
              </a:solidFill>
              <a:latin typeface="Arial Narrow" pitchFamily="34" charset="0"/>
            </a:endParaRPr>
          </a:p>
          <a:p>
            <a:pPr lvl="0">
              <a:lnSpc>
                <a:spcPts val="2800"/>
              </a:lnSpc>
              <a:spcBef>
                <a:spcPts val="1500"/>
              </a:spcBef>
              <a:buClr>
                <a:srgbClr val="00B1E6"/>
              </a:buClr>
              <a:buFont typeface="Arial" pitchFamily="34" charset="0"/>
              <a:buChar char="•"/>
            </a:pPr>
            <a:endParaRPr lang="de-DE" sz="2600" dirty="0">
              <a:solidFill>
                <a:schemeClr val="bg1"/>
              </a:solidFill>
              <a:latin typeface="Arial Narrow" pitchFamily="34" charset="0"/>
            </a:endParaRPr>
          </a:p>
          <a:p>
            <a:pPr marL="0" indent="0">
              <a:lnSpc>
                <a:spcPts val="2800"/>
              </a:lnSpc>
              <a:spcBef>
                <a:spcPts val="0"/>
              </a:spcBef>
              <a:buFont typeface="Wingdings" pitchFamily="2" charset="2"/>
              <a:buNone/>
            </a:pPr>
            <a:endParaRPr lang="en-GB" dirty="0">
              <a:latin typeface="HelveticaNeueLT Std Cn" pitchFamily="34" charset="0"/>
            </a:endParaRPr>
          </a:p>
        </p:txBody>
      </p:sp>
    </p:spTree>
    <p:extLst>
      <p:ext uri="{BB962C8B-B14F-4D97-AF65-F5344CB8AC3E}">
        <p14:creationId xmlns:p14="http://schemas.microsoft.com/office/powerpoint/2010/main" val="5878189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b="880"/>
          <a:stretch/>
        </p:blipFill>
        <p:spPr>
          <a:xfrm>
            <a:off x="-802" y="1801332"/>
            <a:ext cx="9163851" cy="5056668"/>
          </a:xfrm>
          <a:prstGeom prst="rect">
            <a:avLst/>
          </a:prstGeom>
        </p:spPr>
      </p:pic>
      <p:sp>
        <p:nvSpPr>
          <p:cNvPr id="16" name="Rectangle 15"/>
          <p:cNvSpPr/>
          <p:nvPr/>
        </p:nvSpPr>
        <p:spPr>
          <a:xfrm>
            <a:off x="4680001" y="311643"/>
            <a:ext cx="4483048" cy="6555709"/>
          </a:xfrm>
          <a:prstGeom prst="rect">
            <a:avLst/>
          </a:prstGeom>
          <a:solidFill>
            <a:schemeClr val="tx1">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ectangle 3"/>
          <p:cNvSpPr/>
          <p:nvPr/>
        </p:nvSpPr>
        <p:spPr>
          <a:xfrm flipV="1">
            <a:off x="-19852" y="-28904"/>
            <a:ext cx="9174995" cy="2457938"/>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 name="connsiteX0" fmla="*/ 0 w 9323842"/>
              <a:gd name="connsiteY0" fmla="*/ 0 h 2572238"/>
              <a:gd name="connsiteX1" fmla="*/ 9283811 w 9323842"/>
              <a:gd name="connsiteY1" fmla="*/ 575101 h 2572238"/>
              <a:gd name="connsiteX2" fmla="*/ 9323842 w 9323842"/>
              <a:gd name="connsiteY2" fmla="*/ 2572238 h 2572238"/>
              <a:gd name="connsiteX3" fmla="*/ 12943 w 9323842"/>
              <a:gd name="connsiteY3" fmla="*/ 16730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1993 w 9323842"/>
              <a:gd name="connsiteY3" fmla="*/ 24731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418 w 9323842"/>
              <a:gd name="connsiteY3" fmla="*/ 2463662 h 2572238"/>
              <a:gd name="connsiteX4" fmla="*/ 0 w 9323842"/>
              <a:gd name="connsiteY4" fmla="*/ 0 h 2572238"/>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285742"/>
              <a:gd name="connsiteY0" fmla="*/ 0 h 2515088"/>
              <a:gd name="connsiteX1" fmla="*/ 9283811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285742"/>
              <a:gd name="connsiteY0" fmla="*/ 0 h 2515088"/>
              <a:gd name="connsiteX1" fmla="*/ 9159986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171442"/>
              <a:gd name="connsiteY0" fmla="*/ 0 h 2505563"/>
              <a:gd name="connsiteX1" fmla="*/ 9159986 w 9171442"/>
              <a:gd name="connsiteY1" fmla="*/ 575101 h 2505563"/>
              <a:gd name="connsiteX2" fmla="*/ 9171442 w 9171442"/>
              <a:gd name="connsiteY2" fmla="*/ 2505563 h 2505563"/>
              <a:gd name="connsiteX3" fmla="*/ 3418 w 9171442"/>
              <a:gd name="connsiteY3" fmla="*/ 2463662 h 2505563"/>
              <a:gd name="connsiteX4" fmla="*/ 0 w 9171442"/>
              <a:gd name="connsiteY4" fmla="*/ 0 h 2505563"/>
              <a:gd name="connsiteX0" fmla="*/ 0 w 9160019"/>
              <a:gd name="connsiteY0" fmla="*/ 0 h 2505563"/>
              <a:gd name="connsiteX1" fmla="*/ 9159986 w 9160019"/>
              <a:gd name="connsiteY1" fmla="*/ 575101 h 2505563"/>
              <a:gd name="connsiteX2" fmla="*/ 9152392 w 9160019"/>
              <a:gd name="connsiteY2" fmla="*/ 2505563 h 2505563"/>
              <a:gd name="connsiteX3" fmla="*/ 3418 w 9160019"/>
              <a:gd name="connsiteY3" fmla="*/ 2463662 h 2505563"/>
              <a:gd name="connsiteX4" fmla="*/ 0 w 9160019"/>
              <a:gd name="connsiteY4" fmla="*/ 0 h 2505563"/>
              <a:gd name="connsiteX0" fmla="*/ 0 w 9174522"/>
              <a:gd name="connsiteY0" fmla="*/ 0 h 2463662"/>
              <a:gd name="connsiteX1" fmla="*/ 9159986 w 9174522"/>
              <a:gd name="connsiteY1" fmla="*/ 575101 h 2463662"/>
              <a:gd name="connsiteX2" fmla="*/ 9174522 w 9174522"/>
              <a:gd name="connsiteY2" fmla="*/ 2429363 h 2463662"/>
              <a:gd name="connsiteX3" fmla="*/ 3418 w 9174522"/>
              <a:gd name="connsiteY3" fmla="*/ 2463662 h 2463662"/>
              <a:gd name="connsiteX4" fmla="*/ 0 w 9174522"/>
              <a:gd name="connsiteY4" fmla="*/ 0 h 2463662"/>
              <a:gd name="connsiteX0" fmla="*/ 6909 w 9181431"/>
              <a:gd name="connsiteY0" fmla="*/ 0 h 2429363"/>
              <a:gd name="connsiteX1" fmla="*/ 9166895 w 9181431"/>
              <a:gd name="connsiteY1" fmla="*/ 575101 h 2429363"/>
              <a:gd name="connsiteX2" fmla="*/ 9181431 w 9181431"/>
              <a:gd name="connsiteY2" fmla="*/ 2429363 h 2429363"/>
              <a:gd name="connsiteX3" fmla="*/ 800 w 9181431"/>
              <a:gd name="connsiteY3" fmla="*/ 2416037 h 2429363"/>
              <a:gd name="connsiteX4" fmla="*/ 6909 w 9181431"/>
              <a:gd name="connsiteY4" fmla="*/ 0 h 2429363"/>
              <a:gd name="connsiteX0" fmla="*/ 6909 w 9181431"/>
              <a:gd name="connsiteY0" fmla="*/ 0 h 2444612"/>
              <a:gd name="connsiteX1" fmla="*/ 9166895 w 9181431"/>
              <a:gd name="connsiteY1" fmla="*/ 575101 h 2444612"/>
              <a:gd name="connsiteX2" fmla="*/ 9181431 w 9181431"/>
              <a:gd name="connsiteY2" fmla="*/ 2429363 h 2444612"/>
              <a:gd name="connsiteX3" fmla="*/ 800 w 9181431"/>
              <a:gd name="connsiteY3" fmla="*/ 2444612 h 2444612"/>
              <a:gd name="connsiteX4" fmla="*/ 6909 w 9181431"/>
              <a:gd name="connsiteY4" fmla="*/ 0 h 2444612"/>
              <a:gd name="connsiteX0" fmla="*/ 6909 w 9203570"/>
              <a:gd name="connsiteY0" fmla="*/ 0 h 2457938"/>
              <a:gd name="connsiteX1" fmla="*/ 9166895 w 9203570"/>
              <a:gd name="connsiteY1" fmla="*/ 575101 h 2457938"/>
              <a:gd name="connsiteX2" fmla="*/ 9203570 w 9203570"/>
              <a:gd name="connsiteY2" fmla="*/ 2457938 h 2457938"/>
              <a:gd name="connsiteX3" fmla="*/ 800 w 9203570"/>
              <a:gd name="connsiteY3" fmla="*/ 2444612 h 2457938"/>
              <a:gd name="connsiteX4" fmla="*/ 6909 w 9203570"/>
              <a:gd name="connsiteY4" fmla="*/ 0 h 2457938"/>
              <a:gd name="connsiteX0" fmla="*/ 6909 w 9178075"/>
              <a:gd name="connsiteY0" fmla="*/ 0 h 2457938"/>
              <a:gd name="connsiteX1" fmla="*/ 9166895 w 9178075"/>
              <a:gd name="connsiteY1" fmla="*/ 575101 h 2457938"/>
              <a:gd name="connsiteX2" fmla="*/ 9178075 w 9178075"/>
              <a:gd name="connsiteY2" fmla="*/ 2457938 h 2457938"/>
              <a:gd name="connsiteX3" fmla="*/ 800 w 9178075"/>
              <a:gd name="connsiteY3" fmla="*/ 2444612 h 2457938"/>
              <a:gd name="connsiteX4" fmla="*/ 6909 w 9178075"/>
              <a:gd name="connsiteY4" fmla="*/ 0 h 245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8075" h="2457938">
                <a:moveTo>
                  <a:pt x="6909" y="0"/>
                </a:moveTo>
                <a:lnTo>
                  <a:pt x="9166895" y="575101"/>
                </a:lnTo>
                <a:cubicBezTo>
                  <a:pt x="9167539" y="1221763"/>
                  <a:pt x="9177431" y="1811276"/>
                  <a:pt x="9178075" y="2457938"/>
                </a:cubicBezTo>
                <a:lnTo>
                  <a:pt x="800" y="2444612"/>
                </a:lnTo>
                <a:cubicBezTo>
                  <a:pt x="-3514" y="1886916"/>
                  <a:pt x="11223" y="557696"/>
                  <a:pt x="6909"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26" name="Content Placeholder 2"/>
          <p:cNvSpPr txBox="1">
            <a:spLocks/>
          </p:cNvSpPr>
          <p:nvPr/>
        </p:nvSpPr>
        <p:spPr bwMode="auto">
          <a:xfrm>
            <a:off x="280114" y="944781"/>
            <a:ext cx="8859308"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dirty="0" smtClean="0">
                <a:solidFill>
                  <a:schemeClr val="tx1">
                    <a:lumMod val="90000"/>
                    <a:lumOff val="10000"/>
                  </a:schemeClr>
                </a:solidFill>
                <a:latin typeface="Arial Narrow" pitchFamily="34" charset="0"/>
              </a:rPr>
              <a:t>About </a:t>
            </a:r>
            <a:r>
              <a:rPr lang="de-DE" b="1" dirty="0" smtClean="0">
                <a:solidFill>
                  <a:schemeClr val="tx1">
                    <a:lumMod val="90000"/>
                    <a:lumOff val="10000"/>
                  </a:schemeClr>
                </a:solidFill>
                <a:latin typeface="Arial Narrow" pitchFamily="34" charset="0"/>
              </a:rPr>
              <a:t>218,000 single </a:t>
            </a:r>
            <a:r>
              <a:rPr lang="de-DE" b="1" dirty="0">
                <a:solidFill>
                  <a:schemeClr val="tx1">
                    <a:lumMod val="90000"/>
                    <a:lumOff val="10000"/>
                  </a:schemeClr>
                </a:solidFill>
                <a:latin typeface="Arial Narrow" pitchFamily="34" charset="0"/>
              </a:rPr>
              <a:t>services </a:t>
            </a:r>
            <a:r>
              <a:rPr lang="de-DE" dirty="0" smtClean="0">
                <a:solidFill>
                  <a:schemeClr val="tx1">
                    <a:lumMod val="90000"/>
                    <a:lumOff val="10000"/>
                  </a:schemeClr>
                </a:solidFill>
                <a:latin typeface="Arial Narrow" pitchFamily="34" charset="0"/>
              </a:rPr>
              <a:t>provided through  </a:t>
            </a:r>
            <a:endParaRPr lang="de-DE" dirty="0">
              <a:solidFill>
                <a:schemeClr val="tx1">
                  <a:lumMod val="90000"/>
                  <a:lumOff val="10000"/>
                </a:schemeClr>
              </a:solidFill>
              <a:latin typeface="Arial Narrow" pitchFamily="34" charset="0"/>
            </a:endParaRPr>
          </a:p>
          <a:p>
            <a:pPr marL="0" indent="0">
              <a:lnSpc>
                <a:spcPts val="2800"/>
              </a:lnSpc>
              <a:spcBef>
                <a:spcPts val="0"/>
              </a:spcBef>
              <a:buNone/>
            </a:pPr>
            <a:r>
              <a:rPr lang="de-DE" b="1" dirty="0" smtClean="0">
                <a:solidFill>
                  <a:schemeClr val="tx1">
                    <a:lumMod val="90000"/>
                    <a:lumOff val="10000"/>
                  </a:schemeClr>
                </a:solidFill>
                <a:latin typeface="Arial Narrow" pitchFamily="34" charset="0"/>
              </a:rPr>
              <a:t>SOS </a:t>
            </a:r>
            <a:r>
              <a:rPr lang="de-DE" b="1" dirty="0">
                <a:solidFill>
                  <a:schemeClr val="tx1">
                    <a:lumMod val="90000"/>
                    <a:lumOff val="10000"/>
                  </a:schemeClr>
                </a:solidFill>
                <a:latin typeface="Arial Narrow" pitchFamily="34" charset="0"/>
              </a:rPr>
              <a:t>Emergency Relief </a:t>
            </a:r>
            <a:r>
              <a:rPr lang="de-DE" b="1" dirty="0" smtClean="0">
                <a:solidFill>
                  <a:schemeClr val="tx1">
                    <a:lumMod val="90000"/>
                    <a:lumOff val="10000"/>
                  </a:schemeClr>
                </a:solidFill>
                <a:latin typeface="Arial Narrow" pitchFamily="34" charset="0"/>
              </a:rPr>
              <a:t>Programmes</a:t>
            </a:r>
            <a:endParaRPr lang="en-GB" dirty="0">
              <a:solidFill>
                <a:schemeClr val="tx1">
                  <a:lumMod val="90000"/>
                  <a:lumOff val="10000"/>
                </a:schemeClr>
              </a:solidFill>
              <a:latin typeface="HelveticaNeueLT Std Cn" pitchFamily="34" charset="0"/>
            </a:endParaRPr>
          </a:p>
        </p:txBody>
      </p:sp>
      <p:sp>
        <p:nvSpPr>
          <p:cNvPr id="18" name="Content Placeholder 2"/>
          <p:cNvSpPr txBox="1">
            <a:spLocks/>
          </p:cNvSpPr>
          <p:nvPr/>
        </p:nvSpPr>
        <p:spPr bwMode="auto">
          <a:xfrm>
            <a:off x="299580" y="341429"/>
            <a:ext cx="9001811" cy="54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400"/>
              </a:lnSpc>
              <a:buFont typeface="Wingdings" pitchFamily="2" charset="2"/>
              <a:buNone/>
            </a:pPr>
            <a:r>
              <a:rPr lang="de-DE" sz="3600" dirty="0" smtClean="0">
                <a:solidFill>
                  <a:srgbClr val="00B1E6"/>
                </a:solidFill>
                <a:latin typeface="Franklin Gothic Demi Cond" pitchFamily="34" charset="0"/>
              </a:rPr>
              <a:t>Emergency Relief Programmes</a:t>
            </a:r>
          </a:p>
        </p:txBody>
      </p:sp>
      <p:sp>
        <p:nvSpPr>
          <p:cNvPr id="13" name="Content Placeholder 2"/>
          <p:cNvSpPr txBox="1">
            <a:spLocks/>
          </p:cNvSpPr>
          <p:nvPr/>
        </p:nvSpPr>
        <p:spPr bwMode="auto">
          <a:xfrm>
            <a:off x="4837579" y="2610853"/>
            <a:ext cx="4854606" cy="3523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ts val="3000"/>
              </a:lnSpc>
              <a:spcBef>
                <a:spcPts val="2000"/>
              </a:spcBef>
              <a:buClr>
                <a:srgbClr val="00B1E6"/>
              </a:buClr>
              <a:buFont typeface="Arial" pitchFamily="34" charset="0"/>
              <a:buChar char="•"/>
            </a:pPr>
            <a:r>
              <a:rPr lang="de-DE" dirty="0">
                <a:solidFill>
                  <a:schemeClr val="bg1"/>
                </a:solidFill>
                <a:latin typeface="Arial Narrow" pitchFamily="34" charset="0"/>
              </a:rPr>
              <a:t>Protection </a:t>
            </a:r>
            <a:r>
              <a:rPr lang="de-DE" dirty="0" err="1">
                <a:solidFill>
                  <a:schemeClr val="bg1"/>
                </a:solidFill>
                <a:latin typeface="Arial Narrow" pitchFamily="34" charset="0"/>
              </a:rPr>
              <a:t>of</a:t>
            </a:r>
            <a:r>
              <a:rPr lang="de-DE" dirty="0">
                <a:solidFill>
                  <a:schemeClr val="bg1"/>
                </a:solidFill>
                <a:latin typeface="Arial Narrow" pitchFamily="34" charset="0"/>
              </a:rPr>
              <a:t> </a:t>
            </a:r>
            <a:r>
              <a:rPr lang="de-DE" dirty="0" smtClean="0">
                <a:solidFill>
                  <a:schemeClr val="bg1"/>
                </a:solidFill>
                <a:latin typeface="Arial Narrow" pitchFamily="34" charset="0"/>
              </a:rPr>
              <a:t/>
            </a:r>
            <a:br>
              <a:rPr lang="de-DE" dirty="0" smtClean="0">
                <a:solidFill>
                  <a:schemeClr val="bg1"/>
                </a:solidFill>
                <a:latin typeface="Arial Narrow" pitchFamily="34" charset="0"/>
              </a:rPr>
            </a:br>
            <a:r>
              <a:rPr lang="de-DE" dirty="0" err="1" smtClean="0">
                <a:solidFill>
                  <a:schemeClr val="bg1"/>
                </a:solidFill>
                <a:latin typeface="Arial Narrow" pitchFamily="34" charset="0"/>
              </a:rPr>
              <a:t>unaccompanied</a:t>
            </a:r>
            <a:r>
              <a:rPr lang="de-DE" dirty="0" smtClean="0">
                <a:solidFill>
                  <a:schemeClr val="bg1"/>
                </a:solidFill>
                <a:latin typeface="Arial Narrow" pitchFamily="34" charset="0"/>
              </a:rPr>
              <a:t> </a:t>
            </a:r>
            <a:r>
              <a:rPr lang="de-DE" dirty="0" err="1" smtClean="0">
                <a:solidFill>
                  <a:schemeClr val="bg1"/>
                </a:solidFill>
                <a:latin typeface="Arial Narrow" pitchFamily="34" charset="0"/>
              </a:rPr>
              <a:t>and</a:t>
            </a:r>
            <a:r>
              <a:rPr lang="de-DE" dirty="0" smtClean="0">
                <a:solidFill>
                  <a:schemeClr val="bg1"/>
                </a:solidFill>
                <a:latin typeface="Arial Narrow" pitchFamily="34" charset="0"/>
              </a:rPr>
              <a:t> </a:t>
            </a:r>
            <a:br>
              <a:rPr lang="de-DE" dirty="0" smtClean="0">
                <a:solidFill>
                  <a:schemeClr val="bg1"/>
                </a:solidFill>
                <a:latin typeface="Arial Narrow" pitchFamily="34" charset="0"/>
              </a:rPr>
            </a:br>
            <a:r>
              <a:rPr lang="de-DE" dirty="0" err="1" smtClean="0">
                <a:solidFill>
                  <a:schemeClr val="bg1"/>
                </a:solidFill>
                <a:latin typeface="Arial Narrow" pitchFamily="34" charset="0"/>
              </a:rPr>
              <a:t>separated</a:t>
            </a:r>
            <a:r>
              <a:rPr lang="de-DE" dirty="0" smtClean="0">
                <a:solidFill>
                  <a:schemeClr val="bg1"/>
                </a:solidFill>
                <a:latin typeface="Arial Narrow" pitchFamily="34" charset="0"/>
              </a:rPr>
              <a:t> </a:t>
            </a:r>
            <a:r>
              <a:rPr lang="de-DE" dirty="0">
                <a:solidFill>
                  <a:schemeClr val="bg1"/>
                </a:solidFill>
                <a:latin typeface="Arial Narrow" pitchFamily="34" charset="0"/>
              </a:rPr>
              <a:t>children</a:t>
            </a:r>
          </a:p>
          <a:p>
            <a:pPr lvl="0">
              <a:spcBef>
                <a:spcPts val="2000"/>
              </a:spcBef>
              <a:buClr>
                <a:srgbClr val="00B1E6"/>
              </a:buClr>
              <a:buFont typeface="Arial" pitchFamily="34" charset="0"/>
              <a:buChar char="•"/>
            </a:pPr>
            <a:r>
              <a:rPr lang="de-DE" dirty="0">
                <a:solidFill>
                  <a:schemeClr val="bg1"/>
                </a:solidFill>
                <a:latin typeface="Arial Narrow" pitchFamily="34" charset="0"/>
              </a:rPr>
              <a:t>Reunion with their families</a:t>
            </a:r>
          </a:p>
          <a:p>
            <a:pPr lvl="0">
              <a:lnSpc>
                <a:spcPts val="3000"/>
              </a:lnSpc>
              <a:spcBef>
                <a:spcPts val="2000"/>
              </a:spcBef>
              <a:buClr>
                <a:srgbClr val="00B1E6"/>
              </a:buClr>
              <a:buFont typeface="Arial" pitchFamily="34" charset="0"/>
              <a:buChar char="•"/>
            </a:pPr>
            <a:r>
              <a:rPr lang="de-DE" dirty="0">
                <a:solidFill>
                  <a:schemeClr val="bg1"/>
                </a:solidFill>
                <a:latin typeface="Arial Narrow" pitchFamily="34" charset="0"/>
              </a:rPr>
              <a:t>Suitable alternative care placement if necessary</a:t>
            </a:r>
          </a:p>
          <a:p>
            <a:pPr lvl="0">
              <a:spcBef>
                <a:spcPts val="2000"/>
              </a:spcBef>
              <a:buClr>
                <a:srgbClr val="00B1E6"/>
              </a:buClr>
              <a:buFont typeface="Arial" pitchFamily="34" charset="0"/>
              <a:buChar char="•"/>
            </a:pPr>
            <a:r>
              <a:rPr lang="de-DE" dirty="0" smtClean="0">
                <a:solidFill>
                  <a:schemeClr val="bg1"/>
                </a:solidFill>
                <a:latin typeface="Arial Narrow" pitchFamily="34" charset="0"/>
              </a:rPr>
              <a:t>Psychological </a:t>
            </a:r>
            <a:r>
              <a:rPr lang="de-DE" dirty="0">
                <a:solidFill>
                  <a:schemeClr val="bg1"/>
                </a:solidFill>
                <a:latin typeface="Arial Narrow" pitchFamily="34" charset="0"/>
              </a:rPr>
              <a:t>support </a:t>
            </a:r>
          </a:p>
          <a:p>
            <a:pPr marL="0" indent="0">
              <a:lnSpc>
                <a:spcPts val="2800"/>
              </a:lnSpc>
              <a:spcBef>
                <a:spcPts val="0"/>
              </a:spcBef>
              <a:buFont typeface="Wingdings" pitchFamily="2" charset="2"/>
              <a:buNone/>
            </a:pPr>
            <a:endParaRPr lang="en-GB" dirty="0">
              <a:latin typeface="HelveticaNeueLT Std Cn" pitchFamily="34" charset="0"/>
            </a:endParaRPr>
          </a:p>
        </p:txBody>
      </p:sp>
    </p:spTree>
    <p:extLst>
      <p:ext uri="{BB962C8B-B14F-4D97-AF65-F5344CB8AC3E}">
        <p14:creationId xmlns:p14="http://schemas.microsoft.com/office/powerpoint/2010/main" val="1290525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3" cstate="email">
            <a:extLst>
              <a:ext uri="{28A0092B-C50C-407E-A947-70E740481C1C}">
                <a14:useLocalDpi xmlns:a14="http://schemas.microsoft.com/office/drawing/2010/main"/>
              </a:ext>
            </a:extLst>
          </a:blip>
          <a:srcRect b="12572"/>
          <a:stretch/>
        </p:blipFill>
        <p:spPr>
          <a:xfrm>
            <a:off x="-10327" y="1133475"/>
            <a:ext cx="9157648" cy="5724526"/>
          </a:xfrm>
          <a:prstGeom prst="rect">
            <a:avLst/>
          </a:prstGeom>
        </p:spPr>
      </p:pic>
      <p:sp>
        <p:nvSpPr>
          <p:cNvPr id="12" name="Rectangle 11"/>
          <p:cNvSpPr/>
          <p:nvPr/>
        </p:nvSpPr>
        <p:spPr>
          <a:xfrm>
            <a:off x="-19852" y="279091"/>
            <a:ext cx="4963500" cy="6578909"/>
          </a:xfrm>
          <a:prstGeom prst="rect">
            <a:avLst/>
          </a:prstGeom>
          <a:solidFill>
            <a:schemeClr val="tx1">
              <a:alpha val="7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 name="Rectangle 3"/>
          <p:cNvSpPr/>
          <p:nvPr/>
        </p:nvSpPr>
        <p:spPr>
          <a:xfrm flipV="1">
            <a:off x="-19852" y="-28904"/>
            <a:ext cx="9174995" cy="2457938"/>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740415"/>
              <a:gd name="connsiteX1" fmla="*/ 9509407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524011"/>
              <a:gd name="connsiteY0" fmla="*/ 0 h 1740415"/>
              <a:gd name="connsiteX1" fmla="*/ 9270868 w 9524011"/>
              <a:gd name="connsiteY1" fmla="*/ 583052 h 1740415"/>
              <a:gd name="connsiteX2" fmla="*/ 9524011 w 9524011"/>
              <a:gd name="connsiteY2" fmla="*/ 1740415 h 1740415"/>
              <a:gd name="connsiteX3" fmla="*/ 0 w 9524011"/>
              <a:gd name="connsiteY3" fmla="*/ 1681038 h 1740415"/>
              <a:gd name="connsiteX4" fmla="*/ 10911 w 9524011"/>
              <a:gd name="connsiteY4" fmla="*/ 0 h 1740415"/>
              <a:gd name="connsiteX0" fmla="*/ 10911 w 9301374"/>
              <a:gd name="connsiteY0" fmla="*/ 0 h 1732464"/>
              <a:gd name="connsiteX1" fmla="*/ 9270868 w 9301374"/>
              <a:gd name="connsiteY1" fmla="*/ 583052 h 1732464"/>
              <a:gd name="connsiteX2" fmla="*/ 9301374 w 9301374"/>
              <a:gd name="connsiteY2" fmla="*/ 1732464 h 1732464"/>
              <a:gd name="connsiteX3" fmla="*/ 0 w 9301374"/>
              <a:gd name="connsiteY3" fmla="*/ 1681038 h 1732464"/>
              <a:gd name="connsiteX4" fmla="*/ 10911 w 9301374"/>
              <a:gd name="connsiteY4" fmla="*/ 0 h 1732464"/>
              <a:gd name="connsiteX0" fmla="*/ 0 w 9314317"/>
              <a:gd name="connsiteY0" fmla="*/ 0 h 1724513"/>
              <a:gd name="connsiteX1" fmla="*/ 9283811 w 9314317"/>
              <a:gd name="connsiteY1" fmla="*/ 575101 h 1724513"/>
              <a:gd name="connsiteX2" fmla="*/ 9314317 w 9314317"/>
              <a:gd name="connsiteY2" fmla="*/ 1724513 h 1724513"/>
              <a:gd name="connsiteX3" fmla="*/ 12943 w 9314317"/>
              <a:gd name="connsiteY3" fmla="*/ 1673087 h 1724513"/>
              <a:gd name="connsiteX4" fmla="*/ 0 w 9314317"/>
              <a:gd name="connsiteY4" fmla="*/ 0 h 1724513"/>
              <a:gd name="connsiteX0" fmla="*/ 0 w 9323842"/>
              <a:gd name="connsiteY0" fmla="*/ 0 h 2572238"/>
              <a:gd name="connsiteX1" fmla="*/ 9283811 w 9323842"/>
              <a:gd name="connsiteY1" fmla="*/ 575101 h 2572238"/>
              <a:gd name="connsiteX2" fmla="*/ 9323842 w 9323842"/>
              <a:gd name="connsiteY2" fmla="*/ 2572238 h 2572238"/>
              <a:gd name="connsiteX3" fmla="*/ 12943 w 9323842"/>
              <a:gd name="connsiteY3" fmla="*/ 16730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1993 w 9323842"/>
              <a:gd name="connsiteY3" fmla="*/ 2473187 h 2572238"/>
              <a:gd name="connsiteX4" fmla="*/ 0 w 9323842"/>
              <a:gd name="connsiteY4" fmla="*/ 0 h 2572238"/>
              <a:gd name="connsiteX0" fmla="*/ 0 w 9323842"/>
              <a:gd name="connsiteY0" fmla="*/ 0 h 2572238"/>
              <a:gd name="connsiteX1" fmla="*/ 9283811 w 9323842"/>
              <a:gd name="connsiteY1" fmla="*/ 575101 h 2572238"/>
              <a:gd name="connsiteX2" fmla="*/ 9323842 w 9323842"/>
              <a:gd name="connsiteY2" fmla="*/ 2572238 h 2572238"/>
              <a:gd name="connsiteX3" fmla="*/ 3418 w 9323842"/>
              <a:gd name="connsiteY3" fmla="*/ 2463662 h 2572238"/>
              <a:gd name="connsiteX4" fmla="*/ 0 w 9323842"/>
              <a:gd name="connsiteY4" fmla="*/ 0 h 2572238"/>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361942"/>
              <a:gd name="connsiteY0" fmla="*/ 0 h 2524613"/>
              <a:gd name="connsiteX1" fmla="*/ 9283811 w 9361942"/>
              <a:gd name="connsiteY1" fmla="*/ 575101 h 2524613"/>
              <a:gd name="connsiteX2" fmla="*/ 9361942 w 9361942"/>
              <a:gd name="connsiteY2" fmla="*/ 2524613 h 2524613"/>
              <a:gd name="connsiteX3" fmla="*/ 3418 w 9361942"/>
              <a:gd name="connsiteY3" fmla="*/ 2463662 h 2524613"/>
              <a:gd name="connsiteX4" fmla="*/ 0 w 9361942"/>
              <a:gd name="connsiteY4" fmla="*/ 0 h 2524613"/>
              <a:gd name="connsiteX0" fmla="*/ 0 w 9285742"/>
              <a:gd name="connsiteY0" fmla="*/ 0 h 2515088"/>
              <a:gd name="connsiteX1" fmla="*/ 9283811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285742"/>
              <a:gd name="connsiteY0" fmla="*/ 0 h 2515088"/>
              <a:gd name="connsiteX1" fmla="*/ 9159986 w 9285742"/>
              <a:gd name="connsiteY1" fmla="*/ 575101 h 2515088"/>
              <a:gd name="connsiteX2" fmla="*/ 9285742 w 9285742"/>
              <a:gd name="connsiteY2" fmla="*/ 2515088 h 2515088"/>
              <a:gd name="connsiteX3" fmla="*/ 3418 w 9285742"/>
              <a:gd name="connsiteY3" fmla="*/ 2463662 h 2515088"/>
              <a:gd name="connsiteX4" fmla="*/ 0 w 9285742"/>
              <a:gd name="connsiteY4" fmla="*/ 0 h 2515088"/>
              <a:gd name="connsiteX0" fmla="*/ 0 w 9171442"/>
              <a:gd name="connsiteY0" fmla="*/ 0 h 2505563"/>
              <a:gd name="connsiteX1" fmla="*/ 9159986 w 9171442"/>
              <a:gd name="connsiteY1" fmla="*/ 575101 h 2505563"/>
              <a:gd name="connsiteX2" fmla="*/ 9171442 w 9171442"/>
              <a:gd name="connsiteY2" fmla="*/ 2505563 h 2505563"/>
              <a:gd name="connsiteX3" fmla="*/ 3418 w 9171442"/>
              <a:gd name="connsiteY3" fmla="*/ 2463662 h 2505563"/>
              <a:gd name="connsiteX4" fmla="*/ 0 w 9171442"/>
              <a:gd name="connsiteY4" fmla="*/ 0 h 2505563"/>
              <a:gd name="connsiteX0" fmla="*/ 0 w 9160019"/>
              <a:gd name="connsiteY0" fmla="*/ 0 h 2505563"/>
              <a:gd name="connsiteX1" fmla="*/ 9159986 w 9160019"/>
              <a:gd name="connsiteY1" fmla="*/ 575101 h 2505563"/>
              <a:gd name="connsiteX2" fmla="*/ 9152392 w 9160019"/>
              <a:gd name="connsiteY2" fmla="*/ 2505563 h 2505563"/>
              <a:gd name="connsiteX3" fmla="*/ 3418 w 9160019"/>
              <a:gd name="connsiteY3" fmla="*/ 2463662 h 2505563"/>
              <a:gd name="connsiteX4" fmla="*/ 0 w 9160019"/>
              <a:gd name="connsiteY4" fmla="*/ 0 h 2505563"/>
              <a:gd name="connsiteX0" fmla="*/ 0 w 9174522"/>
              <a:gd name="connsiteY0" fmla="*/ 0 h 2463662"/>
              <a:gd name="connsiteX1" fmla="*/ 9159986 w 9174522"/>
              <a:gd name="connsiteY1" fmla="*/ 575101 h 2463662"/>
              <a:gd name="connsiteX2" fmla="*/ 9174522 w 9174522"/>
              <a:gd name="connsiteY2" fmla="*/ 2429363 h 2463662"/>
              <a:gd name="connsiteX3" fmla="*/ 3418 w 9174522"/>
              <a:gd name="connsiteY3" fmla="*/ 2463662 h 2463662"/>
              <a:gd name="connsiteX4" fmla="*/ 0 w 9174522"/>
              <a:gd name="connsiteY4" fmla="*/ 0 h 2463662"/>
              <a:gd name="connsiteX0" fmla="*/ 6909 w 9181431"/>
              <a:gd name="connsiteY0" fmla="*/ 0 h 2429363"/>
              <a:gd name="connsiteX1" fmla="*/ 9166895 w 9181431"/>
              <a:gd name="connsiteY1" fmla="*/ 575101 h 2429363"/>
              <a:gd name="connsiteX2" fmla="*/ 9181431 w 9181431"/>
              <a:gd name="connsiteY2" fmla="*/ 2429363 h 2429363"/>
              <a:gd name="connsiteX3" fmla="*/ 800 w 9181431"/>
              <a:gd name="connsiteY3" fmla="*/ 2416037 h 2429363"/>
              <a:gd name="connsiteX4" fmla="*/ 6909 w 9181431"/>
              <a:gd name="connsiteY4" fmla="*/ 0 h 2429363"/>
              <a:gd name="connsiteX0" fmla="*/ 6909 w 9181431"/>
              <a:gd name="connsiteY0" fmla="*/ 0 h 2444612"/>
              <a:gd name="connsiteX1" fmla="*/ 9166895 w 9181431"/>
              <a:gd name="connsiteY1" fmla="*/ 575101 h 2444612"/>
              <a:gd name="connsiteX2" fmla="*/ 9181431 w 9181431"/>
              <a:gd name="connsiteY2" fmla="*/ 2429363 h 2444612"/>
              <a:gd name="connsiteX3" fmla="*/ 800 w 9181431"/>
              <a:gd name="connsiteY3" fmla="*/ 2444612 h 2444612"/>
              <a:gd name="connsiteX4" fmla="*/ 6909 w 9181431"/>
              <a:gd name="connsiteY4" fmla="*/ 0 h 2444612"/>
              <a:gd name="connsiteX0" fmla="*/ 6909 w 9203570"/>
              <a:gd name="connsiteY0" fmla="*/ 0 h 2457938"/>
              <a:gd name="connsiteX1" fmla="*/ 9166895 w 9203570"/>
              <a:gd name="connsiteY1" fmla="*/ 575101 h 2457938"/>
              <a:gd name="connsiteX2" fmla="*/ 9203570 w 9203570"/>
              <a:gd name="connsiteY2" fmla="*/ 2457938 h 2457938"/>
              <a:gd name="connsiteX3" fmla="*/ 800 w 9203570"/>
              <a:gd name="connsiteY3" fmla="*/ 2444612 h 2457938"/>
              <a:gd name="connsiteX4" fmla="*/ 6909 w 9203570"/>
              <a:gd name="connsiteY4" fmla="*/ 0 h 2457938"/>
              <a:gd name="connsiteX0" fmla="*/ 6909 w 9178075"/>
              <a:gd name="connsiteY0" fmla="*/ 0 h 2457938"/>
              <a:gd name="connsiteX1" fmla="*/ 9166895 w 9178075"/>
              <a:gd name="connsiteY1" fmla="*/ 575101 h 2457938"/>
              <a:gd name="connsiteX2" fmla="*/ 9178075 w 9178075"/>
              <a:gd name="connsiteY2" fmla="*/ 2457938 h 2457938"/>
              <a:gd name="connsiteX3" fmla="*/ 800 w 9178075"/>
              <a:gd name="connsiteY3" fmla="*/ 2444612 h 2457938"/>
              <a:gd name="connsiteX4" fmla="*/ 6909 w 9178075"/>
              <a:gd name="connsiteY4" fmla="*/ 0 h 245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8075" h="2457938">
                <a:moveTo>
                  <a:pt x="6909" y="0"/>
                </a:moveTo>
                <a:lnTo>
                  <a:pt x="9166895" y="575101"/>
                </a:lnTo>
                <a:cubicBezTo>
                  <a:pt x="9167539" y="1221763"/>
                  <a:pt x="9177431" y="1811276"/>
                  <a:pt x="9178075" y="2457938"/>
                </a:cubicBezTo>
                <a:lnTo>
                  <a:pt x="800" y="2444612"/>
                </a:lnTo>
                <a:cubicBezTo>
                  <a:pt x="-3514" y="1886916"/>
                  <a:pt x="11223" y="557696"/>
                  <a:pt x="6909"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26" name="Content Placeholder 2"/>
          <p:cNvSpPr txBox="1">
            <a:spLocks/>
          </p:cNvSpPr>
          <p:nvPr/>
        </p:nvSpPr>
        <p:spPr bwMode="auto">
          <a:xfrm>
            <a:off x="280114" y="944781"/>
            <a:ext cx="8859308"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a:solidFill>
                  <a:schemeClr val="tx1">
                    <a:lumMod val="90000"/>
                    <a:lumOff val="10000"/>
                  </a:schemeClr>
                </a:solidFill>
                <a:latin typeface="Arial Narrow" pitchFamily="34" charset="0"/>
              </a:rPr>
              <a:t>We actively promote and stand up for children‘s rights.</a:t>
            </a:r>
            <a:endParaRPr lang="en-GB" dirty="0">
              <a:solidFill>
                <a:schemeClr val="tx1">
                  <a:lumMod val="90000"/>
                  <a:lumOff val="10000"/>
                </a:schemeClr>
              </a:solidFill>
              <a:latin typeface="Arial Narrow" pitchFamily="34" charset="0"/>
            </a:endParaRPr>
          </a:p>
        </p:txBody>
      </p:sp>
      <p:sp>
        <p:nvSpPr>
          <p:cNvPr id="18" name="Content Placeholder 2"/>
          <p:cNvSpPr txBox="1">
            <a:spLocks/>
          </p:cNvSpPr>
          <p:nvPr/>
        </p:nvSpPr>
        <p:spPr bwMode="auto">
          <a:xfrm>
            <a:off x="299580" y="341429"/>
            <a:ext cx="9001811" cy="54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400"/>
              </a:lnSpc>
              <a:buFont typeface="Wingdings" pitchFamily="2" charset="2"/>
              <a:buNone/>
            </a:pPr>
            <a:r>
              <a:rPr lang="de-DE" sz="3600" smtClean="0">
                <a:solidFill>
                  <a:srgbClr val="00B1E6"/>
                </a:solidFill>
                <a:latin typeface="Franklin Gothic Demi Cond" pitchFamily="34" charset="0"/>
              </a:rPr>
              <a:t>Advocacy</a:t>
            </a:r>
          </a:p>
        </p:txBody>
      </p:sp>
      <p:sp>
        <p:nvSpPr>
          <p:cNvPr id="13" name="Content Placeholder 2"/>
          <p:cNvSpPr txBox="1">
            <a:spLocks/>
          </p:cNvSpPr>
          <p:nvPr/>
        </p:nvSpPr>
        <p:spPr bwMode="auto">
          <a:xfrm>
            <a:off x="89042" y="2630182"/>
            <a:ext cx="4854606" cy="4101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ts val="2800"/>
              </a:lnSpc>
              <a:spcBef>
                <a:spcPts val="2000"/>
              </a:spcBef>
              <a:buClr>
                <a:srgbClr val="00B1E6"/>
              </a:buClr>
              <a:buFont typeface="Arial" pitchFamily="34" charset="0"/>
              <a:buChar char="•"/>
            </a:pPr>
            <a:r>
              <a:rPr lang="de-DE" dirty="0" smtClean="0">
                <a:solidFill>
                  <a:schemeClr val="bg1"/>
                </a:solidFill>
                <a:latin typeface="Arial Narrow" pitchFamily="34" charset="0"/>
              </a:rPr>
              <a:t>Encouragement of</a:t>
            </a:r>
            <a:r>
              <a:rPr lang="de-DE" dirty="0">
                <a:solidFill>
                  <a:schemeClr val="bg1"/>
                </a:solidFill>
                <a:latin typeface="Arial Narrow" pitchFamily="34" charset="0"/>
              </a:rPr>
              <a:t/>
            </a:r>
            <a:br>
              <a:rPr lang="de-DE" dirty="0">
                <a:solidFill>
                  <a:schemeClr val="bg1"/>
                </a:solidFill>
                <a:latin typeface="Arial Narrow" pitchFamily="34" charset="0"/>
              </a:rPr>
            </a:br>
            <a:r>
              <a:rPr lang="de-DE" dirty="0">
                <a:solidFill>
                  <a:schemeClr val="bg1"/>
                </a:solidFill>
                <a:latin typeface="Arial Narrow" pitchFamily="34" charset="0"/>
              </a:rPr>
              <a:t>governments to meet </a:t>
            </a:r>
            <a:br>
              <a:rPr lang="de-DE" dirty="0">
                <a:solidFill>
                  <a:schemeClr val="bg1"/>
                </a:solidFill>
                <a:latin typeface="Arial Narrow" pitchFamily="34" charset="0"/>
              </a:rPr>
            </a:br>
            <a:r>
              <a:rPr lang="de-DE">
                <a:solidFill>
                  <a:schemeClr val="bg1"/>
                </a:solidFill>
                <a:latin typeface="Arial Narrow" pitchFamily="34" charset="0"/>
              </a:rPr>
              <a:t>their </a:t>
            </a:r>
            <a:r>
              <a:rPr lang="de-DE" smtClean="0">
                <a:solidFill>
                  <a:schemeClr val="bg1"/>
                </a:solidFill>
                <a:latin typeface="Arial Narrow" pitchFamily="34" charset="0"/>
              </a:rPr>
              <a:t>responsibilities towards </a:t>
            </a:r>
            <a:r>
              <a:rPr lang="de-DE" dirty="0" smtClean="0">
                <a:solidFill>
                  <a:schemeClr val="bg1"/>
                </a:solidFill>
                <a:latin typeface="Arial Narrow" pitchFamily="34" charset="0"/>
              </a:rPr>
              <a:t>children at risk</a:t>
            </a:r>
            <a:endParaRPr lang="de-DE" dirty="0">
              <a:solidFill>
                <a:schemeClr val="bg1"/>
              </a:solidFill>
              <a:latin typeface="Arial Narrow" pitchFamily="34" charset="0"/>
            </a:endParaRPr>
          </a:p>
          <a:p>
            <a:pPr lvl="0">
              <a:lnSpc>
                <a:spcPts val="2800"/>
              </a:lnSpc>
              <a:spcBef>
                <a:spcPts val="2000"/>
              </a:spcBef>
              <a:buClr>
                <a:srgbClr val="00B1E6"/>
              </a:buClr>
              <a:buFont typeface="Arial" pitchFamily="34" charset="0"/>
              <a:buChar char="•"/>
            </a:pPr>
            <a:r>
              <a:rPr lang="de-DE" dirty="0">
                <a:solidFill>
                  <a:schemeClr val="bg1"/>
                </a:solidFill>
                <a:latin typeface="Arial Narrow" pitchFamily="34" charset="0"/>
              </a:rPr>
              <a:t>P</a:t>
            </a:r>
            <a:r>
              <a:rPr lang="de-DE" dirty="0" smtClean="0">
                <a:solidFill>
                  <a:schemeClr val="bg1"/>
                </a:solidFill>
                <a:latin typeface="Arial Narrow" pitchFamily="34" charset="0"/>
              </a:rPr>
              <a:t>artnerships </a:t>
            </a:r>
            <a:r>
              <a:rPr lang="de-DE" dirty="0">
                <a:solidFill>
                  <a:schemeClr val="bg1"/>
                </a:solidFill>
                <a:latin typeface="Arial Narrow" pitchFamily="34" charset="0"/>
              </a:rPr>
              <a:t>with </a:t>
            </a:r>
            <a:r>
              <a:rPr lang="de-DE" dirty="0" smtClean="0">
                <a:solidFill>
                  <a:schemeClr val="bg1"/>
                </a:solidFill>
                <a:latin typeface="Arial Narrow" pitchFamily="34" charset="0"/>
              </a:rPr>
              <a:t>other NGOs, UN agencies, governments, community-based organisations</a:t>
            </a:r>
            <a:endParaRPr lang="de-DE" dirty="0">
              <a:solidFill>
                <a:schemeClr val="bg1"/>
              </a:solidFill>
              <a:latin typeface="Arial Narrow" pitchFamily="34" charset="0"/>
            </a:endParaRPr>
          </a:p>
          <a:p>
            <a:pPr lvl="0">
              <a:lnSpc>
                <a:spcPts val="2800"/>
              </a:lnSpc>
              <a:spcBef>
                <a:spcPts val="2000"/>
              </a:spcBef>
              <a:buClr>
                <a:srgbClr val="00B1E6"/>
              </a:buClr>
              <a:buFont typeface="Arial" pitchFamily="34" charset="0"/>
              <a:buChar char="•"/>
            </a:pPr>
            <a:r>
              <a:rPr lang="de-DE" dirty="0" smtClean="0">
                <a:solidFill>
                  <a:schemeClr val="bg1"/>
                </a:solidFill>
                <a:latin typeface="Arial Narrow" pitchFamily="34" charset="0"/>
              </a:rPr>
              <a:t>Child and youth </a:t>
            </a:r>
            <a:r>
              <a:rPr lang="de-DE" smtClean="0">
                <a:solidFill>
                  <a:schemeClr val="bg1"/>
                </a:solidFill>
                <a:latin typeface="Arial Narrow" pitchFamily="34" charset="0"/>
              </a:rPr>
              <a:t>participation </a:t>
            </a:r>
            <a:br>
              <a:rPr lang="de-DE" smtClean="0">
                <a:solidFill>
                  <a:schemeClr val="bg1"/>
                </a:solidFill>
                <a:latin typeface="Arial Narrow" pitchFamily="34" charset="0"/>
              </a:rPr>
            </a:br>
            <a:r>
              <a:rPr lang="de-DE" smtClean="0">
                <a:solidFill>
                  <a:schemeClr val="bg1"/>
                </a:solidFill>
                <a:latin typeface="Arial Narrow" pitchFamily="34" charset="0"/>
              </a:rPr>
              <a:t>in decision-making </a:t>
            </a:r>
            <a:r>
              <a:rPr lang="de-DE" dirty="0">
                <a:solidFill>
                  <a:schemeClr val="bg1"/>
                </a:solidFill>
                <a:latin typeface="Arial Narrow" pitchFamily="34" charset="0"/>
              </a:rPr>
              <a:t>processes</a:t>
            </a:r>
          </a:p>
        </p:txBody>
      </p:sp>
    </p:spTree>
    <p:extLst>
      <p:ext uri="{BB962C8B-B14F-4D97-AF65-F5344CB8AC3E}">
        <p14:creationId xmlns:p14="http://schemas.microsoft.com/office/powerpoint/2010/main" val="15372912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625"/>
            <a:ext cx="9144000" cy="6841375"/>
          </a:xfrm>
          <a:prstGeom prst="rect">
            <a:avLst/>
          </a:prstGeom>
        </p:spPr>
      </p:pic>
      <p:sp>
        <p:nvSpPr>
          <p:cNvPr id="16" name="Content Placeholder 2"/>
          <p:cNvSpPr txBox="1">
            <a:spLocks/>
          </p:cNvSpPr>
          <p:nvPr/>
        </p:nvSpPr>
        <p:spPr bwMode="auto">
          <a:xfrm>
            <a:off x="647997" y="5878250"/>
            <a:ext cx="8118524"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Font typeface="Wingdings" pitchFamily="2" charset="2"/>
              <a:buNone/>
            </a:pPr>
            <a:r>
              <a:rPr lang="de-DE" b="1" smtClean="0">
                <a:solidFill>
                  <a:schemeClr val="tx1">
                    <a:lumMod val="90000"/>
                    <a:lumOff val="10000"/>
                  </a:schemeClr>
                </a:solidFill>
                <a:latin typeface="Arial Narrow" pitchFamily="34" charset="0"/>
              </a:rPr>
              <a:t>The first </a:t>
            </a:r>
            <a:r>
              <a:rPr lang="de-DE" b="1" dirty="0" smtClean="0">
                <a:solidFill>
                  <a:schemeClr val="tx1">
                    <a:lumMod val="90000"/>
                    <a:lumOff val="10000"/>
                  </a:schemeClr>
                </a:solidFill>
                <a:latin typeface="Arial Narrow" pitchFamily="34" charset="0"/>
              </a:rPr>
              <a:t>SOS Children‘s </a:t>
            </a:r>
            <a:r>
              <a:rPr lang="de-DE" b="1" smtClean="0">
                <a:solidFill>
                  <a:schemeClr val="tx1">
                    <a:lumMod val="90000"/>
                    <a:lumOff val="10000"/>
                  </a:schemeClr>
                </a:solidFill>
                <a:latin typeface="Arial Narrow" pitchFamily="34" charset="0"/>
              </a:rPr>
              <a:t>Village built </a:t>
            </a:r>
            <a:r>
              <a:rPr lang="de-DE" b="1" dirty="0" smtClean="0">
                <a:solidFill>
                  <a:schemeClr val="tx1">
                    <a:lumMod val="90000"/>
                    <a:lumOff val="10000"/>
                  </a:schemeClr>
                </a:solidFill>
                <a:latin typeface="Arial Narrow" pitchFamily="34" charset="0"/>
              </a:rPr>
              <a:t>in Imst, Austria</a:t>
            </a:r>
            <a:endParaRPr lang="en-GB" b="1" dirty="0">
              <a:solidFill>
                <a:schemeClr val="tx1">
                  <a:lumMod val="90000"/>
                  <a:lumOff val="10000"/>
                </a:schemeClr>
              </a:solidFill>
              <a:latin typeface="Arial Narrow" pitchFamily="34" charset="0"/>
            </a:endParaRPr>
          </a:p>
        </p:txBody>
      </p:sp>
      <p:sp>
        <p:nvSpPr>
          <p:cNvPr id="18"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en-GB" sz="3200" dirty="0" smtClean="0">
                <a:solidFill>
                  <a:schemeClr val="bg1"/>
                </a:solidFill>
                <a:latin typeface="Franklin Gothic Demi Cond" pitchFamily="34" charset="0"/>
              </a:rPr>
              <a:t>Our expanding geographic reach…</a:t>
            </a:r>
            <a:endParaRPr lang="en-GB" sz="3200" dirty="0">
              <a:solidFill>
                <a:schemeClr val="bg1"/>
              </a:solidFill>
              <a:latin typeface="Franklin Gothic Demi Cond" pitchFamily="34" charset="0"/>
            </a:endParaRPr>
          </a:p>
        </p:txBody>
      </p:sp>
      <p:cxnSp>
        <p:nvCxnSpPr>
          <p:cNvPr id="5" name="Straight Connector 4"/>
          <p:cNvCxnSpPr/>
          <p:nvPr/>
        </p:nvCxnSpPr>
        <p:spPr>
          <a:xfrm>
            <a:off x="380092" y="5026049"/>
            <a:ext cx="8176578"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28072" y="485439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Oval 31"/>
          <p:cNvSpPr/>
          <p:nvPr/>
        </p:nvSpPr>
        <p:spPr>
          <a:xfrm>
            <a:off x="2669111" y="4864021"/>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4" name="Oval 33"/>
          <p:cNvSpPr/>
          <p:nvPr/>
        </p:nvSpPr>
        <p:spPr>
          <a:xfrm>
            <a:off x="3815045" y="484850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6" name="Oval 35"/>
          <p:cNvSpPr/>
          <p:nvPr/>
        </p:nvSpPr>
        <p:spPr>
          <a:xfrm>
            <a:off x="4963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8" name="Oval 37"/>
          <p:cNvSpPr/>
          <p:nvPr/>
        </p:nvSpPr>
        <p:spPr>
          <a:xfrm>
            <a:off x="6097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6" name="Oval 45"/>
          <p:cNvSpPr/>
          <p:nvPr/>
        </p:nvSpPr>
        <p:spPr>
          <a:xfrm>
            <a:off x="7249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1" name="Oval 50"/>
          <p:cNvSpPr/>
          <p:nvPr/>
        </p:nvSpPr>
        <p:spPr>
          <a:xfrm>
            <a:off x="8383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 name="Oval 52"/>
          <p:cNvSpPr/>
          <p:nvPr/>
        </p:nvSpPr>
        <p:spPr>
          <a:xfrm>
            <a:off x="370546" y="484604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Oval 6"/>
          <p:cNvSpPr/>
          <p:nvPr/>
        </p:nvSpPr>
        <p:spPr>
          <a:xfrm>
            <a:off x="137164" y="4613956"/>
            <a:ext cx="832616" cy="832616"/>
          </a:xfrm>
          <a:prstGeom prst="ellipse">
            <a:avLst/>
          </a:prstGeom>
          <a:solidFill>
            <a:schemeClr val="bg1"/>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Title 1"/>
          <p:cNvSpPr txBox="1">
            <a:spLocks/>
          </p:cNvSpPr>
          <p:nvPr/>
        </p:nvSpPr>
        <p:spPr>
          <a:xfrm>
            <a:off x="-14567" y="4769849"/>
            <a:ext cx="1114058" cy="719137"/>
          </a:xfrm>
          <a:prstGeom prst="rect">
            <a:avLst/>
          </a:prstGeom>
        </p:spPr>
        <p:txBody>
          <a:bodyPr/>
          <a:lstStyle>
            <a:lvl1pPr algn="r" defTabSz="457200" rtl="0" eaLnBrk="0" fontAlgn="base" hangingPunct="0">
              <a:spcBef>
                <a:spcPct val="0"/>
              </a:spcBef>
              <a:spcAft>
                <a:spcPct val="0"/>
              </a:spcAft>
              <a:defRPr sz="3000" kern="1200">
                <a:solidFill>
                  <a:srgbClr val="EC7404"/>
                </a:solidFill>
                <a:latin typeface="Arial"/>
                <a:ea typeface="ＭＳ Ｐゴシック" pitchFamily="30" charset="-128"/>
                <a:cs typeface="ＭＳ Ｐゴシック" pitchFamily="30" charset="-128"/>
              </a:defRPr>
            </a:lvl1pPr>
            <a:lvl2pPr algn="r" defTabSz="457200" rtl="0" eaLnBrk="0" fontAlgn="base" hangingPunct="0">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2pPr>
            <a:lvl3pPr algn="r" defTabSz="457200" rtl="0" eaLnBrk="0" fontAlgn="base" hangingPunct="0">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3pPr>
            <a:lvl4pPr algn="r" defTabSz="457200" rtl="0" eaLnBrk="0" fontAlgn="base" hangingPunct="0">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4pPr>
            <a:lvl5pPr algn="r" defTabSz="457200" rtl="0" eaLnBrk="0" fontAlgn="base" hangingPunct="0">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5pPr>
            <a:lvl6pPr marL="457200" algn="r" defTabSz="457200" rtl="0" fontAlgn="base">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6pPr>
            <a:lvl7pPr marL="914400" algn="r" defTabSz="457200" rtl="0" fontAlgn="base">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7pPr>
            <a:lvl8pPr marL="1371600" algn="r" defTabSz="457200" rtl="0" fontAlgn="base">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8pPr>
            <a:lvl9pPr marL="1828800" algn="r" defTabSz="457200" rtl="0" fontAlgn="base">
              <a:spcBef>
                <a:spcPct val="0"/>
              </a:spcBef>
              <a:spcAft>
                <a:spcPct val="0"/>
              </a:spcAft>
              <a:defRPr sz="3000">
                <a:solidFill>
                  <a:srgbClr val="EC7404"/>
                </a:solidFill>
                <a:latin typeface="Arial" pitchFamily="30" charset="0"/>
                <a:ea typeface="ＭＳ Ｐゴシック" pitchFamily="30" charset="-128"/>
                <a:cs typeface="ＭＳ Ｐゴシック" pitchFamily="30" charset="-128"/>
              </a:defRPr>
            </a:lvl9pPr>
          </a:lstStyle>
          <a:p>
            <a:pPr algn="ctr"/>
            <a:r>
              <a:rPr lang="de-AT" sz="2400" b="1" dirty="0" smtClean="0">
                <a:solidFill>
                  <a:schemeClr val="tx1">
                    <a:lumMod val="90000"/>
                    <a:lumOff val="10000"/>
                  </a:schemeClr>
                </a:solidFill>
                <a:latin typeface="Arial Narrow" pitchFamily="34" charset="0"/>
              </a:rPr>
              <a:t>1949</a:t>
            </a:r>
            <a:endParaRPr lang="de-AT" sz="2400" b="1" dirty="0">
              <a:solidFill>
                <a:schemeClr val="tx1">
                  <a:lumMod val="90000"/>
                  <a:lumOff val="10000"/>
                </a:schemeClr>
              </a:solidFill>
              <a:latin typeface="Arial Narrow" pitchFamily="34" charset="0"/>
            </a:endParaRPr>
          </a:p>
        </p:txBody>
      </p:sp>
    </p:spTree>
    <p:extLst>
      <p:ext uri="{BB962C8B-B14F-4D97-AF65-F5344CB8AC3E}">
        <p14:creationId xmlns:p14="http://schemas.microsoft.com/office/powerpoint/2010/main" val="40731880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41375"/>
          </a:xfrm>
          <a:prstGeom prst="rect">
            <a:avLst/>
          </a:prstGeom>
        </p:spPr>
      </p:pic>
      <p:sp>
        <p:nvSpPr>
          <p:cNvPr id="20"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6" name="Content Placeholder 2"/>
          <p:cNvSpPr txBox="1">
            <a:spLocks/>
          </p:cNvSpPr>
          <p:nvPr/>
        </p:nvSpPr>
        <p:spPr bwMode="auto">
          <a:xfrm>
            <a:off x="647997" y="5878250"/>
            <a:ext cx="8118524"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b="1">
                <a:solidFill>
                  <a:schemeClr val="tx1">
                    <a:lumMod val="90000"/>
                    <a:lumOff val="10000"/>
                  </a:schemeClr>
                </a:solidFill>
                <a:latin typeface="Arial Narrow" pitchFamily="34" charset="0"/>
              </a:rPr>
              <a:t>Associations founded in Germany, France and Italy</a:t>
            </a:r>
            <a:endParaRPr lang="en-GB" b="1" dirty="0">
              <a:solidFill>
                <a:schemeClr val="tx1">
                  <a:lumMod val="90000"/>
                  <a:lumOff val="10000"/>
                </a:schemeClr>
              </a:solidFill>
              <a:latin typeface="Arial Narrow" pitchFamily="34" charset="0"/>
            </a:endParaRPr>
          </a:p>
        </p:txBody>
      </p:sp>
      <p:sp>
        <p:nvSpPr>
          <p:cNvPr id="1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en-GB" sz="3200" dirty="0" smtClean="0">
                <a:solidFill>
                  <a:schemeClr val="bg1"/>
                </a:solidFill>
                <a:latin typeface="Franklin Gothic Demi Cond" pitchFamily="34" charset="0"/>
              </a:rPr>
              <a:t>Our expanding geographic reach…</a:t>
            </a:r>
            <a:endParaRPr lang="en-GB" sz="3200" dirty="0">
              <a:solidFill>
                <a:schemeClr val="bg1"/>
              </a:solidFill>
              <a:latin typeface="Franklin Gothic Demi Cond" pitchFamily="34" charset="0"/>
            </a:endParaRPr>
          </a:p>
        </p:txBody>
      </p:sp>
      <p:cxnSp>
        <p:nvCxnSpPr>
          <p:cNvPr id="23" name="Straight Connector 22"/>
          <p:cNvCxnSpPr/>
          <p:nvPr/>
        </p:nvCxnSpPr>
        <p:spPr>
          <a:xfrm>
            <a:off x="380092" y="5026049"/>
            <a:ext cx="8176578"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528072" y="485439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Oval 24"/>
          <p:cNvSpPr/>
          <p:nvPr/>
        </p:nvSpPr>
        <p:spPr>
          <a:xfrm>
            <a:off x="2669111" y="4864021"/>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Oval 25"/>
          <p:cNvSpPr/>
          <p:nvPr/>
        </p:nvSpPr>
        <p:spPr>
          <a:xfrm>
            <a:off x="3815045" y="484850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Oval 26"/>
          <p:cNvSpPr/>
          <p:nvPr/>
        </p:nvSpPr>
        <p:spPr>
          <a:xfrm>
            <a:off x="4963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Oval 27"/>
          <p:cNvSpPr/>
          <p:nvPr/>
        </p:nvSpPr>
        <p:spPr>
          <a:xfrm>
            <a:off x="6097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Oval 28"/>
          <p:cNvSpPr/>
          <p:nvPr/>
        </p:nvSpPr>
        <p:spPr>
          <a:xfrm>
            <a:off x="7249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Oval 30"/>
          <p:cNvSpPr/>
          <p:nvPr/>
        </p:nvSpPr>
        <p:spPr>
          <a:xfrm>
            <a:off x="8383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Oval 32"/>
          <p:cNvSpPr/>
          <p:nvPr/>
        </p:nvSpPr>
        <p:spPr>
          <a:xfrm>
            <a:off x="370546" y="484604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Oval 34"/>
          <p:cNvSpPr/>
          <p:nvPr/>
        </p:nvSpPr>
        <p:spPr>
          <a:xfrm>
            <a:off x="1295005" y="4613956"/>
            <a:ext cx="832616" cy="832616"/>
          </a:xfrm>
          <a:prstGeom prst="ellipse">
            <a:avLst/>
          </a:prstGeom>
          <a:solidFill>
            <a:schemeClr val="bg1"/>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Title 1"/>
          <p:cNvSpPr txBox="1">
            <a:spLocks/>
          </p:cNvSpPr>
          <p:nvPr/>
        </p:nvSpPr>
        <p:spPr bwMode="auto">
          <a:xfrm>
            <a:off x="1162324" y="4663049"/>
            <a:ext cx="111405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defTabSz="457200" rtl="0" eaLnBrk="0" fontAlgn="base" hangingPunct="0">
              <a:lnSpc>
                <a:spcPts val="2600"/>
              </a:lnSpc>
              <a:spcBef>
                <a:spcPct val="0"/>
              </a:spcBef>
              <a:spcAft>
                <a:spcPct val="0"/>
              </a:spcAft>
              <a:defRPr sz="2800" kern="1200">
                <a:solidFill>
                  <a:srgbClr val="009EE0"/>
                </a:solidFill>
                <a:latin typeface="Arial"/>
                <a:ea typeface="ＭＳ Ｐゴシック" pitchFamily="30" charset="-128"/>
                <a:cs typeface="ＭＳ Ｐゴシック" pitchFamily="30" charset="-128"/>
              </a:defRPr>
            </a:lvl1pPr>
            <a:lvl2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2pPr>
            <a:lvl3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3pPr>
            <a:lvl4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4pPr>
            <a:lvl5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5pPr>
            <a:lvl6pPr marL="4572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6pPr>
            <a:lvl7pPr marL="9144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7pPr>
            <a:lvl8pPr marL="13716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8pPr>
            <a:lvl9pPr marL="18288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9pPr>
          </a:lstStyle>
          <a:p>
            <a:pPr algn="ctr">
              <a:lnSpc>
                <a:spcPct val="100000"/>
              </a:lnSpc>
            </a:pPr>
            <a:r>
              <a:rPr lang="de-AT" sz="2400" b="1" smtClean="0">
                <a:solidFill>
                  <a:schemeClr val="tx1">
                    <a:lumMod val="90000"/>
                    <a:lumOff val="10000"/>
                  </a:schemeClr>
                </a:solidFill>
                <a:latin typeface="Arial Narrow" pitchFamily="34" charset="0"/>
              </a:rPr>
              <a:t>1955</a:t>
            </a:r>
            <a:endParaRPr lang="de-AT" sz="2400" b="1" dirty="0">
              <a:solidFill>
                <a:schemeClr val="tx1">
                  <a:lumMod val="90000"/>
                  <a:lumOff val="10000"/>
                </a:schemeClr>
              </a:solidFill>
              <a:latin typeface="Arial Narrow" pitchFamily="34" charset="0"/>
            </a:endParaRPr>
          </a:p>
        </p:txBody>
      </p:sp>
    </p:spTree>
    <p:extLst>
      <p:ext uri="{BB962C8B-B14F-4D97-AF65-F5344CB8AC3E}">
        <p14:creationId xmlns:p14="http://schemas.microsoft.com/office/powerpoint/2010/main" val="2618082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pic>
        <p:nvPicPr>
          <p:cNvPr id="39" name="Picture 3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0"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6" name="Content Placeholder 2"/>
          <p:cNvSpPr txBox="1">
            <a:spLocks/>
          </p:cNvSpPr>
          <p:nvPr/>
        </p:nvSpPr>
        <p:spPr bwMode="auto">
          <a:xfrm>
            <a:off x="647997" y="5878250"/>
            <a:ext cx="8118524"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b="1">
                <a:solidFill>
                  <a:schemeClr val="tx1">
                    <a:lumMod val="90000"/>
                    <a:lumOff val="10000"/>
                  </a:schemeClr>
                </a:solidFill>
                <a:latin typeface="Arial Narrow" pitchFamily="34" charset="0"/>
              </a:rPr>
              <a:t>Start of </a:t>
            </a:r>
            <a:r>
              <a:rPr lang="de-DE" b="1" smtClean="0">
                <a:solidFill>
                  <a:schemeClr val="tx1">
                    <a:lumMod val="90000"/>
                    <a:lumOff val="10000"/>
                  </a:schemeClr>
                </a:solidFill>
                <a:latin typeface="Arial Narrow" pitchFamily="34" charset="0"/>
              </a:rPr>
              <a:t>our international </a:t>
            </a:r>
            <a:r>
              <a:rPr lang="de-DE" b="1">
                <a:solidFill>
                  <a:schemeClr val="tx1">
                    <a:lumMod val="90000"/>
                    <a:lumOff val="10000"/>
                  </a:schemeClr>
                </a:solidFill>
                <a:latin typeface="Arial Narrow" pitchFamily="34" charset="0"/>
              </a:rPr>
              <a:t>work outside Europe, in Asia </a:t>
            </a:r>
            <a:r>
              <a:rPr lang="de-DE">
                <a:solidFill>
                  <a:schemeClr val="tx1">
                    <a:lumMod val="90000"/>
                    <a:lumOff val="10000"/>
                  </a:schemeClr>
                </a:solidFill>
                <a:latin typeface="Arial Narrow" pitchFamily="34" charset="0"/>
              </a:rPr>
              <a:t>(South Korea, India)</a:t>
            </a:r>
            <a:r>
              <a:rPr lang="de-DE" b="1">
                <a:solidFill>
                  <a:schemeClr val="tx1">
                    <a:lumMod val="90000"/>
                    <a:lumOff val="10000"/>
                  </a:schemeClr>
                </a:solidFill>
                <a:latin typeface="Arial Narrow" pitchFamily="34" charset="0"/>
              </a:rPr>
              <a:t> and Latin America </a:t>
            </a:r>
            <a:r>
              <a:rPr lang="de-DE">
                <a:solidFill>
                  <a:schemeClr val="tx1">
                    <a:lumMod val="90000"/>
                    <a:lumOff val="10000"/>
                  </a:schemeClr>
                </a:solidFill>
                <a:latin typeface="Arial Narrow" pitchFamily="34" charset="0"/>
              </a:rPr>
              <a:t>(Uruguay, Ecuador)</a:t>
            </a:r>
            <a:endParaRPr lang="en-GB" dirty="0">
              <a:solidFill>
                <a:schemeClr val="tx1">
                  <a:lumMod val="90000"/>
                  <a:lumOff val="10000"/>
                </a:schemeClr>
              </a:solidFill>
              <a:latin typeface="Arial Narrow" pitchFamily="34" charset="0"/>
            </a:endParaRPr>
          </a:p>
        </p:txBody>
      </p:sp>
      <p:sp>
        <p:nvSpPr>
          <p:cNvPr id="1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en-GB" sz="3200" dirty="0" smtClean="0">
                <a:solidFill>
                  <a:schemeClr val="bg1"/>
                </a:solidFill>
                <a:latin typeface="Franklin Gothic Demi Cond" pitchFamily="34" charset="0"/>
              </a:rPr>
              <a:t>Our expanding geographic reach…</a:t>
            </a:r>
            <a:endParaRPr lang="en-GB" sz="3200" dirty="0">
              <a:solidFill>
                <a:schemeClr val="bg1"/>
              </a:solidFill>
              <a:latin typeface="Franklin Gothic Demi Cond" pitchFamily="34" charset="0"/>
            </a:endParaRPr>
          </a:p>
        </p:txBody>
      </p:sp>
      <p:cxnSp>
        <p:nvCxnSpPr>
          <p:cNvPr id="23" name="Straight Connector 22"/>
          <p:cNvCxnSpPr/>
          <p:nvPr/>
        </p:nvCxnSpPr>
        <p:spPr>
          <a:xfrm>
            <a:off x="380092" y="5026049"/>
            <a:ext cx="8176578"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528072" y="485439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Oval 24"/>
          <p:cNvSpPr/>
          <p:nvPr/>
        </p:nvSpPr>
        <p:spPr>
          <a:xfrm>
            <a:off x="2669111" y="4864021"/>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Oval 25"/>
          <p:cNvSpPr/>
          <p:nvPr/>
        </p:nvSpPr>
        <p:spPr>
          <a:xfrm>
            <a:off x="3815045" y="484850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Oval 26"/>
          <p:cNvSpPr/>
          <p:nvPr/>
        </p:nvSpPr>
        <p:spPr>
          <a:xfrm>
            <a:off x="4963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Oval 27"/>
          <p:cNvSpPr/>
          <p:nvPr/>
        </p:nvSpPr>
        <p:spPr>
          <a:xfrm>
            <a:off x="6097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Oval 28"/>
          <p:cNvSpPr/>
          <p:nvPr/>
        </p:nvSpPr>
        <p:spPr>
          <a:xfrm>
            <a:off x="7249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Oval 30"/>
          <p:cNvSpPr/>
          <p:nvPr/>
        </p:nvSpPr>
        <p:spPr>
          <a:xfrm>
            <a:off x="8383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Oval 32"/>
          <p:cNvSpPr/>
          <p:nvPr/>
        </p:nvSpPr>
        <p:spPr>
          <a:xfrm>
            <a:off x="370546" y="484604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Oval 34"/>
          <p:cNvSpPr/>
          <p:nvPr/>
        </p:nvSpPr>
        <p:spPr>
          <a:xfrm>
            <a:off x="2428830" y="4613956"/>
            <a:ext cx="832616" cy="832616"/>
          </a:xfrm>
          <a:prstGeom prst="ellipse">
            <a:avLst/>
          </a:prstGeom>
          <a:solidFill>
            <a:schemeClr val="bg1"/>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Title 1"/>
          <p:cNvSpPr txBox="1">
            <a:spLocks/>
          </p:cNvSpPr>
          <p:nvPr/>
        </p:nvSpPr>
        <p:spPr bwMode="auto">
          <a:xfrm>
            <a:off x="2296149" y="4663049"/>
            <a:ext cx="111405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defTabSz="457200" rtl="0" eaLnBrk="0" fontAlgn="base" hangingPunct="0">
              <a:lnSpc>
                <a:spcPts val="2600"/>
              </a:lnSpc>
              <a:spcBef>
                <a:spcPct val="0"/>
              </a:spcBef>
              <a:spcAft>
                <a:spcPct val="0"/>
              </a:spcAft>
              <a:defRPr sz="2800" kern="1200">
                <a:solidFill>
                  <a:srgbClr val="009EE0"/>
                </a:solidFill>
                <a:latin typeface="Arial"/>
                <a:ea typeface="ＭＳ Ｐゴシック" pitchFamily="30" charset="-128"/>
                <a:cs typeface="ＭＳ Ｐゴシック" pitchFamily="30" charset="-128"/>
              </a:defRPr>
            </a:lvl1pPr>
            <a:lvl2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2pPr>
            <a:lvl3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3pPr>
            <a:lvl4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4pPr>
            <a:lvl5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5pPr>
            <a:lvl6pPr marL="4572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6pPr>
            <a:lvl7pPr marL="9144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7pPr>
            <a:lvl8pPr marL="13716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8pPr>
            <a:lvl9pPr marL="18288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9pPr>
          </a:lstStyle>
          <a:p>
            <a:pPr algn="ctr">
              <a:lnSpc>
                <a:spcPct val="100000"/>
              </a:lnSpc>
            </a:pPr>
            <a:r>
              <a:rPr lang="de-AT" sz="2400" b="1" smtClean="0">
                <a:solidFill>
                  <a:schemeClr val="tx1">
                    <a:lumMod val="90000"/>
                    <a:lumOff val="10000"/>
                  </a:schemeClr>
                </a:solidFill>
                <a:latin typeface="Arial Narrow" pitchFamily="34" charset="0"/>
              </a:rPr>
              <a:t>1960s</a:t>
            </a:r>
            <a:endParaRPr lang="de-AT" sz="2400" b="1" dirty="0">
              <a:solidFill>
                <a:schemeClr val="tx1">
                  <a:lumMod val="90000"/>
                  <a:lumOff val="10000"/>
                </a:schemeClr>
              </a:solidFill>
              <a:latin typeface="Arial Narrow" pitchFamily="34" charset="0"/>
            </a:endParaRPr>
          </a:p>
        </p:txBody>
      </p:sp>
    </p:spTree>
    <p:extLst>
      <p:ext uri="{BB962C8B-B14F-4D97-AF65-F5344CB8AC3E}">
        <p14:creationId xmlns:p14="http://schemas.microsoft.com/office/powerpoint/2010/main" val="33852828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7"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6" name="Content Placeholder 2"/>
          <p:cNvSpPr txBox="1">
            <a:spLocks/>
          </p:cNvSpPr>
          <p:nvPr/>
        </p:nvSpPr>
        <p:spPr bwMode="auto">
          <a:xfrm>
            <a:off x="647997" y="5878250"/>
            <a:ext cx="8118524"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b="1">
                <a:solidFill>
                  <a:schemeClr val="tx1">
                    <a:lumMod val="90000"/>
                    <a:lumOff val="10000"/>
                  </a:schemeClr>
                </a:solidFill>
                <a:latin typeface="Arial Narrow" pitchFamily="34" charset="0"/>
              </a:rPr>
              <a:t>First African SOS Children's Village built in Côte d'Ivoire; programmes started in Ghana, Kenya and Sierra Leone.</a:t>
            </a:r>
            <a:endParaRPr lang="en-GB" b="1" dirty="0">
              <a:solidFill>
                <a:schemeClr val="tx1">
                  <a:lumMod val="90000"/>
                  <a:lumOff val="10000"/>
                </a:schemeClr>
              </a:solidFill>
              <a:latin typeface="Arial Narrow" pitchFamily="34" charset="0"/>
            </a:endParaRPr>
          </a:p>
        </p:txBody>
      </p:sp>
      <p:sp>
        <p:nvSpPr>
          <p:cNvPr id="1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en-GB" sz="3200" dirty="0" smtClean="0">
                <a:solidFill>
                  <a:schemeClr val="bg1"/>
                </a:solidFill>
                <a:latin typeface="Franklin Gothic Demi Cond" pitchFamily="34" charset="0"/>
              </a:rPr>
              <a:t>Our expanding geographic reach…</a:t>
            </a:r>
            <a:endParaRPr lang="en-GB" sz="3200" dirty="0">
              <a:solidFill>
                <a:schemeClr val="bg1"/>
              </a:solidFill>
              <a:latin typeface="Franklin Gothic Demi Cond" pitchFamily="34" charset="0"/>
            </a:endParaRPr>
          </a:p>
        </p:txBody>
      </p:sp>
      <p:cxnSp>
        <p:nvCxnSpPr>
          <p:cNvPr id="23" name="Straight Connector 22"/>
          <p:cNvCxnSpPr/>
          <p:nvPr/>
        </p:nvCxnSpPr>
        <p:spPr>
          <a:xfrm>
            <a:off x="380092" y="5026049"/>
            <a:ext cx="8176578"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528072" y="485439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Oval 24"/>
          <p:cNvSpPr/>
          <p:nvPr/>
        </p:nvSpPr>
        <p:spPr>
          <a:xfrm>
            <a:off x="2669111" y="4864021"/>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Oval 25"/>
          <p:cNvSpPr/>
          <p:nvPr/>
        </p:nvSpPr>
        <p:spPr>
          <a:xfrm>
            <a:off x="3815045" y="484850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Oval 26"/>
          <p:cNvSpPr/>
          <p:nvPr/>
        </p:nvSpPr>
        <p:spPr>
          <a:xfrm>
            <a:off x="4963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Oval 27"/>
          <p:cNvSpPr/>
          <p:nvPr/>
        </p:nvSpPr>
        <p:spPr>
          <a:xfrm>
            <a:off x="6097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Oval 28"/>
          <p:cNvSpPr/>
          <p:nvPr/>
        </p:nvSpPr>
        <p:spPr>
          <a:xfrm>
            <a:off x="7249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Oval 30"/>
          <p:cNvSpPr/>
          <p:nvPr/>
        </p:nvSpPr>
        <p:spPr>
          <a:xfrm>
            <a:off x="8383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Oval 32"/>
          <p:cNvSpPr/>
          <p:nvPr/>
        </p:nvSpPr>
        <p:spPr>
          <a:xfrm>
            <a:off x="370546" y="484604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Oval 34"/>
          <p:cNvSpPr/>
          <p:nvPr/>
        </p:nvSpPr>
        <p:spPr>
          <a:xfrm>
            <a:off x="3580705" y="4613956"/>
            <a:ext cx="832616" cy="832616"/>
          </a:xfrm>
          <a:prstGeom prst="ellipse">
            <a:avLst/>
          </a:prstGeom>
          <a:solidFill>
            <a:schemeClr val="bg1"/>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Title 1"/>
          <p:cNvSpPr txBox="1">
            <a:spLocks/>
          </p:cNvSpPr>
          <p:nvPr/>
        </p:nvSpPr>
        <p:spPr bwMode="auto">
          <a:xfrm>
            <a:off x="3448024" y="4663049"/>
            <a:ext cx="111405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defTabSz="457200" rtl="0" eaLnBrk="0" fontAlgn="base" hangingPunct="0">
              <a:lnSpc>
                <a:spcPts val="2600"/>
              </a:lnSpc>
              <a:spcBef>
                <a:spcPct val="0"/>
              </a:spcBef>
              <a:spcAft>
                <a:spcPct val="0"/>
              </a:spcAft>
              <a:defRPr sz="2800" kern="1200">
                <a:solidFill>
                  <a:srgbClr val="009EE0"/>
                </a:solidFill>
                <a:latin typeface="Arial"/>
                <a:ea typeface="ＭＳ Ｐゴシック" pitchFamily="30" charset="-128"/>
                <a:cs typeface="ＭＳ Ｐゴシック" pitchFamily="30" charset="-128"/>
              </a:defRPr>
            </a:lvl1pPr>
            <a:lvl2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2pPr>
            <a:lvl3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3pPr>
            <a:lvl4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4pPr>
            <a:lvl5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5pPr>
            <a:lvl6pPr marL="4572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6pPr>
            <a:lvl7pPr marL="9144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7pPr>
            <a:lvl8pPr marL="13716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8pPr>
            <a:lvl9pPr marL="18288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9pPr>
          </a:lstStyle>
          <a:p>
            <a:pPr algn="ctr">
              <a:lnSpc>
                <a:spcPct val="100000"/>
              </a:lnSpc>
            </a:pPr>
            <a:r>
              <a:rPr lang="de-AT" sz="2400" b="1" smtClean="0">
                <a:solidFill>
                  <a:schemeClr val="tx1">
                    <a:lumMod val="90000"/>
                    <a:lumOff val="10000"/>
                  </a:schemeClr>
                </a:solidFill>
                <a:latin typeface="Arial Narrow" pitchFamily="34" charset="0"/>
              </a:rPr>
              <a:t>1970s</a:t>
            </a:r>
            <a:endParaRPr lang="de-AT" sz="2400" b="1" dirty="0">
              <a:solidFill>
                <a:schemeClr val="tx1">
                  <a:lumMod val="90000"/>
                  <a:lumOff val="10000"/>
                </a:schemeClr>
              </a:solidFill>
              <a:latin typeface="Arial Narrow" pitchFamily="34" charset="0"/>
            </a:endParaRPr>
          </a:p>
        </p:txBody>
      </p:sp>
    </p:spTree>
    <p:extLst>
      <p:ext uri="{BB962C8B-B14F-4D97-AF65-F5344CB8AC3E}">
        <p14:creationId xmlns:p14="http://schemas.microsoft.com/office/powerpoint/2010/main" val="8605475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050"/>
            <a:ext cx="9144000" cy="6858000"/>
          </a:xfrm>
          <a:prstGeom prst="rect">
            <a:avLst/>
          </a:prstGeom>
        </p:spPr>
      </p:pic>
      <p:sp>
        <p:nvSpPr>
          <p:cNvPr id="20"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6" name="Content Placeholder 2"/>
          <p:cNvSpPr txBox="1">
            <a:spLocks/>
          </p:cNvSpPr>
          <p:nvPr/>
        </p:nvSpPr>
        <p:spPr bwMode="auto">
          <a:xfrm>
            <a:off x="647997" y="5878250"/>
            <a:ext cx="8118524"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en-US" b="1">
                <a:solidFill>
                  <a:schemeClr val="tx1">
                    <a:lumMod val="90000"/>
                    <a:lumOff val="10000"/>
                  </a:schemeClr>
                </a:solidFill>
                <a:latin typeface="Arial Narrow" pitchFamily="34" charset="0"/>
              </a:rPr>
              <a:t>“Neighbourhood assistance” </a:t>
            </a:r>
            <a:r>
              <a:rPr lang="en-US" b="1" smtClean="0">
                <a:solidFill>
                  <a:schemeClr val="tx1">
                    <a:lumMod val="90000"/>
                    <a:lumOff val="10000"/>
                  </a:schemeClr>
                </a:solidFill>
                <a:latin typeface="Arial Narrow" pitchFamily="34" charset="0"/>
              </a:rPr>
              <a:t>starts in Lebanon and later </a:t>
            </a:r>
            <a:r>
              <a:rPr lang="en-US" b="1">
                <a:solidFill>
                  <a:schemeClr val="tx1">
                    <a:lumMod val="90000"/>
                    <a:lumOff val="10000"/>
                  </a:schemeClr>
                </a:solidFill>
                <a:latin typeface="Arial Narrow" pitchFamily="34" charset="0"/>
              </a:rPr>
              <a:t>becomes “family strengthening programmes”</a:t>
            </a:r>
            <a:endParaRPr lang="en-GB" b="1" dirty="0">
              <a:solidFill>
                <a:schemeClr val="tx1">
                  <a:lumMod val="90000"/>
                  <a:lumOff val="10000"/>
                </a:schemeClr>
              </a:solidFill>
              <a:latin typeface="Arial Narrow" pitchFamily="34" charset="0"/>
            </a:endParaRPr>
          </a:p>
        </p:txBody>
      </p:sp>
      <p:sp>
        <p:nvSpPr>
          <p:cNvPr id="1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en-GB" sz="3200" dirty="0" smtClean="0">
                <a:solidFill>
                  <a:schemeClr val="bg1"/>
                </a:solidFill>
                <a:latin typeface="Franklin Gothic Demi Cond" pitchFamily="34" charset="0"/>
              </a:rPr>
              <a:t>Our expanding geographic reach…</a:t>
            </a:r>
            <a:endParaRPr lang="en-GB" sz="3200" dirty="0">
              <a:solidFill>
                <a:schemeClr val="bg1"/>
              </a:solidFill>
              <a:latin typeface="Franklin Gothic Demi Cond" pitchFamily="34" charset="0"/>
            </a:endParaRPr>
          </a:p>
        </p:txBody>
      </p:sp>
      <p:cxnSp>
        <p:nvCxnSpPr>
          <p:cNvPr id="23" name="Straight Connector 22"/>
          <p:cNvCxnSpPr/>
          <p:nvPr/>
        </p:nvCxnSpPr>
        <p:spPr>
          <a:xfrm>
            <a:off x="380092" y="5026049"/>
            <a:ext cx="8176578"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528072" y="485439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Oval 24"/>
          <p:cNvSpPr/>
          <p:nvPr/>
        </p:nvSpPr>
        <p:spPr>
          <a:xfrm>
            <a:off x="2669111" y="4864021"/>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Oval 25"/>
          <p:cNvSpPr/>
          <p:nvPr/>
        </p:nvSpPr>
        <p:spPr>
          <a:xfrm>
            <a:off x="3815045" y="484850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Oval 26"/>
          <p:cNvSpPr/>
          <p:nvPr/>
        </p:nvSpPr>
        <p:spPr>
          <a:xfrm>
            <a:off x="4963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Oval 27"/>
          <p:cNvSpPr/>
          <p:nvPr/>
        </p:nvSpPr>
        <p:spPr>
          <a:xfrm>
            <a:off x="6097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Oval 28"/>
          <p:cNvSpPr/>
          <p:nvPr/>
        </p:nvSpPr>
        <p:spPr>
          <a:xfrm>
            <a:off x="7249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Oval 30"/>
          <p:cNvSpPr/>
          <p:nvPr/>
        </p:nvSpPr>
        <p:spPr>
          <a:xfrm>
            <a:off x="8383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Oval 32"/>
          <p:cNvSpPr/>
          <p:nvPr/>
        </p:nvSpPr>
        <p:spPr>
          <a:xfrm>
            <a:off x="370546" y="484604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Oval 34"/>
          <p:cNvSpPr/>
          <p:nvPr/>
        </p:nvSpPr>
        <p:spPr>
          <a:xfrm>
            <a:off x="4720705" y="4613956"/>
            <a:ext cx="832616" cy="832616"/>
          </a:xfrm>
          <a:prstGeom prst="ellipse">
            <a:avLst/>
          </a:prstGeom>
          <a:solidFill>
            <a:schemeClr val="bg1"/>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Title 1"/>
          <p:cNvSpPr txBox="1">
            <a:spLocks/>
          </p:cNvSpPr>
          <p:nvPr/>
        </p:nvSpPr>
        <p:spPr bwMode="auto">
          <a:xfrm>
            <a:off x="4588024" y="4663049"/>
            <a:ext cx="111405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defTabSz="457200" rtl="0" eaLnBrk="0" fontAlgn="base" hangingPunct="0">
              <a:lnSpc>
                <a:spcPts val="2600"/>
              </a:lnSpc>
              <a:spcBef>
                <a:spcPct val="0"/>
              </a:spcBef>
              <a:spcAft>
                <a:spcPct val="0"/>
              </a:spcAft>
              <a:defRPr sz="2800" kern="1200">
                <a:solidFill>
                  <a:srgbClr val="009EE0"/>
                </a:solidFill>
                <a:latin typeface="Arial"/>
                <a:ea typeface="ＭＳ Ｐゴシック" pitchFamily="30" charset="-128"/>
                <a:cs typeface="ＭＳ Ｐゴシック" pitchFamily="30" charset="-128"/>
              </a:defRPr>
            </a:lvl1pPr>
            <a:lvl2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2pPr>
            <a:lvl3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3pPr>
            <a:lvl4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4pPr>
            <a:lvl5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5pPr>
            <a:lvl6pPr marL="4572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6pPr>
            <a:lvl7pPr marL="9144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7pPr>
            <a:lvl8pPr marL="13716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8pPr>
            <a:lvl9pPr marL="18288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9pPr>
          </a:lstStyle>
          <a:p>
            <a:pPr algn="ctr">
              <a:lnSpc>
                <a:spcPct val="100000"/>
              </a:lnSpc>
            </a:pPr>
            <a:r>
              <a:rPr lang="de-AT" sz="2400" b="1" smtClean="0">
                <a:solidFill>
                  <a:schemeClr val="tx1">
                    <a:lumMod val="90000"/>
                    <a:lumOff val="10000"/>
                  </a:schemeClr>
                </a:solidFill>
                <a:latin typeface="Arial Narrow" pitchFamily="34" charset="0"/>
              </a:rPr>
              <a:t>1984</a:t>
            </a:r>
            <a:endParaRPr lang="de-AT" sz="2400" b="1" dirty="0">
              <a:solidFill>
                <a:schemeClr val="tx1">
                  <a:lumMod val="90000"/>
                  <a:lumOff val="10000"/>
                </a:schemeClr>
              </a:solidFill>
              <a:latin typeface="Arial Narrow" pitchFamily="34" charset="0"/>
            </a:endParaRPr>
          </a:p>
        </p:txBody>
      </p:sp>
    </p:spTree>
    <p:extLst>
      <p:ext uri="{BB962C8B-B14F-4D97-AF65-F5344CB8AC3E}">
        <p14:creationId xmlns:p14="http://schemas.microsoft.com/office/powerpoint/2010/main" val="31687809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050"/>
            <a:ext cx="9144000" cy="6858000"/>
          </a:xfrm>
          <a:prstGeom prst="rect">
            <a:avLst/>
          </a:prstGeom>
        </p:spPr>
      </p:pic>
      <p:sp>
        <p:nvSpPr>
          <p:cNvPr id="20"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6" name="Content Placeholder 2"/>
          <p:cNvSpPr txBox="1">
            <a:spLocks/>
          </p:cNvSpPr>
          <p:nvPr/>
        </p:nvSpPr>
        <p:spPr bwMode="auto">
          <a:xfrm>
            <a:off x="647997" y="5878250"/>
            <a:ext cx="8118524"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b="1" dirty="0">
                <a:solidFill>
                  <a:schemeClr val="tx1">
                    <a:lumMod val="90000"/>
                    <a:lumOff val="10000"/>
                  </a:schemeClr>
                </a:solidFill>
                <a:latin typeface="Arial Narrow" pitchFamily="34" charset="0"/>
              </a:rPr>
              <a:t>Expansion </a:t>
            </a:r>
            <a:r>
              <a:rPr lang="de-DE" b="1" dirty="0" err="1">
                <a:solidFill>
                  <a:schemeClr val="tx1">
                    <a:lumMod val="90000"/>
                    <a:lumOff val="10000"/>
                  </a:schemeClr>
                </a:solidFill>
                <a:latin typeface="Arial Narrow" pitchFamily="34" charset="0"/>
              </a:rPr>
              <a:t>of</a:t>
            </a:r>
            <a:r>
              <a:rPr lang="de-DE" b="1" dirty="0">
                <a:solidFill>
                  <a:schemeClr val="tx1">
                    <a:lumMod val="90000"/>
                    <a:lumOff val="10000"/>
                  </a:schemeClr>
                </a:solidFill>
                <a:latin typeface="Arial Narrow" pitchFamily="34" charset="0"/>
              </a:rPr>
              <a:t> </a:t>
            </a:r>
            <a:r>
              <a:rPr lang="de-DE" b="1" dirty="0" err="1">
                <a:solidFill>
                  <a:schemeClr val="tx1">
                    <a:lumMod val="90000"/>
                    <a:lumOff val="10000"/>
                  </a:schemeClr>
                </a:solidFill>
                <a:latin typeface="Arial Narrow" pitchFamily="34" charset="0"/>
              </a:rPr>
              <a:t>our</a:t>
            </a:r>
            <a:r>
              <a:rPr lang="de-DE" b="1" dirty="0">
                <a:solidFill>
                  <a:schemeClr val="tx1">
                    <a:lumMod val="90000"/>
                    <a:lumOff val="10000"/>
                  </a:schemeClr>
                </a:solidFill>
                <a:latin typeface="Arial Narrow" pitchFamily="34" charset="0"/>
              </a:rPr>
              <a:t> </a:t>
            </a:r>
            <a:r>
              <a:rPr lang="de-DE" b="1" dirty="0" err="1">
                <a:solidFill>
                  <a:schemeClr val="tx1">
                    <a:lumMod val="90000"/>
                    <a:lumOff val="10000"/>
                  </a:schemeClr>
                </a:solidFill>
                <a:latin typeface="Arial Narrow" pitchFamily="34" charset="0"/>
              </a:rPr>
              <a:t>programmes</a:t>
            </a:r>
            <a:r>
              <a:rPr lang="de-DE" b="1" dirty="0">
                <a:solidFill>
                  <a:schemeClr val="tx1">
                    <a:lumMod val="90000"/>
                    <a:lumOff val="10000"/>
                  </a:schemeClr>
                </a:solidFill>
                <a:latin typeface="Arial Narrow" pitchFamily="34" charset="0"/>
              </a:rPr>
              <a:t> in Eastern Europe: </a:t>
            </a:r>
            <a:r>
              <a:rPr lang="de-DE" b="1" dirty="0" err="1" smtClean="0">
                <a:solidFill>
                  <a:schemeClr val="tx1">
                    <a:lumMod val="90000"/>
                    <a:lumOff val="10000"/>
                  </a:schemeClr>
                </a:solidFill>
                <a:latin typeface="Arial Narrow" pitchFamily="34" charset="0"/>
              </a:rPr>
              <a:t>Czechoslovakia</a:t>
            </a:r>
            <a:r>
              <a:rPr lang="de-DE" b="1" dirty="0">
                <a:solidFill>
                  <a:schemeClr val="tx1">
                    <a:lumMod val="90000"/>
                    <a:lumOff val="10000"/>
                  </a:schemeClr>
                </a:solidFill>
                <a:latin typeface="Arial Narrow" pitchFamily="34" charset="0"/>
              </a:rPr>
              <a:t>, </a:t>
            </a:r>
            <a:r>
              <a:rPr lang="de-DE" b="1" dirty="0" err="1">
                <a:solidFill>
                  <a:schemeClr val="tx1">
                    <a:lumMod val="90000"/>
                    <a:lumOff val="10000"/>
                  </a:schemeClr>
                </a:solidFill>
                <a:latin typeface="Arial Narrow" pitchFamily="34" charset="0"/>
              </a:rPr>
              <a:t>Soviet</a:t>
            </a:r>
            <a:r>
              <a:rPr lang="de-DE" b="1" dirty="0">
                <a:solidFill>
                  <a:schemeClr val="tx1">
                    <a:lumMod val="90000"/>
                    <a:lumOff val="10000"/>
                  </a:schemeClr>
                </a:solidFill>
                <a:latin typeface="Arial Narrow" pitchFamily="34" charset="0"/>
              </a:rPr>
              <a:t> Union, </a:t>
            </a:r>
            <a:r>
              <a:rPr lang="de-DE" b="1" dirty="0" err="1">
                <a:solidFill>
                  <a:schemeClr val="tx1">
                    <a:lumMod val="90000"/>
                    <a:lumOff val="10000"/>
                  </a:schemeClr>
                </a:solidFill>
                <a:latin typeface="Arial Narrow" pitchFamily="34" charset="0"/>
              </a:rPr>
              <a:t>Bulgaria</a:t>
            </a:r>
            <a:r>
              <a:rPr lang="de-DE" b="1" dirty="0">
                <a:solidFill>
                  <a:schemeClr val="tx1">
                    <a:lumMod val="90000"/>
                    <a:lumOff val="10000"/>
                  </a:schemeClr>
                </a:solidFill>
                <a:latin typeface="Arial Narrow" pitchFamily="34" charset="0"/>
              </a:rPr>
              <a:t> </a:t>
            </a:r>
            <a:r>
              <a:rPr lang="de-DE" b="1" dirty="0" err="1">
                <a:solidFill>
                  <a:schemeClr val="tx1">
                    <a:lumMod val="90000"/>
                    <a:lumOff val="10000"/>
                  </a:schemeClr>
                </a:solidFill>
                <a:latin typeface="Arial Narrow" pitchFamily="34" charset="0"/>
              </a:rPr>
              <a:t>and</a:t>
            </a:r>
            <a:r>
              <a:rPr lang="de-DE" b="1" dirty="0">
                <a:solidFill>
                  <a:schemeClr val="tx1">
                    <a:lumMod val="90000"/>
                    <a:lumOff val="10000"/>
                  </a:schemeClr>
                </a:solidFill>
                <a:latin typeface="Arial Narrow" pitchFamily="34" charset="0"/>
              </a:rPr>
              <a:t> Romania</a:t>
            </a:r>
            <a:endParaRPr lang="en-GB" b="1" dirty="0">
              <a:solidFill>
                <a:schemeClr val="tx1">
                  <a:lumMod val="90000"/>
                  <a:lumOff val="10000"/>
                </a:schemeClr>
              </a:solidFill>
              <a:latin typeface="Arial Narrow" pitchFamily="34" charset="0"/>
            </a:endParaRPr>
          </a:p>
        </p:txBody>
      </p:sp>
      <p:sp>
        <p:nvSpPr>
          <p:cNvPr id="1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en-GB" sz="3200" dirty="0" smtClean="0">
                <a:solidFill>
                  <a:schemeClr val="bg1"/>
                </a:solidFill>
                <a:latin typeface="Franklin Gothic Demi Cond" pitchFamily="34" charset="0"/>
              </a:rPr>
              <a:t>Our expanding geographic reach…</a:t>
            </a:r>
            <a:endParaRPr lang="en-GB" sz="3200" dirty="0">
              <a:solidFill>
                <a:schemeClr val="bg1"/>
              </a:solidFill>
              <a:latin typeface="Franklin Gothic Demi Cond" pitchFamily="34" charset="0"/>
            </a:endParaRPr>
          </a:p>
        </p:txBody>
      </p:sp>
      <p:cxnSp>
        <p:nvCxnSpPr>
          <p:cNvPr id="23" name="Straight Connector 22"/>
          <p:cNvCxnSpPr/>
          <p:nvPr/>
        </p:nvCxnSpPr>
        <p:spPr>
          <a:xfrm>
            <a:off x="380092" y="5026049"/>
            <a:ext cx="8176578"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528072" y="485439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Oval 24"/>
          <p:cNvSpPr/>
          <p:nvPr/>
        </p:nvSpPr>
        <p:spPr>
          <a:xfrm>
            <a:off x="2669111" y="4864021"/>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Oval 25"/>
          <p:cNvSpPr/>
          <p:nvPr/>
        </p:nvSpPr>
        <p:spPr>
          <a:xfrm>
            <a:off x="3815045" y="484850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Oval 26"/>
          <p:cNvSpPr/>
          <p:nvPr/>
        </p:nvSpPr>
        <p:spPr>
          <a:xfrm>
            <a:off x="4963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Oval 27"/>
          <p:cNvSpPr/>
          <p:nvPr/>
        </p:nvSpPr>
        <p:spPr>
          <a:xfrm>
            <a:off x="6097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Oval 28"/>
          <p:cNvSpPr/>
          <p:nvPr/>
        </p:nvSpPr>
        <p:spPr>
          <a:xfrm>
            <a:off x="7249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Oval 30"/>
          <p:cNvSpPr/>
          <p:nvPr/>
        </p:nvSpPr>
        <p:spPr>
          <a:xfrm>
            <a:off x="8383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Oval 32"/>
          <p:cNvSpPr/>
          <p:nvPr/>
        </p:nvSpPr>
        <p:spPr>
          <a:xfrm>
            <a:off x="370546" y="484604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Oval 34"/>
          <p:cNvSpPr/>
          <p:nvPr/>
        </p:nvSpPr>
        <p:spPr>
          <a:xfrm>
            <a:off x="5856167" y="4613956"/>
            <a:ext cx="832616" cy="832616"/>
          </a:xfrm>
          <a:prstGeom prst="ellipse">
            <a:avLst/>
          </a:prstGeom>
          <a:solidFill>
            <a:schemeClr val="bg1"/>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Title 1"/>
          <p:cNvSpPr txBox="1">
            <a:spLocks/>
          </p:cNvSpPr>
          <p:nvPr/>
        </p:nvSpPr>
        <p:spPr bwMode="auto">
          <a:xfrm>
            <a:off x="5723486" y="4663049"/>
            <a:ext cx="111405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defTabSz="457200" rtl="0" eaLnBrk="0" fontAlgn="base" hangingPunct="0">
              <a:lnSpc>
                <a:spcPts val="2600"/>
              </a:lnSpc>
              <a:spcBef>
                <a:spcPct val="0"/>
              </a:spcBef>
              <a:spcAft>
                <a:spcPct val="0"/>
              </a:spcAft>
              <a:defRPr sz="2800" kern="1200">
                <a:solidFill>
                  <a:srgbClr val="009EE0"/>
                </a:solidFill>
                <a:latin typeface="Arial"/>
                <a:ea typeface="ＭＳ Ｐゴシック" pitchFamily="30" charset="-128"/>
                <a:cs typeface="ＭＳ Ｐゴシック" pitchFamily="30" charset="-128"/>
              </a:defRPr>
            </a:lvl1pPr>
            <a:lvl2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2pPr>
            <a:lvl3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3pPr>
            <a:lvl4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4pPr>
            <a:lvl5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5pPr>
            <a:lvl6pPr marL="4572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6pPr>
            <a:lvl7pPr marL="9144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7pPr>
            <a:lvl8pPr marL="13716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8pPr>
            <a:lvl9pPr marL="18288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9pPr>
          </a:lstStyle>
          <a:p>
            <a:pPr algn="ctr">
              <a:lnSpc>
                <a:spcPct val="100000"/>
              </a:lnSpc>
            </a:pPr>
            <a:r>
              <a:rPr lang="de-AT" sz="2400" b="1" smtClean="0">
                <a:solidFill>
                  <a:schemeClr val="tx1">
                    <a:lumMod val="90000"/>
                    <a:lumOff val="10000"/>
                  </a:schemeClr>
                </a:solidFill>
                <a:latin typeface="Arial Narrow" pitchFamily="34" charset="0"/>
              </a:rPr>
              <a:t>1990s</a:t>
            </a:r>
            <a:endParaRPr lang="de-AT" sz="2400" b="1" dirty="0">
              <a:solidFill>
                <a:schemeClr val="tx1">
                  <a:lumMod val="90000"/>
                  <a:lumOff val="10000"/>
                </a:schemeClr>
              </a:solidFill>
              <a:latin typeface="Arial Narrow" pitchFamily="34" charset="0"/>
            </a:endParaRPr>
          </a:p>
        </p:txBody>
      </p:sp>
    </p:spTree>
    <p:extLst>
      <p:ext uri="{BB962C8B-B14F-4D97-AF65-F5344CB8AC3E}">
        <p14:creationId xmlns:p14="http://schemas.microsoft.com/office/powerpoint/2010/main" val="15181722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050"/>
            <a:ext cx="9144000" cy="6858000"/>
          </a:xfrm>
          <a:prstGeom prst="rect">
            <a:avLst/>
          </a:prstGeom>
        </p:spPr>
      </p:pic>
      <p:sp>
        <p:nvSpPr>
          <p:cNvPr id="17"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6" name="Content Placeholder 2"/>
          <p:cNvSpPr txBox="1">
            <a:spLocks/>
          </p:cNvSpPr>
          <p:nvPr/>
        </p:nvSpPr>
        <p:spPr bwMode="auto">
          <a:xfrm>
            <a:off x="647997" y="5878250"/>
            <a:ext cx="8118524"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en-US" b="1">
                <a:solidFill>
                  <a:schemeClr val="tx1">
                    <a:lumMod val="90000"/>
                    <a:lumOff val="10000"/>
                  </a:schemeClr>
                </a:solidFill>
                <a:latin typeface="Arial Narrow" pitchFamily="34" charset="0"/>
              </a:rPr>
              <a:t>2004 Southeast Asia tsunami triggers biggest emergency relief programme in SOS Children’s Villages’ history</a:t>
            </a:r>
            <a:endParaRPr lang="en-GB" b="1" dirty="0">
              <a:solidFill>
                <a:schemeClr val="tx1">
                  <a:lumMod val="90000"/>
                  <a:lumOff val="10000"/>
                </a:schemeClr>
              </a:solidFill>
              <a:latin typeface="Arial Narrow" pitchFamily="34" charset="0"/>
            </a:endParaRPr>
          </a:p>
        </p:txBody>
      </p:sp>
      <p:sp>
        <p:nvSpPr>
          <p:cNvPr id="1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en-GB" sz="3200" dirty="0" smtClean="0">
                <a:solidFill>
                  <a:schemeClr val="bg1"/>
                </a:solidFill>
                <a:latin typeface="Franklin Gothic Demi Cond" pitchFamily="34" charset="0"/>
              </a:rPr>
              <a:t>Our expanding geographic reach…</a:t>
            </a:r>
            <a:endParaRPr lang="en-GB" sz="3200" dirty="0">
              <a:solidFill>
                <a:schemeClr val="bg1"/>
              </a:solidFill>
              <a:latin typeface="Franklin Gothic Demi Cond" pitchFamily="34" charset="0"/>
            </a:endParaRPr>
          </a:p>
        </p:txBody>
      </p:sp>
      <p:cxnSp>
        <p:nvCxnSpPr>
          <p:cNvPr id="23" name="Straight Connector 22"/>
          <p:cNvCxnSpPr/>
          <p:nvPr/>
        </p:nvCxnSpPr>
        <p:spPr>
          <a:xfrm>
            <a:off x="380092" y="5026049"/>
            <a:ext cx="8176578"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528072" y="485439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Oval 24"/>
          <p:cNvSpPr/>
          <p:nvPr/>
        </p:nvSpPr>
        <p:spPr>
          <a:xfrm>
            <a:off x="2669111" y="4864021"/>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Oval 25"/>
          <p:cNvSpPr/>
          <p:nvPr/>
        </p:nvSpPr>
        <p:spPr>
          <a:xfrm>
            <a:off x="3815045" y="484850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Oval 26"/>
          <p:cNvSpPr/>
          <p:nvPr/>
        </p:nvSpPr>
        <p:spPr>
          <a:xfrm>
            <a:off x="4963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Oval 27"/>
          <p:cNvSpPr/>
          <p:nvPr/>
        </p:nvSpPr>
        <p:spPr>
          <a:xfrm>
            <a:off x="6097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Oval 28"/>
          <p:cNvSpPr/>
          <p:nvPr/>
        </p:nvSpPr>
        <p:spPr>
          <a:xfrm>
            <a:off x="7249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Oval 30"/>
          <p:cNvSpPr/>
          <p:nvPr/>
        </p:nvSpPr>
        <p:spPr>
          <a:xfrm>
            <a:off x="8383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Oval 32"/>
          <p:cNvSpPr/>
          <p:nvPr/>
        </p:nvSpPr>
        <p:spPr>
          <a:xfrm>
            <a:off x="370546" y="484604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Oval 34"/>
          <p:cNvSpPr/>
          <p:nvPr/>
        </p:nvSpPr>
        <p:spPr>
          <a:xfrm>
            <a:off x="7015164" y="4613956"/>
            <a:ext cx="832616" cy="832616"/>
          </a:xfrm>
          <a:prstGeom prst="ellipse">
            <a:avLst/>
          </a:prstGeom>
          <a:solidFill>
            <a:schemeClr val="bg1"/>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Title 1"/>
          <p:cNvSpPr txBox="1">
            <a:spLocks/>
          </p:cNvSpPr>
          <p:nvPr/>
        </p:nvSpPr>
        <p:spPr bwMode="auto">
          <a:xfrm>
            <a:off x="6882483" y="4663049"/>
            <a:ext cx="111405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defTabSz="457200" rtl="0" eaLnBrk="0" fontAlgn="base" hangingPunct="0">
              <a:lnSpc>
                <a:spcPts val="2600"/>
              </a:lnSpc>
              <a:spcBef>
                <a:spcPct val="0"/>
              </a:spcBef>
              <a:spcAft>
                <a:spcPct val="0"/>
              </a:spcAft>
              <a:defRPr sz="2800" kern="1200">
                <a:solidFill>
                  <a:srgbClr val="009EE0"/>
                </a:solidFill>
                <a:latin typeface="Arial"/>
                <a:ea typeface="ＭＳ Ｐゴシック" pitchFamily="30" charset="-128"/>
                <a:cs typeface="ＭＳ Ｐゴシック" pitchFamily="30" charset="-128"/>
              </a:defRPr>
            </a:lvl1pPr>
            <a:lvl2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2pPr>
            <a:lvl3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3pPr>
            <a:lvl4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4pPr>
            <a:lvl5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5pPr>
            <a:lvl6pPr marL="4572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6pPr>
            <a:lvl7pPr marL="9144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7pPr>
            <a:lvl8pPr marL="13716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8pPr>
            <a:lvl9pPr marL="18288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9pPr>
          </a:lstStyle>
          <a:p>
            <a:pPr algn="ctr">
              <a:lnSpc>
                <a:spcPct val="100000"/>
              </a:lnSpc>
            </a:pPr>
            <a:r>
              <a:rPr lang="de-AT" sz="2400" b="1" smtClean="0">
                <a:solidFill>
                  <a:schemeClr val="tx1">
                    <a:lumMod val="90000"/>
                    <a:lumOff val="10000"/>
                  </a:schemeClr>
                </a:solidFill>
                <a:latin typeface="Arial Narrow" pitchFamily="34" charset="0"/>
              </a:rPr>
              <a:t>2000s</a:t>
            </a:r>
            <a:endParaRPr lang="de-AT" sz="2400" b="1" dirty="0">
              <a:solidFill>
                <a:schemeClr val="tx1">
                  <a:lumMod val="90000"/>
                  <a:lumOff val="10000"/>
                </a:schemeClr>
              </a:solidFill>
              <a:latin typeface="Arial Narrow" pitchFamily="34" charset="0"/>
            </a:endParaRPr>
          </a:p>
        </p:txBody>
      </p:sp>
    </p:spTree>
    <p:extLst>
      <p:ext uri="{BB962C8B-B14F-4D97-AF65-F5344CB8AC3E}">
        <p14:creationId xmlns:p14="http://schemas.microsoft.com/office/powerpoint/2010/main" val="1298789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1899"/>
            <a:ext cx="9144000" cy="6858000"/>
          </a:xfrm>
          <a:prstGeom prst="rect">
            <a:avLst/>
          </a:prstGeom>
        </p:spPr>
      </p:pic>
      <p:sp>
        <p:nvSpPr>
          <p:cNvPr id="17"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6" name="Content Placeholder 2"/>
          <p:cNvSpPr txBox="1">
            <a:spLocks/>
          </p:cNvSpPr>
          <p:nvPr/>
        </p:nvSpPr>
        <p:spPr bwMode="auto">
          <a:xfrm>
            <a:off x="647997" y="5878250"/>
            <a:ext cx="8118524" cy="85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800"/>
              </a:lnSpc>
              <a:spcBef>
                <a:spcPts val="0"/>
              </a:spcBef>
              <a:buNone/>
            </a:pPr>
            <a:r>
              <a:rPr lang="de-DE" b="1" dirty="0">
                <a:solidFill>
                  <a:schemeClr val="tx1">
                    <a:lumMod val="90000"/>
                    <a:lumOff val="10000"/>
                  </a:schemeClr>
                </a:solidFill>
                <a:latin typeface="Arial Narrow" pitchFamily="34" charset="0"/>
              </a:rPr>
              <a:t>SOS Children‘s Villages is </a:t>
            </a:r>
            <a:r>
              <a:rPr lang="de-DE" b="1" dirty="0" smtClean="0">
                <a:solidFill>
                  <a:schemeClr val="tx1">
                    <a:lumMod val="90000"/>
                    <a:lumOff val="10000"/>
                  </a:schemeClr>
                </a:solidFill>
                <a:latin typeface="Arial Narrow" pitchFamily="34" charset="0"/>
              </a:rPr>
              <a:t>working</a:t>
            </a:r>
            <a:r>
              <a:rPr lang="de-DE" b="1" dirty="0">
                <a:solidFill>
                  <a:schemeClr val="tx1">
                    <a:lumMod val="90000"/>
                    <a:lumOff val="10000"/>
                  </a:schemeClr>
                </a:solidFill>
                <a:latin typeface="Arial Narrow" pitchFamily="34" charset="0"/>
              </a:rPr>
              <a:t/>
            </a:r>
            <a:br>
              <a:rPr lang="de-DE" b="1" dirty="0">
                <a:solidFill>
                  <a:schemeClr val="tx1">
                    <a:lumMod val="90000"/>
                    <a:lumOff val="10000"/>
                  </a:schemeClr>
                </a:solidFill>
                <a:latin typeface="Arial Narrow" pitchFamily="34" charset="0"/>
              </a:rPr>
            </a:br>
            <a:r>
              <a:rPr lang="de-DE" b="1" dirty="0">
                <a:solidFill>
                  <a:schemeClr val="tx1">
                    <a:lumMod val="90000"/>
                    <a:lumOff val="10000"/>
                  </a:schemeClr>
                </a:solidFill>
                <a:latin typeface="Arial Narrow" pitchFamily="34" charset="0"/>
              </a:rPr>
              <a:t>in </a:t>
            </a:r>
            <a:r>
              <a:rPr lang="de-DE" b="1" dirty="0" smtClean="0">
                <a:solidFill>
                  <a:schemeClr val="tx1">
                    <a:lumMod val="90000"/>
                    <a:lumOff val="10000"/>
                  </a:schemeClr>
                </a:solidFill>
                <a:latin typeface="Arial Narrow" pitchFamily="34" charset="0"/>
              </a:rPr>
              <a:t>134 </a:t>
            </a:r>
            <a:r>
              <a:rPr lang="de-DE" b="1" dirty="0">
                <a:solidFill>
                  <a:schemeClr val="tx1">
                    <a:lumMod val="90000"/>
                    <a:lumOff val="10000"/>
                  </a:schemeClr>
                </a:solidFill>
                <a:latin typeface="Arial Narrow" pitchFamily="34" charset="0"/>
              </a:rPr>
              <a:t>countries and </a:t>
            </a:r>
            <a:r>
              <a:rPr lang="de-DE" b="1" dirty="0" smtClean="0">
                <a:solidFill>
                  <a:schemeClr val="tx1">
                    <a:lumMod val="90000"/>
                    <a:lumOff val="10000"/>
                  </a:schemeClr>
                </a:solidFill>
                <a:latin typeface="Arial Narrow" pitchFamily="34" charset="0"/>
              </a:rPr>
              <a:t>territories around the world.</a:t>
            </a:r>
            <a:endParaRPr lang="en-GB" b="1" dirty="0">
              <a:solidFill>
                <a:schemeClr val="tx1">
                  <a:lumMod val="90000"/>
                  <a:lumOff val="10000"/>
                </a:schemeClr>
              </a:solidFill>
              <a:latin typeface="Arial Narrow" pitchFamily="34" charset="0"/>
            </a:endParaRPr>
          </a:p>
        </p:txBody>
      </p:sp>
      <p:sp>
        <p:nvSpPr>
          <p:cNvPr id="1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en-GB" sz="3200" dirty="0" smtClean="0">
                <a:solidFill>
                  <a:schemeClr val="bg1"/>
                </a:solidFill>
                <a:latin typeface="Franklin Gothic Demi Cond" pitchFamily="34" charset="0"/>
              </a:rPr>
              <a:t>Our expanding geographic reach…</a:t>
            </a:r>
            <a:endParaRPr lang="en-GB" sz="3200" dirty="0">
              <a:solidFill>
                <a:schemeClr val="bg1"/>
              </a:solidFill>
              <a:latin typeface="Franklin Gothic Demi Cond" pitchFamily="34" charset="0"/>
            </a:endParaRPr>
          </a:p>
        </p:txBody>
      </p:sp>
      <p:cxnSp>
        <p:nvCxnSpPr>
          <p:cNvPr id="23" name="Straight Connector 22"/>
          <p:cNvCxnSpPr/>
          <p:nvPr/>
        </p:nvCxnSpPr>
        <p:spPr>
          <a:xfrm>
            <a:off x="380092" y="5026049"/>
            <a:ext cx="8176578"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528072" y="485439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Oval 24"/>
          <p:cNvSpPr/>
          <p:nvPr/>
        </p:nvSpPr>
        <p:spPr>
          <a:xfrm>
            <a:off x="2669111" y="4864021"/>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Oval 25"/>
          <p:cNvSpPr/>
          <p:nvPr/>
        </p:nvSpPr>
        <p:spPr>
          <a:xfrm>
            <a:off x="3815045" y="484850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Oval 26"/>
          <p:cNvSpPr/>
          <p:nvPr/>
        </p:nvSpPr>
        <p:spPr>
          <a:xfrm>
            <a:off x="4963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Oval 27"/>
          <p:cNvSpPr/>
          <p:nvPr/>
        </p:nvSpPr>
        <p:spPr>
          <a:xfrm>
            <a:off x="6097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Oval 28"/>
          <p:cNvSpPr/>
          <p:nvPr/>
        </p:nvSpPr>
        <p:spPr>
          <a:xfrm>
            <a:off x="7249528" y="4849348"/>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Oval 30"/>
          <p:cNvSpPr/>
          <p:nvPr/>
        </p:nvSpPr>
        <p:spPr>
          <a:xfrm>
            <a:off x="8383204" y="4849347"/>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Oval 32"/>
          <p:cNvSpPr/>
          <p:nvPr/>
        </p:nvSpPr>
        <p:spPr>
          <a:xfrm>
            <a:off x="370546" y="4846049"/>
            <a:ext cx="360000" cy="360000"/>
          </a:xfrm>
          <a:prstGeom prst="ellipse">
            <a:avLst/>
          </a:prstGeom>
          <a:solidFill>
            <a:srgbClr val="00B1E6"/>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Oval 34"/>
          <p:cNvSpPr/>
          <p:nvPr/>
        </p:nvSpPr>
        <p:spPr>
          <a:xfrm>
            <a:off x="8142262" y="4613956"/>
            <a:ext cx="832616" cy="832616"/>
          </a:xfrm>
          <a:prstGeom prst="ellipse">
            <a:avLst/>
          </a:prstGeom>
          <a:solidFill>
            <a:schemeClr val="bg1"/>
          </a:solidFill>
          <a:ln w="38100">
            <a:solidFill>
              <a:srgbClr val="00B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Title 1"/>
          <p:cNvSpPr txBox="1">
            <a:spLocks/>
          </p:cNvSpPr>
          <p:nvPr/>
        </p:nvSpPr>
        <p:spPr bwMode="auto">
          <a:xfrm>
            <a:off x="8009581" y="4663049"/>
            <a:ext cx="111405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defTabSz="457200" rtl="0" eaLnBrk="0" fontAlgn="base" hangingPunct="0">
              <a:lnSpc>
                <a:spcPts val="2600"/>
              </a:lnSpc>
              <a:spcBef>
                <a:spcPct val="0"/>
              </a:spcBef>
              <a:spcAft>
                <a:spcPct val="0"/>
              </a:spcAft>
              <a:defRPr sz="2800" kern="1200">
                <a:solidFill>
                  <a:srgbClr val="009EE0"/>
                </a:solidFill>
                <a:latin typeface="Arial"/>
                <a:ea typeface="ＭＳ Ｐゴシック" pitchFamily="30" charset="-128"/>
                <a:cs typeface="ＭＳ Ｐゴシック" pitchFamily="30" charset="-128"/>
              </a:defRPr>
            </a:lvl1pPr>
            <a:lvl2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2pPr>
            <a:lvl3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3pPr>
            <a:lvl4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4pPr>
            <a:lvl5pPr algn="r" defTabSz="457200" rtl="0" eaLnBrk="0" fontAlgn="base" hangingPunct="0">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5pPr>
            <a:lvl6pPr marL="4572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6pPr>
            <a:lvl7pPr marL="9144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7pPr>
            <a:lvl8pPr marL="13716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8pPr>
            <a:lvl9pPr marL="1828800" algn="r" defTabSz="457200" rtl="0" fontAlgn="base">
              <a:lnSpc>
                <a:spcPts val="2600"/>
              </a:lnSpc>
              <a:spcBef>
                <a:spcPct val="0"/>
              </a:spcBef>
              <a:spcAft>
                <a:spcPct val="0"/>
              </a:spcAft>
              <a:defRPr sz="2800">
                <a:solidFill>
                  <a:srgbClr val="009EE0"/>
                </a:solidFill>
                <a:latin typeface="Arial" pitchFamily="30" charset="0"/>
                <a:ea typeface="ＭＳ Ｐゴシック" pitchFamily="30" charset="-128"/>
                <a:cs typeface="ＭＳ Ｐゴシック" pitchFamily="30" charset="-128"/>
              </a:defRPr>
            </a:lvl9pPr>
          </a:lstStyle>
          <a:p>
            <a:pPr algn="ctr">
              <a:lnSpc>
                <a:spcPct val="100000"/>
              </a:lnSpc>
            </a:pPr>
            <a:r>
              <a:rPr lang="de-AT" sz="2400" b="1" smtClean="0">
                <a:solidFill>
                  <a:schemeClr val="tx1">
                    <a:lumMod val="90000"/>
                    <a:lumOff val="10000"/>
                  </a:schemeClr>
                </a:solidFill>
                <a:latin typeface="Arial Narrow" pitchFamily="34" charset="0"/>
              </a:rPr>
              <a:t>today</a:t>
            </a:r>
            <a:endParaRPr lang="de-AT" sz="2400" b="1" dirty="0">
              <a:solidFill>
                <a:schemeClr val="tx1">
                  <a:lumMod val="90000"/>
                  <a:lumOff val="10000"/>
                </a:schemeClr>
              </a:solidFill>
              <a:latin typeface="Arial Narrow" pitchFamily="34" charset="0"/>
            </a:endParaRPr>
          </a:p>
        </p:txBody>
      </p:sp>
    </p:spTree>
    <p:extLst>
      <p:ext uri="{BB962C8B-B14F-4D97-AF65-F5344CB8AC3E}">
        <p14:creationId xmlns:p14="http://schemas.microsoft.com/office/powerpoint/2010/main" val="1695667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Rectangle 13"/>
          <p:cNvSpPr/>
          <p:nvPr/>
        </p:nvSpPr>
        <p:spPr>
          <a:xfrm flipV="1">
            <a:off x="3060000" y="688909"/>
            <a:ext cx="3060000" cy="6321489"/>
          </a:xfrm>
          <a:prstGeom prst="rect">
            <a:avLst/>
          </a:prstGeom>
          <a:solidFill>
            <a:srgbClr val="76B856">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p:cNvSpPr/>
          <p:nvPr/>
        </p:nvSpPr>
        <p:spPr>
          <a:xfrm flipV="1">
            <a:off x="0" y="688908"/>
            <a:ext cx="3060000" cy="6321489"/>
          </a:xfrm>
          <a:prstGeom prst="rect">
            <a:avLst/>
          </a:prstGeom>
          <a:solidFill>
            <a:srgbClr val="E74361">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p:cNvSpPr/>
          <p:nvPr/>
        </p:nvSpPr>
        <p:spPr>
          <a:xfrm flipV="1">
            <a:off x="6120000" y="0"/>
            <a:ext cx="3060000" cy="6857999"/>
          </a:xfrm>
          <a:prstGeom prst="rect">
            <a:avLst/>
          </a:prstGeom>
          <a:solidFill>
            <a:srgbClr val="EC7404">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Rectangle 3"/>
          <p:cNvSpPr/>
          <p:nvPr/>
        </p:nvSpPr>
        <p:spPr>
          <a:xfrm flipV="1">
            <a:off x="-169948" y="-315814"/>
            <a:ext cx="9524011" cy="1972427"/>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4011" h="1972427">
                <a:moveTo>
                  <a:pt x="10911" y="0"/>
                </a:moveTo>
                <a:lnTo>
                  <a:pt x="9509407" y="815064"/>
                </a:lnTo>
                <a:lnTo>
                  <a:pt x="9524011" y="1972427"/>
                </a:lnTo>
                <a:lnTo>
                  <a:pt x="0" y="1913050"/>
                </a:lnTo>
                <a:lnTo>
                  <a:pt x="10911" y="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8" name="Content Placeholder 2"/>
          <p:cNvSpPr txBox="1">
            <a:spLocks/>
          </p:cNvSpPr>
          <p:nvPr/>
        </p:nvSpPr>
        <p:spPr bwMode="auto">
          <a:xfrm>
            <a:off x="463674" y="536509"/>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600"/>
              </a:lnSpc>
              <a:buFont typeface="Wingdings" pitchFamily="2" charset="2"/>
              <a:buNone/>
            </a:pPr>
            <a:r>
              <a:rPr lang="de-DE" sz="3600" dirty="0" smtClean="0">
                <a:solidFill>
                  <a:srgbClr val="00B1E6"/>
                </a:solidFill>
                <a:latin typeface="Franklin Gothic Demi Cond" pitchFamily="34" charset="0"/>
              </a:rPr>
              <a:t>Working with Standards</a:t>
            </a:r>
            <a:endParaRPr lang="en-GB" dirty="0">
              <a:solidFill>
                <a:srgbClr val="00B1E6"/>
              </a:solidFill>
              <a:latin typeface="Franklin Gothic Demi Cond" pitchFamily="34" charset="0"/>
            </a:endParaRPr>
          </a:p>
        </p:txBody>
      </p:sp>
      <p:sp>
        <p:nvSpPr>
          <p:cNvPr id="12" name="Content Placeholder 2"/>
          <p:cNvSpPr txBox="1">
            <a:spLocks/>
          </p:cNvSpPr>
          <p:nvPr/>
        </p:nvSpPr>
        <p:spPr bwMode="auto">
          <a:xfrm>
            <a:off x="189185" y="1919789"/>
            <a:ext cx="2907888" cy="485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600"/>
              </a:lnSpc>
              <a:spcBef>
                <a:spcPts val="0"/>
              </a:spcBef>
              <a:buNone/>
            </a:pPr>
            <a:r>
              <a:rPr lang="de-DE" sz="2600" dirty="0" smtClean="0">
                <a:solidFill>
                  <a:srgbClr val="E74361"/>
                </a:solidFill>
                <a:latin typeface="Franklin Gothic Demi Cond" pitchFamily="34" charset="0"/>
              </a:rPr>
              <a:t>INTERNATIONAL STANDARDS:</a:t>
            </a:r>
            <a:br>
              <a:rPr lang="de-DE" sz="2600" dirty="0" smtClean="0">
                <a:solidFill>
                  <a:srgbClr val="E74361"/>
                </a:solidFill>
                <a:latin typeface="Franklin Gothic Demi Cond" pitchFamily="34" charset="0"/>
              </a:rPr>
            </a:br>
            <a:endParaRPr lang="de-DE" sz="2600" b="1" dirty="0" smtClean="0">
              <a:solidFill>
                <a:srgbClr val="E74361"/>
              </a:solidFill>
              <a:latin typeface="Franklin Gothic Demi Cond" pitchFamily="34" charset="0"/>
            </a:endParaRPr>
          </a:p>
          <a:p>
            <a:pPr marL="180000" indent="-180000">
              <a:lnSpc>
                <a:spcPts val="2200"/>
              </a:lnSpc>
              <a:spcBef>
                <a:spcPts val="0"/>
              </a:spcBef>
              <a:spcAft>
                <a:spcPts val="800"/>
              </a:spcAft>
              <a:buClr>
                <a:srgbClr val="E74361"/>
              </a:buClr>
              <a:buFont typeface="Arial" pitchFamily="34" charset="0"/>
              <a:buChar char="•"/>
            </a:pPr>
            <a:r>
              <a:rPr lang="de-DE" sz="2100" dirty="0" smtClean="0">
                <a:solidFill>
                  <a:schemeClr val="tx1">
                    <a:lumMod val="90000"/>
                    <a:lumOff val="10000"/>
                  </a:schemeClr>
                </a:solidFill>
                <a:latin typeface="Arial Narrow" pitchFamily="34" charset="0"/>
              </a:rPr>
              <a:t>UN Convention on the </a:t>
            </a:r>
            <a:br>
              <a:rPr lang="de-DE" sz="2100" dirty="0" smtClean="0">
                <a:solidFill>
                  <a:schemeClr val="tx1">
                    <a:lumMod val="90000"/>
                    <a:lumOff val="10000"/>
                  </a:schemeClr>
                </a:solidFill>
                <a:latin typeface="Arial Narrow" pitchFamily="34" charset="0"/>
              </a:rPr>
            </a:br>
            <a:r>
              <a:rPr lang="de-DE" sz="2100" dirty="0" smtClean="0">
                <a:solidFill>
                  <a:schemeClr val="tx1">
                    <a:lumMod val="90000"/>
                    <a:lumOff val="10000"/>
                  </a:schemeClr>
                </a:solidFill>
                <a:latin typeface="Arial Narrow" pitchFamily="34" charset="0"/>
              </a:rPr>
              <a:t>Rights of the Child</a:t>
            </a:r>
          </a:p>
          <a:p>
            <a:pPr marL="180000" indent="-180000">
              <a:lnSpc>
                <a:spcPts val="2200"/>
              </a:lnSpc>
              <a:spcBef>
                <a:spcPts val="0"/>
              </a:spcBef>
              <a:spcAft>
                <a:spcPts val="800"/>
              </a:spcAft>
              <a:buClr>
                <a:srgbClr val="E74361"/>
              </a:buClr>
              <a:buFont typeface="Arial" pitchFamily="34" charset="0"/>
              <a:buChar char="•"/>
            </a:pPr>
            <a:r>
              <a:rPr lang="de-DE" sz="2100" dirty="0" smtClean="0">
                <a:solidFill>
                  <a:schemeClr val="tx1">
                    <a:lumMod val="90000"/>
                    <a:lumOff val="10000"/>
                  </a:schemeClr>
                </a:solidFill>
                <a:latin typeface="Arial Narrow" pitchFamily="34" charset="0"/>
              </a:rPr>
              <a:t>UN Guidelines on the Alternative Care of Children</a:t>
            </a:r>
          </a:p>
          <a:p>
            <a:pPr marL="180000" indent="-180000">
              <a:lnSpc>
                <a:spcPts val="2200"/>
              </a:lnSpc>
              <a:spcBef>
                <a:spcPts val="0"/>
              </a:spcBef>
              <a:spcAft>
                <a:spcPts val="800"/>
              </a:spcAft>
              <a:buClr>
                <a:srgbClr val="E74361"/>
              </a:buClr>
              <a:buFont typeface="Arial" pitchFamily="34" charset="0"/>
              <a:buChar char="•"/>
            </a:pPr>
            <a:r>
              <a:rPr lang="de-DE" sz="2100" dirty="0" smtClean="0">
                <a:solidFill>
                  <a:schemeClr val="tx1">
                    <a:lumMod val="90000"/>
                    <a:lumOff val="10000"/>
                  </a:schemeClr>
                </a:solidFill>
                <a:latin typeface="Arial Narrow" pitchFamily="34" charset="0"/>
              </a:rPr>
              <a:t>Quality4Children</a:t>
            </a:r>
          </a:p>
          <a:p>
            <a:pPr marL="180000" indent="-180000">
              <a:lnSpc>
                <a:spcPts val="2200"/>
              </a:lnSpc>
              <a:spcBef>
                <a:spcPts val="0"/>
              </a:spcBef>
              <a:spcAft>
                <a:spcPts val="800"/>
              </a:spcAft>
              <a:buClr>
                <a:srgbClr val="E74361"/>
              </a:buClr>
              <a:buFont typeface="Arial" pitchFamily="34" charset="0"/>
              <a:buChar char="•"/>
            </a:pPr>
            <a:r>
              <a:rPr lang="de-DE" sz="2100" dirty="0" smtClean="0">
                <a:solidFill>
                  <a:schemeClr val="tx1">
                    <a:lumMod val="90000"/>
                    <a:lumOff val="10000"/>
                  </a:schemeClr>
                </a:solidFill>
                <a:latin typeface="Arial Narrow" pitchFamily="34" charset="0"/>
              </a:rPr>
              <a:t>Millennium Development Goals</a:t>
            </a:r>
          </a:p>
          <a:p>
            <a:pPr marL="180000" indent="-180000">
              <a:lnSpc>
                <a:spcPts val="2200"/>
              </a:lnSpc>
              <a:spcBef>
                <a:spcPts val="0"/>
              </a:spcBef>
              <a:spcAft>
                <a:spcPts val="800"/>
              </a:spcAft>
              <a:buClr>
                <a:srgbClr val="E74361"/>
              </a:buClr>
              <a:buFont typeface="Arial" pitchFamily="34" charset="0"/>
              <a:buChar char="•"/>
            </a:pPr>
            <a:r>
              <a:rPr lang="de-DE" sz="2100" dirty="0" smtClean="0">
                <a:solidFill>
                  <a:schemeClr val="tx1">
                    <a:lumMod val="90000"/>
                    <a:lumOff val="10000"/>
                  </a:schemeClr>
                </a:solidFill>
                <a:latin typeface="Arial Narrow" pitchFamily="34" charset="0"/>
              </a:rPr>
              <a:t>International Red Cross </a:t>
            </a:r>
            <a:br>
              <a:rPr lang="de-DE" sz="2100" dirty="0" smtClean="0">
                <a:solidFill>
                  <a:schemeClr val="tx1">
                    <a:lumMod val="90000"/>
                    <a:lumOff val="10000"/>
                  </a:schemeClr>
                </a:solidFill>
                <a:latin typeface="Arial Narrow" pitchFamily="34" charset="0"/>
              </a:rPr>
            </a:br>
            <a:r>
              <a:rPr lang="de-DE" sz="2100" dirty="0" smtClean="0">
                <a:solidFill>
                  <a:schemeClr val="tx1">
                    <a:lumMod val="90000"/>
                    <a:lumOff val="10000"/>
                  </a:schemeClr>
                </a:solidFill>
                <a:latin typeface="Arial Narrow" pitchFamily="34" charset="0"/>
              </a:rPr>
              <a:t>&amp; Red Crescent code of conduct</a:t>
            </a:r>
            <a:endParaRPr lang="en-GB" sz="2100" dirty="0">
              <a:solidFill>
                <a:schemeClr val="tx1">
                  <a:lumMod val="90000"/>
                  <a:lumOff val="10000"/>
                </a:schemeClr>
              </a:solidFill>
              <a:latin typeface="Arial Narrow" pitchFamily="34" charset="0"/>
            </a:endParaRPr>
          </a:p>
        </p:txBody>
      </p:sp>
      <p:sp>
        <p:nvSpPr>
          <p:cNvPr id="20" name="Content Placeholder 2"/>
          <p:cNvSpPr txBox="1">
            <a:spLocks/>
          </p:cNvSpPr>
          <p:nvPr/>
        </p:nvSpPr>
        <p:spPr bwMode="auto">
          <a:xfrm>
            <a:off x="3136056" y="1919789"/>
            <a:ext cx="2983944" cy="485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600"/>
              </a:lnSpc>
              <a:buFont typeface="Wingdings" pitchFamily="2" charset="2"/>
              <a:buNone/>
            </a:pPr>
            <a:r>
              <a:rPr lang="de-DE" sz="2600" dirty="0" smtClean="0">
                <a:solidFill>
                  <a:srgbClr val="76B856"/>
                </a:solidFill>
                <a:latin typeface="Franklin Gothic Demi Cond" pitchFamily="34" charset="0"/>
              </a:rPr>
              <a:t>FINANCES &amp; ACCOUNTABILITY:</a:t>
            </a:r>
            <a:r>
              <a:rPr lang="de-DE" sz="2600" dirty="0" smtClean="0">
                <a:solidFill>
                  <a:srgbClr val="E74361"/>
                </a:solidFill>
                <a:latin typeface="Franklin Gothic Demi Cond" pitchFamily="34" charset="0"/>
              </a:rPr>
              <a:t/>
            </a:r>
            <a:br>
              <a:rPr lang="de-DE" sz="2600" dirty="0" smtClean="0">
                <a:solidFill>
                  <a:srgbClr val="E74361"/>
                </a:solidFill>
                <a:latin typeface="Franklin Gothic Demi Cond" pitchFamily="34" charset="0"/>
              </a:rPr>
            </a:br>
            <a:endParaRPr lang="de-DE" sz="2600" b="1" dirty="0" smtClean="0">
              <a:solidFill>
                <a:srgbClr val="E74361"/>
              </a:solidFill>
              <a:latin typeface="Franklin Gothic Demi Cond" pitchFamily="34" charset="0"/>
            </a:endParaRPr>
          </a:p>
          <a:p>
            <a:pPr marL="180000" indent="-180000">
              <a:lnSpc>
                <a:spcPts val="2200"/>
              </a:lnSpc>
              <a:spcBef>
                <a:spcPts val="0"/>
              </a:spcBef>
              <a:spcAft>
                <a:spcPts val="800"/>
              </a:spcAft>
              <a:buClr>
                <a:srgbClr val="76B856"/>
              </a:buClr>
              <a:buFont typeface="Arial" pitchFamily="34" charset="0"/>
              <a:buChar char="•"/>
            </a:pPr>
            <a:r>
              <a:rPr lang="de-DE" sz="2100" dirty="0" smtClean="0">
                <a:solidFill>
                  <a:schemeClr val="tx1">
                    <a:lumMod val="90000"/>
                    <a:lumOff val="10000"/>
                  </a:schemeClr>
                </a:solidFill>
                <a:latin typeface="Arial Narrow" pitchFamily="34" charset="0"/>
              </a:rPr>
              <a:t>INGO Accountability Charter</a:t>
            </a:r>
          </a:p>
          <a:p>
            <a:pPr marL="180000" indent="-180000">
              <a:lnSpc>
                <a:spcPts val="2200"/>
              </a:lnSpc>
              <a:spcBef>
                <a:spcPts val="0"/>
              </a:spcBef>
              <a:spcAft>
                <a:spcPts val="800"/>
              </a:spcAft>
              <a:buClr>
                <a:srgbClr val="76B856"/>
              </a:buClr>
              <a:buFont typeface="Arial" pitchFamily="34" charset="0"/>
              <a:buChar char="•"/>
            </a:pPr>
            <a:r>
              <a:rPr lang="de-DE" sz="2100" dirty="0" smtClean="0">
                <a:solidFill>
                  <a:schemeClr val="tx1">
                    <a:lumMod val="90000"/>
                    <a:lumOff val="10000"/>
                  </a:schemeClr>
                </a:solidFill>
                <a:latin typeface="Arial Narrow" pitchFamily="34" charset="0"/>
              </a:rPr>
              <a:t>International Accounting Standards Board</a:t>
            </a:r>
          </a:p>
          <a:p>
            <a:pPr marL="180000" indent="-180000">
              <a:lnSpc>
                <a:spcPts val="2200"/>
              </a:lnSpc>
              <a:spcBef>
                <a:spcPts val="0"/>
              </a:spcBef>
              <a:spcAft>
                <a:spcPts val="800"/>
              </a:spcAft>
              <a:buClr>
                <a:srgbClr val="76B856"/>
              </a:buClr>
              <a:buFont typeface="Arial" pitchFamily="34" charset="0"/>
              <a:buChar char="•"/>
            </a:pPr>
            <a:r>
              <a:rPr lang="de-DE" sz="2100" dirty="0" smtClean="0">
                <a:solidFill>
                  <a:schemeClr val="tx1">
                    <a:lumMod val="90000"/>
                    <a:lumOff val="10000"/>
                  </a:schemeClr>
                </a:solidFill>
                <a:latin typeface="Arial Narrow" pitchFamily="34" charset="0"/>
              </a:rPr>
              <a:t>SOS </a:t>
            </a:r>
            <a:r>
              <a:rPr lang="de-DE" sz="2100" dirty="0">
                <a:solidFill>
                  <a:schemeClr val="tx1">
                    <a:lumMod val="90000"/>
                    <a:lumOff val="10000"/>
                  </a:schemeClr>
                </a:solidFill>
                <a:latin typeface="Arial Narrow" pitchFamily="34" charset="0"/>
              </a:rPr>
              <a:t>a</a:t>
            </a:r>
            <a:r>
              <a:rPr lang="de-DE" sz="2100" dirty="0" smtClean="0">
                <a:solidFill>
                  <a:schemeClr val="tx1">
                    <a:lumMod val="90000"/>
                    <a:lumOff val="10000"/>
                  </a:schemeClr>
                </a:solidFill>
                <a:latin typeface="Arial Narrow" pitchFamily="34" charset="0"/>
              </a:rPr>
              <a:t>nti-fraud and anti-corruption guidelines</a:t>
            </a:r>
          </a:p>
          <a:p>
            <a:pPr marL="180000" indent="-180000">
              <a:lnSpc>
                <a:spcPts val="2200"/>
              </a:lnSpc>
              <a:spcBef>
                <a:spcPts val="0"/>
              </a:spcBef>
              <a:spcAft>
                <a:spcPts val="800"/>
              </a:spcAft>
              <a:buClr>
                <a:srgbClr val="76B856"/>
              </a:buClr>
              <a:buFont typeface="Arial" pitchFamily="34" charset="0"/>
              <a:buChar char="•"/>
            </a:pPr>
            <a:r>
              <a:rPr lang="de-DE" sz="2100" dirty="0" smtClean="0">
                <a:solidFill>
                  <a:schemeClr val="tx1">
                    <a:lumMod val="90000"/>
                    <a:lumOff val="10000"/>
                  </a:schemeClr>
                </a:solidFill>
                <a:latin typeface="Arial Narrow" pitchFamily="34" charset="0"/>
              </a:rPr>
              <a:t>SOS Good Management and Accountability Quality Standards</a:t>
            </a:r>
          </a:p>
        </p:txBody>
      </p:sp>
      <p:sp>
        <p:nvSpPr>
          <p:cNvPr id="21" name="Content Placeholder 2"/>
          <p:cNvSpPr txBox="1">
            <a:spLocks/>
          </p:cNvSpPr>
          <p:nvPr/>
        </p:nvSpPr>
        <p:spPr bwMode="auto">
          <a:xfrm>
            <a:off x="6182668" y="1927671"/>
            <a:ext cx="2907888" cy="485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2600"/>
              </a:lnSpc>
              <a:buFont typeface="Wingdings" pitchFamily="2" charset="2"/>
              <a:buNone/>
            </a:pPr>
            <a:r>
              <a:rPr lang="de-DE" sz="2600" dirty="0" smtClean="0">
                <a:solidFill>
                  <a:srgbClr val="EC7404"/>
                </a:solidFill>
                <a:latin typeface="Franklin Gothic Demi Cond" pitchFamily="34" charset="0"/>
              </a:rPr>
              <a:t>OUR OWN </a:t>
            </a:r>
            <a:br>
              <a:rPr lang="de-DE" sz="2600" dirty="0" smtClean="0">
                <a:solidFill>
                  <a:srgbClr val="EC7404"/>
                </a:solidFill>
                <a:latin typeface="Franklin Gothic Demi Cond" pitchFamily="34" charset="0"/>
              </a:rPr>
            </a:br>
            <a:r>
              <a:rPr lang="de-DE" sz="2600" dirty="0" smtClean="0">
                <a:solidFill>
                  <a:srgbClr val="EC7404"/>
                </a:solidFill>
                <a:latin typeface="Franklin Gothic Demi Cond" pitchFamily="34" charset="0"/>
              </a:rPr>
              <a:t>POLICIES:</a:t>
            </a:r>
            <a:r>
              <a:rPr lang="de-DE" sz="2600" dirty="0" smtClean="0">
                <a:solidFill>
                  <a:srgbClr val="E74361"/>
                </a:solidFill>
                <a:latin typeface="Franklin Gothic Demi Cond" pitchFamily="34" charset="0"/>
              </a:rPr>
              <a:t/>
            </a:r>
            <a:br>
              <a:rPr lang="de-DE" sz="2600" dirty="0" smtClean="0">
                <a:solidFill>
                  <a:srgbClr val="E74361"/>
                </a:solidFill>
                <a:latin typeface="Franklin Gothic Demi Cond" pitchFamily="34" charset="0"/>
              </a:rPr>
            </a:br>
            <a:endParaRPr lang="de-DE" sz="2600" b="1" dirty="0" smtClean="0">
              <a:solidFill>
                <a:srgbClr val="E74361"/>
              </a:solidFill>
              <a:latin typeface="Franklin Gothic Demi Cond" pitchFamily="34" charset="0"/>
            </a:endParaRPr>
          </a:p>
          <a:p>
            <a:pPr marL="180000" indent="-180000">
              <a:lnSpc>
                <a:spcPts val="2200"/>
              </a:lnSpc>
              <a:spcBef>
                <a:spcPts val="0"/>
              </a:spcBef>
              <a:spcAft>
                <a:spcPts val="800"/>
              </a:spcAft>
              <a:buFont typeface="Arial" pitchFamily="34" charset="0"/>
              <a:buChar char="•"/>
            </a:pPr>
            <a:r>
              <a:rPr lang="de-DE" sz="2100" dirty="0" smtClean="0">
                <a:solidFill>
                  <a:schemeClr val="tx1">
                    <a:lumMod val="90000"/>
                    <a:lumOff val="10000"/>
                  </a:schemeClr>
                </a:solidFill>
                <a:latin typeface="Arial Narrow" pitchFamily="34" charset="0"/>
              </a:rPr>
              <a:t>SOS Children‘s Villages Programme Policy</a:t>
            </a:r>
          </a:p>
          <a:p>
            <a:pPr marL="180000" indent="-180000">
              <a:lnSpc>
                <a:spcPts val="2200"/>
              </a:lnSpc>
              <a:spcBef>
                <a:spcPts val="0"/>
              </a:spcBef>
              <a:spcAft>
                <a:spcPts val="800"/>
              </a:spcAft>
              <a:buFont typeface="Arial" pitchFamily="34" charset="0"/>
              <a:buChar char="•"/>
            </a:pPr>
            <a:r>
              <a:rPr lang="de-DE" sz="2100" dirty="0" smtClean="0">
                <a:solidFill>
                  <a:schemeClr val="tx1">
                    <a:lumMod val="90000"/>
                    <a:lumOff val="10000"/>
                  </a:schemeClr>
                </a:solidFill>
                <a:latin typeface="Arial Narrow" pitchFamily="34" charset="0"/>
              </a:rPr>
              <a:t>Child Protection</a:t>
            </a:r>
          </a:p>
          <a:p>
            <a:pPr marL="180000" indent="-180000">
              <a:lnSpc>
                <a:spcPts val="2200"/>
              </a:lnSpc>
              <a:spcBef>
                <a:spcPts val="0"/>
              </a:spcBef>
              <a:spcAft>
                <a:spcPts val="800"/>
              </a:spcAft>
              <a:buFont typeface="Arial" pitchFamily="34" charset="0"/>
              <a:buChar char="•"/>
            </a:pPr>
            <a:r>
              <a:rPr lang="de-DE" sz="2100" dirty="0" smtClean="0">
                <a:solidFill>
                  <a:schemeClr val="tx1">
                    <a:lumMod val="90000"/>
                    <a:lumOff val="10000"/>
                  </a:schemeClr>
                </a:solidFill>
                <a:latin typeface="Arial Narrow" pitchFamily="34" charset="0"/>
              </a:rPr>
              <a:t>Inclusion</a:t>
            </a:r>
          </a:p>
          <a:p>
            <a:pPr marL="180000" indent="-180000">
              <a:lnSpc>
                <a:spcPts val="2200"/>
              </a:lnSpc>
              <a:spcBef>
                <a:spcPts val="0"/>
              </a:spcBef>
              <a:spcAft>
                <a:spcPts val="800"/>
              </a:spcAft>
              <a:buFont typeface="Arial" pitchFamily="34" charset="0"/>
              <a:buChar char="•"/>
            </a:pPr>
            <a:r>
              <a:rPr lang="de-DE" sz="2100" dirty="0" smtClean="0">
                <a:solidFill>
                  <a:schemeClr val="tx1">
                    <a:lumMod val="90000"/>
                    <a:lumOff val="10000"/>
                  </a:schemeClr>
                </a:solidFill>
                <a:latin typeface="Arial Narrow" pitchFamily="34" charset="0"/>
              </a:rPr>
              <a:t>HIV/AIDS</a:t>
            </a:r>
          </a:p>
          <a:p>
            <a:pPr marL="180000" indent="-180000">
              <a:lnSpc>
                <a:spcPts val="2200"/>
              </a:lnSpc>
              <a:spcBef>
                <a:spcPts val="0"/>
              </a:spcBef>
              <a:spcAft>
                <a:spcPts val="800"/>
              </a:spcAft>
              <a:buFont typeface="Arial" pitchFamily="34" charset="0"/>
              <a:buChar char="•"/>
            </a:pPr>
            <a:r>
              <a:rPr lang="de-DE" sz="2100" dirty="0" smtClean="0">
                <a:solidFill>
                  <a:schemeClr val="tx1">
                    <a:lumMod val="90000"/>
                    <a:lumOff val="10000"/>
                  </a:schemeClr>
                </a:solidFill>
                <a:latin typeface="Arial Narrow" pitchFamily="34" charset="0"/>
              </a:rPr>
              <a:t>Formal Education</a:t>
            </a:r>
          </a:p>
          <a:p>
            <a:pPr marL="180000" indent="-180000">
              <a:lnSpc>
                <a:spcPts val="2200"/>
              </a:lnSpc>
              <a:spcBef>
                <a:spcPts val="0"/>
              </a:spcBef>
              <a:spcAft>
                <a:spcPts val="800"/>
              </a:spcAft>
              <a:buFont typeface="Arial" pitchFamily="34" charset="0"/>
              <a:buChar char="•"/>
            </a:pPr>
            <a:r>
              <a:rPr lang="de-DE" sz="2100" smtClean="0">
                <a:solidFill>
                  <a:schemeClr val="tx1">
                    <a:lumMod val="90000"/>
                    <a:lumOff val="10000"/>
                  </a:schemeClr>
                </a:solidFill>
                <a:latin typeface="Arial Narrow" pitchFamily="34" charset="0"/>
              </a:rPr>
              <a:t>Emergency</a:t>
            </a:r>
          </a:p>
          <a:p>
            <a:pPr marL="180000" indent="-180000">
              <a:lnSpc>
                <a:spcPts val="2200"/>
              </a:lnSpc>
              <a:spcBef>
                <a:spcPts val="0"/>
              </a:spcBef>
              <a:spcAft>
                <a:spcPts val="800"/>
              </a:spcAft>
              <a:buFont typeface="Arial" pitchFamily="34" charset="0"/>
              <a:buChar char="•"/>
            </a:pPr>
            <a:r>
              <a:rPr lang="de-DE" sz="2100" smtClean="0">
                <a:solidFill>
                  <a:schemeClr val="tx1">
                    <a:lumMod val="90000"/>
                    <a:lumOff val="10000"/>
                  </a:schemeClr>
                </a:solidFill>
                <a:latin typeface="Arial Narrow" pitchFamily="34" charset="0"/>
              </a:rPr>
              <a:t>Code </a:t>
            </a:r>
            <a:r>
              <a:rPr lang="de-DE" sz="2100" dirty="0">
                <a:solidFill>
                  <a:schemeClr val="tx1">
                    <a:lumMod val="90000"/>
                    <a:lumOff val="10000"/>
                  </a:schemeClr>
                </a:solidFill>
                <a:latin typeface="Arial Narrow" pitchFamily="34" charset="0"/>
              </a:rPr>
              <a:t>of Conduct</a:t>
            </a:r>
          </a:p>
          <a:p>
            <a:pPr marL="180000" indent="-180000">
              <a:lnSpc>
                <a:spcPts val="2200"/>
              </a:lnSpc>
              <a:spcBef>
                <a:spcPts val="0"/>
              </a:spcBef>
              <a:spcAft>
                <a:spcPts val="800"/>
              </a:spcAft>
              <a:buFont typeface="Arial" pitchFamily="34" charset="0"/>
              <a:buChar char="•"/>
            </a:pPr>
            <a:endParaRPr lang="de-DE" sz="2100" dirty="0" smtClean="0">
              <a:solidFill>
                <a:schemeClr val="tx1">
                  <a:lumMod val="90000"/>
                  <a:lumOff val="10000"/>
                </a:schemeClr>
              </a:solidFill>
              <a:latin typeface="Arial Narrow"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7071" y="1340066"/>
            <a:ext cx="960838" cy="960838"/>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5643" y="1463214"/>
            <a:ext cx="822081" cy="801529"/>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9084" y="1560789"/>
            <a:ext cx="1114813" cy="902276"/>
          </a:xfrm>
          <a:prstGeom prst="rect">
            <a:avLst/>
          </a:prstGeom>
        </p:spPr>
      </p:pic>
    </p:spTree>
    <p:extLst>
      <p:ext uri="{BB962C8B-B14F-4D97-AF65-F5344CB8AC3E}">
        <p14:creationId xmlns:p14="http://schemas.microsoft.com/office/powerpoint/2010/main" val="1192202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p:nvPr/>
        </p:nvSpPr>
        <p:spPr>
          <a:xfrm>
            <a:off x="257175" y="311001"/>
            <a:ext cx="3857624" cy="14752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924" y="125107"/>
            <a:ext cx="9144019" cy="6839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Oval 12"/>
          <p:cNvSpPr/>
          <p:nvPr/>
        </p:nvSpPr>
        <p:spPr>
          <a:xfrm>
            <a:off x="3144734" y="2327643"/>
            <a:ext cx="869195" cy="868037"/>
          </a:xfrm>
          <a:prstGeom prst="ellipse">
            <a:avLst/>
          </a:prstGeom>
          <a:solidFill>
            <a:srgbClr val="009EE0"/>
          </a:solidFill>
          <a:ln w="28575">
            <a:solidFill>
              <a:srgbClr val="5CC5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de-DE" sz="3600" dirty="0" smtClean="0">
                <a:solidFill>
                  <a:schemeClr val="bg1"/>
                </a:solidFill>
                <a:latin typeface="Franklin Gothic Demi Cond" pitchFamily="34" charset="0"/>
              </a:rPr>
              <a:t>Where </a:t>
            </a:r>
            <a:r>
              <a:rPr lang="de-DE" sz="3600" smtClean="0">
                <a:solidFill>
                  <a:schemeClr val="bg1"/>
                </a:solidFill>
                <a:latin typeface="Franklin Gothic Demi Cond" pitchFamily="34" charset="0"/>
              </a:rPr>
              <a:t>the children live</a:t>
            </a:r>
            <a:endParaRPr lang="en-GB" dirty="0">
              <a:solidFill>
                <a:schemeClr val="bg1"/>
              </a:solidFill>
              <a:latin typeface="Franklin Gothic Demi Cond" pitchFamily="34" charset="0"/>
            </a:endParaRPr>
          </a:p>
        </p:txBody>
      </p:sp>
      <p:sp>
        <p:nvSpPr>
          <p:cNvPr id="6" name="TextBox 5"/>
          <p:cNvSpPr txBox="1"/>
          <p:nvPr/>
        </p:nvSpPr>
        <p:spPr>
          <a:xfrm>
            <a:off x="446577" y="1028039"/>
            <a:ext cx="4049083" cy="810478"/>
          </a:xfrm>
          <a:prstGeom prst="rect">
            <a:avLst/>
          </a:prstGeom>
          <a:noFill/>
        </p:spPr>
        <p:txBody>
          <a:bodyPr wrap="square" rtlCol="0">
            <a:spAutoFit/>
          </a:bodyPr>
          <a:lstStyle/>
          <a:p>
            <a:pPr>
              <a:lnSpc>
                <a:spcPts val="2800"/>
              </a:lnSpc>
            </a:pPr>
            <a:r>
              <a:rPr lang="de-DE" sz="3600" b="1" dirty="0" smtClean="0">
                <a:solidFill>
                  <a:srgbClr val="00B1E6"/>
                </a:solidFill>
                <a:latin typeface="Arial Narrow" pitchFamily="34" charset="0"/>
              </a:rPr>
              <a:t>410,800 </a:t>
            </a:r>
            <a:r>
              <a:rPr lang="de-DE" sz="2800" b="1" dirty="0" smtClean="0">
                <a:solidFill>
                  <a:srgbClr val="00B1E6"/>
                </a:solidFill>
                <a:latin typeface="Arial Narrow" pitchFamily="34" charset="0"/>
              </a:rPr>
              <a:t>children, youth </a:t>
            </a:r>
          </a:p>
          <a:p>
            <a:pPr>
              <a:lnSpc>
                <a:spcPts val="2800"/>
              </a:lnSpc>
            </a:pPr>
            <a:r>
              <a:rPr lang="de-DE" sz="2800" b="1" dirty="0" smtClean="0">
                <a:solidFill>
                  <a:srgbClr val="00B1E6"/>
                </a:solidFill>
                <a:latin typeface="Arial Narrow" pitchFamily="34" charset="0"/>
              </a:rPr>
              <a:t>and parents globally* </a:t>
            </a:r>
            <a:endParaRPr lang="de-DE" sz="2800" dirty="0" smtClean="0">
              <a:solidFill>
                <a:srgbClr val="00B1E6"/>
              </a:solidFill>
              <a:latin typeface="Arial Narrow" pitchFamily="34" charset="0"/>
            </a:endParaRPr>
          </a:p>
        </p:txBody>
      </p:sp>
      <p:sp>
        <p:nvSpPr>
          <p:cNvPr id="12" name="Oval 11"/>
          <p:cNvSpPr/>
          <p:nvPr/>
        </p:nvSpPr>
        <p:spPr>
          <a:xfrm>
            <a:off x="4511250" y="4021844"/>
            <a:ext cx="1180100" cy="1151360"/>
          </a:xfrm>
          <a:prstGeom prst="ellipse">
            <a:avLst/>
          </a:prstGeom>
          <a:solidFill>
            <a:srgbClr val="EC7404"/>
          </a:solidFill>
          <a:ln w="57150">
            <a:solidFill>
              <a:srgbClr val="F192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Oval 14"/>
          <p:cNvSpPr/>
          <p:nvPr/>
        </p:nvSpPr>
        <p:spPr>
          <a:xfrm>
            <a:off x="6873763" y="3513438"/>
            <a:ext cx="1077237" cy="1095640"/>
          </a:xfrm>
          <a:prstGeom prst="ellipse">
            <a:avLst/>
          </a:prstGeom>
          <a:solidFill>
            <a:srgbClr val="E74361"/>
          </a:solidFill>
          <a:ln w="38100">
            <a:solidFill>
              <a:srgbClr val="EB7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TextBox 2"/>
          <p:cNvSpPr txBox="1"/>
          <p:nvPr/>
        </p:nvSpPr>
        <p:spPr>
          <a:xfrm>
            <a:off x="502013" y="4136162"/>
            <a:ext cx="1550054" cy="605294"/>
          </a:xfrm>
          <a:prstGeom prst="rect">
            <a:avLst/>
          </a:prstGeom>
          <a:noFill/>
        </p:spPr>
        <p:txBody>
          <a:bodyPr wrap="square" rtlCol="0">
            <a:spAutoFit/>
          </a:bodyPr>
          <a:lstStyle/>
          <a:p>
            <a:pPr>
              <a:lnSpc>
                <a:spcPts val="2000"/>
              </a:lnSpc>
            </a:pPr>
            <a:r>
              <a:rPr lang="de-DE" sz="2000" dirty="0" smtClean="0">
                <a:solidFill>
                  <a:srgbClr val="76B856"/>
                </a:solidFill>
                <a:latin typeface="Franklin Gothic Medium Cond" pitchFamily="34" charset="0"/>
              </a:rPr>
              <a:t>Latin </a:t>
            </a:r>
          </a:p>
          <a:p>
            <a:pPr>
              <a:lnSpc>
                <a:spcPts val="2000"/>
              </a:lnSpc>
            </a:pPr>
            <a:r>
              <a:rPr lang="de-DE" sz="2000" dirty="0" smtClean="0">
                <a:solidFill>
                  <a:srgbClr val="76B856"/>
                </a:solidFill>
                <a:latin typeface="Franklin Gothic Medium Cond" pitchFamily="34" charset="0"/>
              </a:rPr>
              <a:t>America</a:t>
            </a:r>
            <a:endParaRPr lang="en-GB" sz="2000" dirty="0">
              <a:solidFill>
                <a:srgbClr val="76B856"/>
              </a:solidFill>
              <a:latin typeface="Franklin Gothic Medium Cond" pitchFamily="34" charset="0"/>
            </a:endParaRPr>
          </a:p>
        </p:txBody>
      </p:sp>
      <p:sp>
        <p:nvSpPr>
          <p:cNvPr id="16" name="TextBox 15"/>
          <p:cNvSpPr txBox="1"/>
          <p:nvPr/>
        </p:nvSpPr>
        <p:spPr>
          <a:xfrm>
            <a:off x="2874460" y="4485594"/>
            <a:ext cx="1550054" cy="605294"/>
          </a:xfrm>
          <a:prstGeom prst="rect">
            <a:avLst/>
          </a:prstGeom>
          <a:noFill/>
        </p:spPr>
        <p:txBody>
          <a:bodyPr wrap="square" rtlCol="0">
            <a:spAutoFit/>
          </a:bodyPr>
          <a:lstStyle/>
          <a:p>
            <a:pPr algn="r">
              <a:lnSpc>
                <a:spcPts val="2000"/>
              </a:lnSpc>
            </a:pPr>
            <a:r>
              <a:rPr lang="de-DE" sz="2000" smtClean="0">
                <a:solidFill>
                  <a:srgbClr val="EC7404"/>
                </a:solidFill>
                <a:latin typeface="Franklin Gothic Medium Cond" pitchFamily="34" charset="0"/>
              </a:rPr>
              <a:t>Africa &amp;</a:t>
            </a:r>
          </a:p>
          <a:p>
            <a:pPr algn="r">
              <a:lnSpc>
                <a:spcPts val="2000"/>
              </a:lnSpc>
            </a:pPr>
            <a:r>
              <a:rPr lang="de-DE" sz="2000" smtClean="0">
                <a:solidFill>
                  <a:srgbClr val="EC7404"/>
                </a:solidFill>
                <a:latin typeface="Franklin Gothic Medium Cond" pitchFamily="34" charset="0"/>
              </a:rPr>
              <a:t>Middle East</a:t>
            </a:r>
            <a:endParaRPr lang="en-GB" sz="2000">
              <a:solidFill>
                <a:srgbClr val="EC7404"/>
              </a:solidFill>
              <a:latin typeface="Franklin Gothic Medium Cond" pitchFamily="34" charset="0"/>
            </a:endParaRPr>
          </a:p>
        </p:txBody>
      </p:sp>
      <p:sp>
        <p:nvSpPr>
          <p:cNvPr id="17" name="TextBox 16"/>
          <p:cNvSpPr txBox="1"/>
          <p:nvPr/>
        </p:nvSpPr>
        <p:spPr>
          <a:xfrm>
            <a:off x="6305324" y="4274845"/>
            <a:ext cx="775027" cy="348813"/>
          </a:xfrm>
          <a:prstGeom prst="rect">
            <a:avLst/>
          </a:prstGeom>
          <a:noFill/>
        </p:spPr>
        <p:txBody>
          <a:bodyPr wrap="square" rtlCol="0">
            <a:spAutoFit/>
          </a:bodyPr>
          <a:lstStyle/>
          <a:p>
            <a:pPr>
              <a:lnSpc>
                <a:spcPts val="2000"/>
              </a:lnSpc>
            </a:pPr>
            <a:r>
              <a:rPr lang="de-DE" sz="2000" dirty="0" smtClean="0">
                <a:solidFill>
                  <a:srgbClr val="E74361"/>
                </a:solidFill>
                <a:latin typeface="Franklin Gothic Medium Cond" pitchFamily="34" charset="0"/>
              </a:rPr>
              <a:t>Asia</a:t>
            </a:r>
            <a:endParaRPr lang="en-GB" sz="2000" dirty="0">
              <a:solidFill>
                <a:srgbClr val="E74361"/>
              </a:solidFill>
              <a:latin typeface="Franklin Gothic Medium Cond" pitchFamily="34" charset="0"/>
            </a:endParaRPr>
          </a:p>
        </p:txBody>
      </p:sp>
      <p:sp>
        <p:nvSpPr>
          <p:cNvPr id="18" name="TextBox 17"/>
          <p:cNvSpPr txBox="1"/>
          <p:nvPr/>
        </p:nvSpPr>
        <p:spPr>
          <a:xfrm>
            <a:off x="1638090" y="2963391"/>
            <a:ext cx="1860700" cy="605294"/>
          </a:xfrm>
          <a:prstGeom prst="rect">
            <a:avLst/>
          </a:prstGeom>
          <a:noFill/>
        </p:spPr>
        <p:txBody>
          <a:bodyPr wrap="square" rtlCol="0">
            <a:spAutoFit/>
          </a:bodyPr>
          <a:lstStyle/>
          <a:p>
            <a:pPr>
              <a:lnSpc>
                <a:spcPts val="2000"/>
              </a:lnSpc>
            </a:pPr>
            <a:r>
              <a:rPr lang="de-DE" sz="2000" dirty="0" smtClean="0">
                <a:solidFill>
                  <a:srgbClr val="00B1E6"/>
                </a:solidFill>
                <a:latin typeface="Franklin Gothic Medium Cond" pitchFamily="34" charset="0"/>
              </a:rPr>
              <a:t>Western Europe</a:t>
            </a:r>
          </a:p>
          <a:p>
            <a:pPr>
              <a:lnSpc>
                <a:spcPts val="2000"/>
              </a:lnSpc>
            </a:pPr>
            <a:r>
              <a:rPr lang="de-DE" sz="2000" dirty="0" smtClean="0">
                <a:solidFill>
                  <a:srgbClr val="00B1E6"/>
                </a:solidFill>
                <a:latin typeface="Franklin Gothic Medium Cond" pitchFamily="34" charset="0"/>
              </a:rPr>
              <a:t>&amp; North America</a:t>
            </a:r>
          </a:p>
        </p:txBody>
      </p:sp>
      <p:sp>
        <p:nvSpPr>
          <p:cNvPr id="19" name="TextBox 18"/>
          <p:cNvSpPr txBox="1"/>
          <p:nvPr/>
        </p:nvSpPr>
        <p:spPr>
          <a:xfrm>
            <a:off x="5451044" y="2316196"/>
            <a:ext cx="2388992" cy="605294"/>
          </a:xfrm>
          <a:prstGeom prst="rect">
            <a:avLst/>
          </a:prstGeom>
          <a:noFill/>
        </p:spPr>
        <p:txBody>
          <a:bodyPr wrap="square" rtlCol="0">
            <a:spAutoFit/>
          </a:bodyPr>
          <a:lstStyle/>
          <a:p>
            <a:pPr>
              <a:lnSpc>
                <a:spcPts val="2000"/>
              </a:lnSpc>
            </a:pPr>
            <a:r>
              <a:rPr lang="de-DE" sz="2000" smtClean="0">
                <a:solidFill>
                  <a:schemeClr val="tx1">
                    <a:lumMod val="75000"/>
                    <a:lumOff val="25000"/>
                  </a:schemeClr>
                </a:solidFill>
                <a:latin typeface="Franklin Gothic Medium Cond" pitchFamily="34" charset="0"/>
              </a:rPr>
              <a:t>Central &amp; Eastern Europe, CIS, Baltics</a:t>
            </a:r>
            <a:endParaRPr lang="en-GB" sz="2000">
              <a:solidFill>
                <a:schemeClr val="tx1">
                  <a:lumMod val="75000"/>
                  <a:lumOff val="25000"/>
                </a:schemeClr>
              </a:solidFill>
              <a:latin typeface="Franklin Gothic Medium Cond" pitchFamily="34" charset="0"/>
            </a:endParaRPr>
          </a:p>
        </p:txBody>
      </p:sp>
      <p:sp>
        <p:nvSpPr>
          <p:cNvPr id="4" name="TextBox 3"/>
          <p:cNvSpPr txBox="1"/>
          <p:nvPr/>
        </p:nvSpPr>
        <p:spPr>
          <a:xfrm>
            <a:off x="555624" y="6443350"/>
            <a:ext cx="8307031" cy="348813"/>
          </a:xfrm>
          <a:prstGeom prst="rect">
            <a:avLst/>
          </a:prstGeom>
          <a:noFill/>
        </p:spPr>
        <p:txBody>
          <a:bodyPr wrap="square" rtlCol="0">
            <a:spAutoFit/>
          </a:bodyPr>
          <a:lstStyle/>
          <a:p>
            <a:pPr algn="r">
              <a:lnSpc>
                <a:spcPts val="2000"/>
              </a:lnSpc>
            </a:pPr>
            <a:r>
              <a:rPr lang="de-DE" sz="1700" i="1" smtClean="0">
                <a:solidFill>
                  <a:schemeClr val="tx1">
                    <a:lumMod val="75000"/>
                    <a:lumOff val="25000"/>
                  </a:schemeClr>
                </a:solidFill>
                <a:latin typeface="Arial Narrow" pitchFamily="34" charset="0"/>
              </a:rPr>
              <a:t>* in SOS </a:t>
            </a:r>
            <a:r>
              <a:rPr lang="de-DE" sz="1700" i="1">
                <a:solidFill>
                  <a:schemeClr val="tx1">
                    <a:lumMod val="75000"/>
                    <a:lumOff val="25000"/>
                  </a:schemeClr>
                </a:solidFill>
                <a:latin typeface="Arial Narrow" pitchFamily="34" charset="0"/>
              </a:rPr>
              <a:t>Children‘s Villages, youth </a:t>
            </a:r>
            <a:r>
              <a:rPr lang="de-DE" sz="1700" i="1" smtClean="0">
                <a:solidFill>
                  <a:schemeClr val="tx1">
                    <a:lumMod val="75000"/>
                    <a:lumOff val="25000"/>
                  </a:schemeClr>
                </a:solidFill>
                <a:latin typeface="Arial Narrow" pitchFamily="34" charset="0"/>
              </a:rPr>
              <a:t>programmes and family </a:t>
            </a:r>
            <a:r>
              <a:rPr lang="de-DE" sz="1700" i="1">
                <a:solidFill>
                  <a:schemeClr val="tx1">
                    <a:lumMod val="75000"/>
                    <a:lumOff val="25000"/>
                  </a:schemeClr>
                </a:solidFill>
                <a:latin typeface="Arial Narrow" pitchFamily="34" charset="0"/>
              </a:rPr>
              <a:t>strengthening </a:t>
            </a:r>
            <a:r>
              <a:rPr lang="de-DE" sz="1700" i="1" smtClean="0">
                <a:solidFill>
                  <a:schemeClr val="tx1">
                    <a:lumMod val="75000"/>
                    <a:lumOff val="25000"/>
                  </a:schemeClr>
                </a:solidFill>
                <a:latin typeface="Arial Narrow" pitchFamily="34" charset="0"/>
              </a:rPr>
              <a:t>programmes</a:t>
            </a:r>
            <a:endParaRPr lang="en-GB" sz="1700">
              <a:solidFill>
                <a:schemeClr val="tx1">
                  <a:lumMod val="75000"/>
                  <a:lumOff val="25000"/>
                </a:schemeClr>
              </a:solidFill>
            </a:endParaRPr>
          </a:p>
        </p:txBody>
      </p:sp>
      <p:sp>
        <p:nvSpPr>
          <p:cNvPr id="21" name="TextBox 20"/>
          <p:cNvSpPr txBox="1"/>
          <p:nvPr/>
        </p:nvSpPr>
        <p:spPr>
          <a:xfrm>
            <a:off x="4480791" y="4449350"/>
            <a:ext cx="1550054" cy="348813"/>
          </a:xfrm>
          <a:prstGeom prst="rect">
            <a:avLst/>
          </a:prstGeom>
          <a:noFill/>
        </p:spPr>
        <p:txBody>
          <a:bodyPr wrap="square" rtlCol="0">
            <a:spAutoFit/>
          </a:bodyPr>
          <a:lstStyle/>
          <a:p>
            <a:pPr>
              <a:lnSpc>
                <a:spcPts val="2000"/>
              </a:lnSpc>
            </a:pPr>
            <a:r>
              <a:rPr lang="de-DE" sz="2400" dirty="0" smtClean="0">
                <a:solidFill>
                  <a:schemeClr val="bg1"/>
                </a:solidFill>
                <a:latin typeface="Franklin Gothic Medium Cond" pitchFamily="34" charset="0"/>
              </a:rPr>
              <a:t>160,400</a:t>
            </a:r>
            <a:endParaRPr lang="en-GB" sz="2400" dirty="0">
              <a:solidFill>
                <a:schemeClr val="bg1"/>
              </a:solidFill>
              <a:latin typeface="Franklin Gothic Medium Cond" pitchFamily="34" charset="0"/>
            </a:endParaRPr>
          </a:p>
        </p:txBody>
      </p:sp>
      <p:sp>
        <p:nvSpPr>
          <p:cNvPr id="22" name="TextBox 21"/>
          <p:cNvSpPr txBox="1"/>
          <p:nvPr/>
        </p:nvSpPr>
        <p:spPr>
          <a:xfrm>
            <a:off x="6767254" y="3919029"/>
            <a:ext cx="1550054" cy="367280"/>
          </a:xfrm>
          <a:prstGeom prst="rect">
            <a:avLst/>
          </a:prstGeom>
          <a:noFill/>
        </p:spPr>
        <p:txBody>
          <a:bodyPr wrap="square" rtlCol="0">
            <a:spAutoFit/>
          </a:bodyPr>
          <a:lstStyle/>
          <a:p>
            <a:pPr>
              <a:lnSpc>
                <a:spcPts val="2000"/>
              </a:lnSpc>
            </a:pPr>
            <a:r>
              <a:rPr lang="de-DE" sz="2600" dirty="0" smtClean="0">
                <a:solidFill>
                  <a:schemeClr val="bg1"/>
                </a:solidFill>
                <a:latin typeface="Franklin Gothic Medium Cond" pitchFamily="34" charset="0"/>
              </a:rPr>
              <a:t>101,600</a:t>
            </a:r>
            <a:endParaRPr lang="en-GB" sz="2600" dirty="0">
              <a:solidFill>
                <a:schemeClr val="bg1"/>
              </a:solidFill>
              <a:latin typeface="Franklin Gothic Medium Cond" pitchFamily="34" charset="0"/>
            </a:endParaRPr>
          </a:p>
        </p:txBody>
      </p:sp>
      <p:sp>
        <p:nvSpPr>
          <p:cNvPr id="14" name="Oval 13"/>
          <p:cNvSpPr/>
          <p:nvPr/>
        </p:nvSpPr>
        <p:spPr>
          <a:xfrm>
            <a:off x="4574314" y="2002222"/>
            <a:ext cx="865096" cy="824672"/>
          </a:xfrm>
          <a:prstGeom prst="ellipse">
            <a:avLst/>
          </a:prstGeom>
          <a:solidFill>
            <a:schemeClr val="tx1">
              <a:lumMod val="75000"/>
              <a:lumOff val="25000"/>
            </a:schemeClr>
          </a:solidFill>
          <a:ln w="190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TextBox 22"/>
          <p:cNvSpPr txBox="1"/>
          <p:nvPr/>
        </p:nvSpPr>
        <p:spPr>
          <a:xfrm>
            <a:off x="3109061" y="2527351"/>
            <a:ext cx="1080852" cy="430887"/>
          </a:xfrm>
          <a:prstGeom prst="rect">
            <a:avLst/>
          </a:prstGeom>
          <a:noFill/>
        </p:spPr>
        <p:txBody>
          <a:bodyPr wrap="square" rtlCol="0">
            <a:spAutoFit/>
          </a:bodyPr>
          <a:lstStyle/>
          <a:p>
            <a:r>
              <a:rPr lang="de-DE" sz="2200" dirty="0" smtClean="0">
                <a:solidFill>
                  <a:schemeClr val="bg1"/>
                </a:solidFill>
                <a:latin typeface="Franklin Gothic Medium Cond" pitchFamily="34" charset="0"/>
              </a:rPr>
              <a:t>21,200</a:t>
            </a:r>
            <a:endParaRPr lang="en-GB" sz="2200" dirty="0">
              <a:solidFill>
                <a:schemeClr val="bg1"/>
              </a:solidFill>
            </a:endParaRPr>
          </a:p>
        </p:txBody>
      </p:sp>
      <p:sp>
        <p:nvSpPr>
          <p:cNvPr id="7" name="TextBox 6"/>
          <p:cNvSpPr txBox="1"/>
          <p:nvPr/>
        </p:nvSpPr>
        <p:spPr>
          <a:xfrm>
            <a:off x="4558950" y="2204538"/>
            <a:ext cx="1047520" cy="430887"/>
          </a:xfrm>
          <a:prstGeom prst="rect">
            <a:avLst/>
          </a:prstGeom>
          <a:noFill/>
        </p:spPr>
        <p:txBody>
          <a:bodyPr wrap="square" rtlCol="0">
            <a:spAutoFit/>
          </a:bodyPr>
          <a:lstStyle/>
          <a:p>
            <a:r>
              <a:rPr lang="de-DE" sz="2200" dirty="0" smtClean="0">
                <a:solidFill>
                  <a:schemeClr val="bg1"/>
                </a:solidFill>
                <a:latin typeface="Franklin Gothic Medium Cond" pitchFamily="34" charset="0"/>
              </a:rPr>
              <a:t>18,100</a:t>
            </a:r>
            <a:endParaRPr lang="en-GB" sz="2200" dirty="0">
              <a:solidFill>
                <a:schemeClr val="bg1"/>
              </a:solidFill>
            </a:endParaRPr>
          </a:p>
        </p:txBody>
      </p:sp>
      <p:sp>
        <p:nvSpPr>
          <p:cNvPr id="25" name="Oval 24"/>
          <p:cNvSpPr/>
          <p:nvPr/>
        </p:nvSpPr>
        <p:spPr>
          <a:xfrm>
            <a:off x="1343899" y="4543068"/>
            <a:ext cx="1077237" cy="1095640"/>
          </a:xfrm>
          <a:prstGeom prst="ellipse">
            <a:avLst/>
          </a:prstGeom>
          <a:solidFill>
            <a:srgbClr val="76B856"/>
          </a:solidFill>
          <a:ln w="38100">
            <a:solidFill>
              <a:srgbClr val="B5D5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TextBox 25"/>
          <p:cNvSpPr txBox="1"/>
          <p:nvPr/>
        </p:nvSpPr>
        <p:spPr>
          <a:xfrm>
            <a:off x="1293917" y="4957024"/>
            <a:ext cx="1550054" cy="348813"/>
          </a:xfrm>
          <a:prstGeom prst="rect">
            <a:avLst/>
          </a:prstGeom>
          <a:noFill/>
        </p:spPr>
        <p:txBody>
          <a:bodyPr wrap="square" rtlCol="0">
            <a:spAutoFit/>
          </a:bodyPr>
          <a:lstStyle/>
          <a:p>
            <a:pPr>
              <a:lnSpc>
                <a:spcPts val="2000"/>
              </a:lnSpc>
            </a:pPr>
            <a:r>
              <a:rPr lang="de-DE" sz="2400" dirty="0" smtClean="0">
                <a:solidFill>
                  <a:schemeClr val="bg1"/>
                </a:solidFill>
                <a:latin typeface="Franklin Gothic Medium Cond" pitchFamily="34" charset="0"/>
              </a:rPr>
              <a:t>109,500</a:t>
            </a:r>
            <a:endParaRPr lang="en-GB" sz="2400" dirty="0">
              <a:solidFill>
                <a:schemeClr val="bg1"/>
              </a:solidFill>
              <a:latin typeface="Franklin Gothic Medium Cond" pitchFamily="34" charset="0"/>
            </a:endParaRPr>
          </a:p>
        </p:txBody>
      </p:sp>
    </p:spTree>
    <p:extLst>
      <p:ext uri="{BB962C8B-B14F-4D97-AF65-F5344CB8AC3E}">
        <p14:creationId xmlns:p14="http://schemas.microsoft.com/office/powerpoint/2010/main" val="18942441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1"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de-DE" sz="3600" dirty="0" smtClean="0">
                <a:solidFill>
                  <a:schemeClr val="bg1"/>
                </a:solidFill>
                <a:latin typeface="Franklin Gothic Demi Cond" pitchFamily="34" charset="0"/>
              </a:rPr>
              <a:t>Where the money comes from</a:t>
            </a:r>
            <a:endParaRPr lang="en-GB" dirty="0">
              <a:solidFill>
                <a:schemeClr val="bg1"/>
              </a:solidFill>
              <a:latin typeface="Franklin Gothic Demi Cond"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6274" y="4771172"/>
            <a:ext cx="1440343" cy="1094378"/>
          </a:xfrm>
          <a:prstGeom prst="rect">
            <a:avLst/>
          </a:prstGeom>
        </p:spPr>
      </p:pic>
      <p:sp>
        <p:nvSpPr>
          <p:cNvPr id="8" name="Freeform 5"/>
          <p:cNvSpPr>
            <a:spLocks/>
          </p:cNvSpPr>
          <p:nvPr/>
        </p:nvSpPr>
        <p:spPr bwMode="auto">
          <a:xfrm>
            <a:off x="4821238" y="1114425"/>
            <a:ext cx="639763" cy="642938"/>
          </a:xfrm>
          <a:custGeom>
            <a:avLst/>
            <a:gdLst>
              <a:gd name="T0" fmla="*/ 0 w 403"/>
              <a:gd name="T1" fmla="*/ 204 h 405"/>
              <a:gd name="T2" fmla="*/ 0 w 403"/>
              <a:gd name="T3" fmla="*/ 223 h 405"/>
              <a:gd name="T4" fmla="*/ 7 w 403"/>
              <a:gd name="T5" fmla="*/ 263 h 405"/>
              <a:gd name="T6" fmla="*/ 22 w 403"/>
              <a:gd name="T7" fmla="*/ 299 h 405"/>
              <a:gd name="T8" fmla="*/ 45 w 403"/>
              <a:gd name="T9" fmla="*/ 331 h 405"/>
              <a:gd name="T10" fmla="*/ 72 w 403"/>
              <a:gd name="T11" fmla="*/ 360 h 405"/>
              <a:gd name="T12" fmla="*/ 104 w 403"/>
              <a:gd name="T13" fmla="*/ 381 h 405"/>
              <a:gd name="T14" fmla="*/ 140 w 403"/>
              <a:gd name="T15" fmla="*/ 396 h 405"/>
              <a:gd name="T16" fmla="*/ 180 w 403"/>
              <a:gd name="T17" fmla="*/ 404 h 405"/>
              <a:gd name="T18" fmla="*/ 201 w 403"/>
              <a:gd name="T19" fmla="*/ 405 h 405"/>
              <a:gd name="T20" fmla="*/ 241 w 403"/>
              <a:gd name="T21" fmla="*/ 402 h 405"/>
              <a:gd name="T22" fmla="*/ 279 w 403"/>
              <a:gd name="T23" fmla="*/ 390 h 405"/>
              <a:gd name="T24" fmla="*/ 314 w 403"/>
              <a:gd name="T25" fmla="*/ 371 h 405"/>
              <a:gd name="T26" fmla="*/ 344 w 403"/>
              <a:gd name="T27" fmla="*/ 346 h 405"/>
              <a:gd name="T28" fmla="*/ 369 w 403"/>
              <a:gd name="T29" fmla="*/ 316 h 405"/>
              <a:gd name="T30" fmla="*/ 388 w 403"/>
              <a:gd name="T31" fmla="*/ 282 h 405"/>
              <a:gd name="T32" fmla="*/ 399 w 403"/>
              <a:gd name="T33" fmla="*/ 244 h 405"/>
              <a:gd name="T34" fmla="*/ 403 w 403"/>
              <a:gd name="T35" fmla="*/ 204 h 405"/>
              <a:gd name="T36" fmla="*/ 403 w 403"/>
              <a:gd name="T37" fmla="*/ 183 h 405"/>
              <a:gd name="T38" fmla="*/ 395 w 403"/>
              <a:gd name="T39" fmla="*/ 143 h 405"/>
              <a:gd name="T40" fmla="*/ 380 w 403"/>
              <a:gd name="T41" fmla="*/ 107 h 405"/>
              <a:gd name="T42" fmla="*/ 357 w 403"/>
              <a:gd name="T43" fmla="*/ 74 h 405"/>
              <a:gd name="T44" fmla="*/ 331 w 403"/>
              <a:gd name="T45" fmla="*/ 48 h 405"/>
              <a:gd name="T46" fmla="*/ 298 w 403"/>
              <a:gd name="T47" fmla="*/ 25 h 405"/>
              <a:gd name="T48" fmla="*/ 262 w 403"/>
              <a:gd name="T49" fmla="*/ 10 h 405"/>
              <a:gd name="T50" fmla="*/ 222 w 403"/>
              <a:gd name="T51" fmla="*/ 2 h 405"/>
              <a:gd name="T52" fmla="*/ 201 w 403"/>
              <a:gd name="T53" fmla="*/ 0 h 405"/>
              <a:gd name="T54" fmla="*/ 161 w 403"/>
              <a:gd name="T55" fmla="*/ 4 h 405"/>
              <a:gd name="T56" fmla="*/ 123 w 403"/>
              <a:gd name="T57" fmla="*/ 17 h 405"/>
              <a:gd name="T58" fmla="*/ 89 w 403"/>
              <a:gd name="T59" fmla="*/ 34 h 405"/>
              <a:gd name="T60" fmla="*/ 59 w 403"/>
              <a:gd name="T61" fmla="*/ 59 h 405"/>
              <a:gd name="T62" fmla="*/ 34 w 403"/>
              <a:gd name="T63" fmla="*/ 89 h 405"/>
              <a:gd name="T64" fmla="*/ 15 w 403"/>
              <a:gd name="T65" fmla="*/ 124 h 405"/>
              <a:gd name="T66" fmla="*/ 3 w 403"/>
              <a:gd name="T67" fmla="*/ 162 h 405"/>
              <a:gd name="T68" fmla="*/ 0 w 403"/>
              <a:gd name="T69" fmla="*/ 204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3" h="405">
                <a:moveTo>
                  <a:pt x="201" y="204"/>
                </a:moveTo>
                <a:lnTo>
                  <a:pt x="0" y="204"/>
                </a:lnTo>
                <a:lnTo>
                  <a:pt x="0" y="204"/>
                </a:lnTo>
                <a:lnTo>
                  <a:pt x="0" y="223"/>
                </a:lnTo>
                <a:lnTo>
                  <a:pt x="3" y="244"/>
                </a:lnTo>
                <a:lnTo>
                  <a:pt x="7" y="263"/>
                </a:lnTo>
                <a:lnTo>
                  <a:pt x="15" y="282"/>
                </a:lnTo>
                <a:lnTo>
                  <a:pt x="22" y="299"/>
                </a:lnTo>
                <a:lnTo>
                  <a:pt x="34" y="316"/>
                </a:lnTo>
                <a:lnTo>
                  <a:pt x="45" y="331"/>
                </a:lnTo>
                <a:lnTo>
                  <a:pt x="59" y="346"/>
                </a:lnTo>
                <a:lnTo>
                  <a:pt x="72" y="360"/>
                </a:lnTo>
                <a:lnTo>
                  <a:pt x="89" y="371"/>
                </a:lnTo>
                <a:lnTo>
                  <a:pt x="104" y="381"/>
                </a:lnTo>
                <a:lnTo>
                  <a:pt x="123" y="390"/>
                </a:lnTo>
                <a:lnTo>
                  <a:pt x="140" y="396"/>
                </a:lnTo>
                <a:lnTo>
                  <a:pt x="161" y="402"/>
                </a:lnTo>
                <a:lnTo>
                  <a:pt x="180" y="404"/>
                </a:lnTo>
                <a:lnTo>
                  <a:pt x="201" y="405"/>
                </a:lnTo>
                <a:lnTo>
                  <a:pt x="201" y="405"/>
                </a:lnTo>
                <a:lnTo>
                  <a:pt x="222" y="404"/>
                </a:lnTo>
                <a:lnTo>
                  <a:pt x="241" y="402"/>
                </a:lnTo>
                <a:lnTo>
                  <a:pt x="262" y="396"/>
                </a:lnTo>
                <a:lnTo>
                  <a:pt x="279" y="390"/>
                </a:lnTo>
                <a:lnTo>
                  <a:pt x="298" y="381"/>
                </a:lnTo>
                <a:lnTo>
                  <a:pt x="314" y="371"/>
                </a:lnTo>
                <a:lnTo>
                  <a:pt x="331" y="360"/>
                </a:lnTo>
                <a:lnTo>
                  <a:pt x="344" y="346"/>
                </a:lnTo>
                <a:lnTo>
                  <a:pt x="357" y="331"/>
                </a:lnTo>
                <a:lnTo>
                  <a:pt x="369" y="316"/>
                </a:lnTo>
                <a:lnTo>
                  <a:pt x="380" y="299"/>
                </a:lnTo>
                <a:lnTo>
                  <a:pt x="388" y="282"/>
                </a:lnTo>
                <a:lnTo>
                  <a:pt x="395" y="263"/>
                </a:lnTo>
                <a:lnTo>
                  <a:pt x="399" y="244"/>
                </a:lnTo>
                <a:lnTo>
                  <a:pt x="403" y="225"/>
                </a:lnTo>
                <a:lnTo>
                  <a:pt x="403" y="204"/>
                </a:lnTo>
                <a:lnTo>
                  <a:pt x="403" y="204"/>
                </a:lnTo>
                <a:lnTo>
                  <a:pt x="403" y="183"/>
                </a:lnTo>
                <a:lnTo>
                  <a:pt x="399" y="162"/>
                </a:lnTo>
                <a:lnTo>
                  <a:pt x="395" y="143"/>
                </a:lnTo>
                <a:lnTo>
                  <a:pt x="388" y="124"/>
                </a:lnTo>
                <a:lnTo>
                  <a:pt x="380" y="107"/>
                </a:lnTo>
                <a:lnTo>
                  <a:pt x="369" y="89"/>
                </a:lnTo>
                <a:lnTo>
                  <a:pt x="357" y="74"/>
                </a:lnTo>
                <a:lnTo>
                  <a:pt x="344" y="59"/>
                </a:lnTo>
                <a:lnTo>
                  <a:pt x="331" y="48"/>
                </a:lnTo>
                <a:lnTo>
                  <a:pt x="316" y="34"/>
                </a:lnTo>
                <a:lnTo>
                  <a:pt x="298" y="25"/>
                </a:lnTo>
                <a:lnTo>
                  <a:pt x="281" y="17"/>
                </a:lnTo>
                <a:lnTo>
                  <a:pt x="262" y="10"/>
                </a:lnTo>
                <a:lnTo>
                  <a:pt x="243" y="4"/>
                </a:lnTo>
                <a:lnTo>
                  <a:pt x="222" y="2"/>
                </a:lnTo>
                <a:lnTo>
                  <a:pt x="201" y="0"/>
                </a:lnTo>
                <a:lnTo>
                  <a:pt x="201" y="0"/>
                </a:lnTo>
                <a:lnTo>
                  <a:pt x="180" y="2"/>
                </a:lnTo>
                <a:lnTo>
                  <a:pt x="161" y="4"/>
                </a:lnTo>
                <a:lnTo>
                  <a:pt x="140" y="10"/>
                </a:lnTo>
                <a:lnTo>
                  <a:pt x="123" y="17"/>
                </a:lnTo>
                <a:lnTo>
                  <a:pt x="104" y="25"/>
                </a:lnTo>
                <a:lnTo>
                  <a:pt x="89" y="34"/>
                </a:lnTo>
                <a:lnTo>
                  <a:pt x="72" y="48"/>
                </a:lnTo>
                <a:lnTo>
                  <a:pt x="59" y="59"/>
                </a:lnTo>
                <a:lnTo>
                  <a:pt x="45" y="74"/>
                </a:lnTo>
                <a:lnTo>
                  <a:pt x="34" y="89"/>
                </a:lnTo>
                <a:lnTo>
                  <a:pt x="24" y="107"/>
                </a:lnTo>
                <a:lnTo>
                  <a:pt x="15" y="124"/>
                </a:lnTo>
                <a:lnTo>
                  <a:pt x="7" y="143"/>
                </a:lnTo>
                <a:lnTo>
                  <a:pt x="3" y="162"/>
                </a:lnTo>
                <a:lnTo>
                  <a:pt x="0" y="183"/>
                </a:lnTo>
                <a:lnTo>
                  <a:pt x="0" y="204"/>
                </a:lnTo>
                <a:lnTo>
                  <a:pt x="201" y="204"/>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p:cNvSpPr>
            <a:spLocks/>
          </p:cNvSpPr>
          <p:nvPr/>
        </p:nvSpPr>
        <p:spPr bwMode="auto">
          <a:xfrm>
            <a:off x="3814763" y="1897063"/>
            <a:ext cx="506413" cy="511175"/>
          </a:xfrm>
          <a:custGeom>
            <a:avLst/>
            <a:gdLst>
              <a:gd name="T0" fmla="*/ 0 w 319"/>
              <a:gd name="T1" fmla="*/ 162 h 322"/>
              <a:gd name="T2" fmla="*/ 2 w 319"/>
              <a:gd name="T3" fmla="*/ 177 h 322"/>
              <a:gd name="T4" fmla="*/ 7 w 319"/>
              <a:gd name="T5" fmla="*/ 209 h 322"/>
              <a:gd name="T6" fmla="*/ 19 w 319"/>
              <a:gd name="T7" fmla="*/ 238 h 322"/>
              <a:gd name="T8" fmla="*/ 36 w 319"/>
              <a:gd name="T9" fmla="*/ 263 h 322"/>
              <a:gd name="T10" fmla="*/ 59 w 319"/>
              <a:gd name="T11" fmla="*/ 284 h 322"/>
              <a:gd name="T12" fmla="*/ 83 w 319"/>
              <a:gd name="T13" fmla="*/ 301 h 322"/>
              <a:gd name="T14" fmla="*/ 112 w 319"/>
              <a:gd name="T15" fmla="*/ 314 h 322"/>
              <a:gd name="T16" fmla="*/ 144 w 319"/>
              <a:gd name="T17" fmla="*/ 320 h 322"/>
              <a:gd name="T18" fmla="*/ 160 w 319"/>
              <a:gd name="T19" fmla="*/ 322 h 322"/>
              <a:gd name="T20" fmla="*/ 192 w 319"/>
              <a:gd name="T21" fmla="*/ 318 h 322"/>
              <a:gd name="T22" fmla="*/ 222 w 319"/>
              <a:gd name="T23" fmla="*/ 308 h 322"/>
              <a:gd name="T24" fmla="*/ 249 w 319"/>
              <a:gd name="T25" fmla="*/ 293 h 322"/>
              <a:gd name="T26" fmla="*/ 274 w 319"/>
              <a:gd name="T27" fmla="*/ 274 h 322"/>
              <a:gd name="T28" fmla="*/ 293 w 319"/>
              <a:gd name="T29" fmla="*/ 251 h 322"/>
              <a:gd name="T30" fmla="*/ 308 w 319"/>
              <a:gd name="T31" fmla="*/ 223 h 322"/>
              <a:gd name="T32" fmla="*/ 318 w 319"/>
              <a:gd name="T33" fmla="*/ 194 h 322"/>
              <a:gd name="T34" fmla="*/ 319 w 319"/>
              <a:gd name="T35" fmla="*/ 162 h 322"/>
              <a:gd name="T36" fmla="*/ 319 w 319"/>
              <a:gd name="T37" fmla="*/ 145 h 322"/>
              <a:gd name="T38" fmla="*/ 314 w 319"/>
              <a:gd name="T39" fmla="*/ 114 h 322"/>
              <a:gd name="T40" fmla="*/ 300 w 319"/>
              <a:gd name="T41" fmla="*/ 86 h 322"/>
              <a:gd name="T42" fmla="*/ 283 w 319"/>
              <a:gd name="T43" fmla="*/ 59 h 322"/>
              <a:gd name="T44" fmla="*/ 262 w 319"/>
              <a:gd name="T45" fmla="*/ 38 h 322"/>
              <a:gd name="T46" fmla="*/ 238 w 319"/>
              <a:gd name="T47" fmla="*/ 21 h 322"/>
              <a:gd name="T48" fmla="*/ 207 w 319"/>
              <a:gd name="T49" fmla="*/ 8 h 322"/>
              <a:gd name="T50" fmla="*/ 177 w 319"/>
              <a:gd name="T51" fmla="*/ 2 h 322"/>
              <a:gd name="T52" fmla="*/ 160 w 319"/>
              <a:gd name="T53" fmla="*/ 0 h 322"/>
              <a:gd name="T54" fmla="*/ 127 w 319"/>
              <a:gd name="T55" fmla="*/ 4 h 322"/>
              <a:gd name="T56" fmla="*/ 99 w 319"/>
              <a:gd name="T57" fmla="*/ 13 h 322"/>
              <a:gd name="T58" fmla="*/ 70 w 319"/>
              <a:gd name="T59" fmla="*/ 29 h 322"/>
              <a:gd name="T60" fmla="*/ 47 w 319"/>
              <a:gd name="T61" fmla="*/ 48 h 322"/>
              <a:gd name="T62" fmla="*/ 28 w 319"/>
              <a:gd name="T63" fmla="*/ 70 h 322"/>
              <a:gd name="T64" fmla="*/ 13 w 319"/>
              <a:gd name="T65" fmla="*/ 99 h 322"/>
              <a:gd name="T66" fmla="*/ 4 w 319"/>
              <a:gd name="T67" fmla="*/ 130 h 322"/>
              <a:gd name="T68" fmla="*/ 0 w 319"/>
              <a:gd name="T69" fmla="*/ 16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9" h="322">
                <a:moveTo>
                  <a:pt x="160" y="162"/>
                </a:moveTo>
                <a:lnTo>
                  <a:pt x="0" y="162"/>
                </a:lnTo>
                <a:lnTo>
                  <a:pt x="0" y="162"/>
                </a:lnTo>
                <a:lnTo>
                  <a:pt x="2" y="177"/>
                </a:lnTo>
                <a:lnTo>
                  <a:pt x="4" y="192"/>
                </a:lnTo>
                <a:lnTo>
                  <a:pt x="7" y="209"/>
                </a:lnTo>
                <a:lnTo>
                  <a:pt x="13" y="223"/>
                </a:lnTo>
                <a:lnTo>
                  <a:pt x="19" y="238"/>
                </a:lnTo>
                <a:lnTo>
                  <a:pt x="28" y="251"/>
                </a:lnTo>
                <a:lnTo>
                  <a:pt x="36" y="263"/>
                </a:lnTo>
                <a:lnTo>
                  <a:pt x="47" y="274"/>
                </a:lnTo>
                <a:lnTo>
                  <a:pt x="59" y="284"/>
                </a:lnTo>
                <a:lnTo>
                  <a:pt x="70" y="293"/>
                </a:lnTo>
                <a:lnTo>
                  <a:pt x="83" y="301"/>
                </a:lnTo>
                <a:lnTo>
                  <a:pt x="99" y="308"/>
                </a:lnTo>
                <a:lnTo>
                  <a:pt x="112" y="314"/>
                </a:lnTo>
                <a:lnTo>
                  <a:pt x="127" y="318"/>
                </a:lnTo>
                <a:lnTo>
                  <a:pt x="144" y="320"/>
                </a:lnTo>
                <a:lnTo>
                  <a:pt x="160" y="322"/>
                </a:lnTo>
                <a:lnTo>
                  <a:pt x="160" y="322"/>
                </a:lnTo>
                <a:lnTo>
                  <a:pt x="177" y="320"/>
                </a:lnTo>
                <a:lnTo>
                  <a:pt x="192" y="318"/>
                </a:lnTo>
                <a:lnTo>
                  <a:pt x="207" y="314"/>
                </a:lnTo>
                <a:lnTo>
                  <a:pt x="222" y="308"/>
                </a:lnTo>
                <a:lnTo>
                  <a:pt x="236" y="303"/>
                </a:lnTo>
                <a:lnTo>
                  <a:pt x="249" y="293"/>
                </a:lnTo>
                <a:lnTo>
                  <a:pt x="262" y="284"/>
                </a:lnTo>
                <a:lnTo>
                  <a:pt x="274" y="274"/>
                </a:lnTo>
                <a:lnTo>
                  <a:pt x="283" y="263"/>
                </a:lnTo>
                <a:lnTo>
                  <a:pt x="293" y="251"/>
                </a:lnTo>
                <a:lnTo>
                  <a:pt x="300" y="238"/>
                </a:lnTo>
                <a:lnTo>
                  <a:pt x="308" y="223"/>
                </a:lnTo>
                <a:lnTo>
                  <a:pt x="314" y="209"/>
                </a:lnTo>
                <a:lnTo>
                  <a:pt x="318" y="194"/>
                </a:lnTo>
                <a:lnTo>
                  <a:pt x="319" y="177"/>
                </a:lnTo>
                <a:lnTo>
                  <a:pt x="319" y="162"/>
                </a:lnTo>
                <a:lnTo>
                  <a:pt x="319" y="162"/>
                </a:lnTo>
                <a:lnTo>
                  <a:pt x="319" y="145"/>
                </a:lnTo>
                <a:lnTo>
                  <a:pt x="318" y="130"/>
                </a:lnTo>
                <a:lnTo>
                  <a:pt x="314" y="114"/>
                </a:lnTo>
                <a:lnTo>
                  <a:pt x="308" y="99"/>
                </a:lnTo>
                <a:lnTo>
                  <a:pt x="300" y="86"/>
                </a:lnTo>
                <a:lnTo>
                  <a:pt x="293" y="72"/>
                </a:lnTo>
                <a:lnTo>
                  <a:pt x="283" y="59"/>
                </a:lnTo>
                <a:lnTo>
                  <a:pt x="274" y="48"/>
                </a:lnTo>
                <a:lnTo>
                  <a:pt x="262" y="38"/>
                </a:lnTo>
                <a:lnTo>
                  <a:pt x="249" y="29"/>
                </a:lnTo>
                <a:lnTo>
                  <a:pt x="238" y="21"/>
                </a:lnTo>
                <a:lnTo>
                  <a:pt x="222" y="13"/>
                </a:lnTo>
                <a:lnTo>
                  <a:pt x="207" y="8"/>
                </a:lnTo>
                <a:lnTo>
                  <a:pt x="192" y="4"/>
                </a:lnTo>
                <a:lnTo>
                  <a:pt x="177" y="2"/>
                </a:lnTo>
                <a:lnTo>
                  <a:pt x="160" y="0"/>
                </a:lnTo>
                <a:lnTo>
                  <a:pt x="160" y="0"/>
                </a:lnTo>
                <a:lnTo>
                  <a:pt x="144" y="2"/>
                </a:lnTo>
                <a:lnTo>
                  <a:pt x="127" y="4"/>
                </a:lnTo>
                <a:lnTo>
                  <a:pt x="112" y="8"/>
                </a:lnTo>
                <a:lnTo>
                  <a:pt x="99" y="13"/>
                </a:lnTo>
                <a:lnTo>
                  <a:pt x="83" y="21"/>
                </a:lnTo>
                <a:lnTo>
                  <a:pt x="70" y="29"/>
                </a:lnTo>
                <a:lnTo>
                  <a:pt x="59" y="38"/>
                </a:lnTo>
                <a:lnTo>
                  <a:pt x="47" y="48"/>
                </a:lnTo>
                <a:lnTo>
                  <a:pt x="38" y="59"/>
                </a:lnTo>
                <a:lnTo>
                  <a:pt x="28" y="70"/>
                </a:lnTo>
                <a:lnTo>
                  <a:pt x="19" y="84"/>
                </a:lnTo>
                <a:lnTo>
                  <a:pt x="13" y="99"/>
                </a:lnTo>
                <a:lnTo>
                  <a:pt x="7" y="112"/>
                </a:lnTo>
                <a:lnTo>
                  <a:pt x="4" y="130"/>
                </a:lnTo>
                <a:lnTo>
                  <a:pt x="2" y="145"/>
                </a:lnTo>
                <a:lnTo>
                  <a:pt x="0" y="162"/>
                </a:lnTo>
                <a:lnTo>
                  <a:pt x="160" y="162"/>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7"/>
          <p:cNvSpPr>
            <a:spLocks/>
          </p:cNvSpPr>
          <p:nvPr/>
        </p:nvSpPr>
        <p:spPr bwMode="auto">
          <a:xfrm>
            <a:off x="3949700" y="2943225"/>
            <a:ext cx="196850" cy="195263"/>
          </a:xfrm>
          <a:custGeom>
            <a:avLst/>
            <a:gdLst>
              <a:gd name="T0" fmla="*/ 61 w 124"/>
              <a:gd name="T1" fmla="*/ 63 h 123"/>
              <a:gd name="T2" fmla="*/ 0 w 124"/>
              <a:gd name="T3" fmla="*/ 63 h 123"/>
              <a:gd name="T4" fmla="*/ 0 w 124"/>
              <a:gd name="T5" fmla="*/ 63 h 123"/>
              <a:gd name="T6" fmla="*/ 0 w 124"/>
              <a:gd name="T7" fmla="*/ 74 h 123"/>
              <a:gd name="T8" fmla="*/ 4 w 124"/>
              <a:gd name="T9" fmla="*/ 85 h 123"/>
              <a:gd name="T10" fmla="*/ 10 w 124"/>
              <a:gd name="T11" fmla="*/ 97 h 123"/>
              <a:gd name="T12" fmla="*/ 17 w 124"/>
              <a:gd name="T13" fmla="*/ 106 h 123"/>
              <a:gd name="T14" fmla="*/ 27 w 124"/>
              <a:gd name="T15" fmla="*/ 114 h 123"/>
              <a:gd name="T16" fmla="*/ 38 w 124"/>
              <a:gd name="T17" fmla="*/ 120 h 123"/>
              <a:gd name="T18" fmla="*/ 50 w 124"/>
              <a:gd name="T19" fmla="*/ 123 h 123"/>
              <a:gd name="T20" fmla="*/ 61 w 124"/>
              <a:gd name="T21" fmla="*/ 123 h 123"/>
              <a:gd name="T22" fmla="*/ 61 w 124"/>
              <a:gd name="T23" fmla="*/ 123 h 123"/>
              <a:gd name="T24" fmla="*/ 75 w 124"/>
              <a:gd name="T25" fmla="*/ 123 h 123"/>
              <a:gd name="T26" fmla="*/ 86 w 124"/>
              <a:gd name="T27" fmla="*/ 120 h 123"/>
              <a:gd name="T28" fmla="*/ 96 w 124"/>
              <a:gd name="T29" fmla="*/ 114 h 123"/>
              <a:gd name="T30" fmla="*/ 105 w 124"/>
              <a:gd name="T31" fmla="*/ 106 h 123"/>
              <a:gd name="T32" fmla="*/ 113 w 124"/>
              <a:gd name="T33" fmla="*/ 97 h 123"/>
              <a:gd name="T34" fmla="*/ 118 w 124"/>
              <a:gd name="T35" fmla="*/ 85 h 123"/>
              <a:gd name="T36" fmla="*/ 122 w 124"/>
              <a:gd name="T37" fmla="*/ 74 h 123"/>
              <a:gd name="T38" fmla="*/ 124 w 124"/>
              <a:gd name="T39" fmla="*/ 63 h 123"/>
              <a:gd name="T40" fmla="*/ 124 w 124"/>
              <a:gd name="T41" fmla="*/ 63 h 123"/>
              <a:gd name="T42" fmla="*/ 122 w 124"/>
              <a:gd name="T43" fmla="*/ 49 h 123"/>
              <a:gd name="T44" fmla="*/ 118 w 124"/>
              <a:gd name="T45" fmla="*/ 38 h 123"/>
              <a:gd name="T46" fmla="*/ 113 w 124"/>
              <a:gd name="T47" fmla="*/ 28 h 123"/>
              <a:gd name="T48" fmla="*/ 105 w 124"/>
              <a:gd name="T49" fmla="*/ 19 h 123"/>
              <a:gd name="T50" fmla="*/ 96 w 124"/>
              <a:gd name="T51" fmla="*/ 11 h 123"/>
              <a:gd name="T52" fmla="*/ 86 w 124"/>
              <a:gd name="T53" fmla="*/ 5 h 123"/>
              <a:gd name="T54" fmla="*/ 75 w 124"/>
              <a:gd name="T55" fmla="*/ 2 h 123"/>
              <a:gd name="T56" fmla="*/ 61 w 124"/>
              <a:gd name="T57" fmla="*/ 0 h 123"/>
              <a:gd name="T58" fmla="*/ 61 w 124"/>
              <a:gd name="T59" fmla="*/ 0 h 123"/>
              <a:gd name="T60" fmla="*/ 50 w 124"/>
              <a:gd name="T61" fmla="*/ 2 h 123"/>
              <a:gd name="T62" fmla="*/ 38 w 124"/>
              <a:gd name="T63" fmla="*/ 5 h 123"/>
              <a:gd name="T64" fmla="*/ 27 w 124"/>
              <a:gd name="T65" fmla="*/ 11 h 123"/>
              <a:gd name="T66" fmla="*/ 17 w 124"/>
              <a:gd name="T67" fmla="*/ 19 h 123"/>
              <a:gd name="T68" fmla="*/ 10 w 124"/>
              <a:gd name="T69" fmla="*/ 26 h 123"/>
              <a:gd name="T70" fmla="*/ 4 w 124"/>
              <a:gd name="T71" fmla="*/ 38 h 123"/>
              <a:gd name="T72" fmla="*/ 0 w 124"/>
              <a:gd name="T73" fmla="*/ 49 h 123"/>
              <a:gd name="T74" fmla="*/ 0 w 124"/>
              <a:gd name="T75" fmla="*/ 63 h 123"/>
              <a:gd name="T76" fmla="*/ 61 w 124"/>
              <a:gd name="T77" fmla="*/ 6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 h="123">
                <a:moveTo>
                  <a:pt x="61" y="63"/>
                </a:moveTo>
                <a:lnTo>
                  <a:pt x="0" y="63"/>
                </a:lnTo>
                <a:lnTo>
                  <a:pt x="0" y="63"/>
                </a:lnTo>
                <a:lnTo>
                  <a:pt x="0" y="74"/>
                </a:lnTo>
                <a:lnTo>
                  <a:pt x="4" y="85"/>
                </a:lnTo>
                <a:lnTo>
                  <a:pt x="10" y="97"/>
                </a:lnTo>
                <a:lnTo>
                  <a:pt x="17" y="106"/>
                </a:lnTo>
                <a:lnTo>
                  <a:pt x="27" y="114"/>
                </a:lnTo>
                <a:lnTo>
                  <a:pt x="38" y="120"/>
                </a:lnTo>
                <a:lnTo>
                  <a:pt x="50" y="123"/>
                </a:lnTo>
                <a:lnTo>
                  <a:pt x="61" y="123"/>
                </a:lnTo>
                <a:lnTo>
                  <a:pt x="61" y="123"/>
                </a:lnTo>
                <a:lnTo>
                  <a:pt x="75" y="123"/>
                </a:lnTo>
                <a:lnTo>
                  <a:pt x="86" y="120"/>
                </a:lnTo>
                <a:lnTo>
                  <a:pt x="96" y="114"/>
                </a:lnTo>
                <a:lnTo>
                  <a:pt x="105" y="106"/>
                </a:lnTo>
                <a:lnTo>
                  <a:pt x="113" y="97"/>
                </a:lnTo>
                <a:lnTo>
                  <a:pt x="118" y="85"/>
                </a:lnTo>
                <a:lnTo>
                  <a:pt x="122" y="74"/>
                </a:lnTo>
                <a:lnTo>
                  <a:pt x="124" y="63"/>
                </a:lnTo>
                <a:lnTo>
                  <a:pt x="124" y="63"/>
                </a:lnTo>
                <a:lnTo>
                  <a:pt x="122" y="49"/>
                </a:lnTo>
                <a:lnTo>
                  <a:pt x="118" y="38"/>
                </a:lnTo>
                <a:lnTo>
                  <a:pt x="113" y="28"/>
                </a:lnTo>
                <a:lnTo>
                  <a:pt x="105" y="19"/>
                </a:lnTo>
                <a:lnTo>
                  <a:pt x="96" y="11"/>
                </a:lnTo>
                <a:lnTo>
                  <a:pt x="86" y="5"/>
                </a:lnTo>
                <a:lnTo>
                  <a:pt x="75" y="2"/>
                </a:lnTo>
                <a:lnTo>
                  <a:pt x="61" y="0"/>
                </a:lnTo>
                <a:lnTo>
                  <a:pt x="61" y="0"/>
                </a:lnTo>
                <a:lnTo>
                  <a:pt x="50" y="2"/>
                </a:lnTo>
                <a:lnTo>
                  <a:pt x="38" y="5"/>
                </a:lnTo>
                <a:lnTo>
                  <a:pt x="27" y="11"/>
                </a:lnTo>
                <a:lnTo>
                  <a:pt x="17" y="19"/>
                </a:lnTo>
                <a:lnTo>
                  <a:pt x="10" y="26"/>
                </a:lnTo>
                <a:lnTo>
                  <a:pt x="4" y="38"/>
                </a:lnTo>
                <a:lnTo>
                  <a:pt x="0" y="49"/>
                </a:lnTo>
                <a:lnTo>
                  <a:pt x="0" y="63"/>
                </a:lnTo>
                <a:lnTo>
                  <a:pt x="61" y="63"/>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8"/>
          <p:cNvSpPr>
            <a:spLocks/>
          </p:cNvSpPr>
          <p:nvPr/>
        </p:nvSpPr>
        <p:spPr bwMode="auto">
          <a:xfrm>
            <a:off x="3944938" y="2936875"/>
            <a:ext cx="207963" cy="207963"/>
          </a:xfrm>
          <a:custGeom>
            <a:avLst/>
            <a:gdLst>
              <a:gd name="T0" fmla="*/ 64 w 131"/>
              <a:gd name="T1" fmla="*/ 63 h 131"/>
              <a:gd name="T2" fmla="*/ 0 w 131"/>
              <a:gd name="T3" fmla="*/ 67 h 131"/>
              <a:gd name="T4" fmla="*/ 0 w 131"/>
              <a:gd name="T5" fmla="*/ 67 h 131"/>
              <a:gd name="T6" fmla="*/ 3 w 131"/>
              <a:gd name="T7" fmla="*/ 91 h 131"/>
              <a:gd name="T8" fmla="*/ 19 w 131"/>
              <a:gd name="T9" fmla="*/ 112 h 131"/>
              <a:gd name="T10" fmla="*/ 40 w 131"/>
              <a:gd name="T11" fmla="*/ 127 h 131"/>
              <a:gd name="T12" fmla="*/ 64 w 131"/>
              <a:gd name="T13" fmla="*/ 131 h 131"/>
              <a:gd name="T14" fmla="*/ 64 w 131"/>
              <a:gd name="T15" fmla="*/ 131 h 131"/>
              <a:gd name="T16" fmla="*/ 91 w 131"/>
              <a:gd name="T17" fmla="*/ 127 h 131"/>
              <a:gd name="T18" fmla="*/ 112 w 131"/>
              <a:gd name="T19" fmla="*/ 112 h 131"/>
              <a:gd name="T20" fmla="*/ 125 w 131"/>
              <a:gd name="T21" fmla="*/ 91 h 131"/>
              <a:gd name="T22" fmla="*/ 131 w 131"/>
              <a:gd name="T23" fmla="*/ 67 h 131"/>
              <a:gd name="T24" fmla="*/ 131 w 131"/>
              <a:gd name="T25" fmla="*/ 67 h 131"/>
              <a:gd name="T26" fmla="*/ 125 w 131"/>
              <a:gd name="T27" fmla="*/ 40 h 131"/>
              <a:gd name="T28" fmla="*/ 112 w 131"/>
              <a:gd name="T29" fmla="*/ 19 h 131"/>
              <a:gd name="T30" fmla="*/ 91 w 131"/>
              <a:gd name="T31" fmla="*/ 6 h 131"/>
              <a:gd name="T32" fmla="*/ 64 w 131"/>
              <a:gd name="T33" fmla="*/ 0 h 131"/>
              <a:gd name="T34" fmla="*/ 64 w 131"/>
              <a:gd name="T35" fmla="*/ 0 h 131"/>
              <a:gd name="T36" fmla="*/ 51 w 131"/>
              <a:gd name="T37" fmla="*/ 2 h 131"/>
              <a:gd name="T38" fmla="*/ 28 w 131"/>
              <a:gd name="T39" fmla="*/ 11 h 131"/>
              <a:gd name="T40" fmla="*/ 11 w 131"/>
              <a:gd name="T41" fmla="*/ 28 h 131"/>
              <a:gd name="T42" fmla="*/ 0 w 131"/>
              <a:gd name="T43" fmla="*/ 53 h 131"/>
              <a:gd name="T44" fmla="*/ 0 w 131"/>
              <a:gd name="T45" fmla="*/ 70 h 131"/>
              <a:gd name="T46" fmla="*/ 64 w 131"/>
              <a:gd name="T47" fmla="*/ 63 h 131"/>
              <a:gd name="T48" fmla="*/ 64 w 131"/>
              <a:gd name="T49" fmla="*/ 63 h 131"/>
              <a:gd name="T50" fmla="*/ 3 w 131"/>
              <a:gd name="T51" fmla="*/ 67 h 131"/>
              <a:gd name="T52" fmla="*/ 7 w 131"/>
              <a:gd name="T53" fmla="*/ 67 h 131"/>
              <a:gd name="T54" fmla="*/ 11 w 131"/>
              <a:gd name="T55" fmla="*/ 44 h 131"/>
              <a:gd name="T56" fmla="*/ 24 w 131"/>
              <a:gd name="T57" fmla="*/ 25 h 131"/>
              <a:gd name="T58" fmla="*/ 41 w 131"/>
              <a:gd name="T59" fmla="*/ 13 h 131"/>
              <a:gd name="T60" fmla="*/ 64 w 131"/>
              <a:gd name="T61" fmla="*/ 8 h 131"/>
              <a:gd name="T62" fmla="*/ 64 w 131"/>
              <a:gd name="T63" fmla="*/ 8 h 131"/>
              <a:gd name="T64" fmla="*/ 64 w 131"/>
              <a:gd name="T65" fmla="*/ 8 h 131"/>
              <a:gd name="T66" fmla="*/ 64 w 131"/>
              <a:gd name="T67" fmla="*/ 8 h 131"/>
              <a:gd name="T68" fmla="*/ 64 w 131"/>
              <a:gd name="T69" fmla="*/ 8 h 131"/>
              <a:gd name="T70" fmla="*/ 87 w 131"/>
              <a:gd name="T71" fmla="*/ 13 h 131"/>
              <a:gd name="T72" fmla="*/ 106 w 131"/>
              <a:gd name="T73" fmla="*/ 25 h 131"/>
              <a:gd name="T74" fmla="*/ 118 w 131"/>
              <a:gd name="T75" fmla="*/ 44 h 131"/>
              <a:gd name="T76" fmla="*/ 123 w 131"/>
              <a:gd name="T77" fmla="*/ 67 h 131"/>
              <a:gd name="T78" fmla="*/ 123 w 131"/>
              <a:gd name="T79" fmla="*/ 67 h 131"/>
              <a:gd name="T80" fmla="*/ 118 w 131"/>
              <a:gd name="T81" fmla="*/ 89 h 131"/>
              <a:gd name="T82" fmla="*/ 106 w 131"/>
              <a:gd name="T83" fmla="*/ 107 h 131"/>
              <a:gd name="T84" fmla="*/ 87 w 131"/>
              <a:gd name="T85" fmla="*/ 120 h 131"/>
              <a:gd name="T86" fmla="*/ 64 w 131"/>
              <a:gd name="T87" fmla="*/ 124 h 131"/>
              <a:gd name="T88" fmla="*/ 64 w 131"/>
              <a:gd name="T89" fmla="*/ 124 h 131"/>
              <a:gd name="T90" fmla="*/ 41 w 131"/>
              <a:gd name="T91" fmla="*/ 120 h 131"/>
              <a:gd name="T92" fmla="*/ 24 w 131"/>
              <a:gd name="T93" fmla="*/ 107 h 131"/>
              <a:gd name="T94" fmla="*/ 11 w 131"/>
              <a:gd name="T95" fmla="*/ 89 h 131"/>
              <a:gd name="T96" fmla="*/ 7 w 131"/>
              <a:gd name="T97" fmla="*/ 67 h 131"/>
              <a:gd name="T98" fmla="*/ 7 w 131"/>
              <a:gd name="T99" fmla="*/ 67 h 131"/>
              <a:gd name="T100" fmla="*/ 3 w 131"/>
              <a:gd name="T101" fmla="*/ 67 h 131"/>
              <a:gd name="T102" fmla="*/ 3 w 131"/>
              <a:gd name="T103" fmla="*/ 67 h 131"/>
              <a:gd name="T104" fmla="*/ 64 w 131"/>
              <a:gd name="T105" fmla="*/ 70 h 131"/>
              <a:gd name="T106" fmla="*/ 64 w 131"/>
              <a:gd name="T107" fmla="*/ 67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131">
                <a:moveTo>
                  <a:pt x="64" y="67"/>
                </a:moveTo>
                <a:lnTo>
                  <a:pt x="64" y="63"/>
                </a:lnTo>
                <a:lnTo>
                  <a:pt x="0" y="63"/>
                </a:lnTo>
                <a:lnTo>
                  <a:pt x="0" y="67"/>
                </a:lnTo>
                <a:lnTo>
                  <a:pt x="0" y="67"/>
                </a:lnTo>
                <a:lnTo>
                  <a:pt x="0" y="67"/>
                </a:lnTo>
                <a:lnTo>
                  <a:pt x="0" y="80"/>
                </a:lnTo>
                <a:lnTo>
                  <a:pt x="3" y="91"/>
                </a:lnTo>
                <a:lnTo>
                  <a:pt x="11" y="103"/>
                </a:lnTo>
                <a:lnTo>
                  <a:pt x="19" y="112"/>
                </a:lnTo>
                <a:lnTo>
                  <a:pt x="28" y="120"/>
                </a:lnTo>
                <a:lnTo>
                  <a:pt x="40" y="127"/>
                </a:lnTo>
                <a:lnTo>
                  <a:pt x="51" y="131"/>
                </a:lnTo>
                <a:lnTo>
                  <a:pt x="64" y="131"/>
                </a:lnTo>
                <a:lnTo>
                  <a:pt x="64" y="131"/>
                </a:lnTo>
                <a:lnTo>
                  <a:pt x="64" y="131"/>
                </a:lnTo>
                <a:lnTo>
                  <a:pt x="78" y="131"/>
                </a:lnTo>
                <a:lnTo>
                  <a:pt x="91" y="127"/>
                </a:lnTo>
                <a:lnTo>
                  <a:pt x="102" y="120"/>
                </a:lnTo>
                <a:lnTo>
                  <a:pt x="112" y="112"/>
                </a:lnTo>
                <a:lnTo>
                  <a:pt x="119" y="103"/>
                </a:lnTo>
                <a:lnTo>
                  <a:pt x="125" y="91"/>
                </a:lnTo>
                <a:lnTo>
                  <a:pt x="129" y="80"/>
                </a:lnTo>
                <a:lnTo>
                  <a:pt x="131" y="67"/>
                </a:lnTo>
                <a:lnTo>
                  <a:pt x="131" y="67"/>
                </a:lnTo>
                <a:lnTo>
                  <a:pt x="131" y="67"/>
                </a:lnTo>
                <a:lnTo>
                  <a:pt x="129" y="53"/>
                </a:lnTo>
                <a:lnTo>
                  <a:pt x="125" y="40"/>
                </a:lnTo>
                <a:lnTo>
                  <a:pt x="119" y="28"/>
                </a:lnTo>
                <a:lnTo>
                  <a:pt x="112" y="19"/>
                </a:lnTo>
                <a:lnTo>
                  <a:pt x="102" y="11"/>
                </a:lnTo>
                <a:lnTo>
                  <a:pt x="91" y="6"/>
                </a:lnTo>
                <a:lnTo>
                  <a:pt x="78" y="2"/>
                </a:lnTo>
                <a:lnTo>
                  <a:pt x="64" y="0"/>
                </a:lnTo>
                <a:lnTo>
                  <a:pt x="64" y="0"/>
                </a:lnTo>
                <a:lnTo>
                  <a:pt x="64" y="0"/>
                </a:lnTo>
                <a:lnTo>
                  <a:pt x="64" y="0"/>
                </a:lnTo>
                <a:lnTo>
                  <a:pt x="51" y="2"/>
                </a:lnTo>
                <a:lnTo>
                  <a:pt x="40" y="6"/>
                </a:lnTo>
                <a:lnTo>
                  <a:pt x="28" y="11"/>
                </a:lnTo>
                <a:lnTo>
                  <a:pt x="19" y="19"/>
                </a:lnTo>
                <a:lnTo>
                  <a:pt x="11" y="28"/>
                </a:lnTo>
                <a:lnTo>
                  <a:pt x="3" y="40"/>
                </a:lnTo>
                <a:lnTo>
                  <a:pt x="0" y="53"/>
                </a:lnTo>
                <a:lnTo>
                  <a:pt x="0" y="67"/>
                </a:lnTo>
                <a:lnTo>
                  <a:pt x="0" y="70"/>
                </a:lnTo>
                <a:lnTo>
                  <a:pt x="64" y="70"/>
                </a:lnTo>
                <a:lnTo>
                  <a:pt x="64" y="63"/>
                </a:lnTo>
                <a:lnTo>
                  <a:pt x="64" y="67"/>
                </a:lnTo>
                <a:lnTo>
                  <a:pt x="64" y="63"/>
                </a:lnTo>
                <a:lnTo>
                  <a:pt x="3" y="63"/>
                </a:lnTo>
                <a:lnTo>
                  <a:pt x="3" y="67"/>
                </a:lnTo>
                <a:lnTo>
                  <a:pt x="7" y="67"/>
                </a:lnTo>
                <a:lnTo>
                  <a:pt x="7" y="67"/>
                </a:lnTo>
                <a:lnTo>
                  <a:pt x="7" y="55"/>
                </a:lnTo>
                <a:lnTo>
                  <a:pt x="11" y="44"/>
                </a:lnTo>
                <a:lnTo>
                  <a:pt x="17" y="34"/>
                </a:lnTo>
                <a:lnTo>
                  <a:pt x="24" y="25"/>
                </a:lnTo>
                <a:lnTo>
                  <a:pt x="32" y="17"/>
                </a:lnTo>
                <a:lnTo>
                  <a:pt x="41" y="13"/>
                </a:lnTo>
                <a:lnTo>
                  <a:pt x="53" y="9"/>
                </a:lnTo>
                <a:lnTo>
                  <a:pt x="64" y="8"/>
                </a:lnTo>
                <a:lnTo>
                  <a:pt x="64" y="8"/>
                </a:lnTo>
                <a:lnTo>
                  <a:pt x="64" y="8"/>
                </a:lnTo>
                <a:lnTo>
                  <a:pt x="64" y="8"/>
                </a:lnTo>
                <a:lnTo>
                  <a:pt x="64" y="8"/>
                </a:lnTo>
                <a:lnTo>
                  <a:pt x="64" y="8"/>
                </a:lnTo>
                <a:lnTo>
                  <a:pt x="64" y="8"/>
                </a:lnTo>
                <a:lnTo>
                  <a:pt x="64" y="8"/>
                </a:lnTo>
                <a:lnTo>
                  <a:pt x="64" y="8"/>
                </a:lnTo>
                <a:lnTo>
                  <a:pt x="76" y="9"/>
                </a:lnTo>
                <a:lnTo>
                  <a:pt x="87" y="13"/>
                </a:lnTo>
                <a:lnTo>
                  <a:pt x="97" y="17"/>
                </a:lnTo>
                <a:lnTo>
                  <a:pt x="106" y="25"/>
                </a:lnTo>
                <a:lnTo>
                  <a:pt x="114" y="34"/>
                </a:lnTo>
                <a:lnTo>
                  <a:pt x="118" y="44"/>
                </a:lnTo>
                <a:lnTo>
                  <a:pt x="121" y="55"/>
                </a:lnTo>
                <a:lnTo>
                  <a:pt x="123" y="67"/>
                </a:lnTo>
                <a:lnTo>
                  <a:pt x="123" y="67"/>
                </a:lnTo>
                <a:lnTo>
                  <a:pt x="123" y="67"/>
                </a:lnTo>
                <a:lnTo>
                  <a:pt x="121" y="78"/>
                </a:lnTo>
                <a:lnTo>
                  <a:pt x="118" y="89"/>
                </a:lnTo>
                <a:lnTo>
                  <a:pt x="114" y="99"/>
                </a:lnTo>
                <a:lnTo>
                  <a:pt x="106" y="107"/>
                </a:lnTo>
                <a:lnTo>
                  <a:pt x="97" y="114"/>
                </a:lnTo>
                <a:lnTo>
                  <a:pt x="87" y="120"/>
                </a:lnTo>
                <a:lnTo>
                  <a:pt x="76" y="124"/>
                </a:lnTo>
                <a:lnTo>
                  <a:pt x="64" y="124"/>
                </a:lnTo>
                <a:lnTo>
                  <a:pt x="64" y="124"/>
                </a:lnTo>
                <a:lnTo>
                  <a:pt x="64" y="124"/>
                </a:lnTo>
                <a:lnTo>
                  <a:pt x="53" y="124"/>
                </a:lnTo>
                <a:lnTo>
                  <a:pt x="41" y="120"/>
                </a:lnTo>
                <a:lnTo>
                  <a:pt x="32" y="114"/>
                </a:lnTo>
                <a:lnTo>
                  <a:pt x="24" y="107"/>
                </a:lnTo>
                <a:lnTo>
                  <a:pt x="17" y="99"/>
                </a:lnTo>
                <a:lnTo>
                  <a:pt x="11" y="89"/>
                </a:lnTo>
                <a:lnTo>
                  <a:pt x="7" y="78"/>
                </a:lnTo>
                <a:lnTo>
                  <a:pt x="7" y="67"/>
                </a:lnTo>
                <a:lnTo>
                  <a:pt x="3" y="67"/>
                </a:lnTo>
                <a:lnTo>
                  <a:pt x="7" y="67"/>
                </a:lnTo>
                <a:lnTo>
                  <a:pt x="7" y="67"/>
                </a:lnTo>
                <a:lnTo>
                  <a:pt x="3" y="67"/>
                </a:lnTo>
                <a:lnTo>
                  <a:pt x="7" y="67"/>
                </a:lnTo>
                <a:lnTo>
                  <a:pt x="3" y="67"/>
                </a:lnTo>
                <a:lnTo>
                  <a:pt x="3" y="70"/>
                </a:lnTo>
                <a:lnTo>
                  <a:pt x="64" y="70"/>
                </a:lnTo>
                <a:lnTo>
                  <a:pt x="64" y="63"/>
                </a:lnTo>
                <a:lnTo>
                  <a:pt x="64" y="67"/>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9"/>
          <p:cNvSpPr>
            <a:spLocks/>
          </p:cNvSpPr>
          <p:nvPr/>
        </p:nvSpPr>
        <p:spPr bwMode="auto">
          <a:xfrm>
            <a:off x="3059113" y="3248025"/>
            <a:ext cx="227013" cy="230188"/>
          </a:xfrm>
          <a:custGeom>
            <a:avLst/>
            <a:gdLst>
              <a:gd name="T0" fmla="*/ 70 w 143"/>
              <a:gd name="T1" fmla="*/ 72 h 145"/>
              <a:gd name="T2" fmla="*/ 0 w 143"/>
              <a:gd name="T3" fmla="*/ 72 h 145"/>
              <a:gd name="T4" fmla="*/ 0 w 143"/>
              <a:gd name="T5" fmla="*/ 72 h 145"/>
              <a:gd name="T6" fmla="*/ 0 w 143"/>
              <a:gd name="T7" fmla="*/ 88 h 145"/>
              <a:gd name="T8" fmla="*/ 6 w 143"/>
              <a:gd name="T9" fmla="*/ 101 h 145"/>
              <a:gd name="T10" fmla="*/ 11 w 143"/>
              <a:gd name="T11" fmla="*/ 112 h 145"/>
              <a:gd name="T12" fmla="*/ 21 w 143"/>
              <a:gd name="T13" fmla="*/ 124 h 145"/>
              <a:gd name="T14" fmla="*/ 30 w 143"/>
              <a:gd name="T15" fmla="*/ 131 h 145"/>
              <a:gd name="T16" fmla="*/ 44 w 143"/>
              <a:gd name="T17" fmla="*/ 139 h 145"/>
              <a:gd name="T18" fmla="*/ 57 w 143"/>
              <a:gd name="T19" fmla="*/ 143 h 145"/>
              <a:gd name="T20" fmla="*/ 70 w 143"/>
              <a:gd name="T21" fmla="*/ 145 h 145"/>
              <a:gd name="T22" fmla="*/ 70 w 143"/>
              <a:gd name="T23" fmla="*/ 145 h 145"/>
              <a:gd name="T24" fmla="*/ 85 w 143"/>
              <a:gd name="T25" fmla="*/ 143 h 145"/>
              <a:gd name="T26" fmla="*/ 99 w 143"/>
              <a:gd name="T27" fmla="*/ 139 h 145"/>
              <a:gd name="T28" fmla="*/ 110 w 143"/>
              <a:gd name="T29" fmla="*/ 131 h 145"/>
              <a:gd name="T30" fmla="*/ 122 w 143"/>
              <a:gd name="T31" fmla="*/ 124 h 145"/>
              <a:gd name="T32" fmla="*/ 129 w 143"/>
              <a:gd name="T33" fmla="*/ 112 h 145"/>
              <a:gd name="T34" fmla="*/ 137 w 143"/>
              <a:gd name="T35" fmla="*/ 101 h 145"/>
              <a:gd name="T36" fmla="*/ 141 w 143"/>
              <a:gd name="T37" fmla="*/ 88 h 145"/>
              <a:gd name="T38" fmla="*/ 143 w 143"/>
              <a:gd name="T39" fmla="*/ 72 h 145"/>
              <a:gd name="T40" fmla="*/ 143 w 143"/>
              <a:gd name="T41" fmla="*/ 72 h 145"/>
              <a:gd name="T42" fmla="*/ 141 w 143"/>
              <a:gd name="T43" fmla="*/ 57 h 145"/>
              <a:gd name="T44" fmla="*/ 137 w 143"/>
              <a:gd name="T45" fmla="*/ 44 h 145"/>
              <a:gd name="T46" fmla="*/ 129 w 143"/>
              <a:gd name="T47" fmla="*/ 32 h 145"/>
              <a:gd name="T48" fmla="*/ 122 w 143"/>
              <a:gd name="T49" fmla="*/ 21 h 145"/>
              <a:gd name="T50" fmla="*/ 110 w 143"/>
              <a:gd name="T51" fmla="*/ 13 h 145"/>
              <a:gd name="T52" fmla="*/ 99 w 143"/>
              <a:gd name="T53" fmla="*/ 6 h 145"/>
              <a:gd name="T54" fmla="*/ 85 w 143"/>
              <a:gd name="T55" fmla="*/ 2 h 145"/>
              <a:gd name="T56" fmla="*/ 70 w 143"/>
              <a:gd name="T57" fmla="*/ 0 h 145"/>
              <a:gd name="T58" fmla="*/ 70 w 143"/>
              <a:gd name="T59" fmla="*/ 0 h 145"/>
              <a:gd name="T60" fmla="*/ 57 w 143"/>
              <a:gd name="T61" fmla="*/ 2 h 145"/>
              <a:gd name="T62" fmla="*/ 44 w 143"/>
              <a:gd name="T63" fmla="*/ 6 h 145"/>
              <a:gd name="T64" fmla="*/ 30 w 143"/>
              <a:gd name="T65" fmla="*/ 13 h 145"/>
              <a:gd name="T66" fmla="*/ 21 w 143"/>
              <a:gd name="T67" fmla="*/ 21 h 145"/>
              <a:gd name="T68" fmla="*/ 11 w 143"/>
              <a:gd name="T69" fmla="*/ 32 h 145"/>
              <a:gd name="T70" fmla="*/ 6 w 143"/>
              <a:gd name="T71" fmla="*/ 44 h 145"/>
              <a:gd name="T72" fmla="*/ 0 w 143"/>
              <a:gd name="T73" fmla="*/ 57 h 145"/>
              <a:gd name="T74" fmla="*/ 0 w 143"/>
              <a:gd name="T75" fmla="*/ 72 h 145"/>
              <a:gd name="T76" fmla="*/ 70 w 143"/>
              <a:gd name="T77" fmla="*/ 7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3" h="145">
                <a:moveTo>
                  <a:pt x="70" y="72"/>
                </a:moveTo>
                <a:lnTo>
                  <a:pt x="0" y="72"/>
                </a:lnTo>
                <a:lnTo>
                  <a:pt x="0" y="72"/>
                </a:lnTo>
                <a:lnTo>
                  <a:pt x="0" y="88"/>
                </a:lnTo>
                <a:lnTo>
                  <a:pt x="6" y="101"/>
                </a:lnTo>
                <a:lnTo>
                  <a:pt x="11" y="112"/>
                </a:lnTo>
                <a:lnTo>
                  <a:pt x="21" y="124"/>
                </a:lnTo>
                <a:lnTo>
                  <a:pt x="30" y="131"/>
                </a:lnTo>
                <a:lnTo>
                  <a:pt x="44" y="139"/>
                </a:lnTo>
                <a:lnTo>
                  <a:pt x="57" y="143"/>
                </a:lnTo>
                <a:lnTo>
                  <a:pt x="70" y="145"/>
                </a:lnTo>
                <a:lnTo>
                  <a:pt x="70" y="145"/>
                </a:lnTo>
                <a:lnTo>
                  <a:pt x="85" y="143"/>
                </a:lnTo>
                <a:lnTo>
                  <a:pt x="99" y="139"/>
                </a:lnTo>
                <a:lnTo>
                  <a:pt x="110" y="131"/>
                </a:lnTo>
                <a:lnTo>
                  <a:pt x="122" y="124"/>
                </a:lnTo>
                <a:lnTo>
                  <a:pt x="129" y="112"/>
                </a:lnTo>
                <a:lnTo>
                  <a:pt x="137" y="101"/>
                </a:lnTo>
                <a:lnTo>
                  <a:pt x="141" y="88"/>
                </a:lnTo>
                <a:lnTo>
                  <a:pt x="143" y="72"/>
                </a:lnTo>
                <a:lnTo>
                  <a:pt x="143" y="72"/>
                </a:lnTo>
                <a:lnTo>
                  <a:pt x="141" y="57"/>
                </a:lnTo>
                <a:lnTo>
                  <a:pt x="137" y="44"/>
                </a:lnTo>
                <a:lnTo>
                  <a:pt x="129" y="32"/>
                </a:lnTo>
                <a:lnTo>
                  <a:pt x="122" y="21"/>
                </a:lnTo>
                <a:lnTo>
                  <a:pt x="110" y="13"/>
                </a:lnTo>
                <a:lnTo>
                  <a:pt x="99" y="6"/>
                </a:lnTo>
                <a:lnTo>
                  <a:pt x="85" y="2"/>
                </a:lnTo>
                <a:lnTo>
                  <a:pt x="70" y="0"/>
                </a:lnTo>
                <a:lnTo>
                  <a:pt x="70" y="0"/>
                </a:lnTo>
                <a:lnTo>
                  <a:pt x="57" y="2"/>
                </a:lnTo>
                <a:lnTo>
                  <a:pt x="44" y="6"/>
                </a:lnTo>
                <a:lnTo>
                  <a:pt x="30" y="13"/>
                </a:lnTo>
                <a:lnTo>
                  <a:pt x="21" y="21"/>
                </a:lnTo>
                <a:lnTo>
                  <a:pt x="11" y="32"/>
                </a:lnTo>
                <a:lnTo>
                  <a:pt x="6" y="44"/>
                </a:lnTo>
                <a:lnTo>
                  <a:pt x="0" y="57"/>
                </a:lnTo>
                <a:lnTo>
                  <a:pt x="0" y="72"/>
                </a:lnTo>
                <a:lnTo>
                  <a:pt x="70" y="72"/>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0"/>
          <p:cNvSpPr>
            <a:spLocks/>
          </p:cNvSpPr>
          <p:nvPr/>
        </p:nvSpPr>
        <p:spPr bwMode="auto">
          <a:xfrm>
            <a:off x="3052763" y="3241675"/>
            <a:ext cx="238125" cy="241300"/>
          </a:xfrm>
          <a:custGeom>
            <a:avLst/>
            <a:gdLst>
              <a:gd name="T0" fmla="*/ 74 w 150"/>
              <a:gd name="T1" fmla="*/ 73 h 152"/>
              <a:gd name="T2" fmla="*/ 0 w 150"/>
              <a:gd name="T3" fmla="*/ 76 h 152"/>
              <a:gd name="T4" fmla="*/ 0 w 150"/>
              <a:gd name="T5" fmla="*/ 76 h 152"/>
              <a:gd name="T6" fmla="*/ 6 w 150"/>
              <a:gd name="T7" fmla="*/ 105 h 152"/>
              <a:gd name="T8" fmla="*/ 21 w 150"/>
              <a:gd name="T9" fmla="*/ 130 h 152"/>
              <a:gd name="T10" fmla="*/ 46 w 150"/>
              <a:gd name="T11" fmla="*/ 145 h 152"/>
              <a:gd name="T12" fmla="*/ 74 w 150"/>
              <a:gd name="T13" fmla="*/ 152 h 152"/>
              <a:gd name="T14" fmla="*/ 74 w 150"/>
              <a:gd name="T15" fmla="*/ 151 h 152"/>
              <a:gd name="T16" fmla="*/ 74 w 150"/>
              <a:gd name="T17" fmla="*/ 152 h 152"/>
              <a:gd name="T18" fmla="*/ 74 w 150"/>
              <a:gd name="T19" fmla="*/ 152 h 152"/>
              <a:gd name="T20" fmla="*/ 89 w 150"/>
              <a:gd name="T21" fmla="*/ 151 h 152"/>
              <a:gd name="T22" fmla="*/ 116 w 150"/>
              <a:gd name="T23" fmla="*/ 139 h 152"/>
              <a:gd name="T24" fmla="*/ 137 w 150"/>
              <a:gd name="T25" fmla="*/ 118 h 152"/>
              <a:gd name="T26" fmla="*/ 149 w 150"/>
              <a:gd name="T27" fmla="*/ 92 h 152"/>
              <a:gd name="T28" fmla="*/ 150 w 150"/>
              <a:gd name="T29" fmla="*/ 76 h 152"/>
              <a:gd name="T30" fmla="*/ 149 w 150"/>
              <a:gd name="T31" fmla="*/ 61 h 152"/>
              <a:gd name="T32" fmla="*/ 137 w 150"/>
              <a:gd name="T33" fmla="*/ 34 h 152"/>
              <a:gd name="T34" fmla="*/ 116 w 150"/>
              <a:gd name="T35" fmla="*/ 14 h 152"/>
              <a:gd name="T36" fmla="*/ 89 w 150"/>
              <a:gd name="T37" fmla="*/ 2 h 152"/>
              <a:gd name="T38" fmla="*/ 74 w 150"/>
              <a:gd name="T39" fmla="*/ 0 h 152"/>
              <a:gd name="T40" fmla="*/ 74 w 150"/>
              <a:gd name="T41" fmla="*/ 0 h 152"/>
              <a:gd name="T42" fmla="*/ 46 w 150"/>
              <a:gd name="T43" fmla="*/ 6 h 152"/>
              <a:gd name="T44" fmla="*/ 21 w 150"/>
              <a:gd name="T45" fmla="*/ 23 h 152"/>
              <a:gd name="T46" fmla="*/ 6 w 150"/>
              <a:gd name="T47" fmla="*/ 48 h 152"/>
              <a:gd name="T48" fmla="*/ 0 w 150"/>
              <a:gd name="T49" fmla="*/ 76 h 152"/>
              <a:gd name="T50" fmla="*/ 74 w 150"/>
              <a:gd name="T51" fmla="*/ 80 h 152"/>
              <a:gd name="T52" fmla="*/ 74 w 150"/>
              <a:gd name="T53" fmla="*/ 76 h 152"/>
              <a:gd name="T54" fmla="*/ 4 w 150"/>
              <a:gd name="T55" fmla="*/ 73 h 152"/>
              <a:gd name="T56" fmla="*/ 8 w 150"/>
              <a:gd name="T57" fmla="*/ 76 h 152"/>
              <a:gd name="T58" fmla="*/ 8 w 150"/>
              <a:gd name="T59" fmla="*/ 63 h 152"/>
              <a:gd name="T60" fmla="*/ 19 w 150"/>
              <a:gd name="T61" fmla="*/ 38 h 152"/>
              <a:gd name="T62" fmla="*/ 36 w 150"/>
              <a:gd name="T63" fmla="*/ 19 h 152"/>
              <a:gd name="T64" fmla="*/ 61 w 150"/>
              <a:gd name="T65" fmla="*/ 10 h 152"/>
              <a:gd name="T66" fmla="*/ 74 w 150"/>
              <a:gd name="T67" fmla="*/ 8 h 152"/>
              <a:gd name="T68" fmla="*/ 74 w 150"/>
              <a:gd name="T69" fmla="*/ 8 h 152"/>
              <a:gd name="T70" fmla="*/ 88 w 150"/>
              <a:gd name="T71" fmla="*/ 10 h 152"/>
              <a:gd name="T72" fmla="*/ 112 w 150"/>
              <a:gd name="T73" fmla="*/ 19 h 152"/>
              <a:gd name="T74" fmla="*/ 131 w 150"/>
              <a:gd name="T75" fmla="*/ 38 h 152"/>
              <a:gd name="T76" fmla="*/ 141 w 150"/>
              <a:gd name="T77" fmla="*/ 63 h 152"/>
              <a:gd name="T78" fmla="*/ 143 w 150"/>
              <a:gd name="T79" fmla="*/ 76 h 152"/>
              <a:gd name="T80" fmla="*/ 141 w 150"/>
              <a:gd name="T81" fmla="*/ 90 h 152"/>
              <a:gd name="T82" fmla="*/ 131 w 150"/>
              <a:gd name="T83" fmla="*/ 114 h 152"/>
              <a:gd name="T84" fmla="*/ 112 w 150"/>
              <a:gd name="T85" fmla="*/ 133 h 152"/>
              <a:gd name="T86" fmla="*/ 88 w 150"/>
              <a:gd name="T87" fmla="*/ 143 h 152"/>
              <a:gd name="T88" fmla="*/ 74 w 150"/>
              <a:gd name="T89" fmla="*/ 145 h 152"/>
              <a:gd name="T90" fmla="*/ 74 w 150"/>
              <a:gd name="T91" fmla="*/ 145 h 152"/>
              <a:gd name="T92" fmla="*/ 74 w 150"/>
              <a:gd name="T93" fmla="*/ 147 h 152"/>
              <a:gd name="T94" fmla="*/ 74 w 150"/>
              <a:gd name="T95" fmla="*/ 145 h 152"/>
              <a:gd name="T96" fmla="*/ 48 w 150"/>
              <a:gd name="T97" fmla="*/ 139 h 152"/>
              <a:gd name="T98" fmla="*/ 27 w 150"/>
              <a:gd name="T99" fmla="*/ 124 h 152"/>
              <a:gd name="T100" fmla="*/ 11 w 150"/>
              <a:gd name="T101" fmla="*/ 103 h 152"/>
              <a:gd name="T102" fmla="*/ 8 w 150"/>
              <a:gd name="T103" fmla="*/ 76 h 152"/>
              <a:gd name="T104" fmla="*/ 8 w 150"/>
              <a:gd name="T105" fmla="*/ 76 h 152"/>
              <a:gd name="T106" fmla="*/ 4 w 150"/>
              <a:gd name="T107" fmla="*/ 76 h 152"/>
              <a:gd name="T108" fmla="*/ 4 w 150"/>
              <a:gd name="T109" fmla="*/ 76 h 152"/>
              <a:gd name="T110" fmla="*/ 74 w 150"/>
              <a:gd name="T111" fmla="*/ 80 h 152"/>
              <a:gd name="T112" fmla="*/ 74 w 150"/>
              <a:gd name="T113" fmla="*/ 7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0" h="152">
                <a:moveTo>
                  <a:pt x="74" y="76"/>
                </a:moveTo>
                <a:lnTo>
                  <a:pt x="74" y="73"/>
                </a:lnTo>
                <a:lnTo>
                  <a:pt x="0" y="73"/>
                </a:lnTo>
                <a:lnTo>
                  <a:pt x="0" y="76"/>
                </a:lnTo>
                <a:lnTo>
                  <a:pt x="0" y="76"/>
                </a:lnTo>
                <a:lnTo>
                  <a:pt x="0" y="76"/>
                </a:lnTo>
                <a:lnTo>
                  <a:pt x="0" y="92"/>
                </a:lnTo>
                <a:lnTo>
                  <a:pt x="6" y="105"/>
                </a:lnTo>
                <a:lnTo>
                  <a:pt x="11" y="118"/>
                </a:lnTo>
                <a:lnTo>
                  <a:pt x="21" y="130"/>
                </a:lnTo>
                <a:lnTo>
                  <a:pt x="32" y="139"/>
                </a:lnTo>
                <a:lnTo>
                  <a:pt x="46" y="145"/>
                </a:lnTo>
                <a:lnTo>
                  <a:pt x="59" y="151"/>
                </a:lnTo>
                <a:lnTo>
                  <a:pt x="74" y="152"/>
                </a:lnTo>
                <a:lnTo>
                  <a:pt x="74" y="152"/>
                </a:lnTo>
                <a:lnTo>
                  <a:pt x="74" y="151"/>
                </a:lnTo>
                <a:lnTo>
                  <a:pt x="74" y="152"/>
                </a:lnTo>
                <a:lnTo>
                  <a:pt x="74" y="152"/>
                </a:lnTo>
                <a:lnTo>
                  <a:pt x="74" y="151"/>
                </a:lnTo>
                <a:lnTo>
                  <a:pt x="74" y="152"/>
                </a:lnTo>
                <a:lnTo>
                  <a:pt x="74" y="152"/>
                </a:lnTo>
                <a:lnTo>
                  <a:pt x="89" y="151"/>
                </a:lnTo>
                <a:lnTo>
                  <a:pt x="105" y="145"/>
                </a:lnTo>
                <a:lnTo>
                  <a:pt x="116" y="139"/>
                </a:lnTo>
                <a:lnTo>
                  <a:pt x="128" y="130"/>
                </a:lnTo>
                <a:lnTo>
                  <a:pt x="137" y="118"/>
                </a:lnTo>
                <a:lnTo>
                  <a:pt x="145" y="105"/>
                </a:lnTo>
                <a:lnTo>
                  <a:pt x="149" y="92"/>
                </a:lnTo>
                <a:lnTo>
                  <a:pt x="150" y="76"/>
                </a:lnTo>
                <a:lnTo>
                  <a:pt x="150" y="76"/>
                </a:lnTo>
                <a:lnTo>
                  <a:pt x="150" y="76"/>
                </a:lnTo>
                <a:lnTo>
                  <a:pt x="149" y="61"/>
                </a:lnTo>
                <a:lnTo>
                  <a:pt x="145" y="48"/>
                </a:lnTo>
                <a:lnTo>
                  <a:pt x="137" y="34"/>
                </a:lnTo>
                <a:lnTo>
                  <a:pt x="128" y="23"/>
                </a:lnTo>
                <a:lnTo>
                  <a:pt x="116" y="14"/>
                </a:lnTo>
                <a:lnTo>
                  <a:pt x="105" y="6"/>
                </a:lnTo>
                <a:lnTo>
                  <a:pt x="89" y="2"/>
                </a:lnTo>
                <a:lnTo>
                  <a:pt x="74" y="0"/>
                </a:lnTo>
                <a:lnTo>
                  <a:pt x="74" y="0"/>
                </a:lnTo>
                <a:lnTo>
                  <a:pt x="74" y="0"/>
                </a:lnTo>
                <a:lnTo>
                  <a:pt x="74" y="0"/>
                </a:lnTo>
                <a:lnTo>
                  <a:pt x="59" y="2"/>
                </a:lnTo>
                <a:lnTo>
                  <a:pt x="46" y="6"/>
                </a:lnTo>
                <a:lnTo>
                  <a:pt x="32" y="14"/>
                </a:lnTo>
                <a:lnTo>
                  <a:pt x="21" y="23"/>
                </a:lnTo>
                <a:lnTo>
                  <a:pt x="11" y="34"/>
                </a:lnTo>
                <a:lnTo>
                  <a:pt x="6" y="48"/>
                </a:lnTo>
                <a:lnTo>
                  <a:pt x="0" y="61"/>
                </a:lnTo>
                <a:lnTo>
                  <a:pt x="0" y="76"/>
                </a:lnTo>
                <a:lnTo>
                  <a:pt x="0" y="80"/>
                </a:lnTo>
                <a:lnTo>
                  <a:pt x="74" y="80"/>
                </a:lnTo>
                <a:lnTo>
                  <a:pt x="74" y="73"/>
                </a:lnTo>
                <a:lnTo>
                  <a:pt x="74" y="76"/>
                </a:lnTo>
                <a:lnTo>
                  <a:pt x="74" y="73"/>
                </a:lnTo>
                <a:lnTo>
                  <a:pt x="4" y="73"/>
                </a:lnTo>
                <a:lnTo>
                  <a:pt x="4" y="76"/>
                </a:lnTo>
                <a:lnTo>
                  <a:pt x="8" y="76"/>
                </a:lnTo>
                <a:lnTo>
                  <a:pt x="8" y="76"/>
                </a:lnTo>
                <a:lnTo>
                  <a:pt x="8" y="63"/>
                </a:lnTo>
                <a:lnTo>
                  <a:pt x="11" y="50"/>
                </a:lnTo>
                <a:lnTo>
                  <a:pt x="19" y="38"/>
                </a:lnTo>
                <a:lnTo>
                  <a:pt x="27" y="29"/>
                </a:lnTo>
                <a:lnTo>
                  <a:pt x="36" y="19"/>
                </a:lnTo>
                <a:lnTo>
                  <a:pt x="48" y="14"/>
                </a:lnTo>
                <a:lnTo>
                  <a:pt x="61" y="10"/>
                </a:lnTo>
                <a:lnTo>
                  <a:pt x="74" y="8"/>
                </a:lnTo>
                <a:lnTo>
                  <a:pt x="74" y="8"/>
                </a:lnTo>
                <a:lnTo>
                  <a:pt x="74" y="8"/>
                </a:lnTo>
                <a:lnTo>
                  <a:pt x="74" y="8"/>
                </a:lnTo>
                <a:lnTo>
                  <a:pt x="74" y="8"/>
                </a:lnTo>
                <a:lnTo>
                  <a:pt x="88" y="10"/>
                </a:lnTo>
                <a:lnTo>
                  <a:pt x="101" y="14"/>
                </a:lnTo>
                <a:lnTo>
                  <a:pt x="112" y="19"/>
                </a:lnTo>
                <a:lnTo>
                  <a:pt x="122" y="29"/>
                </a:lnTo>
                <a:lnTo>
                  <a:pt x="131" y="38"/>
                </a:lnTo>
                <a:lnTo>
                  <a:pt x="137" y="50"/>
                </a:lnTo>
                <a:lnTo>
                  <a:pt x="141" y="63"/>
                </a:lnTo>
                <a:lnTo>
                  <a:pt x="143" y="76"/>
                </a:lnTo>
                <a:lnTo>
                  <a:pt x="143" y="76"/>
                </a:lnTo>
                <a:lnTo>
                  <a:pt x="143" y="76"/>
                </a:lnTo>
                <a:lnTo>
                  <a:pt x="141" y="90"/>
                </a:lnTo>
                <a:lnTo>
                  <a:pt x="137" y="103"/>
                </a:lnTo>
                <a:lnTo>
                  <a:pt x="131" y="114"/>
                </a:lnTo>
                <a:lnTo>
                  <a:pt x="122" y="124"/>
                </a:lnTo>
                <a:lnTo>
                  <a:pt x="112" y="133"/>
                </a:lnTo>
                <a:lnTo>
                  <a:pt x="101" y="139"/>
                </a:lnTo>
                <a:lnTo>
                  <a:pt x="88" y="143"/>
                </a:lnTo>
                <a:lnTo>
                  <a:pt x="74" y="145"/>
                </a:lnTo>
                <a:lnTo>
                  <a:pt x="74" y="145"/>
                </a:lnTo>
                <a:lnTo>
                  <a:pt x="74" y="147"/>
                </a:lnTo>
                <a:lnTo>
                  <a:pt x="74" y="145"/>
                </a:lnTo>
                <a:lnTo>
                  <a:pt x="74" y="145"/>
                </a:lnTo>
                <a:lnTo>
                  <a:pt x="74" y="147"/>
                </a:lnTo>
                <a:lnTo>
                  <a:pt x="74" y="145"/>
                </a:lnTo>
                <a:lnTo>
                  <a:pt x="74" y="145"/>
                </a:lnTo>
                <a:lnTo>
                  <a:pt x="61" y="143"/>
                </a:lnTo>
                <a:lnTo>
                  <a:pt x="48" y="139"/>
                </a:lnTo>
                <a:lnTo>
                  <a:pt x="36" y="133"/>
                </a:lnTo>
                <a:lnTo>
                  <a:pt x="27" y="124"/>
                </a:lnTo>
                <a:lnTo>
                  <a:pt x="19" y="114"/>
                </a:lnTo>
                <a:lnTo>
                  <a:pt x="11" y="103"/>
                </a:lnTo>
                <a:lnTo>
                  <a:pt x="8" y="90"/>
                </a:lnTo>
                <a:lnTo>
                  <a:pt x="8" y="76"/>
                </a:lnTo>
                <a:lnTo>
                  <a:pt x="4" y="76"/>
                </a:lnTo>
                <a:lnTo>
                  <a:pt x="8" y="76"/>
                </a:lnTo>
                <a:lnTo>
                  <a:pt x="8" y="76"/>
                </a:lnTo>
                <a:lnTo>
                  <a:pt x="4" y="76"/>
                </a:lnTo>
                <a:lnTo>
                  <a:pt x="8" y="76"/>
                </a:lnTo>
                <a:lnTo>
                  <a:pt x="4" y="76"/>
                </a:lnTo>
                <a:lnTo>
                  <a:pt x="4" y="80"/>
                </a:lnTo>
                <a:lnTo>
                  <a:pt x="74" y="80"/>
                </a:lnTo>
                <a:lnTo>
                  <a:pt x="74" y="73"/>
                </a:lnTo>
                <a:lnTo>
                  <a:pt x="74" y="76"/>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1"/>
          <p:cNvSpPr>
            <a:spLocks/>
          </p:cNvSpPr>
          <p:nvPr/>
        </p:nvSpPr>
        <p:spPr bwMode="auto">
          <a:xfrm>
            <a:off x="2236788" y="3946526"/>
            <a:ext cx="230188" cy="227013"/>
          </a:xfrm>
          <a:custGeom>
            <a:avLst/>
            <a:gdLst>
              <a:gd name="T0" fmla="*/ 72 w 145"/>
              <a:gd name="T1" fmla="*/ 72 h 143"/>
              <a:gd name="T2" fmla="*/ 0 w 145"/>
              <a:gd name="T3" fmla="*/ 72 h 143"/>
              <a:gd name="T4" fmla="*/ 0 w 145"/>
              <a:gd name="T5" fmla="*/ 72 h 143"/>
              <a:gd name="T6" fmla="*/ 2 w 145"/>
              <a:gd name="T7" fmla="*/ 85 h 143"/>
              <a:gd name="T8" fmla="*/ 6 w 145"/>
              <a:gd name="T9" fmla="*/ 99 h 143"/>
              <a:gd name="T10" fmla="*/ 13 w 145"/>
              <a:gd name="T11" fmla="*/ 112 h 143"/>
              <a:gd name="T12" fmla="*/ 21 w 145"/>
              <a:gd name="T13" fmla="*/ 122 h 143"/>
              <a:gd name="T14" fmla="*/ 32 w 145"/>
              <a:gd name="T15" fmla="*/ 131 h 143"/>
              <a:gd name="T16" fmla="*/ 44 w 145"/>
              <a:gd name="T17" fmla="*/ 137 h 143"/>
              <a:gd name="T18" fmla="*/ 57 w 145"/>
              <a:gd name="T19" fmla="*/ 143 h 143"/>
              <a:gd name="T20" fmla="*/ 72 w 145"/>
              <a:gd name="T21" fmla="*/ 143 h 143"/>
              <a:gd name="T22" fmla="*/ 72 w 145"/>
              <a:gd name="T23" fmla="*/ 143 h 143"/>
              <a:gd name="T24" fmla="*/ 88 w 145"/>
              <a:gd name="T25" fmla="*/ 143 h 143"/>
              <a:gd name="T26" fmla="*/ 101 w 145"/>
              <a:gd name="T27" fmla="*/ 137 h 143"/>
              <a:gd name="T28" fmla="*/ 112 w 145"/>
              <a:gd name="T29" fmla="*/ 131 h 143"/>
              <a:gd name="T30" fmla="*/ 124 w 145"/>
              <a:gd name="T31" fmla="*/ 122 h 143"/>
              <a:gd name="T32" fmla="*/ 131 w 145"/>
              <a:gd name="T33" fmla="*/ 112 h 143"/>
              <a:gd name="T34" fmla="*/ 139 w 145"/>
              <a:gd name="T35" fmla="*/ 99 h 143"/>
              <a:gd name="T36" fmla="*/ 143 w 145"/>
              <a:gd name="T37" fmla="*/ 85 h 143"/>
              <a:gd name="T38" fmla="*/ 145 w 145"/>
              <a:gd name="T39" fmla="*/ 72 h 143"/>
              <a:gd name="T40" fmla="*/ 145 w 145"/>
              <a:gd name="T41" fmla="*/ 72 h 143"/>
              <a:gd name="T42" fmla="*/ 143 w 145"/>
              <a:gd name="T43" fmla="*/ 57 h 143"/>
              <a:gd name="T44" fmla="*/ 139 w 145"/>
              <a:gd name="T45" fmla="*/ 44 h 143"/>
              <a:gd name="T46" fmla="*/ 131 w 145"/>
              <a:gd name="T47" fmla="*/ 32 h 143"/>
              <a:gd name="T48" fmla="*/ 124 w 145"/>
              <a:gd name="T49" fmla="*/ 21 h 143"/>
              <a:gd name="T50" fmla="*/ 112 w 145"/>
              <a:gd name="T51" fmla="*/ 13 h 143"/>
              <a:gd name="T52" fmla="*/ 101 w 145"/>
              <a:gd name="T53" fmla="*/ 5 h 143"/>
              <a:gd name="T54" fmla="*/ 88 w 145"/>
              <a:gd name="T55" fmla="*/ 2 h 143"/>
              <a:gd name="T56" fmla="*/ 72 w 145"/>
              <a:gd name="T57" fmla="*/ 0 h 143"/>
              <a:gd name="T58" fmla="*/ 72 w 145"/>
              <a:gd name="T59" fmla="*/ 0 h 143"/>
              <a:gd name="T60" fmla="*/ 57 w 145"/>
              <a:gd name="T61" fmla="*/ 2 h 143"/>
              <a:gd name="T62" fmla="*/ 44 w 145"/>
              <a:gd name="T63" fmla="*/ 5 h 143"/>
              <a:gd name="T64" fmla="*/ 32 w 145"/>
              <a:gd name="T65" fmla="*/ 13 h 143"/>
              <a:gd name="T66" fmla="*/ 21 w 145"/>
              <a:gd name="T67" fmla="*/ 21 h 143"/>
              <a:gd name="T68" fmla="*/ 13 w 145"/>
              <a:gd name="T69" fmla="*/ 32 h 143"/>
              <a:gd name="T70" fmla="*/ 6 w 145"/>
              <a:gd name="T71" fmla="*/ 44 h 143"/>
              <a:gd name="T72" fmla="*/ 2 w 145"/>
              <a:gd name="T73" fmla="*/ 57 h 143"/>
              <a:gd name="T74" fmla="*/ 0 w 145"/>
              <a:gd name="T75" fmla="*/ 72 h 143"/>
              <a:gd name="T76" fmla="*/ 72 w 145"/>
              <a:gd name="T77" fmla="*/ 7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5" h="143">
                <a:moveTo>
                  <a:pt x="72" y="72"/>
                </a:moveTo>
                <a:lnTo>
                  <a:pt x="0" y="72"/>
                </a:lnTo>
                <a:lnTo>
                  <a:pt x="0" y="72"/>
                </a:lnTo>
                <a:lnTo>
                  <a:pt x="2" y="85"/>
                </a:lnTo>
                <a:lnTo>
                  <a:pt x="6" y="99"/>
                </a:lnTo>
                <a:lnTo>
                  <a:pt x="13" y="112"/>
                </a:lnTo>
                <a:lnTo>
                  <a:pt x="21" y="122"/>
                </a:lnTo>
                <a:lnTo>
                  <a:pt x="32" y="131"/>
                </a:lnTo>
                <a:lnTo>
                  <a:pt x="44" y="137"/>
                </a:lnTo>
                <a:lnTo>
                  <a:pt x="57" y="143"/>
                </a:lnTo>
                <a:lnTo>
                  <a:pt x="72" y="143"/>
                </a:lnTo>
                <a:lnTo>
                  <a:pt x="72" y="143"/>
                </a:lnTo>
                <a:lnTo>
                  <a:pt x="88" y="143"/>
                </a:lnTo>
                <a:lnTo>
                  <a:pt x="101" y="137"/>
                </a:lnTo>
                <a:lnTo>
                  <a:pt x="112" y="131"/>
                </a:lnTo>
                <a:lnTo>
                  <a:pt x="124" y="122"/>
                </a:lnTo>
                <a:lnTo>
                  <a:pt x="131" y="112"/>
                </a:lnTo>
                <a:lnTo>
                  <a:pt x="139" y="99"/>
                </a:lnTo>
                <a:lnTo>
                  <a:pt x="143" y="85"/>
                </a:lnTo>
                <a:lnTo>
                  <a:pt x="145" y="72"/>
                </a:lnTo>
                <a:lnTo>
                  <a:pt x="145" y="72"/>
                </a:lnTo>
                <a:lnTo>
                  <a:pt x="143" y="57"/>
                </a:lnTo>
                <a:lnTo>
                  <a:pt x="139" y="44"/>
                </a:lnTo>
                <a:lnTo>
                  <a:pt x="131" y="32"/>
                </a:lnTo>
                <a:lnTo>
                  <a:pt x="124" y="21"/>
                </a:lnTo>
                <a:lnTo>
                  <a:pt x="112" y="13"/>
                </a:lnTo>
                <a:lnTo>
                  <a:pt x="101" y="5"/>
                </a:lnTo>
                <a:lnTo>
                  <a:pt x="88" y="2"/>
                </a:lnTo>
                <a:lnTo>
                  <a:pt x="72" y="0"/>
                </a:lnTo>
                <a:lnTo>
                  <a:pt x="72" y="0"/>
                </a:lnTo>
                <a:lnTo>
                  <a:pt x="57" y="2"/>
                </a:lnTo>
                <a:lnTo>
                  <a:pt x="44" y="5"/>
                </a:lnTo>
                <a:lnTo>
                  <a:pt x="32" y="13"/>
                </a:lnTo>
                <a:lnTo>
                  <a:pt x="21" y="21"/>
                </a:lnTo>
                <a:lnTo>
                  <a:pt x="13" y="32"/>
                </a:lnTo>
                <a:lnTo>
                  <a:pt x="6" y="44"/>
                </a:lnTo>
                <a:lnTo>
                  <a:pt x="2" y="57"/>
                </a:lnTo>
                <a:lnTo>
                  <a:pt x="0" y="72"/>
                </a:lnTo>
                <a:lnTo>
                  <a:pt x="72" y="72"/>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p:cNvSpPr>
          <p:nvPr/>
        </p:nvSpPr>
        <p:spPr bwMode="auto">
          <a:xfrm>
            <a:off x="2230438" y="3940176"/>
            <a:ext cx="242888" cy="238125"/>
          </a:xfrm>
          <a:custGeom>
            <a:avLst/>
            <a:gdLst>
              <a:gd name="T0" fmla="*/ 76 w 153"/>
              <a:gd name="T1" fmla="*/ 72 h 150"/>
              <a:gd name="T2" fmla="*/ 0 w 153"/>
              <a:gd name="T3" fmla="*/ 76 h 150"/>
              <a:gd name="T4" fmla="*/ 0 w 153"/>
              <a:gd name="T5" fmla="*/ 76 h 150"/>
              <a:gd name="T6" fmla="*/ 8 w 153"/>
              <a:gd name="T7" fmla="*/ 105 h 150"/>
              <a:gd name="T8" fmla="*/ 23 w 153"/>
              <a:gd name="T9" fmla="*/ 129 h 150"/>
              <a:gd name="T10" fmla="*/ 48 w 153"/>
              <a:gd name="T11" fmla="*/ 145 h 150"/>
              <a:gd name="T12" fmla="*/ 76 w 153"/>
              <a:gd name="T13" fmla="*/ 150 h 150"/>
              <a:gd name="T14" fmla="*/ 76 w 153"/>
              <a:gd name="T15" fmla="*/ 148 h 150"/>
              <a:gd name="T16" fmla="*/ 76 w 153"/>
              <a:gd name="T17" fmla="*/ 150 h 150"/>
              <a:gd name="T18" fmla="*/ 76 w 153"/>
              <a:gd name="T19" fmla="*/ 150 h 150"/>
              <a:gd name="T20" fmla="*/ 92 w 153"/>
              <a:gd name="T21" fmla="*/ 150 h 150"/>
              <a:gd name="T22" fmla="*/ 118 w 153"/>
              <a:gd name="T23" fmla="*/ 139 h 150"/>
              <a:gd name="T24" fmla="*/ 139 w 153"/>
              <a:gd name="T25" fmla="*/ 118 h 150"/>
              <a:gd name="T26" fmla="*/ 151 w 153"/>
              <a:gd name="T27" fmla="*/ 91 h 150"/>
              <a:gd name="T28" fmla="*/ 153 w 153"/>
              <a:gd name="T29" fmla="*/ 76 h 150"/>
              <a:gd name="T30" fmla="*/ 151 w 153"/>
              <a:gd name="T31" fmla="*/ 61 h 150"/>
              <a:gd name="T32" fmla="*/ 139 w 153"/>
              <a:gd name="T33" fmla="*/ 34 h 150"/>
              <a:gd name="T34" fmla="*/ 118 w 153"/>
              <a:gd name="T35" fmla="*/ 13 h 150"/>
              <a:gd name="T36" fmla="*/ 92 w 153"/>
              <a:gd name="T37" fmla="*/ 2 h 150"/>
              <a:gd name="T38" fmla="*/ 76 w 153"/>
              <a:gd name="T39" fmla="*/ 4 h 150"/>
              <a:gd name="T40" fmla="*/ 76 w 153"/>
              <a:gd name="T41" fmla="*/ 0 h 150"/>
              <a:gd name="T42" fmla="*/ 61 w 153"/>
              <a:gd name="T43" fmla="*/ 2 h 150"/>
              <a:gd name="T44" fmla="*/ 35 w 153"/>
              <a:gd name="T45" fmla="*/ 13 h 150"/>
              <a:gd name="T46" fmla="*/ 14 w 153"/>
              <a:gd name="T47" fmla="*/ 34 h 150"/>
              <a:gd name="T48" fmla="*/ 2 w 153"/>
              <a:gd name="T49" fmla="*/ 61 h 150"/>
              <a:gd name="T50" fmla="*/ 0 w 153"/>
              <a:gd name="T51" fmla="*/ 80 h 150"/>
              <a:gd name="T52" fmla="*/ 76 w 153"/>
              <a:gd name="T53" fmla="*/ 72 h 150"/>
              <a:gd name="T54" fmla="*/ 76 w 153"/>
              <a:gd name="T55" fmla="*/ 72 h 150"/>
              <a:gd name="T56" fmla="*/ 4 w 153"/>
              <a:gd name="T57" fmla="*/ 76 h 150"/>
              <a:gd name="T58" fmla="*/ 8 w 153"/>
              <a:gd name="T59" fmla="*/ 76 h 150"/>
              <a:gd name="T60" fmla="*/ 14 w 153"/>
              <a:gd name="T61" fmla="*/ 49 h 150"/>
              <a:gd name="T62" fmla="*/ 29 w 153"/>
              <a:gd name="T63" fmla="*/ 28 h 150"/>
              <a:gd name="T64" fmla="*/ 50 w 153"/>
              <a:gd name="T65" fmla="*/ 13 h 150"/>
              <a:gd name="T66" fmla="*/ 76 w 153"/>
              <a:gd name="T67" fmla="*/ 8 h 150"/>
              <a:gd name="T68" fmla="*/ 76 w 153"/>
              <a:gd name="T69" fmla="*/ 8 h 150"/>
              <a:gd name="T70" fmla="*/ 76 w 153"/>
              <a:gd name="T71" fmla="*/ 6 h 150"/>
              <a:gd name="T72" fmla="*/ 76 w 153"/>
              <a:gd name="T73" fmla="*/ 8 h 150"/>
              <a:gd name="T74" fmla="*/ 76 w 153"/>
              <a:gd name="T75" fmla="*/ 8 h 150"/>
              <a:gd name="T76" fmla="*/ 103 w 153"/>
              <a:gd name="T77" fmla="*/ 13 h 150"/>
              <a:gd name="T78" fmla="*/ 124 w 153"/>
              <a:gd name="T79" fmla="*/ 28 h 150"/>
              <a:gd name="T80" fmla="*/ 139 w 153"/>
              <a:gd name="T81" fmla="*/ 49 h 150"/>
              <a:gd name="T82" fmla="*/ 145 w 153"/>
              <a:gd name="T83" fmla="*/ 76 h 150"/>
              <a:gd name="T84" fmla="*/ 145 w 153"/>
              <a:gd name="T85" fmla="*/ 76 h 150"/>
              <a:gd name="T86" fmla="*/ 139 w 153"/>
              <a:gd name="T87" fmla="*/ 103 h 150"/>
              <a:gd name="T88" fmla="*/ 124 w 153"/>
              <a:gd name="T89" fmla="*/ 124 h 150"/>
              <a:gd name="T90" fmla="*/ 103 w 153"/>
              <a:gd name="T91" fmla="*/ 139 h 150"/>
              <a:gd name="T92" fmla="*/ 76 w 153"/>
              <a:gd name="T93" fmla="*/ 143 h 150"/>
              <a:gd name="T94" fmla="*/ 76 w 153"/>
              <a:gd name="T95" fmla="*/ 147 h 150"/>
              <a:gd name="T96" fmla="*/ 76 w 153"/>
              <a:gd name="T97" fmla="*/ 143 h 150"/>
              <a:gd name="T98" fmla="*/ 76 w 153"/>
              <a:gd name="T99" fmla="*/ 143 h 150"/>
              <a:gd name="T100" fmla="*/ 63 w 153"/>
              <a:gd name="T101" fmla="*/ 143 h 150"/>
              <a:gd name="T102" fmla="*/ 38 w 153"/>
              <a:gd name="T103" fmla="*/ 131 h 150"/>
              <a:gd name="T104" fmla="*/ 19 w 153"/>
              <a:gd name="T105" fmla="*/ 114 h 150"/>
              <a:gd name="T106" fmla="*/ 10 w 153"/>
              <a:gd name="T107" fmla="*/ 89 h 150"/>
              <a:gd name="T108" fmla="*/ 8 w 153"/>
              <a:gd name="T109" fmla="*/ 76 h 150"/>
              <a:gd name="T110" fmla="*/ 4 w 153"/>
              <a:gd name="T111" fmla="*/ 80 h 150"/>
              <a:gd name="T112" fmla="*/ 76 w 153"/>
              <a:gd name="T113" fmla="*/ 7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3" h="150">
                <a:moveTo>
                  <a:pt x="76" y="76"/>
                </a:moveTo>
                <a:lnTo>
                  <a:pt x="76" y="72"/>
                </a:lnTo>
                <a:lnTo>
                  <a:pt x="0" y="72"/>
                </a:lnTo>
                <a:lnTo>
                  <a:pt x="0" y="76"/>
                </a:lnTo>
                <a:lnTo>
                  <a:pt x="0" y="76"/>
                </a:lnTo>
                <a:lnTo>
                  <a:pt x="0" y="76"/>
                </a:lnTo>
                <a:lnTo>
                  <a:pt x="2" y="91"/>
                </a:lnTo>
                <a:lnTo>
                  <a:pt x="8" y="105"/>
                </a:lnTo>
                <a:lnTo>
                  <a:pt x="14" y="118"/>
                </a:lnTo>
                <a:lnTo>
                  <a:pt x="23" y="129"/>
                </a:lnTo>
                <a:lnTo>
                  <a:pt x="35" y="139"/>
                </a:lnTo>
                <a:lnTo>
                  <a:pt x="48" y="145"/>
                </a:lnTo>
                <a:lnTo>
                  <a:pt x="61" y="150"/>
                </a:lnTo>
                <a:lnTo>
                  <a:pt x="76" y="150"/>
                </a:lnTo>
                <a:lnTo>
                  <a:pt x="76" y="150"/>
                </a:lnTo>
                <a:lnTo>
                  <a:pt x="76" y="148"/>
                </a:lnTo>
                <a:lnTo>
                  <a:pt x="76" y="150"/>
                </a:lnTo>
                <a:lnTo>
                  <a:pt x="76" y="150"/>
                </a:lnTo>
                <a:lnTo>
                  <a:pt x="76" y="148"/>
                </a:lnTo>
                <a:lnTo>
                  <a:pt x="76" y="150"/>
                </a:lnTo>
                <a:lnTo>
                  <a:pt x="76" y="150"/>
                </a:lnTo>
                <a:lnTo>
                  <a:pt x="92" y="150"/>
                </a:lnTo>
                <a:lnTo>
                  <a:pt x="105" y="145"/>
                </a:lnTo>
                <a:lnTo>
                  <a:pt x="118" y="139"/>
                </a:lnTo>
                <a:lnTo>
                  <a:pt x="130" y="129"/>
                </a:lnTo>
                <a:lnTo>
                  <a:pt x="139" y="118"/>
                </a:lnTo>
                <a:lnTo>
                  <a:pt x="147" y="105"/>
                </a:lnTo>
                <a:lnTo>
                  <a:pt x="151" y="91"/>
                </a:lnTo>
                <a:lnTo>
                  <a:pt x="153" y="76"/>
                </a:lnTo>
                <a:lnTo>
                  <a:pt x="153" y="76"/>
                </a:lnTo>
                <a:lnTo>
                  <a:pt x="153" y="76"/>
                </a:lnTo>
                <a:lnTo>
                  <a:pt x="151" y="61"/>
                </a:lnTo>
                <a:lnTo>
                  <a:pt x="147" y="46"/>
                </a:lnTo>
                <a:lnTo>
                  <a:pt x="139" y="34"/>
                </a:lnTo>
                <a:lnTo>
                  <a:pt x="130" y="23"/>
                </a:lnTo>
                <a:lnTo>
                  <a:pt x="118" y="13"/>
                </a:lnTo>
                <a:lnTo>
                  <a:pt x="105" y="6"/>
                </a:lnTo>
                <a:lnTo>
                  <a:pt x="92" y="2"/>
                </a:lnTo>
                <a:lnTo>
                  <a:pt x="76" y="0"/>
                </a:lnTo>
                <a:lnTo>
                  <a:pt x="76" y="4"/>
                </a:lnTo>
                <a:lnTo>
                  <a:pt x="76" y="0"/>
                </a:lnTo>
                <a:lnTo>
                  <a:pt x="76" y="0"/>
                </a:lnTo>
                <a:lnTo>
                  <a:pt x="76" y="0"/>
                </a:lnTo>
                <a:lnTo>
                  <a:pt x="61" y="2"/>
                </a:lnTo>
                <a:lnTo>
                  <a:pt x="48" y="6"/>
                </a:lnTo>
                <a:lnTo>
                  <a:pt x="35" y="13"/>
                </a:lnTo>
                <a:lnTo>
                  <a:pt x="23" y="23"/>
                </a:lnTo>
                <a:lnTo>
                  <a:pt x="14" y="34"/>
                </a:lnTo>
                <a:lnTo>
                  <a:pt x="8" y="46"/>
                </a:lnTo>
                <a:lnTo>
                  <a:pt x="2" y="61"/>
                </a:lnTo>
                <a:lnTo>
                  <a:pt x="0" y="76"/>
                </a:lnTo>
                <a:lnTo>
                  <a:pt x="0" y="80"/>
                </a:lnTo>
                <a:lnTo>
                  <a:pt x="76" y="80"/>
                </a:lnTo>
                <a:lnTo>
                  <a:pt x="76" y="72"/>
                </a:lnTo>
                <a:lnTo>
                  <a:pt x="76" y="76"/>
                </a:lnTo>
                <a:lnTo>
                  <a:pt x="76" y="72"/>
                </a:lnTo>
                <a:lnTo>
                  <a:pt x="4" y="72"/>
                </a:lnTo>
                <a:lnTo>
                  <a:pt x="4" y="76"/>
                </a:lnTo>
                <a:lnTo>
                  <a:pt x="8" y="76"/>
                </a:lnTo>
                <a:lnTo>
                  <a:pt x="8" y="76"/>
                </a:lnTo>
                <a:lnTo>
                  <a:pt x="10" y="63"/>
                </a:lnTo>
                <a:lnTo>
                  <a:pt x="14" y="49"/>
                </a:lnTo>
                <a:lnTo>
                  <a:pt x="19" y="38"/>
                </a:lnTo>
                <a:lnTo>
                  <a:pt x="29" y="28"/>
                </a:lnTo>
                <a:lnTo>
                  <a:pt x="38" y="19"/>
                </a:lnTo>
                <a:lnTo>
                  <a:pt x="50" y="13"/>
                </a:lnTo>
                <a:lnTo>
                  <a:pt x="63" y="9"/>
                </a:lnTo>
                <a:lnTo>
                  <a:pt x="76" y="8"/>
                </a:lnTo>
                <a:lnTo>
                  <a:pt x="76" y="6"/>
                </a:lnTo>
                <a:lnTo>
                  <a:pt x="76" y="8"/>
                </a:lnTo>
                <a:lnTo>
                  <a:pt x="76" y="8"/>
                </a:lnTo>
                <a:lnTo>
                  <a:pt x="76" y="6"/>
                </a:lnTo>
                <a:lnTo>
                  <a:pt x="76" y="8"/>
                </a:lnTo>
                <a:lnTo>
                  <a:pt x="76" y="8"/>
                </a:lnTo>
                <a:lnTo>
                  <a:pt x="76" y="8"/>
                </a:lnTo>
                <a:lnTo>
                  <a:pt x="76" y="8"/>
                </a:lnTo>
                <a:lnTo>
                  <a:pt x="90" y="9"/>
                </a:lnTo>
                <a:lnTo>
                  <a:pt x="103" y="13"/>
                </a:lnTo>
                <a:lnTo>
                  <a:pt x="114" y="19"/>
                </a:lnTo>
                <a:lnTo>
                  <a:pt x="124" y="28"/>
                </a:lnTo>
                <a:lnTo>
                  <a:pt x="134" y="38"/>
                </a:lnTo>
                <a:lnTo>
                  <a:pt x="139" y="49"/>
                </a:lnTo>
                <a:lnTo>
                  <a:pt x="143" y="63"/>
                </a:lnTo>
                <a:lnTo>
                  <a:pt x="145" y="76"/>
                </a:lnTo>
                <a:lnTo>
                  <a:pt x="145" y="76"/>
                </a:lnTo>
                <a:lnTo>
                  <a:pt x="145" y="76"/>
                </a:lnTo>
                <a:lnTo>
                  <a:pt x="143" y="89"/>
                </a:lnTo>
                <a:lnTo>
                  <a:pt x="139" y="103"/>
                </a:lnTo>
                <a:lnTo>
                  <a:pt x="134" y="114"/>
                </a:lnTo>
                <a:lnTo>
                  <a:pt x="124" y="124"/>
                </a:lnTo>
                <a:lnTo>
                  <a:pt x="114" y="131"/>
                </a:lnTo>
                <a:lnTo>
                  <a:pt x="103" y="139"/>
                </a:lnTo>
                <a:lnTo>
                  <a:pt x="90" y="143"/>
                </a:lnTo>
                <a:lnTo>
                  <a:pt x="76" y="143"/>
                </a:lnTo>
                <a:lnTo>
                  <a:pt x="76" y="143"/>
                </a:lnTo>
                <a:lnTo>
                  <a:pt x="76" y="147"/>
                </a:lnTo>
                <a:lnTo>
                  <a:pt x="76" y="143"/>
                </a:lnTo>
                <a:lnTo>
                  <a:pt x="76" y="143"/>
                </a:lnTo>
                <a:lnTo>
                  <a:pt x="76" y="147"/>
                </a:lnTo>
                <a:lnTo>
                  <a:pt x="76" y="143"/>
                </a:lnTo>
                <a:lnTo>
                  <a:pt x="76" y="143"/>
                </a:lnTo>
                <a:lnTo>
                  <a:pt x="63" y="143"/>
                </a:lnTo>
                <a:lnTo>
                  <a:pt x="50" y="139"/>
                </a:lnTo>
                <a:lnTo>
                  <a:pt x="38" y="131"/>
                </a:lnTo>
                <a:lnTo>
                  <a:pt x="29" y="124"/>
                </a:lnTo>
                <a:lnTo>
                  <a:pt x="19" y="114"/>
                </a:lnTo>
                <a:lnTo>
                  <a:pt x="14" y="103"/>
                </a:lnTo>
                <a:lnTo>
                  <a:pt x="10" y="89"/>
                </a:lnTo>
                <a:lnTo>
                  <a:pt x="8" y="76"/>
                </a:lnTo>
                <a:lnTo>
                  <a:pt x="8" y="76"/>
                </a:lnTo>
                <a:lnTo>
                  <a:pt x="4" y="76"/>
                </a:lnTo>
                <a:lnTo>
                  <a:pt x="4" y="80"/>
                </a:lnTo>
                <a:lnTo>
                  <a:pt x="76" y="80"/>
                </a:lnTo>
                <a:lnTo>
                  <a:pt x="76" y="72"/>
                </a:lnTo>
                <a:lnTo>
                  <a:pt x="76" y="76"/>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p:nvSpPr>
        <p:spPr bwMode="auto">
          <a:xfrm>
            <a:off x="2859088" y="4668838"/>
            <a:ext cx="528638" cy="528638"/>
          </a:xfrm>
          <a:custGeom>
            <a:avLst/>
            <a:gdLst>
              <a:gd name="T0" fmla="*/ 0 w 333"/>
              <a:gd name="T1" fmla="*/ 165 h 333"/>
              <a:gd name="T2" fmla="*/ 0 w 333"/>
              <a:gd name="T3" fmla="*/ 182 h 333"/>
              <a:gd name="T4" fmla="*/ 8 w 333"/>
              <a:gd name="T5" fmla="*/ 215 h 333"/>
              <a:gd name="T6" fmla="*/ 21 w 333"/>
              <a:gd name="T7" fmla="*/ 245 h 333"/>
              <a:gd name="T8" fmla="*/ 38 w 333"/>
              <a:gd name="T9" fmla="*/ 272 h 333"/>
              <a:gd name="T10" fmla="*/ 61 w 333"/>
              <a:gd name="T11" fmla="*/ 295 h 333"/>
              <a:gd name="T12" fmla="*/ 88 w 333"/>
              <a:gd name="T13" fmla="*/ 312 h 333"/>
              <a:gd name="T14" fmla="*/ 116 w 333"/>
              <a:gd name="T15" fmla="*/ 325 h 333"/>
              <a:gd name="T16" fmla="*/ 149 w 333"/>
              <a:gd name="T17" fmla="*/ 331 h 333"/>
              <a:gd name="T18" fmla="*/ 166 w 333"/>
              <a:gd name="T19" fmla="*/ 333 h 333"/>
              <a:gd name="T20" fmla="*/ 200 w 333"/>
              <a:gd name="T21" fmla="*/ 329 h 333"/>
              <a:gd name="T22" fmla="*/ 231 w 333"/>
              <a:gd name="T23" fmla="*/ 320 h 333"/>
              <a:gd name="T24" fmla="*/ 259 w 333"/>
              <a:gd name="T25" fmla="*/ 304 h 333"/>
              <a:gd name="T26" fmla="*/ 284 w 333"/>
              <a:gd name="T27" fmla="*/ 283 h 333"/>
              <a:gd name="T28" fmla="*/ 305 w 333"/>
              <a:gd name="T29" fmla="*/ 259 h 333"/>
              <a:gd name="T30" fmla="*/ 320 w 333"/>
              <a:gd name="T31" fmla="*/ 230 h 333"/>
              <a:gd name="T32" fmla="*/ 330 w 333"/>
              <a:gd name="T33" fmla="*/ 200 h 333"/>
              <a:gd name="T34" fmla="*/ 333 w 333"/>
              <a:gd name="T35" fmla="*/ 165 h 333"/>
              <a:gd name="T36" fmla="*/ 331 w 333"/>
              <a:gd name="T37" fmla="*/ 148 h 333"/>
              <a:gd name="T38" fmla="*/ 326 w 333"/>
              <a:gd name="T39" fmla="*/ 116 h 333"/>
              <a:gd name="T40" fmla="*/ 312 w 333"/>
              <a:gd name="T41" fmla="*/ 87 h 333"/>
              <a:gd name="T42" fmla="*/ 295 w 333"/>
              <a:gd name="T43" fmla="*/ 61 h 333"/>
              <a:gd name="T44" fmla="*/ 272 w 333"/>
              <a:gd name="T45" fmla="*/ 38 h 333"/>
              <a:gd name="T46" fmla="*/ 246 w 333"/>
              <a:gd name="T47" fmla="*/ 19 h 333"/>
              <a:gd name="T48" fmla="*/ 217 w 333"/>
              <a:gd name="T49" fmla="*/ 7 h 333"/>
              <a:gd name="T50" fmla="*/ 183 w 333"/>
              <a:gd name="T51" fmla="*/ 0 h 333"/>
              <a:gd name="T52" fmla="*/ 168 w 333"/>
              <a:gd name="T53" fmla="*/ 0 h 333"/>
              <a:gd name="T54" fmla="*/ 133 w 333"/>
              <a:gd name="T55" fmla="*/ 4 h 333"/>
              <a:gd name="T56" fmla="*/ 101 w 333"/>
              <a:gd name="T57" fmla="*/ 13 h 333"/>
              <a:gd name="T58" fmla="*/ 74 w 333"/>
              <a:gd name="T59" fmla="*/ 28 h 333"/>
              <a:gd name="T60" fmla="*/ 50 w 333"/>
              <a:gd name="T61" fmla="*/ 47 h 333"/>
              <a:gd name="T62" fmla="*/ 29 w 333"/>
              <a:gd name="T63" fmla="*/ 72 h 333"/>
              <a:gd name="T64" fmla="*/ 14 w 333"/>
              <a:gd name="T65" fmla="*/ 101 h 333"/>
              <a:gd name="T66" fmla="*/ 4 w 333"/>
              <a:gd name="T67" fmla="*/ 133 h 333"/>
              <a:gd name="T68" fmla="*/ 0 w 333"/>
              <a:gd name="T69" fmla="*/ 165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33" h="333">
                <a:moveTo>
                  <a:pt x="166" y="165"/>
                </a:moveTo>
                <a:lnTo>
                  <a:pt x="0" y="165"/>
                </a:lnTo>
                <a:lnTo>
                  <a:pt x="0" y="165"/>
                </a:lnTo>
                <a:lnTo>
                  <a:pt x="0" y="182"/>
                </a:lnTo>
                <a:lnTo>
                  <a:pt x="4" y="200"/>
                </a:lnTo>
                <a:lnTo>
                  <a:pt x="8" y="215"/>
                </a:lnTo>
                <a:lnTo>
                  <a:pt x="14" y="230"/>
                </a:lnTo>
                <a:lnTo>
                  <a:pt x="21" y="245"/>
                </a:lnTo>
                <a:lnTo>
                  <a:pt x="29" y="259"/>
                </a:lnTo>
                <a:lnTo>
                  <a:pt x="38" y="272"/>
                </a:lnTo>
                <a:lnTo>
                  <a:pt x="50" y="283"/>
                </a:lnTo>
                <a:lnTo>
                  <a:pt x="61" y="295"/>
                </a:lnTo>
                <a:lnTo>
                  <a:pt x="74" y="304"/>
                </a:lnTo>
                <a:lnTo>
                  <a:pt x="88" y="312"/>
                </a:lnTo>
                <a:lnTo>
                  <a:pt x="101" y="320"/>
                </a:lnTo>
                <a:lnTo>
                  <a:pt x="116" y="325"/>
                </a:lnTo>
                <a:lnTo>
                  <a:pt x="133" y="329"/>
                </a:lnTo>
                <a:lnTo>
                  <a:pt x="149" y="331"/>
                </a:lnTo>
                <a:lnTo>
                  <a:pt x="166" y="333"/>
                </a:lnTo>
                <a:lnTo>
                  <a:pt x="166" y="333"/>
                </a:lnTo>
                <a:lnTo>
                  <a:pt x="183" y="331"/>
                </a:lnTo>
                <a:lnTo>
                  <a:pt x="200" y="329"/>
                </a:lnTo>
                <a:lnTo>
                  <a:pt x="215" y="325"/>
                </a:lnTo>
                <a:lnTo>
                  <a:pt x="231" y="320"/>
                </a:lnTo>
                <a:lnTo>
                  <a:pt x="246" y="312"/>
                </a:lnTo>
                <a:lnTo>
                  <a:pt x="259" y="304"/>
                </a:lnTo>
                <a:lnTo>
                  <a:pt x="272" y="295"/>
                </a:lnTo>
                <a:lnTo>
                  <a:pt x="284" y="283"/>
                </a:lnTo>
                <a:lnTo>
                  <a:pt x="295" y="272"/>
                </a:lnTo>
                <a:lnTo>
                  <a:pt x="305" y="259"/>
                </a:lnTo>
                <a:lnTo>
                  <a:pt x="312" y="245"/>
                </a:lnTo>
                <a:lnTo>
                  <a:pt x="320" y="230"/>
                </a:lnTo>
                <a:lnTo>
                  <a:pt x="326" y="215"/>
                </a:lnTo>
                <a:lnTo>
                  <a:pt x="330" y="200"/>
                </a:lnTo>
                <a:lnTo>
                  <a:pt x="331" y="182"/>
                </a:lnTo>
                <a:lnTo>
                  <a:pt x="333" y="165"/>
                </a:lnTo>
                <a:lnTo>
                  <a:pt x="333" y="165"/>
                </a:lnTo>
                <a:lnTo>
                  <a:pt x="331" y="148"/>
                </a:lnTo>
                <a:lnTo>
                  <a:pt x="330" y="133"/>
                </a:lnTo>
                <a:lnTo>
                  <a:pt x="326" y="116"/>
                </a:lnTo>
                <a:lnTo>
                  <a:pt x="320" y="101"/>
                </a:lnTo>
                <a:lnTo>
                  <a:pt x="312" y="87"/>
                </a:lnTo>
                <a:lnTo>
                  <a:pt x="305" y="72"/>
                </a:lnTo>
                <a:lnTo>
                  <a:pt x="295" y="61"/>
                </a:lnTo>
                <a:lnTo>
                  <a:pt x="284" y="49"/>
                </a:lnTo>
                <a:lnTo>
                  <a:pt x="272" y="38"/>
                </a:lnTo>
                <a:lnTo>
                  <a:pt x="259" y="28"/>
                </a:lnTo>
                <a:lnTo>
                  <a:pt x="246" y="19"/>
                </a:lnTo>
                <a:lnTo>
                  <a:pt x="232" y="13"/>
                </a:lnTo>
                <a:lnTo>
                  <a:pt x="217" y="7"/>
                </a:lnTo>
                <a:lnTo>
                  <a:pt x="200" y="4"/>
                </a:lnTo>
                <a:lnTo>
                  <a:pt x="183" y="0"/>
                </a:lnTo>
                <a:lnTo>
                  <a:pt x="168" y="0"/>
                </a:lnTo>
                <a:lnTo>
                  <a:pt x="168" y="0"/>
                </a:lnTo>
                <a:lnTo>
                  <a:pt x="151" y="0"/>
                </a:lnTo>
                <a:lnTo>
                  <a:pt x="133" y="4"/>
                </a:lnTo>
                <a:lnTo>
                  <a:pt x="118" y="7"/>
                </a:lnTo>
                <a:lnTo>
                  <a:pt x="101" y="13"/>
                </a:lnTo>
                <a:lnTo>
                  <a:pt x="88" y="19"/>
                </a:lnTo>
                <a:lnTo>
                  <a:pt x="74" y="28"/>
                </a:lnTo>
                <a:lnTo>
                  <a:pt x="61" y="38"/>
                </a:lnTo>
                <a:lnTo>
                  <a:pt x="50" y="47"/>
                </a:lnTo>
                <a:lnTo>
                  <a:pt x="38" y="61"/>
                </a:lnTo>
                <a:lnTo>
                  <a:pt x="29" y="72"/>
                </a:lnTo>
                <a:lnTo>
                  <a:pt x="21" y="87"/>
                </a:lnTo>
                <a:lnTo>
                  <a:pt x="14" y="101"/>
                </a:lnTo>
                <a:lnTo>
                  <a:pt x="8" y="116"/>
                </a:lnTo>
                <a:lnTo>
                  <a:pt x="4" y="133"/>
                </a:lnTo>
                <a:lnTo>
                  <a:pt x="0" y="148"/>
                </a:lnTo>
                <a:lnTo>
                  <a:pt x="0" y="165"/>
                </a:lnTo>
                <a:lnTo>
                  <a:pt x="166" y="165"/>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p:nvSpPr>
        <p:spPr bwMode="auto">
          <a:xfrm>
            <a:off x="3663950" y="5432426"/>
            <a:ext cx="111125" cy="115888"/>
          </a:xfrm>
          <a:custGeom>
            <a:avLst/>
            <a:gdLst>
              <a:gd name="T0" fmla="*/ 36 w 70"/>
              <a:gd name="T1" fmla="*/ 37 h 73"/>
              <a:gd name="T2" fmla="*/ 0 w 70"/>
              <a:gd name="T3" fmla="*/ 37 h 73"/>
              <a:gd name="T4" fmla="*/ 0 w 70"/>
              <a:gd name="T5" fmla="*/ 37 h 73"/>
              <a:gd name="T6" fmla="*/ 0 w 70"/>
              <a:gd name="T7" fmla="*/ 44 h 73"/>
              <a:gd name="T8" fmla="*/ 1 w 70"/>
              <a:gd name="T9" fmla="*/ 50 h 73"/>
              <a:gd name="T10" fmla="*/ 5 w 70"/>
              <a:gd name="T11" fmla="*/ 56 h 73"/>
              <a:gd name="T12" fmla="*/ 9 w 70"/>
              <a:gd name="T13" fmla="*/ 61 h 73"/>
              <a:gd name="T14" fmla="*/ 15 w 70"/>
              <a:gd name="T15" fmla="*/ 65 h 73"/>
              <a:gd name="T16" fmla="*/ 20 w 70"/>
              <a:gd name="T17" fmla="*/ 69 h 73"/>
              <a:gd name="T18" fmla="*/ 28 w 70"/>
              <a:gd name="T19" fmla="*/ 71 h 73"/>
              <a:gd name="T20" fmla="*/ 36 w 70"/>
              <a:gd name="T21" fmla="*/ 73 h 73"/>
              <a:gd name="T22" fmla="*/ 36 w 70"/>
              <a:gd name="T23" fmla="*/ 73 h 73"/>
              <a:gd name="T24" fmla="*/ 41 w 70"/>
              <a:gd name="T25" fmla="*/ 71 h 73"/>
              <a:gd name="T26" fmla="*/ 49 w 70"/>
              <a:gd name="T27" fmla="*/ 69 h 73"/>
              <a:gd name="T28" fmla="*/ 55 w 70"/>
              <a:gd name="T29" fmla="*/ 65 h 73"/>
              <a:gd name="T30" fmla="*/ 60 w 70"/>
              <a:gd name="T31" fmla="*/ 61 h 73"/>
              <a:gd name="T32" fmla="*/ 64 w 70"/>
              <a:gd name="T33" fmla="*/ 56 h 73"/>
              <a:gd name="T34" fmla="*/ 68 w 70"/>
              <a:gd name="T35" fmla="*/ 50 h 73"/>
              <a:gd name="T36" fmla="*/ 70 w 70"/>
              <a:gd name="T37" fmla="*/ 44 h 73"/>
              <a:gd name="T38" fmla="*/ 70 w 70"/>
              <a:gd name="T39" fmla="*/ 37 h 73"/>
              <a:gd name="T40" fmla="*/ 70 w 70"/>
              <a:gd name="T41" fmla="*/ 37 h 73"/>
              <a:gd name="T42" fmla="*/ 70 w 70"/>
              <a:gd name="T43" fmla="*/ 29 h 73"/>
              <a:gd name="T44" fmla="*/ 68 w 70"/>
              <a:gd name="T45" fmla="*/ 21 h 73"/>
              <a:gd name="T46" fmla="*/ 64 w 70"/>
              <a:gd name="T47" fmla="*/ 16 h 73"/>
              <a:gd name="T48" fmla="*/ 60 w 70"/>
              <a:gd name="T49" fmla="*/ 12 h 73"/>
              <a:gd name="T50" fmla="*/ 55 w 70"/>
              <a:gd name="T51" fmla="*/ 6 h 73"/>
              <a:gd name="T52" fmla="*/ 49 w 70"/>
              <a:gd name="T53" fmla="*/ 2 h 73"/>
              <a:gd name="T54" fmla="*/ 41 w 70"/>
              <a:gd name="T55" fmla="*/ 0 h 73"/>
              <a:gd name="T56" fmla="*/ 36 w 70"/>
              <a:gd name="T57" fmla="*/ 0 h 73"/>
              <a:gd name="T58" fmla="*/ 36 w 70"/>
              <a:gd name="T59" fmla="*/ 0 h 73"/>
              <a:gd name="T60" fmla="*/ 28 w 70"/>
              <a:gd name="T61" fmla="*/ 0 h 73"/>
              <a:gd name="T62" fmla="*/ 20 w 70"/>
              <a:gd name="T63" fmla="*/ 2 h 73"/>
              <a:gd name="T64" fmla="*/ 15 w 70"/>
              <a:gd name="T65" fmla="*/ 6 h 73"/>
              <a:gd name="T66" fmla="*/ 9 w 70"/>
              <a:gd name="T67" fmla="*/ 10 h 73"/>
              <a:gd name="T68" fmla="*/ 5 w 70"/>
              <a:gd name="T69" fmla="*/ 16 h 73"/>
              <a:gd name="T70" fmla="*/ 1 w 70"/>
              <a:gd name="T71" fmla="*/ 21 h 73"/>
              <a:gd name="T72" fmla="*/ 0 w 70"/>
              <a:gd name="T73" fmla="*/ 29 h 73"/>
              <a:gd name="T74" fmla="*/ 0 w 70"/>
              <a:gd name="T75" fmla="*/ 37 h 73"/>
              <a:gd name="T76" fmla="*/ 36 w 70"/>
              <a:gd name="T77" fmla="*/ 37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0" h="73">
                <a:moveTo>
                  <a:pt x="36" y="37"/>
                </a:moveTo>
                <a:lnTo>
                  <a:pt x="0" y="37"/>
                </a:lnTo>
                <a:lnTo>
                  <a:pt x="0" y="37"/>
                </a:lnTo>
                <a:lnTo>
                  <a:pt x="0" y="44"/>
                </a:lnTo>
                <a:lnTo>
                  <a:pt x="1" y="50"/>
                </a:lnTo>
                <a:lnTo>
                  <a:pt x="5" y="56"/>
                </a:lnTo>
                <a:lnTo>
                  <a:pt x="9" y="61"/>
                </a:lnTo>
                <a:lnTo>
                  <a:pt x="15" y="65"/>
                </a:lnTo>
                <a:lnTo>
                  <a:pt x="20" y="69"/>
                </a:lnTo>
                <a:lnTo>
                  <a:pt x="28" y="71"/>
                </a:lnTo>
                <a:lnTo>
                  <a:pt x="36" y="73"/>
                </a:lnTo>
                <a:lnTo>
                  <a:pt x="36" y="73"/>
                </a:lnTo>
                <a:lnTo>
                  <a:pt x="41" y="71"/>
                </a:lnTo>
                <a:lnTo>
                  <a:pt x="49" y="69"/>
                </a:lnTo>
                <a:lnTo>
                  <a:pt x="55" y="65"/>
                </a:lnTo>
                <a:lnTo>
                  <a:pt x="60" y="61"/>
                </a:lnTo>
                <a:lnTo>
                  <a:pt x="64" y="56"/>
                </a:lnTo>
                <a:lnTo>
                  <a:pt x="68" y="50"/>
                </a:lnTo>
                <a:lnTo>
                  <a:pt x="70" y="44"/>
                </a:lnTo>
                <a:lnTo>
                  <a:pt x="70" y="37"/>
                </a:lnTo>
                <a:lnTo>
                  <a:pt x="70" y="37"/>
                </a:lnTo>
                <a:lnTo>
                  <a:pt x="70" y="29"/>
                </a:lnTo>
                <a:lnTo>
                  <a:pt x="68" y="21"/>
                </a:lnTo>
                <a:lnTo>
                  <a:pt x="64" y="16"/>
                </a:lnTo>
                <a:lnTo>
                  <a:pt x="60" y="12"/>
                </a:lnTo>
                <a:lnTo>
                  <a:pt x="55" y="6"/>
                </a:lnTo>
                <a:lnTo>
                  <a:pt x="49" y="2"/>
                </a:lnTo>
                <a:lnTo>
                  <a:pt x="41" y="0"/>
                </a:lnTo>
                <a:lnTo>
                  <a:pt x="36" y="0"/>
                </a:lnTo>
                <a:lnTo>
                  <a:pt x="36" y="0"/>
                </a:lnTo>
                <a:lnTo>
                  <a:pt x="28" y="0"/>
                </a:lnTo>
                <a:lnTo>
                  <a:pt x="20" y="2"/>
                </a:lnTo>
                <a:lnTo>
                  <a:pt x="15" y="6"/>
                </a:lnTo>
                <a:lnTo>
                  <a:pt x="9" y="10"/>
                </a:lnTo>
                <a:lnTo>
                  <a:pt x="5" y="16"/>
                </a:lnTo>
                <a:lnTo>
                  <a:pt x="1" y="21"/>
                </a:lnTo>
                <a:lnTo>
                  <a:pt x="0" y="29"/>
                </a:lnTo>
                <a:lnTo>
                  <a:pt x="0" y="37"/>
                </a:lnTo>
                <a:lnTo>
                  <a:pt x="36" y="37"/>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p:nvSpPr>
        <p:spPr bwMode="auto">
          <a:xfrm>
            <a:off x="3657600" y="5427663"/>
            <a:ext cx="123825" cy="125413"/>
          </a:xfrm>
          <a:custGeom>
            <a:avLst/>
            <a:gdLst>
              <a:gd name="T0" fmla="*/ 40 w 78"/>
              <a:gd name="T1" fmla="*/ 36 h 79"/>
              <a:gd name="T2" fmla="*/ 0 w 78"/>
              <a:gd name="T3" fmla="*/ 40 h 79"/>
              <a:gd name="T4" fmla="*/ 0 w 78"/>
              <a:gd name="T5" fmla="*/ 40 h 79"/>
              <a:gd name="T6" fmla="*/ 2 w 78"/>
              <a:gd name="T7" fmla="*/ 55 h 79"/>
              <a:gd name="T8" fmla="*/ 11 w 78"/>
              <a:gd name="T9" fmla="*/ 68 h 79"/>
              <a:gd name="T10" fmla="*/ 23 w 78"/>
              <a:gd name="T11" fmla="*/ 76 h 79"/>
              <a:gd name="T12" fmla="*/ 40 w 78"/>
              <a:gd name="T13" fmla="*/ 79 h 79"/>
              <a:gd name="T14" fmla="*/ 40 w 78"/>
              <a:gd name="T15" fmla="*/ 79 h 79"/>
              <a:gd name="T16" fmla="*/ 55 w 78"/>
              <a:gd name="T17" fmla="*/ 76 h 79"/>
              <a:gd name="T18" fmla="*/ 66 w 78"/>
              <a:gd name="T19" fmla="*/ 68 h 79"/>
              <a:gd name="T20" fmla="*/ 76 w 78"/>
              <a:gd name="T21" fmla="*/ 55 h 79"/>
              <a:gd name="T22" fmla="*/ 78 w 78"/>
              <a:gd name="T23" fmla="*/ 40 h 79"/>
              <a:gd name="T24" fmla="*/ 76 w 78"/>
              <a:gd name="T25" fmla="*/ 40 h 79"/>
              <a:gd name="T26" fmla="*/ 78 w 78"/>
              <a:gd name="T27" fmla="*/ 40 h 79"/>
              <a:gd name="T28" fmla="*/ 78 w 78"/>
              <a:gd name="T29" fmla="*/ 40 h 79"/>
              <a:gd name="T30" fmla="*/ 78 w 78"/>
              <a:gd name="T31" fmla="*/ 32 h 79"/>
              <a:gd name="T32" fmla="*/ 72 w 78"/>
              <a:gd name="T33" fmla="*/ 17 h 79"/>
              <a:gd name="T34" fmla="*/ 61 w 78"/>
              <a:gd name="T35" fmla="*/ 7 h 79"/>
              <a:gd name="T36" fmla="*/ 47 w 78"/>
              <a:gd name="T37" fmla="*/ 0 h 79"/>
              <a:gd name="T38" fmla="*/ 40 w 78"/>
              <a:gd name="T39" fmla="*/ 3 h 79"/>
              <a:gd name="T40" fmla="*/ 40 w 78"/>
              <a:gd name="T41" fmla="*/ 0 h 79"/>
              <a:gd name="T42" fmla="*/ 30 w 78"/>
              <a:gd name="T43" fmla="*/ 0 h 79"/>
              <a:gd name="T44" fmla="*/ 17 w 78"/>
              <a:gd name="T45" fmla="*/ 7 h 79"/>
              <a:gd name="T46" fmla="*/ 5 w 78"/>
              <a:gd name="T47" fmla="*/ 17 h 79"/>
              <a:gd name="T48" fmla="*/ 0 w 78"/>
              <a:gd name="T49" fmla="*/ 32 h 79"/>
              <a:gd name="T50" fmla="*/ 0 w 78"/>
              <a:gd name="T51" fmla="*/ 43 h 79"/>
              <a:gd name="T52" fmla="*/ 40 w 78"/>
              <a:gd name="T53" fmla="*/ 36 h 79"/>
              <a:gd name="T54" fmla="*/ 40 w 78"/>
              <a:gd name="T55" fmla="*/ 36 h 79"/>
              <a:gd name="T56" fmla="*/ 4 w 78"/>
              <a:gd name="T57" fmla="*/ 40 h 79"/>
              <a:gd name="T58" fmla="*/ 7 w 78"/>
              <a:gd name="T59" fmla="*/ 40 h 79"/>
              <a:gd name="T60" fmla="*/ 9 w 78"/>
              <a:gd name="T61" fmla="*/ 26 h 79"/>
              <a:gd name="T62" fmla="*/ 17 w 78"/>
              <a:gd name="T63" fmla="*/ 17 h 79"/>
              <a:gd name="T64" fmla="*/ 26 w 78"/>
              <a:gd name="T65" fmla="*/ 9 h 79"/>
              <a:gd name="T66" fmla="*/ 40 w 78"/>
              <a:gd name="T67" fmla="*/ 7 h 79"/>
              <a:gd name="T68" fmla="*/ 38 w 78"/>
              <a:gd name="T69" fmla="*/ 7 h 79"/>
              <a:gd name="T70" fmla="*/ 40 w 78"/>
              <a:gd name="T71" fmla="*/ 3 h 79"/>
              <a:gd name="T72" fmla="*/ 38 w 78"/>
              <a:gd name="T73" fmla="*/ 7 h 79"/>
              <a:gd name="T74" fmla="*/ 40 w 78"/>
              <a:gd name="T75" fmla="*/ 7 h 79"/>
              <a:gd name="T76" fmla="*/ 51 w 78"/>
              <a:gd name="T77" fmla="*/ 9 h 79"/>
              <a:gd name="T78" fmla="*/ 61 w 78"/>
              <a:gd name="T79" fmla="*/ 17 h 79"/>
              <a:gd name="T80" fmla="*/ 68 w 78"/>
              <a:gd name="T81" fmla="*/ 26 h 79"/>
              <a:gd name="T82" fmla="*/ 70 w 78"/>
              <a:gd name="T83" fmla="*/ 40 h 79"/>
              <a:gd name="T84" fmla="*/ 74 w 78"/>
              <a:gd name="T85" fmla="*/ 40 h 79"/>
              <a:gd name="T86" fmla="*/ 70 w 78"/>
              <a:gd name="T87" fmla="*/ 40 h 79"/>
              <a:gd name="T88" fmla="*/ 70 w 78"/>
              <a:gd name="T89" fmla="*/ 40 h 79"/>
              <a:gd name="T90" fmla="*/ 70 w 78"/>
              <a:gd name="T91" fmla="*/ 45 h 79"/>
              <a:gd name="T92" fmla="*/ 64 w 78"/>
              <a:gd name="T93" fmla="*/ 57 h 79"/>
              <a:gd name="T94" fmla="*/ 57 w 78"/>
              <a:gd name="T95" fmla="*/ 66 h 79"/>
              <a:gd name="T96" fmla="*/ 45 w 78"/>
              <a:gd name="T97" fmla="*/ 70 h 79"/>
              <a:gd name="T98" fmla="*/ 40 w 78"/>
              <a:gd name="T99" fmla="*/ 72 h 79"/>
              <a:gd name="T100" fmla="*/ 32 w 78"/>
              <a:gd name="T101" fmla="*/ 70 h 79"/>
              <a:gd name="T102" fmla="*/ 21 w 78"/>
              <a:gd name="T103" fmla="*/ 66 h 79"/>
              <a:gd name="T104" fmla="*/ 13 w 78"/>
              <a:gd name="T105" fmla="*/ 57 h 79"/>
              <a:gd name="T106" fmla="*/ 7 w 78"/>
              <a:gd name="T107" fmla="*/ 45 h 79"/>
              <a:gd name="T108" fmla="*/ 4 w 78"/>
              <a:gd name="T109" fmla="*/ 40 h 79"/>
              <a:gd name="T110" fmla="*/ 7 w 78"/>
              <a:gd name="T111" fmla="*/ 40 h 79"/>
              <a:gd name="T112" fmla="*/ 7 w 78"/>
              <a:gd name="T113" fmla="*/ 40 h 79"/>
              <a:gd name="T114" fmla="*/ 4 w 78"/>
              <a:gd name="T115" fmla="*/ 43 h 79"/>
              <a:gd name="T116" fmla="*/ 40 w 78"/>
              <a:gd name="T117" fmla="*/ 3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 h="79">
                <a:moveTo>
                  <a:pt x="40" y="40"/>
                </a:moveTo>
                <a:lnTo>
                  <a:pt x="40" y="36"/>
                </a:lnTo>
                <a:lnTo>
                  <a:pt x="0" y="36"/>
                </a:lnTo>
                <a:lnTo>
                  <a:pt x="0" y="40"/>
                </a:lnTo>
                <a:lnTo>
                  <a:pt x="0" y="40"/>
                </a:lnTo>
                <a:lnTo>
                  <a:pt x="0" y="40"/>
                </a:lnTo>
                <a:lnTo>
                  <a:pt x="0" y="47"/>
                </a:lnTo>
                <a:lnTo>
                  <a:pt x="2" y="55"/>
                </a:lnTo>
                <a:lnTo>
                  <a:pt x="5" y="60"/>
                </a:lnTo>
                <a:lnTo>
                  <a:pt x="11" y="68"/>
                </a:lnTo>
                <a:lnTo>
                  <a:pt x="17" y="72"/>
                </a:lnTo>
                <a:lnTo>
                  <a:pt x="23" y="76"/>
                </a:lnTo>
                <a:lnTo>
                  <a:pt x="30" y="78"/>
                </a:lnTo>
                <a:lnTo>
                  <a:pt x="40" y="79"/>
                </a:lnTo>
                <a:lnTo>
                  <a:pt x="40" y="79"/>
                </a:lnTo>
                <a:lnTo>
                  <a:pt x="40" y="79"/>
                </a:lnTo>
                <a:lnTo>
                  <a:pt x="47" y="78"/>
                </a:lnTo>
                <a:lnTo>
                  <a:pt x="55" y="76"/>
                </a:lnTo>
                <a:lnTo>
                  <a:pt x="61" y="72"/>
                </a:lnTo>
                <a:lnTo>
                  <a:pt x="66" y="68"/>
                </a:lnTo>
                <a:lnTo>
                  <a:pt x="72" y="60"/>
                </a:lnTo>
                <a:lnTo>
                  <a:pt x="76" y="55"/>
                </a:lnTo>
                <a:lnTo>
                  <a:pt x="78" y="47"/>
                </a:lnTo>
                <a:lnTo>
                  <a:pt x="78" y="40"/>
                </a:lnTo>
                <a:lnTo>
                  <a:pt x="78" y="40"/>
                </a:lnTo>
                <a:lnTo>
                  <a:pt x="76" y="40"/>
                </a:lnTo>
                <a:lnTo>
                  <a:pt x="78" y="40"/>
                </a:lnTo>
                <a:lnTo>
                  <a:pt x="78" y="40"/>
                </a:lnTo>
                <a:lnTo>
                  <a:pt x="76" y="40"/>
                </a:lnTo>
                <a:lnTo>
                  <a:pt x="78" y="40"/>
                </a:lnTo>
                <a:lnTo>
                  <a:pt x="78" y="40"/>
                </a:lnTo>
                <a:lnTo>
                  <a:pt x="78" y="32"/>
                </a:lnTo>
                <a:lnTo>
                  <a:pt x="76" y="24"/>
                </a:lnTo>
                <a:lnTo>
                  <a:pt x="72" y="17"/>
                </a:lnTo>
                <a:lnTo>
                  <a:pt x="66" y="11"/>
                </a:lnTo>
                <a:lnTo>
                  <a:pt x="61" y="7"/>
                </a:lnTo>
                <a:lnTo>
                  <a:pt x="55" y="3"/>
                </a:lnTo>
                <a:lnTo>
                  <a:pt x="47" y="0"/>
                </a:lnTo>
                <a:lnTo>
                  <a:pt x="40" y="0"/>
                </a:lnTo>
                <a:lnTo>
                  <a:pt x="40" y="3"/>
                </a:lnTo>
                <a:lnTo>
                  <a:pt x="40" y="0"/>
                </a:lnTo>
                <a:lnTo>
                  <a:pt x="40" y="0"/>
                </a:lnTo>
                <a:lnTo>
                  <a:pt x="40" y="0"/>
                </a:lnTo>
                <a:lnTo>
                  <a:pt x="30" y="0"/>
                </a:lnTo>
                <a:lnTo>
                  <a:pt x="23" y="3"/>
                </a:lnTo>
                <a:lnTo>
                  <a:pt x="17" y="7"/>
                </a:lnTo>
                <a:lnTo>
                  <a:pt x="11" y="11"/>
                </a:lnTo>
                <a:lnTo>
                  <a:pt x="5" y="17"/>
                </a:lnTo>
                <a:lnTo>
                  <a:pt x="2" y="24"/>
                </a:lnTo>
                <a:lnTo>
                  <a:pt x="0" y="32"/>
                </a:lnTo>
                <a:lnTo>
                  <a:pt x="0" y="40"/>
                </a:lnTo>
                <a:lnTo>
                  <a:pt x="0" y="43"/>
                </a:lnTo>
                <a:lnTo>
                  <a:pt x="40" y="43"/>
                </a:lnTo>
                <a:lnTo>
                  <a:pt x="40" y="36"/>
                </a:lnTo>
                <a:lnTo>
                  <a:pt x="40" y="40"/>
                </a:lnTo>
                <a:lnTo>
                  <a:pt x="40" y="36"/>
                </a:lnTo>
                <a:lnTo>
                  <a:pt x="4" y="36"/>
                </a:lnTo>
                <a:lnTo>
                  <a:pt x="4" y="40"/>
                </a:lnTo>
                <a:lnTo>
                  <a:pt x="7" y="40"/>
                </a:lnTo>
                <a:lnTo>
                  <a:pt x="7" y="40"/>
                </a:lnTo>
                <a:lnTo>
                  <a:pt x="7" y="32"/>
                </a:lnTo>
                <a:lnTo>
                  <a:pt x="9" y="26"/>
                </a:lnTo>
                <a:lnTo>
                  <a:pt x="13" y="20"/>
                </a:lnTo>
                <a:lnTo>
                  <a:pt x="17" y="17"/>
                </a:lnTo>
                <a:lnTo>
                  <a:pt x="21" y="13"/>
                </a:lnTo>
                <a:lnTo>
                  <a:pt x="26" y="9"/>
                </a:lnTo>
                <a:lnTo>
                  <a:pt x="32" y="7"/>
                </a:lnTo>
                <a:lnTo>
                  <a:pt x="40" y="7"/>
                </a:lnTo>
                <a:lnTo>
                  <a:pt x="40" y="3"/>
                </a:lnTo>
                <a:lnTo>
                  <a:pt x="38" y="7"/>
                </a:lnTo>
                <a:lnTo>
                  <a:pt x="40" y="7"/>
                </a:lnTo>
                <a:lnTo>
                  <a:pt x="40" y="3"/>
                </a:lnTo>
                <a:lnTo>
                  <a:pt x="38" y="7"/>
                </a:lnTo>
                <a:lnTo>
                  <a:pt x="38" y="7"/>
                </a:lnTo>
                <a:lnTo>
                  <a:pt x="40" y="7"/>
                </a:lnTo>
                <a:lnTo>
                  <a:pt x="40" y="7"/>
                </a:lnTo>
                <a:lnTo>
                  <a:pt x="45" y="7"/>
                </a:lnTo>
                <a:lnTo>
                  <a:pt x="51" y="9"/>
                </a:lnTo>
                <a:lnTo>
                  <a:pt x="57" y="13"/>
                </a:lnTo>
                <a:lnTo>
                  <a:pt x="61" y="17"/>
                </a:lnTo>
                <a:lnTo>
                  <a:pt x="64" y="20"/>
                </a:lnTo>
                <a:lnTo>
                  <a:pt x="68" y="26"/>
                </a:lnTo>
                <a:lnTo>
                  <a:pt x="70" y="32"/>
                </a:lnTo>
                <a:lnTo>
                  <a:pt x="70" y="40"/>
                </a:lnTo>
                <a:lnTo>
                  <a:pt x="70" y="40"/>
                </a:lnTo>
                <a:lnTo>
                  <a:pt x="74" y="40"/>
                </a:lnTo>
                <a:lnTo>
                  <a:pt x="70" y="40"/>
                </a:lnTo>
                <a:lnTo>
                  <a:pt x="70" y="40"/>
                </a:lnTo>
                <a:lnTo>
                  <a:pt x="74" y="40"/>
                </a:lnTo>
                <a:lnTo>
                  <a:pt x="70" y="40"/>
                </a:lnTo>
                <a:lnTo>
                  <a:pt x="70" y="40"/>
                </a:lnTo>
                <a:lnTo>
                  <a:pt x="70" y="45"/>
                </a:lnTo>
                <a:lnTo>
                  <a:pt x="68" y="51"/>
                </a:lnTo>
                <a:lnTo>
                  <a:pt x="64" y="57"/>
                </a:lnTo>
                <a:lnTo>
                  <a:pt x="61" y="62"/>
                </a:lnTo>
                <a:lnTo>
                  <a:pt x="57" y="66"/>
                </a:lnTo>
                <a:lnTo>
                  <a:pt x="51" y="68"/>
                </a:lnTo>
                <a:lnTo>
                  <a:pt x="45" y="70"/>
                </a:lnTo>
                <a:lnTo>
                  <a:pt x="40" y="72"/>
                </a:lnTo>
                <a:lnTo>
                  <a:pt x="40" y="72"/>
                </a:lnTo>
                <a:lnTo>
                  <a:pt x="40" y="72"/>
                </a:lnTo>
                <a:lnTo>
                  <a:pt x="32" y="70"/>
                </a:lnTo>
                <a:lnTo>
                  <a:pt x="26" y="68"/>
                </a:lnTo>
                <a:lnTo>
                  <a:pt x="21" y="66"/>
                </a:lnTo>
                <a:lnTo>
                  <a:pt x="17" y="62"/>
                </a:lnTo>
                <a:lnTo>
                  <a:pt x="13" y="57"/>
                </a:lnTo>
                <a:lnTo>
                  <a:pt x="9" y="51"/>
                </a:lnTo>
                <a:lnTo>
                  <a:pt x="7" y="45"/>
                </a:lnTo>
                <a:lnTo>
                  <a:pt x="7" y="40"/>
                </a:lnTo>
                <a:lnTo>
                  <a:pt x="4" y="40"/>
                </a:lnTo>
                <a:lnTo>
                  <a:pt x="7" y="40"/>
                </a:lnTo>
                <a:lnTo>
                  <a:pt x="7" y="40"/>
                </a:lnTo>
                <a:lnTo>
                  <a:pt x="4" y="40"/>
                </a:lnTo>
                <a:lnTo>
                  <a:pt x="7" y="40"/>
                </a:lnTo>
                <a:lnTo>
                  <a:pt x="4" y="40"/>
                </a:lnTo>
                <a:lnTo>
                  <a:pt x="4" y="43"/>
                </a:lnTo>
                <a:lnTo>
                  <a:pt x="40" y="43"/>
                </a:lnTo>
                <a:lnTo>
                  <a:pt x="40" y="36"/>
                </a:lnTo>
                <a:lnTo>
                  <a:pt x="40" y="4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6"/>
          <p:cNvSpPr>
            <a:spLocks/>
          </p:cNvSpPr>
          <p:nvPr/>
        </p:nvSpPr>
        <p:spPr bwMode="auto">
          <a:xfrm>
            <a:off x="3370263" y="6227763"/>
            <a:ext cx="114300" cy="114300"/>
          </a:xfrm>
          <a:custGeom>
            <a:avLst/>
            <a:gdLst>
              <a:gd name="T0" fmla="*/ 36 w 72"/>
              <a:gd name="T1" fmla="*/ 36 h 72"/>
              <a:gd name="T2" fmla="*/ 0 w 72"/>
              <a:gd name="T3" fmla="*/ 36 h 72"/>
              <a:gd name="T4" fmla="*/ 0 w 72"/>
              <a:gd name="T5" fmla="*/ 36 h 72"/>
              <a:gd name="T6" fmla="*/ 0 w 72"/>
              <a:gd name="T7" fmla="*/ 44 h 72"/>
              <a:gd name="T8" fmla="*/ 4 w 72"/>
              <a:gd name="T9" fmla="*/ 50 h 72"/>
              <a:gd name="T10" fmla="*/ 6 w 72"/>
              <a:gd name="T11" fmla="*/ 55 h 72"/>
              <a:gd name="T12" fmla="*/ 11 w 72"/>
              <a:gd name="T13" fmla="*/ 61 h 72"/>
              <a:gd name="T14" fmla="*/ 15 w 72"/>
              <a:gd name="T15" fmla="*/ 65 h 72"/>
              <a:gd name="T16" fmla="*/ 23 w 72"/>
              <a:gd name="T17" fmla="*/ 69 h 72"/>
              <a:gd name="T18" fmla="*/ 28 w 72"/>
              <a:gd name="T19" fmla="*/ 70 h 72"/>
              <a:gd name="T20" fmla="*/ 36 w 72"/>
              <a:gd name="T21" fmla="*/ 72 h 72"/>
              <a:gd name="T22" fmla="*/ 36 w 72"/>
              <a:gd name="T23" fmla="*/ 72 h 72"/>
              <a:gd name="T24" fmla="*/ 44 w 72"/>
              <a:gd name="T25" fmla="*/ 70 h 72"/>
              <a:gd name="T26" fmla="*/ 49 w 72"/>
              <a:gd name="T27" fmla="*/ 69 h 72"/>
              <a:gd name="T28" fmla="*/ 55 w 72"/>
              <a:gd name="T29" fmla="*/ 65 h 72"/>
              <a:gd name="T30" fmla="*/ 61 w 72"/>
              <a:gd name="T31" fmla="*/ 61 h 72"/>
              <a:gd name="T32" fmla="*/ 65 w 72"/>
              <a:gd name="T33" fmla="*/ 55 h 72"/>
              <a:gd name="T34" fmla="*/ 68 w 72"/>
              <a:gd name="T35" fmla="*/ 50 h 72"/>
              <a:gd name="T36" fmla="*/ 70 w 72"/>
              <a:gd name="T37" fmla="*/ 44 h 72"/>
              <a:gd name="T38" fmla="*/ 72 w 72"/>
              <a:gd name="T39" fmla="*/ 36 h 72"/>
              <a:gd name="T40" fmla="*/ 72 w 72"/>
              <a:gd name="T41" fmla="*/ 36 h 72"/>
              <a:gd name="T42" fmla="*/ 70 w 72"/>
              <a:gd name="T43" fmla="*/ 29 h 72"/>
              <a:gd name="T44" fmla="*/ 68 w 72"/>
              <a:gd name="T45" fmla="*/ 23 h 72"/>
              <a:gd name="T46" fmla="*/ 65 w 72"/>
              <a:gd name="T47" fmla="*/ 15 h 72"/>
              <a:gd name="T48" fmla="*/ 61 w 72"/>
              <a:gd name="T49" fmla="*/ 11 h 72"/>
              <a:gd name="T50" fmla="*/ 55 w 72"/>
              <a:gd name="T51" fmla="*/ 6 h 72"/>
              <a:gd name="T52" fmla="*/ 49 w 72"/>
              <a:gd name="T53" fmla="*/ 4 h 72"/>
              <a:gd name="T54" fmla="*/ 44 w 72"/>
              <a:gd name="T55" fmla="*/ 0 h 72"/>
              <a:gd name="T56" fmla="*/ 36 w 72"/>
              <a:gd name="T57" fmla="*/ 0 h 72"/>
              <a:gd name="T58" fmla="*/ 36 w 72"/>
              <a:gd name="T59" fmla="*/ 0 h 72"/>
              <a:gd name="T60" fmla="*/ 28 w 72"/>
              <a:gd name="T61" fmla="*/ 0 h 72"/>
              <a:gd name="T62" fmla="*/ 23 w 72"/>
              <a:gd name="T63" fmla="*/ 4 h 72"/>
              <a:gd name="T64" fmla="*/ 15 w 72"/>
              <a:gd name="T65" fmla="*/ 6 h 72"/>
              <a:gd name="T66" fmla="*/ 11 w 72"/>
              <a:gd name="T67" fmla="*/ 11 h 72"/>
              <a:gd name="T68" fmla="*/ 6 w 72"/>
              <a:gd name="T69" fmla="*/ 15 h 72"/>
              <a:gd name="T70" fmla="*/ 4 w 72"/>
              <a:gd name="T71" fmla="*/ 23 h 72"/>
              <a:gd name="T72" fmla="*/ 0 w 72"/>
              <a:gd name="T73" fmla="*/ 29 h 72"/>
              <a:gd name="T74" fmla="*/ 0 w 72"/>
              <a:gd name="T75" fmla="*/ 36 h 72"/>
              <a:gd name="T76" fmla="*/ 36 w 72"/>
              <a:gd name="T77"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 h="72">
                <a:moveTo>
                  <a:pt x="36" y="36"/>
                </a:moveTo>
                <a:lnTo>
                  <a:pt x="0" y="36"/>
                </a:lnTo>
                <a:lnTo>
                  <a:pt x="0" y="36"/>
                </a:lnTo>
                <a:lnTo>
                  <a:pt x="0" y="44"/>
                </a:lnTo>
                <a:lnTo>
                  <a:pt x="4" y="50"/>
                </a:lnTo>
                <a:lnTo>
                  <a:pt x="6" y="55"/>
                </a:lnTo>
                <a:lnTo>
                  <a:pt x="11" y="61"/>
                </a:lnTo>
                <a:lnTo>
                  <a:pt x="15" y="65"/>
                </a:lnTo>
                <a:lnTo>
                  <a:pt x="23" y="69"/>
                </a:lnTo>
                <a:lnTo>
                  <a:pt x="28" y="70"/>
                </a:lnTo>
                <a:lnTo>
                  <a:pt x="36" y="72"/>
                </a:lnTo>
                <a:lnTo>
                  <a:pt x="36" y="72"/>
                </a:lnTo>
                <a:lnTo>
                  <a:pt x="44" y="70"/>
                </a:lnTo>
                <a:lnTo>
                  <a:pt x="49" y="69"/>
                </a:lnTo>
                <a:lnTo>
                  <a:pt x="55" y="65"/>
                </a:lnTo>
                <a:lnTo>
                  <a:pt x="61" y="61"/>
                </a:lnTo>
                <a:lnTo>
                  <a:pt x="65" y="55"/>
                </a:lnTo>
                <a:lnTo>
                  <a:pt x="68" y="50"/>
                </a:lnTo>
                <a:lnTo>
                  <a:pt x="70" y="44"/>
                </a:lnTo>
                <a:lnTo>
                  <a:pt x="72" y="36"/>
                </a:lnTo>
                <a:lnTo>
                  <a:pt x="72" y="36"/>
                </a:lnTo>
                <a:lnTo>
                  <a:pt x="70" y="29"/>
                </a:lnTo>
                <a:lnTo>
                  <a:pt x="68" y="23"/>
                </a:lnTo>
                <a:lnTo>
                  <a:pt x="65" y="15"/>
                </a:lnTo>
                <a:lnTo>
                  <a:pt x="61" y="11"/>
                </a:lnTo>
                <a:lnTo>
                  <a:pt x="55" y="6"/>
                </a:lnTo>
                <a:lnTo>
                  <a:pt x="49" y="4"/>
                </a:lnTo>
                <a:lnTo>
                  <a:pt x="44" y="0"/>
                </a:lnTo>
                <a:lnTo>
                  <a:pt x="36" y="0"/>
                </a:lnTo>
                <a:lnTo>
                  <a:pt x="36" y="0"/>
                </a:lnTo>
                <a:lnTo>
                  <a:pt x="28" y="0"/>
                </a:lnTo>
                <a:lnTo>
                  <a:pt x="23" y="4"/>
                </a:lnTo>
                <a:lnTo>
                  <a:pt x="15" y="6"/>
                </a:lnTo>
                <a:lnTo>
                  <a:pt x="11" y="11"/>
                </a:lnTo>
                <a:lnTo>
                  <a:pt x="6" y="15"/>
                </a:lnTo>
                <a:lnTo>
                  <a:pt x="4" y="23"/>
                </a:lnTo>
                <a:lnTo>
                  <a:pt x="0" y="29"/>
                </a:lnTo>
                <a:lnTo>
                  <a:pt x="0" y="36"/>
                </a:lnTo>
                <a:lnTo>
                  <a:pt x="36" y="36"/>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7"/>
          <p:cNvSpPr>
            <a:spLocks/>
          </p:cNvSpPr>
          <p:nvPr/>
        </p:nvSpPr>
        <p:spPr bwMode="auto">
          <a:xfrm>
            <a:off x="3363913" y="6221413"/>
            <a:ext cx="127000" cy="127000"/>
          </a:xfrm>
          <a:custGeom>
            <a:avLst/>
            <a:gdLst>
              <a:gd name="T0" fmla="*/ 40 w 80"/>
              <a:gd name="T1" fmla="*/ 36 h 80"/>
              <a:gd name="T2" fmla="*/ 0 w 80"/>
              <a:gd name="T3" fmla="*/ 40 h 80"/>
              <a:gd name="T4" fmla="*/ 2 w 80"/>
              <a:gd name="T5" fmla="*/ 48 h 80"/>
              <a:gd name="T6" fmla="*/ 8 w 80"/>
              <a:gd name="T7" fmla="*/ 61 h 80"/>
              <a:gd name="T8" fmla="*/ 17 w 80"/>
              <a:gd name="T9" fmla="*/ 73 h 80"/>
              <a:gd name="T10" fmla="*/ 32 w 80"/>
              <a:gd name="T11" fmla="*/ 78 h 80"/>
              <a:gd name="T12" fmla="*/ 40 w 80"/>
              <a:gd name="T13" fmla="*/ 80 h 80"/>
              <a:gd name="T14" fmla="*/ 48 w 80"/>
              <a:gd name="T15" fmla="*/ 78 h 80"/>
              <a:gd name="T16" fmla="*/ 63 w 80"/>
              <a:gd name="T17" fmla="*/ 73 h 80"/>
              <a:gd name="T18" fmla="*/ 72 w 80"/>
              <a:gd name="T19" fmla="*/ 63 h 80"/>
              <a:gd name="T20" fmla="*/ 78 w 80"/>
              <a:gd name="T21" fmla="*/ 48 h 80"/>
              <a:gd name="T22" fmla="*/ 80 w 80"/>
              <a:gd name="T23" fmla="*/ 40 h 80"/>
              <a:gd name="T24" fmla="*/ 76 w 80"/>
              <a:gd name="T25" fmla="*/ 25 h 80"/>
              <a:gd name="T26" fmla="*/ 69 w 80"/>
              <a:gd name="T27" fmla="*/ 12 h 80"/>
              <a:gd name="T28" fmla="*/ 55 w 80"/>
              <a:gd name="T29" fmla="*/ 4 h 80"/>
              <a:gd name="T30" fmla="*/ 40 w 80"/>
              <a:gd name="T31" fmla="*/ 0 h 80"/>
              <a:gd name="T32" fmla="*/ 32 w 80"/>
              <a:gd name="T33" fmla="*/ 0 h 80"/>
              <a:gd name="T34" fmla="*/ 17 w 80"/>
              <a:gd name="T35" fmla="*/ 8 h 80"/>
              <a:gd name="T36" fmla="*/ 8 w 80"/>
              <a:gd name="T37" fmla="*/ 17 h 80"/>
              <a:gd name="T38" fmla="*/ 2 w 80"/>
              <a:gd name="T39" fmla="*/ 33 h 80"/>
              <a:gd name="T40" fmla="*/ 0 w 80"/>
              <a:gd name="T41" fmla="*/ 44 h 80"/>
              <a:gd name="T42" fmla="*/ 40 w 80"/>
              <a:gd name="T43" fmla="*/ 36 h 80"/>
              <a:gd name="T44" fmla="*/ 40 w 80"/>
              <a:gd name="T45" fmla="*/ 36 h 80"/>
              <a:gd name="T46" fmla="*/ 4 w 80"/>
              <a:gd name="T47" fmla="*/ 40 h 80"/>
              <a:gd name="T48" fmla="*/ 8 w 80"/>
              <a:gd name="T49" fmla="*/ 40 h 80"/>
              <a:gd name="T50" fmla="*/ 10 w 80"/>
              <a:gd name="T51" fmla="*/ 27 h 80"/>
              <a:gd name="T52" fmla="*/ 17 w 80"/>
              <a:gd name="T53" fmla="*/ 17 h 80"/>
              <a:gd name="T54" fmla="*/ 27 w 80"/>
              <a:gd name="T55" fmla="*/ 10 h 80"/>
              <a:gd name="T56" fmla="*/ 40 w 80"/>
              <a:gd name="T57" fmla="*/ 8 h 80"/>
              <a:gd name="T58" fmla="*/ 46 w 80"/>
              <a:gd name="T59" fmla="*/ 8 h 80"/>
              <a:gd name="T60" fmla="*/ 57 w 80"/>
              <a:gd name="T61" fmla="*/ 14 h 80"/>
              <a:gd name="T62" fmla="*/ 67 w 80"/>
              <a:gd name="T63" fmla="*/ 21 h 80"/>
              <a:gd name="T64" fmla="*/ 71 w 80"/>
              <a:gd name="T65" fmla="*/ 33 h 80"/>
              <a:gd name="T66" fmla="*/ 72 w 80"/>
              <a:gd name="T67" fmla="*/ 40 h 80"/>
              <a:gd name="T68" fmla="*/ 69 w 80"/>
              <a:gd name="T69" fmla="*/ 52 h 80"/>
              <a:gd name="T70" fmla="*/ 63 w 80"/>
              <a:gd name="T71" fmla="*/ 63 h 80"/>
              <a:gd name="T72" fmla="*/ 51 w 80"/>
              <a:gd name="T73" fmla="*/ 69 h 80"/>
              <a:gd name="T74" fmla="*/ 40 w 80"/>
              <a:gd name="T75" fmla="*/ 73 h 80"/>
              <a:gd name="T76" fmla="*/ 40 w 80"/>
              <a:gd name="T77" fmla="*/ 73 h 80"/>
              <a:gd name="T78" fmla="*/ 27 w 80"/>
              <a:gd name="T79" fmla="*/ 69 h 80"/>
              <a:gd name="T80" fmla="*/ 17 w 80"/>
              <a:gd name="T81" fmla="*/ 63 h 80"/>
              <a:gd name="T82" fmla="*/ 10 w 80"/>
              <a:gd name="T83" fmla="*/ 52 h 80"/>
              <a:gd name="T84" fmla="*/ 8 w 80"/>
              <a:gd name="T85" fmla="*/ 40 h 80"/>
              <a:gd name="T86" fmla="*/ 4 w 80"/>
              <a:gd name="T87" fmla="*/ 44 h 80"/>
              <a:gd name="T88" fmla="*/ 40 w 80"/>
              <a:gd name="T89" fmla="*/ 3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0" h="80">
                <a:moveTo>
                  <a:pt x="40" y="40"/>
                </a:moveTo>
                <a:lnTo>
                  <a:pt x="40" y="36"/>
                </a:lnTo>
                <a:lnTo>
                  <a:pt x="0" y="36"/>
                </a:lnTo>
                <a:lnTo>
                  <a:pt x="0" y="40"/>
                </a:lnTo>
                <a:lnTo>
                  <a:pt x="0" y="40"/>
                </a:lnTo>
                <a:lnTo>
                  <a:pt x="2" y="48"/>
                </a:lnTo>
                <a:lnTo>
                  <a:pt x="4" y="55"/>
                </a:lnTo>
                <a:lnTo>
                  <a:pt x="8" y="61"/>
                </a:lnTo>
                <a:lnTo>
                  <a:pt x="12" y="69"/>
                </a:lnTo>
                <a:lnTo>
                  <a:pt x="17" y="73"/>
                </a:lnTo>
                <a:lnTo>
                  <a:pt x="25" y="76"/>
                </a:lnTo>
                <a:lnTo>
                  <a:pt x="32" y="78"/>
                </a:lnTo>
                <a:lnTo>
                  <a:pt x="40" y="80"/>
                </a:lnTo>
                <a:lnTo>
                  <a:pt x="40" y="80"/>
                </a:lnTo>
                <a:lnTo>
                  <a:pt x="40" y="80"/>
                </a:lnTo>
                <a:lnTo>
                  <a:pt x="48" y="78"/>
                </a:lnTo>
                <a:lnTo>
                  <a:pt x="55" y="76"/>
                </a:lnTo>
                <a:lnTo>
                  <a:pt x="63" y="73"/>
                </a:lnTo>
                <a:lnTo>
                  <a:pt x="69" y="69"/>
                </a:lnTo>
                <a:lnTo>
                  <a:pt x="72" y="63"/>
                </a:lnTo>
                <a:lnTo>
                  <a:pt x="76" y="55"/>
                </a:lnTo>
                <a:lnTo>
                  <a:pt x="78" y="48"/>
                </a:lnTo>
                <a:lnTo>
                  <a:pt x="80" y="40"/>
                </a:lnTo>
                <a:lnTo>
                  <a:pt x="80" y="40"/>
                </a:lnTo>
                <a:lnTo>
                  <a:pt x="78" y="33"/>
                </a:lnTo>
                <a:lnTo>
                  <a:pt x="76" y="25"/>
                </a:lnTo>
                <a:lnTo>
                  <a:pt x="72" y="17"/>
                </a:lnTo>
                <a:lnTo>
                  <a:pt x="69" y="12"/>
                </a:lnTo>
                <a:lnTo>
                  <a:pt x="63" y="8"/>
                </a:lnTo>
                <a:lnTo>
                  <a:pt x="55" y="4"/>
                </a:lnTo>
                <a:lnTo>
                  <a:pt x="48" y="0"/>
                </a:lnTo>
                <a:lnTo>
                  <a:pt x="40" y="0"/>
                </a:lnTo>
                <a:lnTo>
                  <a:pt x="40" y="0"/>
                </a:lnTo>
                <a:lnTo>
                  <a:pt x="32" y="0"/>
                </a:lnTo>
                <a:lnTo>
                  <a:pt x="25" y="4"/>
                </a:lnTo>
                <a:lnTo>
                  <a:pt x="17" y="8"/>
                </a:lnTo>
                <a:lnTo>
                  <a:pt x="12" y="12"/>
                </a:lnTo>
                <a:lnTo>
                  <a:pt x="8" y="17"/>
                </a:lnTo>
                <a:lnTo>
                  <a:pt x="4" y="25"/>
                </a:lnTo>
                <a:lnTo>
                  <a:pt x="2" y="33"/>
                </a:lnTo>
                <a:lnTo>
                  <a:pt x="0" y="40"/>
                </a:lnTo>
                <a:lnTo>
                  <a:pt x="0" y="44"/>
                </a:lnTo>
                <a:lnTo>
                  <a:pt x="40" y="44"/>
                </a:lnTo>
                <a:lnTo>
                  <a:pt x="40" y="36"/>
                </a:lnTo>
                <a:lnTo>
                  <a:pt x="40" y="40"/>
                </a:lnTo>
                <a:lnTo>
                  <a:pt x="40" y="36"/>
                </a:lnTo>
                <a:lnTo>
                  <a:pt x="4" y="36"/>
                </a:lnTo>
                <a:lnTo>
                  <a:pt x="4" y="40"/>
                </a:lnTo>
                <a:lnTo>
                  <a:pt x="8" y="40"/>
                </a:lnTo>
                <a:lnTo>
                  <a:pt x="8" y="40"/>
                </a:lnTo>
                <a:lnTo>
                  <a:pt x="8" y="33"/>
                </a:lnTo>
                <a:lnTo>
                  <a:pt x="10" y="27"/>
                </a:lnTo>
                <a:lnTo>
                  <a:pt x="13" y="21"/>
                </a:lnTo>
                <a:lnTo>
                  <a:pt x="17" y="17"/>
                </a:lnTo>
                <a:lnTo>
                  <a:pt x="23" y="14"/>
                </a:lnTo>
                <a:lnTo>
                  <a:pt x="27" y="10"/>
                </a:lnTo>
                <a:lnTo>
                  <a:pt x="34" y="8"/>
                </a:lnTo>
                <a:lnTo>
                  <a:pt x="40" y="8"/>
                </a:lnTo>
                <a:lnTo>
                  <a:pt x="40" y="8"/>
                </a:lnTo>
                <a:lnTo>
                  <a:pt x="46" y="8"/>
                </a:lnTo>
                <a:lnTo>
                  <a:pt x="51" y="10"/>
                </a:lnTo>
                <a:lnTo>
                  <a:pt x="57" y="14"/>
                </a:lnTo>
                <a:lnTo>
                  <a:pt x="63" y="17"/>
                </a:lnTo>
                <a:lnTo>
                  <a:pt x="67" y="21"/>
                </a:lnTo>
                <a:lnTo>
                  <a:pt x="69" y="27"/>
                </a:lnTo>
                <a:lnTo>
                  <a:pt x="71" y="33"/>
                </a:lnTo>
                <a:lnTo>
                  <a:pt x="72" y="40"/>
                </a:lnTo>
                <a:lnTo>
                  <a:pt x="72" y="40"/>
                </a:lnTo>
                <a:lnTo>
                  <a:pt x="71" y="46"/>
                </a:lnTo>
                <a:lnTo>
                  <a:pt x="69" y="52"/>
                </a:lnTo>
                <a:lnTo>
                  <a:pt x="67" y="57"/>
                </a:lnTo>
                <a:lnTo>
                  <a:pt x="63" y="63"/>
                </a:lnTo>
                <a:lnTo>
                  <a:pt x="57" y="67"/>
                </a:lnTo>
                <a:lnTo>
                  <a:pt x="51" y="69"/>
                </a:lnTo>
                <a:lnTo>
                  <a:pt x="46" y="71"/>
                </a:lnTo>
                <a:lnTo>
                  <a:pt x="40" y="73"/>
                </a:lnTo>
                <a:lnTo>
                  <a:pt x="40" y="73"/>
                </a:lnTo>
                <a:lnTo>
                  <a:pt x="40" y="73"/>
                </a:lnTo>
                <a:lnTo>
                  <a:pt x="34" y="71"/>
                </a:lnTo>
                <a:lnTo>
                  <a:pt x="27" y="69"/>
                </a:lnTo>
                <a:lnTo>
                  <a:pt x="21" y="67"/>
                </a:lnTo>
                <a:lnTo>
                  <a:pt x="17" y="63"/>
                </a:lnTo>
                <a:lnTo>
                  <a:pt x="13" y="57"/>
                </a:lnTo>
                <a:lnTo>
                  <a:pt x="10" y="52"/>
                </a:lnTo>
                <a:lnTo>
                  <a:pt x="8" y="46"/>
                </a:lnTo>
                <a:lnTo>
                  <a:pt x="8" y="40"/>
                </a:lnTo>
                <a:lnTo>
                  <a:pt x="4" y="40"/>
                </a:lnTo>
                <a:lnTo>
                  <a:pt x="4" y="44"/>
                </a:lnTo>
                <a:lnTo>
                  <a:pt x="40" y="44"/>
                </a:lnTo>
                <a:lnTo>
                  <a:pt x="40" y="36"/>
                </a:lnTo>
                <a:lnTo>
                  <a:pt x="40" y="4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18"/>
          <p:cNvSpPr>
            <a:spLocks/>
          </p:cNvSpPr>
          <p:nvPr/>
        </p:nvSpPr>
        <p:spPr bwMode="auto">
          <a:xfrm>
            <a:off x="4635501" y="5849938"/>
            <a:ext cx="374650" cy="377825"/>
          </a:xfrm>
          <a:custGeom>
            <a:avLst/>
            <a:gdLst>
              <a:gd name="T0" fmla="*/ 118 w 236"/>
              <a:gd name="T1" fmla="*/ 118 h 238"/>
              <a:gd name="T2" fmla="*/ 0 w 236"/>
              <a:gd name="T3" fmla="*/ 118 h 238"/>
              <a:gd name="T4" fmla="*/ 0 w 236"/>
              <a:gd name="T5" fmla="*/ 118 h 238"/>
              <a:gd name="T6" fmla="*/ 0 w 236"/>
              <a:gd name="T7" fmla="*/ 131 h 238"/>
              <a:gd name="T8" fmla="*/ 2 w 236"/>
              <a:gd name="T9" fmla="*/ 143 h 238"/>
              <a:gd name="T10" fmla="*/ 4 w 236"/>
              <a:gd name="T11" fmla="*/ 154 h 238"/>
              <a:gd name="T12" fmla="*/ 8 w 236"/>
              <a:gd name="T13" fmla="*/ 164 h 238"/>
              <a:gd name="T14" fmla="*/ 19 w 236"/>
              <a:gd name="T15" fmla="*/ 185 h 238"/>
              <a:gd name="T16" fmla="*/ 35 w 236"/>
              <a:gd name="T17" fmla="*/ 202 h 238"/>
              <a:gd name="T18" fmla="*/ 52 w 236"/>
              <a:gd name="T19" fmla="*/ 217 h 238"/>
              <a:gd name="T20" fmla="*/ 73 w 236"/>
              <a:gd name="T21" fmla="*/ 228 h 238"/>
              <a:gd name="T22" fmla="*/ 82 w 236"/>
              <a:gd name="T23" fmla="*/ 232 h 238"/>
              <a:gd name="T24" fmla="*/ 94 w 236"/>
              <a:gd name="T25" fmla="*/ 234 h 238"/>
              <a:gd name="T26" fmla="*/ 107 w 236"/>
              <a:gd name="T27" fmla="*/ 236 h 238"/>
              <a:gd name="T28" fmla="*/ 118 w 236"/>
              <a:gd name="T29" fmla="*/ 238 h 238"/>
              <a:gd name="T30" fmla="*/ 118 w 236"/>
              <a:gd name="T31" fmla="*/ 238 h 238"/>
              <a:gd name="T32" fmla="*/ 130 w 236"/>
              <a:gd name="T33" fmla="*/ 236 h 238"/>
              <a:gd name="T34" fmla="*/ 141 w 236"/>
              <a:gd name="T35" fmla="*/ 234 h 238"/>
              <a:gd name="T36" fmla="*/ 153 w 236"/>
              <a:gd name="T37" fmla="*/ 232 h 238"/>
              <a:gd name="T38" fmla="*/ 164 w 236"/>
              <a:gd name="T39" fmla="*/ 228 h 238"/>
              <a:gd name="T40" fmla="*/ 185 w 236"/>
              <a:gd name="T41" fmla="*/ 217 h 238"/>
              <a:gd name="T42" fmla="*/ 202 w 236"/>
              <a:gd name="T43" fmla="*/ 202 h 238"/>
              <a:gd name="T44" fmla="*/ 217 w 236"/>
              <a:gd name="T45" fmla="*/ 185 h 238"/>
              <a:gd name="T46" fmla="*/ 227 w 236"/>
              <a:gd name="T47" fmla="*/ 166 h 238"/>
              <a:gd name="T48" fmla="*/ 231 w 236"/>
              <a:gd name="T49" fmla="*/ 154 h 238"/>
              <a:gd name="T50" fmla="*/ 235 w 236"/>
              <a:gd name="T51" fmla="*/ 143 h 238"/>
              <a:gd name="T52" fmla="*/ 236 w 236"/>
              <a:gd name="T53" fmla="*/ 131 h 238"/>
              <a:gd name="T54" fmla="*/ 236 w 236"/>
              <a:gd name="T55" fmla="*/ 118 h 238"/>
              <a:gd name="T56" fmla="*/ 236 w 236"/>
              <a:gd name="T57" fmla="*/ 118 h 238"/>
              <a:gd name="T58" fmla="*/ 236 w 236"/>
              <a:gd name="T59" fmla="*/ 107 h 238"/>
              <a:gd name="T60" fmla="*/ 235 w 236"/>
              <a:gd name="T61" fmla="*/ 95 h 238"/>
              <a:gd name="T62" fmla="*/ 231 w 236"/>
              <a:gd name="T63" fmla="*/ 84 h 238"/>
              <a:gd name="T64" fmla="*/ 227 w 236"/>
              <a:gd name="T65" fmla="*/ 72 h 238"/>
              <a:gd name="T66" fmla="*/ 217 w 236"/>
              <a:gd name="T67" fmla="*/ 51 h 238"/>
              <a:gd name="T68" fmla="*/ 202 w 236"/>
              <a:gd name="T69" fmla="*/ 34 h 238"/>
              <a:gd name="T70" fmla="*/ 185 w 236"/>
              <a:gd name="T71" fmla="*/ 21 h 238"/>
              <a:gd name="T72" fmla="*/ 164 w 236"/>
              <a:gd name="T73" fmla="*/ 10 h 238"/>
              <a:gd name="T74" fmla="*/ 155 w 236"/>
              <a:gd name="T75" fmla="*/ 6 h 238"/>
              <a:gd name="T76" fmla="*/ 143 w 236"/>
              <a:gd name="T77" fmla="*/ 2 h 238"/>
              <a:gd name="T78" fmla="*/ 130 w 236"/>
              <a:gd name="T79" fmla="*/ 0 h 238"/>
              <a:gd name="T80" fmla="*/ 118 w 236"/>
              <a:gd name="T81" fmla="*/ 0 h 238"/>
              <a:gd name="T82" fmla="*/ 118 w 236"/>
              <a:gd name="T83" fmla="*/ 0 h 238"/>
              <a:gd name="T84" fmla="*/ 107 w 236"/>
              <a:gd name="T85" fmla="*/ 0 h 238"/>
              <a:gd name="T86" fmla="*/ 94 w 236"/>
              <a:gd name="T87" fmla="*/ 2 h 238"/>
              <a:gd name="T88" fmla="*/ 82 w 236"/>
              <a:gd name="T89" fmla="*/ 6 h 238"/>
              <a:gd name="T90" fmla="*/ 73 w 236"/>
              <a:gd name="T91" fmla="*/ 10 h 238"/>
              <a:gd name="T92" fmla="*/ 52 w 236"/>
              <a:gd name="T93" fmla="*/ 21 h 238"/>
              <a:gd name="T94" fmla="*/ 35 w 236"/>
              <a:gd name="T95" fmla="*/ 34 h 238"/>
              <a:gd name="T96" fmla="*/ 19 w 236"/>
              <a:gd name="T97" fmla="*/ 51 h 238"/>
              <a:gd name="T98" fmla="*/ 8 w 236"/>
              <a:gd name="T99" fmla="*/ 72 h 238"/>
              <a:gd name="T100" fmla="*/ 4 w 236"/>
              <a:gd name="T101" fmla="*/ 84 h 238"/>
              <a:gd name="T102" fmla="*/ 2 w 236"/>
              <a:gd name="T103" fmla="*/ 95 h 238"/>
              <a:gd name="T104" fmla="*/ 0 w 236"/>
              <a:gd name="T105" fmla="*/ 107 h 238"/>
              <a:gd name="T106" fmla="*/ 0 w 236"/>
              <a:gd name="T107" fmla="*/ 118 h 238"/>
              <a:gd name="T108" fmla="*/ 118 w 236"/>
              <a:gd name="T109" fmla="*/ 11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36" h="238">
                <a:moveTo>
                  <a:pt x="118" y="118"/>
                </a:moveTo>
                <a:lnTo>
                  <a:pt x="0" y="118"/>
                </a:lnTo>
                <a:lnTo>
                  <a:pt x="0" y="118"/>
                </a:lnTo>
                <a:lnTo>
                  <a:pt x="0" y="131"/>
                </a:lnTo>
                <a:lnTo>
                  <a:pt x="2" y="143"/>
                </a:lnTo>
                <a:lnTo>
                  <a:pt x="4" y="154"/>
                </a:lnTo>
                <a:lnTo>
                  <a:pt x="8" y="164"/>
                </a:lnTo>
                <a:lnTo>
                  <a:pt x="19" y="185"/>
                </a:lnTo>
                <a:lnTo>
                  <a:pt x="35" y="202"/>
                </a:lnTo>
                <a:lnTo>
                  <a:pt x="52" y="217"/>
                </a:lnTo>
                <a:lnTo>
                  <a:pt x="73" y="228"/>
                </a:lnTo>
                <a:lnTo>
                  <a:pt x="82" y="232"/>
                </a:lnTo>
                <a:lnTo>
                  <a:pt x="94" y="234"/>
                </a:lnTo>
                <a:lnTo>
                  <a:pt x="107" y="236"/>
                </a:lnTo>
                <a:lnTo>
                  <a:pt x="118" y="238"/>
                </a:lnTo>
                <a:lnTo>
                  <a:pt x="118" y="238"/>
                </a:lnTo>
                <a:lnTo>
                  <a:pt x="130" y="236"/>
                </a:lnTo>
                <a:lnTo>
                  <a:pt x="141" y="234"/>
                </a:lnTo>
                <a:lnTo>
                  <a:pt x="153" y="232"/>
                </a:lnTo>
                <a:lnTo>
                  <a:pt x="164" y="228"/>
                </a:lnTo>
                <a:lnTo>
                  <a:pt x="185" y="217"/>
                </a:lnTo>
                <a:lnTo>
                  <a:pt x="202" y="202"/>
                </a:lnTo>
                <a:lnTo>
                  <a:pt x="217" y="185"/>
                </a:lnTo>
                <a:lnTo>
                  <a:pt x="227" y="166"/>
                </a:lnTo>
                <a:lnTo>
                  <a:pt x="231" y="154"/>
                </a:lnTo>
                <a:lnTo>
                  <a:pt x="235" y="143"/>
                </a:lnTo>
                <a:lnTo>
                  <a:pt x="236" y="131"/>
                </a:lnTo>
                <a:lnTo>
                  <a:pt x="236" y="118"/>
                </a:lnTo>
                <a:lnTo>
                  <a:pt x="236" y="118"/>
                </a:lnTo>
                <a:lnTo>
                  <a:pt x="236" y="107"/>
                </a:lnTo>
                <a:lnTo>
                  <a:pt x="235" y="95"/>
                </a:lnTo>
                <a:lnTo>
                  <a:pt x="231" y="84"/>
                </a:lnTo>
                <a:lnTo>
                  <a:pt x="227" y="72"/>
                </a:lnTo>
                <a:lnTo>
                  <a:pt x="217" y="51"/>
                </a:lnTo>
                <a:lnTo>
                  <a:pt x="202" y="34"/>
                </a:lnTo>
                <a:lnTo>
                  <a:pt x="185" y="21"/>
                </a:lnTo>
                <a:lnTo>
                  <a:pt x="164" y="10"/>
                </a:lnTo>
                <a:lnTo>
                  <a:pt x="155" y="6"/>
                </a:lnTo>
                <a:lnTo>
                  <a:pt x="143" y="2"/>
                </a:lnTo>
                <a:lnTo>
                  <a:pt x="130" y="0"/>
                </a:lnTo>
                <a:lnTo>
                  <a:pt x="118" y="0"/>
                </a:lnTo>
                <a:lnTo>
                  <a:pt x="118" y="0"/>
                </a:lnTo>
                <a:lnTo>
                  <a:pt x="107" y="0"/>
                </a:lnTo>
                <a:lnTo>
                  <a:pt x="94" y="2"/>
                </a:lnTo>
                <a:lnTo>
                  <a:pt x="82" y="6"/>
                </a:lnTo>
                <a:lnTo>
                  <a:pt x="73" y="10"/>
                </a:lnTo>
                <a:lnTo>
                  <a:pt x="52" y="21"/>
                </a:lnTo>
                <a:lnTo>
                  <a:pt x="35" y="34"/>
                </a:lnTo>
                <a:lnTo>
                  <a:pt x="19" y="51"/>
                </a:lnTo>
                <a:lnTo>
                  <a:pt x="8" y="72"/>
                </a:lnTo>
                <a:lnTo>
                  <a:pt x="4" y="84"/>
                </a:lnTo>
                <a:lnTo>
                  <a:pt x="2" y="95"/>
                </a:lnTo>
                <a:lnTo>
                  <a:pt x="0" y="107"/>
                </a:lnTo>
                <a:lnTo>
                  <a:pt x="0" y="118"/>
                </a:lnTo>
                <a:lnTo>
                  <a:pt x="118" y="118"/>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Freeform 19"/>
          <p:cNvSpPr>
            <a:spLocks noEditPoints="1"/>
          </p:cNvSpPr>
          <p:nvPr/>
        </p:nvSpPr>
        <p:spPr bwMode="auto">
          <a:xfrm>
            <a:off x="4638676" y="3287713"/>
            <a:ext cx="1885950" cy="1885950"/>
          </a:xfrm>
          <a:custGeom>
            <a:avLst/>
            <a:gdLst>
              <a:gd name="T0" fmla="*/ 17 w 1188"/>
              <a:gd name="T1" fmla="*/ 639 h 1188"/>
              <a:gd name="T2" fmla="*/ 8 w 1188"/>
              <a:gd name="T3" fmla="*/ 500 h 1188"/>
              <a:gd name="T4" fmla="*/ 21 w 1188"/>
              <a:gd name="T5" fmla="*/ 502 h 1188"/>
              <a:gd name="T6" fmla="*/ 16 w 1188"/>
              <a:gd name="T7" fmla="*/ 453 h 1188"/>
              <a:gd name="T8" fmla="*/ 29 w 1188"/>
              <a:gd name="T9" fmla="*/ 409 h 1188"/>
              <a:gd name="T10" fmla="*/ 59 w 1188"/>
              <a:gd name="T11" fmla="*/ 371 h 1188"/>
              <a:gd name="T12" fmla="*/ 115 w 1188"/>
              <a:gd name="T13" fmla="*/ 243 h 1188"/>
              <a:gd name="T14" fmla="*/ 115 w 1188"/>
              <a:gd name="T15" fmla="*/ 243 h 1188"/>
              <a:gd name="T16" fmla="*/ 155 w 1188"/>
              <a:gd name="T17" fmla="*/ 217 h 1188"/>
              <a:gd name="T18" fmla="*/ 246 w 1188"/>
              <a:gd name="T19" fmla="*/ 112 h 1188"/>
              <a:gd name="T20" fmla="*/ 255 w 1188"/>
              <a:gd name="T21" fmla="*/ 125 h 1188"/>
              <a:gd name="T22" fmla="*/ 292 w 1188"/>
              <a:gd name="T23" fmla="*/ 99 h 1188"/>
              <a:gd name="T24" fmla="*/ 412 w 1188"/>
              <a:gd name="T25" fmla="*/ 28 h 1188"/>
              <a:gd name="T26" fmla="*/ 415 w 1188"/>
              <a:gd name="T27" fmla="*/ 44 h 1188"/>
              <a:gd name="T28" fmla="*/ 457 w 1188"/>
              <a:gd name="T29" fmla="*/ 15 h 1188"/>
              <a:gd name="T30" fmla="*/ 503 w 1188"/>
              <a:gd name="T31" fmla="*/ 7 h 1188"/>
              <a:gd name="T32" fmla="*/ 550 w 1188"/>
              <a:gd name="T33" fmla="*/ 17 h 1188"/>
              <a:gd name="T34" fmla="*/ 688 w 1188"/>
              <a:gd name="T35" fmla="*/ 7 h 1188"/>
              <a:gd name="T36" fmla="*/ 686 w 1188"/>
              <a:gd name="T37" fmla="*/ 23 h 1188"/>
              <a:gd name="T38" fmla="*/ 733 w 1188"/>
              <a:gd name="T39" fmla="*/ 17 h 1188"/>
              <a:gd name="T40" fmla="*/ 779 w 1188"/>
              <a:gd name="T41" fmla="*/ 28 h 1188"/>
              <a:gd name="T42" fmla="*/ 817 w 1188"/>
              <a:gd name="T43" fmla="*/ 59 h 1188"/>
              <a:gd name="T44" fmla="*/ 944 w 1188"/>
              <a:gd name="T45" fmla="*/ 114 h 1188"/>
              <a:gd name="T46" fmla="*/ 944 w 1188"/>
              <a:gd name="T47" fmla="*/ 114 h 1188"/>
              <a:gd name="T48" fmla="*/ 971 w 1188"/>
              <a:gd name="T49" fmla="*/ 154 h 1188"/>
              <a:gd name="T50" fmla="*/ 1076 w 1188"/>
              <a:gd name="T51" fmla="*/ 245 h 1188"/>
              <a:gd name="T52" fmla="*/ 1076 w 1188"/>
              <a:gd name="T53" fmla="*/ 245 h 1188"/>
              <a:gd name="T54" fmla="*/ 1087 w 1188"/>
              <a:gd name="T55" fmla="*/ 291 h 1188"/>
              <a:gd name="T56" fmla="*/ 1160 w 1188"/>
              <a:gd name="T57" fmla="*/ 411 h 1188"/>
              <a:gd name="T58" fmla="*/ 1144 w 1188"/>
              <a:gd name="T59" fmla="*/ 415 h 1188"/>
              <a:gd name="T60" fmla="*/ 1173 w 1188"/>
              <a:gd name="T61" fmla="*/ 457 h 1188"/>
              <a:gd name="T62" fmla="*/ 1188 w 1188"/>
              <a:gd name="T63" fmla="*/ 594 h 1188"/>
              <a:gd name="T64" fmla="*/ 1171 w 1188"/>
              <a:gd name="T65" fmla="*/ 550 h 1188"/>
              <a:gd name="T66" fmla="*/ 1181 w 1188"/>
              <a:gd name="T67" fmla="*/ 687 h 1188"/>
              <a:gd name="T68" fmla="*/ 1165 w 1188"/>
              <a:gd name="T69" fmla="*/ 685 h 1188"/>
              <a:gd name="T70" fmla="*/ 1171 w 1188"/>
              <a:gd name="T71" fmla="*/ 733 h 1188"/>
              <a:gd name="T72" fmla="*/ 1160 w 1188"/>
              <a:gd name="T73" fmla="*/ 778 h 1188"/>
              <a:gd name="T74" fmla="*/ 1129 w 1188"/>
              <a:gd name="T75" fmla="*/ 816 h 1188"/>
              <a:gd name="T76" fmla="*/ 1074 w 1188"/>
              <a:gd name="T77" fmla="*/ 944 h 1188"/>
              <a:gd name="T78" fmla="*/ 1074 w 1188"/>
              <a:gd name="T79" fmla="*/ 944 h 1188"/>
              <a:gd name="T80" fmla="*/ 1034 w 1188"/>
              <a:gd name="T81" fmla="*/ 971 h 1188"/>
              <a:gd name="T82" fmla="*/ 943 w 1188"/>
              <a:gd name="T83" fmla="*/ 1075 h 1188"/>
              <a:gd name="T84" fmla="*/ 943 w 1188"/>
              <a:gd name="T85" fmla="*/ 1075 h 1188"/>
              <a:gd name="T86" fmla="*/ 897 w 1188"/>
              <a:gd name="T87" fmla="*/ 1089 h 1188"/>
              <a:gd name="T88" fmla="*/ 777 w 1188"/>
              <a:gd name="T89" fmla="*/ 1159 h 1188"/>
              <a:gd name="T90" fmla="*/ 773 w 1188"/>
              <a:gd name="T91" fmla="*/ 1146 h 1188"/>
              <a:gd name="T92" fmla="*/ 733 w 1188"/>
              <a:gd name="T93" fmla="*/ 1172 h 1188"/>
              <a:gd name="T94" fmla="*/ 688 w 1188"/>
              <a:gd name="T95" fmla="*/ 1182 h 1188"/>
              <a:gd name="T96" fmla="*/ 640 w 1188"/>
              <a:gd name="T97" fmla="*/ 1171 h 1188"/>
              <a:gd name="T98" fmla="*/ 594 w 1188"/>
              <a:gd name="T99" fmla="*/ 1188 h 1188"/>
              <a:gd name="T100" fmla="*/ 549 w 1188"/>
              <a:gd name="T101" fmla="*/ 1171 h 1188"/>
              <a:gd name="T102" fmla="*/ 410 w 1188"/>
              <a:gd name="T103" fmla="*/ 1159 h 1188"/>
              <a:gd name="T104" fmla="*/ 410 w 1188"/>
              <a:gd name="T105" fmla="*/ 1159 h 1188"/>
              <a:gd name="T106" fmla="*/ 372 w 1188"/>
              <a:gd name="T107" fmla="*/ 1129 h 1188"/>
              <a:gd name="T108" fmla="*/ 244 w 1188"/>
              <a:gd name="T109" fmla="*/ 1075 h 1188"/>
              <a:gd name="T110" fmla="*/ 254 w 1188"/>
              <a:gd name="T111" fmla="*/ 1062 h 1188"/>
              <a:gd name="T112" fmla="*/ 208 w 1188"/>
              <a:gd name="T113" fmla="*/ 1045 h 1188"/>
              <a:gd name="T114" fmla="*/ 113 w 1188"/>
              <a:gd name="T115" fmla="*/ 944 h 1188"/>
              <a:gd name="T116" fmla="*/ 126 w 1188"/>
              <a:gd name="T117" fmla="*/ 934 h 1188"/>
              <a:gd name="T118" fmla="*/ 99 w 1188"/>
              <a:gd name="T119" fmla="*/ 896 h 1188"/>
              <a:gd name="T120" fmla="*/ 29 w 1188"/>
              <a:gd name="T121" fmla="*/ 778 h 1188"/>
              <a:gd name="T122" fmla="*/ 42 w 1188"/>
              <a:gd name="T123" fmla="*/ 773 h 1188"/>
              <a:gd name="T124" fmla="*/ 16 w 1188"/>
              <a:gd name="T125" fmla="*/ 733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88" h="1188">
                <a:moveTo>
                  <a:pt x="0" y="592"/>
                </a:moveTo>
                <a:lnTo>
                  <a:pt x="0" y="594"/>
                </a:lnTo>
                <a:lnTo>
                  <a:pt x="0" y="594"/>
                </a:lnTo>
                <a:lnTo>
                  <a:pt x="2" y="641"/>
                </a:lnTo>
                <a:lnTo>
                  <a:pt x="17" y="639"/>
                </a:lnTo>
                <a:lnTo>
                  <a:pt x="17" y="639"/>
                </a:lnTo>
                <a:lnTo>
                  <a:pt x="16" y="594"/>
                </a:lnTo>
                <a:lnTo>
                  <a:pt x="16" y="592"/>
                </a:lnTo>
                <a:lnTo>
                  <a:pt x="0" y="592"/>
                </a:lnTo>
                <a:close/>
                <a:moveTo>
                  <a:pt x="8" y="500"/>
                </a:moveTo>
                <a:lnTo>
                  <a:pt x="8" y="500"/>
                </a:lnTo>
                <a:lnTo>
                  <a:pt x="2" y="546"/>
                </a:lnTo>
                <a:lnTo>
                  <a:pt x="17" y="546"/>
                </a:lnTo>
                <a:lnTo>
                  <a:pt x="17" y="546"/>
                </a:lnTo>
                <a:lnTo>
                  <a:pt x="21" y="502"/>
                </a:lnTo>
                <a:lnTo>
                  <a:pt x="8" y="500"/>
                </a:lnTo>
                <a:lnTo>
                  <a:pt x="8" y="500"/>
                </a:lnTo>
                <a:close/>
                <a:moveTo>
                  <a:pt x="29" y="409"/>
                </a:moveTo>
                <a:lnTo>
                  <a:pt x="29" y="409"/>
                </a:lnTo>
                <a:lnTo>
                  <a:pt x="16" y="453"/>
                </a:lnTo>
                <a:lnTo>
                  <a:pt x="31" y="457"/>
                </a:lnTo>
                <a:lnTo>
                  <a:pt x="31" y="457"/>
                </a:lnTo>
                <a:lnTo>
                  <a:pt x="44" y="413"/>
                </a:lnTo>
                <a:lnTo>
                  <a:pt x="29" y="409"/>
                </a:lnTo>
                <a:lnTo>
                  <a:pt x="29" y="409"/>
                </a:lnTo>
                <a:close/>
                <a:moveTo>
                  <a:pt x="65" y="323"/>
                </a:moveTo>
                <a:lnTo>
                  <a:pt x="65" y="323"/>
                </a:lnTo>
                <a:lnTo>
                  <a:pt x="46" y="365"/>
                </a:lnTo>
                <a:lnTo>
                  <a:pt x="59" y="371"/>
                </a:lnTo>
                <a:lnTo>
                  <a:pt x="59" y="371"/>
                </a:lnTo>
                <a:lnTo>
                  <a:pt x="78" y="329"/>
                </a:lnTo>
                <a:lnTo>
                  <a:pt x="65" y="323"/>
                </a:lnTo>
                <a:lnTo>
                  <a:pt x="65" y="323"/>
                </a:lnTo>
                <a:close/>
                <a:moveTo>
                  <a:pt x="115" y="243"/>
                </a:moveTo>
                <a:lnTo>
                  <a:pt x="115" y="243"/>
                </a:lnTo>
                <a:lnTo>
                  <a:pt x="88" y="281"/>
                </a:lnTo>
                <a:lnTo>
                  <a:pt x="101" y="291"/>
                </a:lnTo>
                <a:lnTo>
                  <a:pt x="101" y="291"/>
                </a:lnTo>
                <a:lnTo>
                  <a:pt x="126" y="253"/>
                </a:lnTo>
                <a:lnTo>
                  <a:pt x="115" y="243"/>
                </a:lnTo>
                <a:lnTo>
                  <a:pt x="115" y="243"/>
                </a:lnTo>
                <a:close/>
                <a:moveTo>
                  <a:pt x="175" y="173"/>
                </a:moveTo>
                <a:lnTo>
                  <a:pt x="175" y="173"/>
                </a:lnTo>
                <a:lnTo>
                  <a:pt x="143" y="207"/>
                </a:lnTo>
                <a:lnTo>
                  <a:pt x="155" y="217"/>
                </a:lnTo>
                <a:lnTo>
                  <a:pt x="155" y="217"/>
                </a:lnTo>
                <a:lnTo>
                  <a:pt x="185" y="184"/>
                </a:lnTo>
                <a:lnTo>
                  <a:pt x="175" y="173"/>
                </a:lnTo>
                <a:lnTo>
                  <a:pt x="175" y="173"/>
                </a:lnTo>
                <a:close/>
                <a:moveTo>
                  <a:pt x="246" y="112"/>
                </a:moveTo>
                <a:lnTo>
                  <a:pt x="246" y="112"/>
                </a:lnTo>
                <a:lnTo>
                  <a:pt x="210" y="141"/>
                </a:lnTo>
                <a:lnTo>
                  <a:pt x="219" y="152"/>
                </a:lnTo>
                <a:lnTo>
                  <a:pt x="219" y="152"/>
                </a:lnTo>
                <a:lnTo>
                  <a:pt x="255" y="125"/>
                </a:lnTo>
                <a:lnTo>
                  <a:pt x="246" y="112"/>
                </a:lnTo>
                <a:close/>
                <a:moveTo>
                  <a:pt x="326" y="64"/>
                </a:moveTo>
                <a:lnTo>
                  <a:pt x="326" y="64"/>
                </a:lnTo>
                <a:lnTo>
                  <a:pt x="284" y="87"/>
                </a:lnTo>
                <a:lnTo>
                  <a:pt x="292" y="99"/>
                </a:lnTo>
                <a:lnTo>
                  <a:pt x="292" y="99"/>
                </a:lnTo>
                <a:lnTo>
                  <a:pt x="332" y="78"/>
                </a:lnTo>
                <a:lnTo>
                  <a:pt x="326" y="64"/>
                </a:lnTo>
                <a:lnTo>
                  <a:pt x="326" y="64"/>
                </a:lnTo>
                <a:close/>
                <a:moveTo>
                  <a:pt x="412" y="28"/>
                </a:moveTo>
                <a:lnTo>
                  <a:pt x="412" y="28"/>
                </a:lnTo>
                <a:lnTo>
                  <a:pt x="368" y="44"/>
                </a:lnTo>
                <a:lnTo>
                  <a:pt x="373" y="59"/>
                </a:lnTo>
                <a:lnTo>
                  <a:pt x="373" y="59"/>
                </a:lnTo>
                <a:lnTo>
                  <a:pt x="415" y="44"/>
                </a:lnTo>
                <a:lnTo>
                  <a:pt x="412" y="28"/>
                </a:lnTo>
                <a:lnTo>
                  <a:pt x="412" y="28"/>
                </a:lnTo>
                <a:close/>
                <a:moveTo>
                  <a:pt x="503" y="7"/>
                </a:moveTo>
                <a:lnTo>
                  <a:pt x="503" y="7"/>
                </a:lnTo>
                <a:lnTo>
                  <a:pt x="457" y="15"/>
                </a:lnTo>
                <a:lnTo>
                  <a:pt x="459" y="30"/>
                </a:lnTo>
                <a:lnTo>
                  <a:pt x="459" y="30"/>
                </a:lnTo>
                <a:lnTo>
                  <a:pt x="505" y="23"/>
                </a:lnTo>
                <a:lnTo>
                  <a:pt x="503" y="7"/>
                </a:lnTo>
                <a:lnTo>
                  <a:pt x="503" y="7"/>
                </a:lnTo>
                <a:close/>
                <a:moveTo>
                  <a:pt x="594" y="0"/>
                </a:moveTo>
                <a:lnTo>
                  <a:pt x="594" y="0"/>
                </a:lnTo>
                <a:lnTo>
                  <a:pt x="594" y="0"/>
                </a:lnTo>
                <a:lnTo>
                  <a:pt x="549" y="2"/>
                </a:lnTo>
                <a:lnTo>
                  <a:pt x="550" y="17"/>
                </a:lnTo>
                <a:lnTo>
                  <a:pt x="550" y="17"/>
                </a:lnTo>
                <a:lnTo>
                  <a:pt x="594" y="15"/>
                </a:lnTo>
                <a:lnTo>
                  <a:pt x="594" y="15"/>
                </a:lnTo>
                <a:lnTo>
                  <a:pt x="594" y="0"/>
                </a:lnTo>
                <a:close/>
                <a:moveTo>
                  <a:pt x="688" y="7"/>
                </a:moveTo>
                <a:lnTo>
                  <a:pt x="688" y="7"/>
                </a:lnTo>
                <a:lnTo>
                  <a:pt x="642" y="2"/>
                </a:lnTo>
                <a:lnTo>
                  <a:pt x="640" y="17"/>
                </a:lnTo>
                <a:lnTo>
                  <a:pt x="640" y="17"/>
                </a:lnTo>
                <a:lnTo>
                  <a:pt x="686" y="23"/>
                </a:lnTo>
                <a:lnTo>
                  <a:pt x="688" y="7"/>
                </a:lnTo>
                <a:lnTo>
                  <a:pt x="688" y="7"/>
                </a:lnTo>
                <a:close/>
                <a:moveTo>
                  <a:pt x="779" y="28"/>
                </a:moveTo>
                <a:lnTo>
                  <a:pt x="779" y="28"/>
                </a:lnTo>
                <a:lnTo>
                  <a:pt x="733" y="17"/>
                </a:lnTo>
                <a:lnTo>
                  <a:pt x="729" y="30"/>
                </a:lnTo>
                <a:lnTo>
                  <a:pt x="729" y="30"/>
                </a:lnTo>
                <a:lnTo>
                  <a:pt x="773" y="44"/>
                </a:lnTo>
                <a:lnTo>
                  <a:pt x="779" y="28"/>
                </a:lnTo>
                <a:lnTo>
                  <a:pt x="779" y="28"/>
                </a:lnTo>
                <a:close/>
                <a:moveTo>
                  <a:pt x="865" y="64"/>
                </a:moveTo>
                <a:lnTo>
                  <a:pt x="865" y="64"/>
                </a:lnTo>
                <a:lnTo>
                  <a:pt x="823" y="45"/>
                </a:lnTo>
                <a:lnTo>
                  <a:pt x="817" y="59"/>
                </a:lnTo>
                <a:lnTo>
                  <a:pt x="817" y="59"/>
                </a:lnTo>
                <a:lnTo>
                  <a:pt x="857" y="78"/>
                </a:lnTo>
                <a:lnTo>
                  <a:pt x="865" y="64"/>
                </a:lnTo>
                <a:lnTo>
                  <a:pt x="865" y="64"/>
                </a:lnTo>
                <a:close/>
                <a:moveTo>
                  <a:pt x="944" y="114"/>
                </a:moveTo>
                <a:lnTo>
                  <a:pt x="944" y="114"/>
                </a:lnTo>
                <a:lnTo>
                  <a:pt x="905" y="87"/>
                </a:lnTo>
                <a:lnTo>
                  <a:pt x="897" y="101"/>
                </a:lnTo>
                <a:lnTo>
                  <a:pt x="897" y="101"/>
                </a:lnTo>
                <a:lnTo>
                  <a:pt x="935" y="125"/>
                </a:lnTo>
                <a:lnTo>
                  <a:pt x="944" y="114"/>
                </a:lnTo>
                <a:close/>
                <a:moveTo>
                  <a:pt x="1015" y="175"/>
                </a:moveTo>
                <a:lnTo>
                  <a:pt x="1015" y="175"/>
                </a:lnTo>
                <a:lnTo>
                  <a:pt x="981" y="143"/>
                </a:lnTo>
                <a:lnTo>
                  <a:pt x="971" y="154"/>
                </a:lnTo>
                <a:lnTo>
                  <a:pt x="971" y="154"/>
                </a:lnTo>
                <a:lnTo>
                  <a:pt x="1003" y="184"/>
                </a:lnTo>
                <a:lnTo>
                  <a:pt x="1015" y="175"/>
                </a:lnTo>
                <a:lnTo>
                  <a:pt x="1015" y="175"/>
                </a:lnTo>
                <a:close/>
                <a:moveTo>
                  <a:pt x="1076" y="245"/>
                </a:moveTo>
                <a:lnTo>
                  <a:pt x="1076" y="245"/>
                </a:lnTo>
                <a:lnTo>
                  <a:pt x="1047" y="209"/>
                </a:lnTo>
                <a:lnTo>
                  <a:pt x="1034" y="219"/>
                </a:lnTo>
                <a:lnTo>
                  <a:pt x="1034" y="219"/>
                </a:lnTo>
                <a:lnTo>
                  <a:pt x="1063" y="255"/>
                </a:lnTo>
                <a:lnTo>
                  <a:pt x="1076" y="245"/>
                </a:lnTo>
                <a:lnTo>
                  <a:pt x="1076" y="245"/>
                </a:lnTo>
                <a:close/>
                <a:moveTo>
                  <a:pt x="1123" y="325"/>
                </a:moveTo>
                <a:lnTo>
                  <a:pt x="1123" y="325"/>
                </a:lnTo>
                <a:lnTo>
                  <a:pt x="1101" y="283"/>
                </a:lnTo>
                <a:lnTo>
                  <a:pt x="1087" y="291"/>
                </a:lnTo>
                <a:lnTo>
                  <a:pt x="1087" y="291"/>
                </a:lnTo>
                <a:lnTo>
                  <a:pt x="1110" y="331"/>
                </a:lnTo>
                <a:lnTo>
                  <a:pt x="1123" y="325"/>
                </a:lnTo>
                <a:lnTo>
                  <a:pt x="1123" y="325"/>
                </a:lnTo>
                <a:close/>
                <a:moveTo>
                  <a:pt x="1160" y="411"/>
                </a:moveTo>
                <a:lnTo>
                  <a:pt x="1160" y="411"/>
                </a:lnTo>
                <a:lnTo>
                  <a:pt x="1144" y="367"/>
                </a:lnTo>
                <a:lnTo>
                  <a:pt x="1129" y="373"/>
                </a:lnTo>
                <a:lnTo>
                  <a:pt x="1129" y="373"/>
                </a:lnTo>
                <a:lnTo>
                  <a:pt x="1144" y="415"/>
                </a:lnTo>
                <a:lnTo>
                  <a:pt x="1160" y="411"/>
                </a:lnTo>
                <a:lnTo>
                  <a:pt x="1160" y="411"/>
                </a:lnTo>
                <a:close/>
                <a:moveTo>
                  <a:pt x="1181" y="502"/>
                </a:moveTo>
                <a:lnTo>
                  <a:pt x="1181" y="502"/>
                </a:lnTo>
                <a:lnTo>
                  <a:pt x="1173" y="457"/>
                </a:lnTo>
                <a:lnTo>
                  <a:pt x="1158" y="459"/>
                </a:lnTo>
                <a:lnTo>
                  <a:pt x="1158" y="459"/>
                </a:lnTo>
                <a:lnTo>
                  <a:pt x="1165" y="504"/>
                </a:lnTo>
                <a:lnTo>
                  <a:pt x="1181" y="502"/>
                </a:lnTo>
                <a:close/>
                <a:moveTo>
                  <a:pt x="1188" y="594"/>
                </a:moveTo>
                <a:lnTo>
                  <a:pt x="1188" y="594"/>
                </a:lnTo>
                <a:lnTo>
                  <a:pt x="1188" y="594"/>
                </a:lnTo>
                <a:lnTo>
                  <a:pt x="1186" y="548"/>
                </a:lnTo>
                <a:lnTo>
                  <a:pt x="1171" y="550"/>
                </a:lnTo>
                <a:lnTo>
                  <a:pt x="1171" y="550"/>
                </a:lnTo>
                <a:lnTo>
                  <a:pt x="1173" y="594"/>
                </a:lnTo>
                <a:lnTo>
                  <a:pt x="1173" y="594"/>
                </a:lnTo>
                <a:lnTo>
                  <a:pt x="1188" y="594"/>
                </a:lnTo>
                <a:lnTo>
                  <a:pt x="1188" y="594"/>
                </a:lnTo>
                <a:close/>
                <a:moveTo>
                  <a:pt x="1181" y="687"/>
                </a:moveTo>
                <a:lnTo>
                  <a:pt x="1181" y="687"/>
                </a:lnTo>
                <a:lnTo>
                  <a:pt x="1186" y="641"/>
                </a:lnTo>
                <a:lnTo>
                  <a:pt x="1171" y="639"/>
                </a:lnTo>
                <a:lnTo>
                  <a:pt x="1171" y="639"/>
                </a:lnTo>
                <a:lnTo>
                  <a:pt x="1165" y="685"/>
                </a:lnTo>
                <a:lnTo>
                  <a:pt x="1181" y="687"/>
                </a:lnTo>
                <a:lnTo>
                  <a:pt x="1181" y="687"/>
                </a:lnTo>
                <a:close/>
                <a:moveTo>
                  <a:pt x="1160" y="778"/>
                </a:moveTo>
                <a:lnTo>
                  <a:pt x="1160" y="778"/>
                </a:lnTo>
                <a:lnTo>
                  <a:pt x="1171" y="733"/>
                </a:lnTo>
                <a:lnTo>
                  <a:pt x="1158" y="729"/>
                </a:lnTo>
                <a:lnTo>
                  <a:pt x="1158" y="729"/>
                </a:lnTo>
                <a:lnTo>
                  <a:pt x="1144" y="773"/>
                </a:lnTo>
                <a:lnTo>
                  <a:pt x="1160" y="778"/>
                </a:lnTo>
                <a:lnTo>
                  <a:pt x="1160" y="778"/>
                </a:lnTo>
                <a:close/>
                <a:moveTo>
                  <a:pt x="1123" y="864"/>
                </a:moveTo>
                <a:lnTo>
                  <a:pt x="1123" y="864"/>
                </a:lnTo>
                <a:lnTo>
                  <a:pt x="1142" y="822"/>
                </a:lnTo>
                <a:lnTo>
                  <a:pt x="1129" y="816"/>
                </a:lnTo>
                <a:lnTo>
                  <a:pt x="1129" y="816"/>
                </a:lnTo>
                <a:lnTo>
                  <a:pt x="1110" y="856"/>
                </a:lnTo>
                <a:lnTo>
                  <a:pt x="1123" y="864"/>
                </a:lnTo>
                <a:lnTo>
                  <a:pt x="1123" y="864"/>
                </a:lnTo>
                <a:close/>
                <a:moveTo>
                  <a:pt x="1074" y="944"/>
                </a:moveTo>
                <a:lnTo>
                  <a:pt x="1074" y="944"/>
                </a:lnTo>
                <a:lnTo>
                  <a:pt x="1101" y="904"/>
                </a:lnTo>
                <a:lnTo>
                  <a:pt x="1087" y="896"/>
                </a:lnTo>
                <a:lnTo>
                  <a:pt x="1087" y="896"/>
                </a:lnTo>
                <a:lnTo>
                  <a:pt x="1063" y="934"/>
                </a:lnTo>
                <a:lnTo>
                  <a:pt x="1074" y="944"/>
                </a:lnTo>
                <a:lnTo>
                  <a:pt x="1074" y="944"/>
                </a:lnTo>
                <a:close/>
                <a:moveTo>
                  <a:pt x="1013" y="1014"/>
                </a:moveTo>
                <a:lnTo>
                  <a:pt x="1013" y="1014"/>
                </a:lnTo>
                <a:lnTo>
                  <a:pt x="1045" y="980"/>
                </a:lnTo>
                <a:lnTo>
                  <a:pt x="1034" y="971"/>
                </a:lnTo>
                <a:lnTo>
                  <a:pt x="1034" y="971"/>
                </a:lnTo>
                <a:lnTo>
                  <a:pt x="1003" y="1003"/>
                </a:lnTo>
                <a:lnTo>
                  <a:pt x="1013" y="1014"/>
                </a:lnTo>
                <a:close/>
                <a:moveTo>
                  <a:pt x="943" y="1075"/>
                </a:moveTo>
                <a:lnTo>
                  <a:pt x="943" y="1075"/>
                </a:lnTo>
                <a:lnTo>
                  <a:pt x="979" y="1047"/>
                </a:lnTo>
                <a:lnTo>
                  <a:pt x="969" y="1035"/>
                </a:lnTo>
                <a:lnTo>
                  <a:pt x="969" y="1035"/>
                </a:lnTo>
                <a:lnTo>
                  <a:pt x="935" y="1062"/>
                </a:lnTo>
                <a:lnTo>
                  <a:pt x="943" y="1075"/>
                </a:lnTo>
                <a:lnTo>
                  <a:pt x="943" y="1075"/>
                </a:lnTo>
                <a:close/>
                <a:moveTo>
                  <a:pt x="863" y="1123"/>
                </a:moveTo>
                <a:lnTo>
                  <a:pt x="863" y="1123"/>
                </a:lnTo>
                <a:lnTo>
                  <a:pt x="905" y="1100"/>
                </a:lnTo>
                <a:lnTo>
                  <a:pt x="897" y="1089"/>
                </a:lnTo>
                <a:lnTo>
                  <a:pt x="897" y="1089"/>
                </a:lnTo>
                <a:lnTo>
                  <a:pt x="857" y="1110"/>
                </a:lnTo>
                <a:lnTo>
                  <a:pt x="863" y="1123"/>
                </a:lnTo>
                <a:lnTo>
                  <a:pt x="863" y="1123"/>
                </a:lnTo>
                <a:close/>
                <a:moveTo>
                  <a:pt x="777" y="1159"/>
                </a:moveTo>
                <a:lnTo>
                  <a:pt x="777" y="1159"/>
                </a:lnTo>
                <a:lnTo>
                  <a:pt x="821" y="1144"/>
                </a:lnTo>
                <a:lnTo>
                  <a:pt x="815" y="1129"/>
                </a:lnTo>
                <a:lnTo>
                  <a:pt x="815" y="1129"/>
                </a:lnTo>
                <a:lnTo>
                  <a:pt x="773" y="1146"/>
                </a:lnTo>
                <a:lnTo>
                  <a:pt x="777" y="1159"/>
                </a:lnTo>
                <a:lnTo>
                  <a:pt x="777" y="1159"/>
                </a:lnTo>
                <a:close/>
                <a:moveTo>
                  <a:pt x="688" y="1182"/>
                </a:moveTo>
                <a:lnTo>
                  <a:pt x="688" y="1182"/>
                </a:lnTo>
                <a:lnTo>
                  <a:pt x="733" y="1172"/>
                </a:lnTo>
                <a:lnTo>
                  <a:pt x="729" y="1157"/>
                </a:lnTo>
                <a:lnTo>
                  <a:pt x="729" y="1157"/>
                </a:lnTo>
                <a:lnTo>
                  <a:pt x="684" y="1167"/>
                </a:lnTo>
                <a:lnTo>
                  <a:pt x="688" y="1182"/>
                </a:lnTo>
                <a:lnTo>
                  <a:pt x="688" y="1182"/>
                </a:lnTo>
                <a:close/>
                <a:moveTo>
                  <a:pt x="594" y="1188"/>
                </a:moveTo>
                <a:lnTo>
                  <a:pt x="594" y="1188"/>
                </a:lnTo>
                <a:lnTo>
                  <a:pt x="594" y="1188"/>
                </a:lnTo>
                <a:lnTo>
                  <a:pt x="640" y="1186"/>
                </a:lnTo>
                <a:lnTo>
                  <a:pt x="640" y="1171"/>
                </a:lnTo>
                <a:lnTo>
                  <a:pt x="640" y="1171"/>
                </a:lnTo>
                <a:lnTo>
                  <a:pt x="594" y="1172"/>
                </a:lnTo>
                <a:lnTo>
                  <a:pt x="594" y="1172"/>
                </a:lnTo>
                <a:lnTo>
                  <a:pt x="594" y="1188"/>
                </a:lnTo>
                <a:lnTo>
                  <a:pt x="594" y="1188"/>
                </a:lnTo>
                <a:close/>
                <a:moveTo>
                  <a:pt x="501" y="1180"/>
                </a:moveTo>
                <a:lnTo>
                  <a:pt x="501" y="1180"/>
                </a:lnTo>
                <a:lnTo>
                  <a:pt x="547" y="1186"/>
                </a:lnTo>
                <a:lnTo>
                  <a:pt x="549" y="1171"/>
                </a:lnTo>
                <a:lnTo>
                  <a:pt x="549" y="1171"/>
                </a:lnTo>
                <a:lnTo>
                  <a:pt x="503" y="1167"/>
                </a:lnTo>
                <a:lnTo>
                  <a:pt x="501" y="1180"/>
                </a:lnTo>
                <a:lnTo>
                  <a:pt x="501" y="1180"/>
                </a:lnTo>
                <a:close/>
                <a:moveTo>
                  <a:pt x="410" y="1159"/>
                </a:moveTo>
                <a:lnTo>
                  <a:pt x="410" y="1159"/>
                </a:lnTo>
                <a:lnTo>
                  <a:pt x="455" y="1172"/>
                </a:lnTo>
                <a:lnTo>
                  <a:pt x="459" y="1157"/>
                </a:lnTo>
                <a:lnTo>
                  <a:pt x="459" y="1157"/>
                </a:lnTo>
                <a:lnTo>
                  <a:pt x="415" y="1144"/>
                </a:lnTo>
                <a:lnTo>
                  <a:pt x="410" y="1159"/>
                </a:lnTo>
                <a:lnTo>
                  <a:pt x="410" y="1159"/>
                </a:lnTo>
                <a:close/>
                <a:moveTo>
                  <a:pt x="324" y="1123"/>
                </a:moveTo>
                <a:lnTo>
                  <a:pt x="324" y="1123"/>
                </a:lnTo>
                <a:lnTo>
                  <a:pt x="366" y="1144"/>
                </a:lnTo>
                <a:lnTo>
                  <a:pt x="372" y="1129"/>
                </a:lnTo>
                <a:lnTo>
                  <a:pt x="372" y="1129"/>
                </a:lnTo>
                <a:lnTo>
                  <a:pt x="332" y="1110"/>
                </a:lnTo>
                <a:lnTo>
                  <a:pt x="324" y="1123"/>
                </a:lnTo>
                <a:lnTo>
                  <a:pt x="324" y="1123"/>
                </a:lnTo>
                <a:close/>
                <a:moveTo>
                  <a:pt x="244" y="1075"/>
                </a:moveTo>
                <a:lnTo>
                  <a:pt x="244" y="1075"/>
                </a:lnTo>
                <a:lnTo>
                  <a:pt x="284" y="1100"/>
                </a:lnTo>
                <a:lnTo>
                  <a:pt x="292" y="1087"/>
                </a:lnTo>
                <a:lnTo>
                  <a:pt x="292" y="1087"/>
                </a:lnTo>
                <a:lnTo>
                  <a:pt x="254" y="1062"/>
                </a:lnTo>
                <a:lnTo>
                  <a:pt x="244" y="1075"/>
                </a:lnTo>
                <a:lnTo>
                  <a:pt x="244" y="1075"/>
                </a:lnTo>
                <a:close/>
                <a:moveTo>
                  <a:pt x="174" y="1014"/>
                </a:moveTo>
                <a:lnTo>
                  <a:pt x="174" y="1014"/>
                </a:lnTo>
                <a:lnTo>
                  <a:pt x="208" y="1045"/>
                </a:lnTo>
                <a:lnTo>
                  <a:pt x="217" y="1033"/>
                </a:lnTo>
                <a:lnTo>
                  <a:pt x="217" y="1033"/>
                </a:lnTo>
                <a:lnTo>
                  <a:pt x="185" y="1003"/>
                </a:lnTo>
                <a:lnTo>
                  <a:pt x="174" y="1014"/>
                </a:lnTo>
                <a:close/>
                <a:moveTo>
                  <a:pt x="113" y="944"/>
                </a:moveTo>
                <a:lnTo>
                  <a:pt x="113" y="944"/>
                </a:lnTo>
                <a:lnTo>
                  <a:pt x="141" y="980"/>
                </a:lnTo>
                <a:lnTo>
                  <a:pt x="155" y="971"/>
                </a:lnTo>
                <a:lnTo>
                  <a:pt x="155" y="971"/>
                </a:lnTo>
                <a:lnTo>
                  <a:pt x="126" y="934"/>
                </a:lnTo>
                <a:lnTo>
                  <a:pt x="113" y="944"/>
                </a:lnTo>
                <a:close/>
                <a:moveTo>
                  <a:pt x="65" y="864"/>
                </a:moveTo>
                <a:lnTo>
                  <a:pt x="65" y="864"/>
                </a:lnTo>
                <a:lnTo>
                  <a:pt x="88" y="904"/>
                </a:lnTo>
                <a:lnTo>
                  <a:pt x="99" y="896"/>
                </a:lnTo>
                <a:lnTo>
                  <a:pt x="99" y="896"/>
                </a:lnTo>
                <a:lnTo>
                  <a:pt x="78" y="856"/>
                </a:lnTo>
                <a:lnTo>
                  <a:pt x="65" y="864"/>
                </a:lnTo>
                <a:lnTo>
                  <a:pt x="65" y="864"/>
                </a:lnTo>
                <a:close/>
                <a:moveTo>
                  <a:pt x="29" y="778"/>
                </a:moveTo>
                <a:lnTo>
                  <a:pt x="29" y="778"/>
                </a:lnTo>
                <a:lnTo>
                  <a:pt x="44" y="822"/>
                </a:lnTo>
                <a:lnTo>
                  <a:pt x="59" y="815"/>
                </a:lnTo>
                <a:lnTo>
                  <a:pt x="59" y="815"/>
                </a:lnTo>
                <a:lnTo>
                  <a:pt x="42" y="773"/>
                </a:lnTo>
                <a:lnTo>
                  <a:pt x="29" y="778"/>
                </a:lnTo>
                <a:lnTo>
                  <a:pt x="29" y="778"/>
                </a:lnTo>
                <a:close/>
                <a:moveTo>
                  <a:pt x="6" y="687"/>
                </a:moveTo>
                <a:lnTo>
                  <a:pt x="6" y="687"/>
                </a:lnTo>
                <a:lnTo>
                  <a:pt x="16" y="733"/>
                </a:lnTo>
                <a:lnTo>
                  <a:pt x="31" y="729"/>
                </a:lnTo>
                <a:lnTo>
                  <a:pt x="31" y="729"/>
                </a:lnTo>
                <a:lnTo>
                  <a:pt x="21" y="685"/>
                </a:lnTo>
                <a:lnTo>
                  <a:pt x="6" y="687"/>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Freeform 20"/>
          <p:cNvSpPr>
            <a:spLocks/>
          </p:cNvSpPr>
          <p:nvPr/>
        </p:nvSpPr>
        <p:spPr bwMode="auto">
          <a:xfrm>
            <a:off x="4724401" y="3371850"/>
            <a:ext cx="1716088" cy="1716088"/>
          </a:xfrm>
          <a:custGeom>
            <a:avLst/>
            <a:gdLst>
              <a:gd name="T0" fmla="*/ 0 w 1081"/>
              <a:gd name="T1" fmla="*/ 569 h 1081"/>
              <a:gd name="T2" fmla="*/ 11 w 1081"/>
              <a:gd name="T3" fmla="*/ 649 h 1081"/>
              <a:gd name="T4" fmla="*/ 32 w 1081"/>
              <a:gd name="T5" fmla="*/ 727 h 1081"/>
              <a:gd name="T6" fmla="*/ 64 w 1081"/>
              <a:gd name="T7" fmla="*/ 798 h 1081"/>
              <a:gd name="T8" fmla="*/ 106 w 1081"/>
              <a:gd name="T9" fmla="*/ 864 h 1081"/>
              <a:gd name="T10" fmla="*/ 158 w 1081"/>
              <a:gd name="T11" fmla="*/ 923 h 1081"/>
              <a:gd name="T12" fmla="*/ 217 w 1081"/>
              <a:gd name="T13" fmla="*/ 975 h 1081"/>
              <a:gd name="T14" fmla="*/ 283 w 1081"/>
              <a:gd name="T15" fmla="*/ 1017 h 1081"/>
              <a:gd name="T16" fmla="*/ 354 w 1081"/>
              <a:gd name="T17" fmla="*/ 1049 h 1081"/>
              <a:gd name="T18" fmla="*/ 432 w 1081"/>
              <a:gd name="T19" fmla="*/ 1070 h 1081"/>
              <a:gd name="T20" fmla="*/ 512 w 1081"/>
              <a:gd name="T21" fmla="*/ 1081 h 1081"/>
              <a:gd name="T22" fmla="*/ 567 w 1081"/>
              <a:gd name="T23" fmla="*/ 1081 h 1081"/>
              <a:gd name="T24" fmla="*/ 649 w 1081"/>
              <a:gd name="T25" fmla="*/ 1070 h 1081"/>
              <a:gd name="T26" fmla="*/ 725 w 1081"/>
              <a:gd name="T27" fmla="*/ 1049 h 1081"/>
              <a:gd name="T28" fmla="*/ 797 w 1081"/>
              <a:gd name="T29" fmla="*/ 1017 h 1081"/>
              <a:gd name="T30" fmla="*/ 864 w 1081"/>
              <a:gd name="T31" fmla="*/ 975 h 1081"/>
              <a:gd name="T32" fmla="*/ 923 w 1081"/>
              <a:gd name="T33" fmla="*/ 923 h 1081"/>
              <a:gd name="T34" fmla="*/ 972 w 1081"/>
              <a:gd name="T35" fmla="*/ 864 h 1081"/>
              <a:gd name="T36" fmla="*/ 1014 w 1081"/>
              <a:gd name="T37" fmla="*/ 798 h 1081"/>
              <a:gd name="T38" fmla="*/ 1048 w 1081"/>
              <a:gd name="T39" fmla="*/ 727 h 1081"/>
              <a:gd name="T40" fmla="*/ 1069 w 1081"/>
              <a:gd name="T41" fmla="*/ 649 h 1081"/>
              <a:gd name="T42" fmla="*/ 1079 w 1081"/>
              <a:gd name="T43" fmla="*/ 569 h 1081"/>
              <a:gd name="T44" fmla="*/ 1079 w 1081"/>
              <a:gd name="T45" fmla="*/ 512 h 1081"/>
              <a:gd name="T46" fmla="*/ 1069 w 1081"/>
              <a:gd name="T47" fmla="*/ 432 h 1081"/>
              <a:gd name="T48" fmla="*/ 1048 w 1081"/>
              <a:gd name="T49" fmla="*/ 354 h 1081"/>
              <a:gd name="T50" fmla="*/ 1014 w 1081"/>
              <a:gd name="T51" fmla="*/ 284 h 1081"/>
              <a:gd name="T52" fmla="*/ 972 w 1081"/>
              <a:gd name="T53" fmla="*/ 217 h 1081"/>
              <a:gd name="T54" fmla="*/ 923 w 1081"/>
              <a:gd name="T55" fmla="*/ 158 h 1081"/>
              <a:gd name="T56" fmla="*/ 864 w 1081"/>
              <a:gd name="T57" fmla="*/ 109 h 1081"/>
              <a:gd name="T58" fmla="*/ 797 w 1081"/>
              <a:gd name="T59" fmla="*/ 65 h 1081"/>
              <a:gd name="T60" fmla="*/ 725 w 1081"/>
              <a:gd name="T61" fmla="*/ 32 h 1081"/>
              <a:gd name="T62" fmla="*/ 649 w 1081"/>
              <a:gd name="T63" fmla="*/ 11 h 1081"/>
              <a:gd name="T64" fmla="*/ 567 w 1081"/>
              <a:gd name="T65" fmla="*/ 2 h 1081"/>
              <a:gd name="T66" fmla="*/ 512 w 1081"/>
              <a:gd name="T67" fmla="*/ 2 h 1081"/>
              <a:gd name="T68" fmla="*/ 432 w 1081"/>
              <a:gd name="T69" fmla="*/ 11 h 1081"/>
              <a:gd name="T70" fmla="*/ 354 w 1081"/>
              <a:gd name="T71" fmla="*/ 32 h 1081"/>
              <a:gd name="T72" fmla="*/ 283 w 1081"/>
              <a:gd name="T73" fmla="*/ 65 h 1081"/>
              <a:gd name="T74" fmla="*/ 217 w 1081"/>
              <a:gd name="T75" fmla="*/ 109 h 1081"/>
              <a:gd name="T76" fmla="*/ 158 w 1081"/>
              <a:gd name="T77" fmla="*/ 158 h 1081"/>
              <a:gd name="T78" fmla="*/ 106 w 1081"/>
              <a:gd name="T79" fmla="*/ 217 h 1081"/>
              <a:gd name="T80" fmla="*/ 64 w 1081"/>
              <a:gd name="T81" fmla="*/ 284 h 1081"/>
              <a:gd name="T82" fmla="*/ 32 w 1081"/>
              <a:gd name="T83" fmla="*/ 354 h 1081"/>
              <a:gd name="T84" fmla="*/ 11 w 1081"/>
              <a:gd name="T85" fmla="*/ 432 h 1081"/>
              <a:gd name="T86" fmla="*/ 0 w 1081"/>
              <a:gd name="T87" fmla="*/ 512 h 1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81" h="1081">
                <a:moveTo>
                  <a:pt x="0" y="541"/>
                </a:moveTo>
                <a:lnTo>
                  <a:pt x="0" y="541"/>
                </a:lnTo>
                <a:lnTo>
                  <a:pt x="0" y="569"/>
                </a:lnTo>
                <a:lnTo>
                  <a:pt x="2" y="596"/>
                </a:lnTo>
                <a:lnTo>
                  <a:pt x="5" y="623"/>
                </a:lnTo>
                <a:lnTo>
                  <a:pt x="11" y="649"/>
                </a:lnTo>
                <a:lnTo>
                  <a:pt x="17" y="676"/>
                </a:lnTo>
                <a:lnTo>
                  <a:pt x="24" y="703"/>
                </a:lnTo>
                <a:lnTo>
                  <a:pt x="32" y="727"/>
                </a:lnTo>
                <a:lnTo>
                  <a:pt x="42" y="752"/>
                </a:lnTo>
                <a:lnTo>
                  <a:pt x="53" y="775"/>
                </a:lnTo>
                <a:lnTo>
                  <a:pt x="64" y="798"/>
                </a:lnTo>
                <a:lnTo>
                  <a:pt x="78" y="821"/>
                </a:lnTo>
                <a:lnTo>
                  <a:pt x="91" y="843"/>
                </a:lnTo>
                <a:lnTo>
                  <a:pt x="106" y="864"/>
                </a:lnTo>
                <a:lnTo>
                  <a:pt x="123" y="885"/>
                </a:lnTo>
                <a:lnTo>
                  <a:pt x="141" y="904"/>
                </a:lnTo>
                <a:lnTo>
                  <a:pt x="158" y="923"/>
                </a:lnTo>
                <a:lnTo>
                  <a:pt x="177" y="940"/>
                </a:lnTo>
                <a:lnTo>
                  <a:pt x="196" y="958"/>
                </a:lnTo>
                <a:lnTo>
                  <a:pt x="217" y="975"/>
                </a:lnTo>
                <a:lnTo>
                  <a:pt x="238" y="988"/>
                </a:lnTo>
                <a:lnTo>
                  <a:pt x="260" y="1003"/>
                </a:lnTo>
                <a:lnTo>
                  <a:pt x="283" y="1017"/>
                </a:lnTo>
                <a:lnTo>
                  <a:pt x="306" y="1028"/>
                </a:lnTo>
                <a:lnTo>
                  <a:pt x="329" y="1039"/>
                </a:lnTo>
                <a:lnTo>
                  <a:pt x="354" y="1049"/>
                </a:lnTo>
                <a:lnTo>
                  <a:pt x="378" y="1057"/>
                </a:lnTo>
                <a:lnTo>
                  <a:pt x="405" y="1064"/>
                </a:lnTo>
                <a:lnTo>
                  <a:pt x="432" y="1070"/>
                </a:lnTo>
                <a:lnTo>
                  <a:pt x="458" y="1076"/>
                </a:lnTo>
                <a:lnTo>
                  <a:pt x="485" y="1078"/>
                </a:lnTo>
                <a:lnTo>
                  <a:pt x="512" y="1081"/>
                </a:lnTo>
                <a:lnTo>
                  <a:pt x="540" y="1081"/>
                </a:lnTo>
                <a:lnTo>
                  <a:pt x="540" y="1081"/>
                </a:lnTo>
                <a:lnTo>
                  <a:pt x="567" y="1081"/>
                </a:lnTo>
                <a:lnTo>
                  <a:pt x="595" y="1078"/>
                </a:lnTo>
                <a:lnTo>
                  <a:pt x="622" y="1076"/>
                </a:lnTo>
                <a:lnTo>
                  <a:pt x="649" y="1070"/>
                </a:lnTo>
                <a:lnTo>
                  <a:pt x="675" y="1064"/>
                </a:lnTo>
                <a:lnTo>
                  <a:pt x="700" y="1057"/>
                </a:lnTo>
                <a:lnTo>
                  <a:pt x="725" y="1049"/>
                </a:lnTo>
                <a:lnTo>
                  <a:pt x="750" y="1039"/>
                </a:lnTo>
                <a:lnTo>
                  <a:pt x="774" y="1028"/>
                </a:lnTo>
                <a:lnTo>
                  <a:pt x="797" y="1017"/>
                </a:lnTo>
                <a:lnTo>
                  <a:pt x="820" y="1003"/>
                </a:lnTo>
                <a:lnTo>
                  <a:pt x="843" y="988"/>
                </a:lnTo>
                <a:lnTo>
                  <a:pt x="864" y="975"/>
                </a:lnTo>
                <a:lnTo>
                  <a:pt x="883" y="958"/>
                </a:lnTo>
                <a:lnTo>
                  <a:pt x="904" y="940"/>
                </a:lnTo>
                <a:lnTo>
                  <a:pt x="923" y="923"/>
                </a:lnTo>
                <a:lnTo>
                  <a:pt x="940" y="904"/>
                </a:lnTo>
                <a:lnTo>
                  <a:pt x="957" y="885"/>
                </a:lnTo>
                <a:lnTo>
                  <a:pt x="972" y="864"/>
                </a:lnTo>
                <a:lnTo>
                  <a:pt x="988" y="843"/>
                </a:lnTo>
                <a:lnTo>
                  <a:pt x="1003" y="821"/>
                </a:lnTo>
                <a:lnTo>
                  <a:pt x="1014" y="798"/>
                </a:lnTo>
                <a:lnTo>
                  <a:pt x="1028" y="775"/>
                </a:lnTo>
                <a:lnTo>
                  <a:pt x="1037" y="752"/>
                </a:lnTo>
                <a:lnTo>
                  <a:pt x="1048" y="727"/>
                </a:lnTo>
                <a:lnTo>
                  <a:pt x="1056" y="703"/>
                </a:lnTo>
                <a:lnTo>
                  <a:pt x="1064" y="676"/>
                </a:lnTo>
                <a:lnTo>
                  <a:pt x="1069" y="649"/>
                </a:lnTo>
                <a:lnTo>
                  <a:pt x="1073" y="623"/>
                </a:lnTo>
                <a:lnTo>
                  <a:pt x="1077" y="596"/>
                </a:lnTo>
                <a:lnTo>
                  <a:pt x="1079" y="569"/>
                </a:lnTo>
                <a:lnTo>
                  <a:pt x="1081" y="541"/>
                </a:lnTo>
                <a:lnTo>
                  <a:pt x="1081" y="541"/>
                </a:lnTo>
                <a:lnTo>
                  <a:pt x="1079" y="512"/>
                </a:lnTo>
                <a:lnTo>
                  <a:pt x="1077" y="485"/>
                </a:lnTo>
                <a:lnTo>
                  <a:pt x="1073" y="459"/>
                </a:lnTo>
                <a:lnTo>
                  <a:pt x="1069" y="432"/>
                </a:lnTo>
                <a:lnTo>
                  <a:pt x="1064" y="406"/>
                </a:lnTo>
                <a:lnTo>
                  <a:pt x="1056" y="381"/>
                </a:lnTo>
                <a:lnTo>
                  <a:pt x="1048" y="354"/>
                </a:lnTo>
                <a:lnTo>
                  <a:pt x="1037" y="331"/>
                </a:lnTo>
                <a:lnTo>
                  <a:pt x="1028" y="307"/>
                </a:lnTo>
                <a:lnTo>
                  <a:pt x="1014" y="284"/>
                </a:lnTo>
                <a:lnTo>
                  <a:pt x="1003" y="261"/>
                </a:lnTo>
                <a:lnTo>
                  <a:pt x="988" y="238"/>
                </a:lnTo>
                <a:lnTo>
                  <a:pt x="972" y="217"/>
                </a:lnTo>
                <a:lnTo>
                  <a:pt x="957" y="198"/>
                </a:lnTo>
                <a:lnTo>
                  <a:pt x="940" y="177"/>
                </a:lnTo>
                <a:lnTo>
                  <a:pt x="923" y="158"/>
                </a:lnTo>
                <a:lnTo>
                  <a:pt x="904" y="141"/>
                </a:lnTo>
                <a:lnTo>
                  <a:pt x="883" y="124"/>
                </a:lnTo>
                <a:lnTo>
                  <a:pt x="864" y="109"/>
                </a:lnTo>
                <a:lnTo>
                  <a:pt x="843" y="93"/>
                </a:lnTo>
                <a:lnTo>
                  <a:pt x="820" y="78"/>
                </a:lnTo>
                <a:lnTo>
                  <a:pt x="797" y="65"/>
                </a:lnTo>
                <a:lnTo>
                  <a:pt x="774" y="53"/>
                </a:lnTo>
                <a:lnTo>
                  <a:pt x="750" y="44"/>
                </a:lnTo>
                <a:lnTo>
                  <a:pt x="725" y="32"/>
                </a:lnTo>
                <a:lnTo>
                  <a:pt x="700" y="25"/>
                </a:lnTo>
                <a:lnTo>
                  <a:pt x="675" y="17"/>
                </a:lnTo>
                <a:lnTo>
                  <a:pt x="649" y="11"/>
                </a:lnTo>
                <a:lnTo>
                  <a:pt x="622" y="6"/>
                </a:lnTo>
                <a:lnTo>
                  <a:pt x="595" y="4"/>
                </a:lnTo>
                <a:lnTo>
                  <a:pt x="567" y="2"/>
                </a:lnTo>
                <a:lnTo>
                  <a:pt x="540" y="0"/>
                </a:lnTo>
                <a:lnTo>
                  <a:pt x="540" y="0"/>
                </a:lnTo>
                <a:lnTo>
                  <a:pt x="512" y="2"/>
                </a:lnTo>
                <a:lnTo>
                  <a:pt x="485" y="4"/>
                </a:lnTo>
                <a:lnTo>
                  <a:pt x="458" y="6"/>
                </a:lnTo>
                <a:lnTo>
                  <a:pt x="432" y="11"/>
                </a:lnTo>
                <a:lnTo>
                  <a:pt x="405" y="17"/>
                </a:lnTo>
                <a:lnTo>
                  <a:pt x="378" y="25"/>
                </a:lnTo>
                <a:lnTo>
                  <a:pt x="354" y="32"/>
                </a:lnTo>
                <a:lnTo>
                  <a:pt x="329" y="44"/>
                </a:lnTo>
                <a:lnTo>
                  <a:pt x="306" y="53"/>
                </a:lnTo>
                <a:lnTo>
                  <a:pt x="283" y="65"/>
                </a:lnTo>
                <a:lnTo>
                  <a:pt x="260" y="78"/>
                </a:lnTo>
                <a:lnTo>
                  <a:pt x="238" y="93"/>
                </a:lnTo>
                <a:lnTo>
                  <a:pt x="217" y="109"/>
                </a:lnTo>
                <a:lnTo>
                  <a:pt x="196" y="124"/>
                </a:lnTo>
                <a:lnTo>
                  <a:pt x="177" y="141"/>
                </a:lnTo>
                <a:lnTo>
                  <a:pt x="158" y="158"/>
                </a:lnTo>
                <a:lnTo>
                  <a:pt x="141" y="177"/>
                </a:lnTo>
                <a:lnTo>
                  <a:pt x="123" y="198"/>
                </a:lnTo>
                <a:lnTo>
                  <a:pt x="106" y="217"/>
                </a:lnTo>
                <a:lnTo>
                  <a:pt x="91" y="238"/>
                </a:lnTo>
                <a:lnTo>
                  <a:pt x="78" y="261"/>
                </a:lnTo>
                <a:lnTo>
                  <a:pt x="64" y="284"/>
                </a:lnTo>
                <a:lnTo>
                  <a:pt x="53" y="307"/>
                </a:lnTo>
                <a:lnTo>
                  <a:pt x="42" y="331"/>
                </a:lnTo>
                <a:lnTo>
                  <a:pt x="32" y="354"/>
                </a:lnTo>
                <a:lnTo>
                  <a:pt x="24" y="381"/>
                </a:lnTo>
                <a:lnTo>
                  <a:pt x="17" y="406"/>
                </a:lnTo>
                <a:lnTo>
                  <a:pt x="11" y="432"/>
                </a:lnTo>
                <a:lnTo>
                  <a:pt x="5" y="459"/>
                </a:lnTo>
                <a:lnTo>
                  <a:pt x="2" y="485"/>
                </a:lnTo>
                <a:lnTo>
                  <a:pt x="0" y="512"/>
                </a:lnTo>
                <a:lnTo>
                  <a:pt x="0" y="541"/>
                </a:lnTo>
                <a:lnTo>
                  <a:pt x="0" y="541"/>
                </a:lnTo>
                <a:close/>
              </a:path>
            </a:pathLst>
          </a:custGeom>
          <a:solidFill>
            <a:srgbClr val="E6E7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21"/>
          <p:cNvSpPr>
            <a:spLocks/>
          </p:cNvSpPr>
          <p:nvPr/>
        </p:nvSpPr>
        <p:spPr bwMode="auto">
          <a:xfrm>
            <a:off x="5092701" y="1289050"/>
            <a:ext cx="311150" cy="1858963"/>
          </a:xfrm>
          <a:custGeom>
            <a:avLst/>
            <a:gdLst>
              <a:gd name="T0" fmla="*/ 196 w 196"/>
              <a:gd name="T1" fmla="*/ 1171 h 1171"/>
              <a:gd name="T2" fmla="*/ 0 w 196"/>
              <a:gd name="T3" fmla="*/ 0 h 1171"/>
              <a:gd name="T4" fmla="*/ 196 w 196"/>
              <a:gd name="T5" fmla="*/ 1171 h 1171"/>
            </a:gdLst>
            <a:ahLst/>
            <a:cxnLst>
              <a:cxn ang="0">
                <a:pos x="T0" y="T1"/>
              </a:cxn>
              <a:cxn ang="0">
                <a:pos x="T2" y="T3"/>
              </a:cxn>
              <a:cxn ang="0">
                <a:pos x="T4" y="T5"/>
              </a:cxn>
            </a:cxnLst>
            <a:rect l="0" t="0" r="r" b="b"/>
            <a:pathLst>
              <a:path w="196" h="1171">
                <a:moveTo>
                  <a:pt x="196" y="1171"/>
                </a:moveTo>
                <a:lnTo>
                  <a:pt x="0" y="0"/>
                </a:lnTo>
                <a:lnTo>
                  <a:pt x="196" y="1171"/>
                </a:lnTo>
                <a:close/>
              </a:path>
            </a:pathLst>
          </a:custGeom>
          <a:solidFill>
            <a:srgbClr val="4AA1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Line 22"/>
          <p:cNvSpPr>
            <a:spLocks noChangeShapeType="1"/>
          </p:cNvSpPr>
          <p:nvPr/>
        </p:nvSpPr>
        <p:spPr bwMode="auto">
          <a:xfrm flipH="1" flipV="1">
            <a:off x="5092701" y="1289050"/>
            <a:ext cx="311150" cy="18589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23"/>
          <p:cNvSpPr>
            <a:spLocks/>
          </p:cNvSpPr>
          <p:nvPr/>
        </p:nvSpPr>
        <p:spPr bwMode="auto">
          <a:xfrm>
            <a:off x="5073651" y="1287463"/>
            <a:ext cx="323850" cy="1733550"/>
          </a:xfrm>
          <a:custGeom>
            <a:avLst/>
            <a:gdLst>
              <a:gd name="T0" fmla="*/ 204 w 204"/>
              <a:gd name="T1" fmla="*/ 1090 h 1092"/>
              <a:gd name="T2" fmla="*/ 23 w 204"/>
              <a:gd name="T3" fmla="*/ 0 h 1092"/>
              <a:gd name="T4" fmla="*/ 0 w 204"/>
              <a:gd name="T5" fmla="*/ 3 h 1092"/>
              <a:gd name="T6" fmla="*/ 183 w 204"/>
              <a:gd name="T7" fmla="*/ 1092 h 1092"/>
              <a:gd name="T8" fmla="*/ 204 w 204"/>
              <a:gd name="T9" fmla="*/ 1090 h 1092"/>
            </a:gdLst>
            <a:ahLst/>
            <a:cxnLst>
              <a:cxn ang="0">
                <a:pos x="T0" y="T1"/>
              </a:cxn>
              <a:cxn ang="0">
                <a:pos x="T2" y="T3"/>
              </a:cxn>
              <a:cxn ang="0">
                <a:pos x="T4" y="T5"/>
              </a:cxn>
              <a:cxn ang="0">
                <a:pos x="T6" y="T7"/>
              </a:cxn>
              <a:cxn ang="0">
                <a:pos x="T8" y="T9"/>
              </a:cxn>
            </a:cxnLst>
            <a:rect l="0" t="0" r="r" b="b"/>
            <a:pathLst>
              <a:path w="204" h="1092">
                <a:moveTo>
                  <a:pt x="204" y="1090"/>
                </a:moveTo>
                <a:lnTo>
                  <a:pt x="23" y="0"/>
                </a:lnTo>
                <a:lnTo>
                  <a:pt x="0" y="3"/>
                </a:lnTo>
                <a:lnTo>
                  <a:pt x="183" y="1092"/>
                </a:lnTo>
                <a:lnTo>
                  <a:pt x="204" y="109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4"/>
          <p:cNvSpPr>
            <a:spLocks/>
          </p:cNvSpPr>
          <p:nvPr/>
        </p:nvSpPr>
        <p:spPr bwMode="auto">
          <a:xfrm>
            <a:off x="5073651" y="1287463"/>
            <a:ext cx="323850" cy="1733550"/>
          </a:xfrm>
          <a:custGeom>
            <a:avLst/>
            <a:gdLst>
              <a:gd name="T0" fmla="*/ 204 w 204"/>
              <a:gd name="T1" fmla="*/ 1090 h 1092"/>
              <a:gd name="T2" fmla="*/ 23 w 204"/>
              <a:gd name="T3" fmla="*/ 0 h 1092"/>
              <a:gd name="T4" fmla="*/ 0 w 204"/>
              <a:gd name="T5" fmla="*/ 3 h 1092"/>
              <a:gd name="T6" fmla="*/ 183 w 204"/>
              <a:gd name="T7" fmla="*/ 1092 h 1092"/>
            </a:gdLst>
            <a:ahLst/>
            <a:cxnLst>
              <a:cxn ang="0">
                <a:pos x="T0" y="T1"/>
              </a:cxn>
              <a:cxn ang="0">
                <a:pos x="T2" y="T3"/>
              </a:cxn>
              <a:cxn ang="0">
                <a:pos x="T4" y="T5"/>
              </a:cxn>
              <a:cxn ang="0">
                <a:pos x="T6" y="T7"/>
              </a:cxn>
            </a:cxnLst>
            <a:rect l="0" t="0" r="r" b="b"/>
            <a:pathLst>
              <a:path w="204" h="1092">
                <a:moveTo>
                  <a:pt x="204" y="1090"/>
                </a:moveTo>
                <a:lnTo>
                  <a:pt x="23" y="0"/>
                </a:lnTo>
                <a:lnTo>
                  <a:pt x="0" y="3"/>
                </a:lnTo>
                <a:lnTo>
                  <a:pt x="183" y="10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5"/>
          <p:cNvSpPr>
            <a:spLocks/>
          </p:cNvSpPr>
          <p:nvPr/>
        </p:nvSpPr>
        <p:spPr bwMode="auto">
          <a:xfrm>
            <a:off x="5286376" y="2979738"/>
            <a:ext cx="177800" cy="168275"/>
          </a:xfrm>
          <a:custGeom>
            <a:avLst/>
            <a:gdLst>
              <a:gd name="T0" fmla="*/ 112 w 112"/>
              <a:gd name="T1" fmla="*/ 0 h 106"/>
              <a:gd name="T2" fmla="*/ 72 w 112"/>
              <a:gd name="T3" fmla="*/ 106 h 106"/>
              <a:gd name="T4" fmla="*/ 0 w 112"/>
              <a:gd name="T5" fmla="*/ 19 h 106"/>
              <a:gd name="T6" fmla="*/ 112 w 112"/>
              <a:gd name="T7" fmla="*/ 0 h 106"/>
            </a:gdLst>
            <a:ahLst/>
            <a:cxnLst>
              <a:cxn ang="0">
                <a:pos x="T0" y="T1"/>
              </a:cxn>
              <a:cxn ang="0">
                <a:pos x="T2" y="T3"/>
              </a:cxn>
              <a:cxn ang="0">
                <a:pos x="T4" y="T5"/>
              </a:cxn>
              <a:cxn ang="0">
                <a:pos x="T6" y="T7"/>
              </a:cxn>
            </a:cxnLst>
            <a:rect l="0" t="0" r="r" b="b"/>
            <a:pathLst>
              <a:path w="112" h="106">
                <a:moveTo>
                  <a:pt x="112" y="0"/>
                </a:moveTo>
                <a:lnTo>
                  <a:pt x="72" y="106"/>
                </a:lnTo>
                <a:lnTo>
                  <a:pt x="0" y="19"/>
                </a:lnTo>
                <a:lnTo>
                  <a:pt x="112"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26"/>
          <p:cNvSpPr>
            <a:spLocks/>
          </p:cNvSpPr>
          <p:nvPr/>
        </p:nvSpPr>
        <p:spPr bwMode="auto">
          <a:xfrm>
            <a:off x="4068763" y="2154238"/>
            <a:ext cx="866775" cy="1190625"/>
          </a:xfrm>
          <a:custGeom>
            <a:avLst/>
            <a:gdLst>
              <a:gd name="T0" fmla="*/ 546 w 546"/>
              <a:gd name="T1" fmla="*/ 750 h 750"/>
              <a:gd name="T2" fmla="*/ 0 w 546"/>
              <a:gd name="T3" fmla="*/ 0 h 750"/>
              <a:gd name="T4" fmla="*/ 546 w 546"/>
              <a:gd name="T5" fmla="*/ 750 h 750"/>
            </a:gdLst>
            <a:ahLst/>
            <a:cxnLst>
              <a:cxn ang="0">
                <a:pos x="T0" y="T1"/>
              </a:cxn>
              <a:cxn ang="0">
                <a:pos x="T2" y="T3"/>
              </a:cxn>
              <a:cxn ang="0">
                <a:pos x="T4" y="T5"/>
              </a:cxn>
            </a:cxnLst>
            <a:rect l="0" t="0" r="r" b="b"/>
            <a:pathLst>
              <a:path w="546" h="750">
                <a:moveTo>
                  <a:pt x="546" y="750"/>
                </a:moveTo>
                <a:lnTo>
                  <a:pt x="0" y="0"/>
                </a:lnTo>
                <a:lnTo>
                  <a:pt x="546" y="750"/>
                </a:lnTo>
                <a:close/>
              </a:path>
            </a:pathLst>
          </a:custGeom>
          <a:solidFill>
            <a:srgbClr val="4AA1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Line 27"/>
          <p:cNvSpPr>
            <a:spLocks noChangeShapeType="1"/>
          </p:cNvSpPr>
          <p:nvPr/>
        </p:nvSpPr>
        <p:spPr bwMode="auto">
          <a:xfrm flipH="1" flipV="1">
            <a:off x="4068763" y="2154238"/>
            <a:ext cx="866775" cy="11906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28"/>
          <p:cNvSpPr>
            <a:spLocks/>
          </p:cNvSpPr>
          <p:nvPr/>
        </p:nvSpPr>
        <p:spPr bwMode="auto">
          <a:xfrm>
            <a:off x="4056063" y="2141538"/>
            <a:ext cx="819150" cy="1106488"/>
          </a:xfrm>
          <a:custGeom>
            <a:avLst/>
            <a:gdLst>
              <a:gd name="T0" fmla="*/ 516 w 516"/>
              <a:gd name="T1" fmla="*/ 684 h 697"/>
              <a:gd name="T2" fmla="*/ 17 w 516"/>
              <a:gd name="T3" fmla="*/ 0 h 697"/>
              <a:gd name="T4" fmla="*/ 0 w 516"/>
              <a:gd name="T5" fmla="*/ 14 h 697"/>
              <a:gd name="T6" fmla="*/ 497 w 516"/>
              <a:gd name="T7" fmla="*/ 697 h 697"/>
              <a:gd name="T8" fmla="*/ 516 w 516"/>
              <a:gd name="T9" fmla="*/ 684 h 697"/>
            </a:gdLst>
            <a:ahLst/>
            <a:cxnLst>
              <a:cxn ang="0">
                <a:pos x="T0" y="T1"/>
              </a:cxn>
              <a:cxn ang="0">
                <a:pos x="T2" y="T3"/>
              </a:cxn>
              <a:cxn ang="0">
                <a:pos x="T4" y="T5"/>
              </a:cxn>
              <a:cxn ang="0">
                <a:pos x="T6" y="T7"/>
              </a:cxn>
              <a:cxn ang="0">
                <a:pos x="T8" y="T9"/>
              </a:cxn>
            </a:cxnLst>
            <a:rect l="0" t="0" r="r" b="b"/>
            <a:pathLst>
              <a:path w="516" h="697">
                <a:moveTo>
                  <a:pt x="516" y="684"/>
                </a:moveTo>
                <a:lnTo>
                  <a:pt x="17" y="0"/>
                </a:lnTo>
                <a:lnTo>
                  <a:pt x="0" y="14"/>
                </a:lnTo>
                <a:lnTo>
                  <a:pt x="497" y="697"/>
                </a:lnTo>
                <a:lnTo>
                  <a:pt x="516" y="684"/>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29"/>
          <p:cNvSpPr>
            <a:spLocks/>
          </p:cNvSpPr>
          <p:nvPr/>
        </p:nvSpPr>
        <p:spPr bwMode="auto">
          <a:xfrm>
            <a:off x="4056063" y="2141538"/>
            <a:ext cx="819150" cy="1106488"/>
          </a:xfrm>
          <a:custGeom>
            <a:avLst/>
            <a:gdLst>
              <a:gd name="T0" fmla="*/ 516 w 516"/>
              <a:gd name="T1" fmla="*/ 684 h 697"/>
              <a:gd name="T2" fmla="*/ 17 w 516"/>
              <a:gd name="T3" fmla="*/ 0 h 697"/>
              <a:gd name="T4" fmla="*/ 0 w 516"/>
              <a:gd name="T5" fmla="*/ 14 h 697"/>
              <a:gd name="T6" fmla="*/ 497 w 516"/>
              <a:gd name="T7" fmla="*/ 697 h 697"/>
            </a:gdLst>
            <a:ahLst/>
            <a:cxnLst>
              <a:cxn ang="0">
                <a:pos x="T0" y="T1"/>
              </a:cxn>
              <a:cxn ang="0">
                <a:pos x="T2" y="T3"/>
              </a:cxn>
              <a:cxn ang="0">
                <a:pos x="T4" y="T5"/>
              </a:cxn>
              <a:cxn ang="0">
                <a:pos x="T6" y="T7"/>
              </a:cxn>
            </a:cxnLst>
            <a:rect l="0" t="0" r="r" b="b"/>
            <a:pathLst>
              <a:path w="516" h="697">
                <a:moveTo>
                  <a:pt x="516" y="684"/>
                </a:moveTo>
                <a:lnTo>
                  <a:pt x="17" y="0"/>
                </a:lnTo>
                <a:lnTo>
                  <a:pt x="0" y="14"/>
                </a:lnTo>
                <a:lnTo>
                  <a:pt x="497" y="69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0"/>
          <p:cNvSpPr>
            <a:spLocks/>
          </p:cNvSpPr>
          <p:nvPr/>
        </p:nvSpPr>
        <p:spPr bwMode="auto">
          <a:xfrm>
            <a:off x="4768851" y="3163888"/>
            <a:ext cx="166688" cy="180975"/>
          </a:xfrm>
          <a:custGeom>
            <a:avLst/>
            <a:gdLst>
              <a:gd name="T0" fmla="*/ 93 w 105"/>
              <a:gd name="T1" fmla="*/ 0 h 114"/>
              <a:gd name="T2" fmla="*/ 105 w 105"/>
              <a:gd name="T3" fmla="*/ 114 h 114"/>
              <a:gd name="T4" fmla="*/ 0 w 105"/>
              <a:gd name="T5" fmla="*/ 66 h 114"/>
              <a:gd name="T6" fmla="*/ 93 w 105"/>
              <a:gd name="T7" fmla="*/ 0 h 114"/>
            </a:gdLst>
            <a:ahLst/>
            <a:cxnLst>
              <a:cxn ang="0">
                <a:pos x="T0" y="T1"/>
              </a:cxn>
              <a:cxn ang="0">
                <a:pos x="T2" y="T3"/>
              </a:cxn>
              <a:cxn ang="0">
                <a:pos x="T4" y="T5"/>
              </a:cxn>
              <a:cxn ang="0">
                <a:pos x="T6" y="T7"/>
              </a:cxn>
            </a:cxnLst>
            <a:rect l="0" t="0" r="r" b="b"/>
            <a:pathLst>
              <a:path w="105" h="114">
                <a:moveTo>
                  <a:pt x="93" y="0"/>
                </a:moveTo>
                <a:lnTo>
                  <a:pt x="105" y="114"/>
                </a:lnTo>
                <a:lnTo>
                  <a:pt x="0" y="66"/>
                </a:lnTo>
                <a:lnTo>
                  <a:pt x="93"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1"/>
          <p:cNvSpPr>
            <a:spLocks/>
          </p:cNvSpPr>
          <p:nvPr/>
        </p:nvSpPr>
        <p:spPr bwMode="auto">
          <a:xfrm>
            <a:off x="4046538" y="3043238"/>
            <a:ext cx="668338" cy="515938"/>
          </a:xfrm>
          <a:custGeom>
            <a:avLst/>
            <a:gdLst>
              <a:gd name="T0" fmla="*/ 421 w 421"/>
              <a:gd name="T1" fmla="*/ 325 h 325"/>
              <a:gd name="T2" fmla="*/ 0 w 421"/>
              <a:gd name="T3" fmla="*/ 0 h 325"/>
              <a:gd name="T4" fmla="*/ 421 w 421"/>
              <a:gd name="T5" fmla="*/ 325 h 325"/>
            </a:gdLst>
            <a:ahLst/>
            <a:cxnLst>
              <a:cxn ang="0">
                <a:pos x="T0" y="T1"/>
              </a:cxn>
              <a:cxn ang="0">
                <a:pos x="T2" y="T3"/>
              </a:cxn>
              <a:cxn ang="0">
                <a:pos x="T4" y="T5"/>
              </a:cxn>
            </a:cxnLst>
            <a:rect l="0" t="0" r="r" b="b"/>
            <a:pathLst>
              <a:path w="421" h="325">
                <a:moveTo>
                  <a:pt x="421" y="325"/>
                </a:moveTo>
                <a:lnTo>
                  <a:pt x="0" y="0"/>
                </a:lnTo>
                <a:lnTo>
                  <a:pt x="421" y="325"/>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Line 32"/>
          <p:cNvSpPr>
            <a:spLocks noChangeShapeType="1"/>
          </p:cNvSpPr>
          <p:nvPr/>
        </p:nvSpPr>
        <p:spPr bwMode="auto">
          <a:xfrm flipH="1" flipV="1">
            <a:off x="4046538" y="3043238"/>
            <a:ext cx="668338" cy="5159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3"/>
          <p:cNvSpPr>
            <a:spLocks/>
          </p:cNvSpPr>
          <p:nvPr/>
        </p:nvSpPr>
        <p:spPr bwMode="auto">
          <a:xfrm>
            <a:off x="4038600" y="3027363"/>
            <a:ext cx="585788" cy="465138"/>
          </a:xfrm>
          <a:custGeom>
            <a:avLst/>
            <a:gdLst>
              <a:gd name="T0" fmla="*/ 369 w 369"/>
              <a:gd name="T1" fmla="*/ 274 h 293"/>
              <a:gd name="T2" fmla="*/ 13 w 369"/>
              <a:gd name="T3" fmla="*/ 0 h 293"/>
              <a:gd name="T4" fmla="*/ 0 w 369"/>
              <a:gd name="T5" fmla="*/ 17 h 293"/>
              <a:gd name="T6" fmla="*/ 354 w 369"/>
              <a:gd name="T7" fmla="*/ 293 h 293"/>
              <a:gd name="T8" fmla="*/ 369 w 369"/>
              <a:gd name="T9" fmla="*/ 274 h 293"/>
            </a:gdLst>
            <a:ahLst/>
            <a:cxnLst>
              <a:cxn ang="0">
                <a:pos x="T0" y="T1"/>
              </a:cxn>
              <a:cxn ang="0">
                <a:pos x="T2" y="T3"/>
              </a:cxn>
              <a:cxn ang="0">
                <a:pos x="T4" y="T5"/>
              </a:cxn>
              <a:cxn ang="0">
                <a:pos x="T6" y="T7"/>
              </a:cxn>
              <a:cxn ang="0">
                <a:pos x="T8" y="T9"/>
              </a:cxn>
            </a:cxnLst>
            <a:rect l="0" t="0" r="r" b="b"/>
            <a:pathLst>
              <a:path w="369" h="293">
                <a:moveTo>
                  <a:pt x="369" y="274"/>
                </a:moveTo>
                <a:lnTo>
                  <a:pt x="13" y="0"/>
                </a:lnTo>
                <a:lnTo>
                  <a:pt x="0" y="17"/>
                </a:lnTo>
                <a:lnTo>
                  <a:pt x="354" y="293"/>
                </a:lnTo>
                <a:lnTo>
                  <a:pt x="369" y="274"/>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4"/>
          <p:cNvSpPr>
            <a:spLocks/>
          </p:cNvSpPr>
          <p:nvPr/>
        </p:nvSpPr>
        <p:spPr bwMode="auto">
          <a:xfrm>
            <a:off x="4038600" y="3027363"/>
            <a:ext cx="585788" cy="465138"/>
          </a:xfrm>
          <a:custGeom>
            <a:avLst/>
            <a:gdLst>
              <a:gd name="T0" fmla="*/ 369 w 369"/>
              <a:gd name="T1" fmla="*/ 274 h 293"/>
              <a:gd name="T2" fmla="*/ 13 w 369"/>
              <a:gd name="T3" fmla="*/ 0 h 293"/>
              <a:gd name="T4" fmla="*/ 0 w 369"/>
              <a:gd name="T5" fmla="*/ 17 h 293"/>
              <a:gd name="T6" fmla="*/ 354 w 369"/>
              <a:gd name="T7" fmla="*/ 293 h 293"/>
            </a:gdLst>
            <a:ahLst/>
            <a:cxnLst>
              <a:cxn ang="0">
                <a:pos x="T0" y="T1"/>
              </a:cxn>
              <a:cxn ang="0">
                <a:pos x="T2" y="T3"/>
              </a:cxn>
              <a:cxn ang="0">
                <a:pos x="T4" y="T5"/>
              </a:cxn>
              <a:cxn ang="0">
                <a:pos x="T6" y="T7"/>
              </a:cxn>
            </a:cxnLst>
            <a:rect l="0" t="0" r="r" b="b"/>
            <a:pathLst>
              <a:path w="369" h="293">
                <a:moveTo>
                  <a:pt x="369" y="274"/>
                </a:moveTo>
                <a:lnTo>
                  <a:pt x="13" y="0"/>
                </a:lnTo>
                <a:lnTo>
                  <a:pt x="0" y="17"/>
                </a:lnTo>
                <a:lnTo>
                  <a:pt x="354" y="29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35"/>
          <p:cNvSpPr>
            <a:spLocks/>
          </p:cNvSpPr>
          <p:nvPr/>
        </p:nvSpPr>
        <p:spPr bwMode="auto">
          <a:xfrm>
            <a:off x="4537076" y="3389313"/>
            <a:ext cx="177800" cy="169863"/>
          </a:xfrm>
          <a:custGeom>
            <a:avLst/>
            <a:gdLst>
              <a:gd name="T0" fmla="*/ 68 w 112"/>
              <a:gd name="T1" fmla="*/ 0 h 107"/>
              <a:gd name="T2" fmla="*/ 112 w 112"/>
              <a:gd name="T3" fmla="*/ 107 h 107"/>
              <a:gd name="T4" fmla="*/ 0 w 112"/>
              <a:gd name="T5" fmla="*/ 92 h 107"/>
              <a:gd name="T6" fmla="*/ 68 w 112"/>
              <a:gd name="T7" fmla="*/ 0 h 107"/>
            </a:gdLst>
            <a:ahLst/>
            <a:cxnLst>
              <a:cxn ang="0">
                <a:pos x="T0" y="T1"/>
              </a:cxn>
              <a:cxn ang="0">
                <a:pos x="T2" y="T3"/>
              </a:cxn>
              <a:cxn ang="0">
                <a:pos x="T4" y="T5"/>
              </a:cxn>
              <a:cxn ang="0">
                <a:pos x="T6" y="T7"/>
              </a:cxn>
            </a:cxnLst>
            <a:rect l="0" t="0" r="r" b="b"/>
            <a:pathLst>
              <a:path w="112" h="107">
                <a:moveTo>
                  <a:pt x="68" y="0"/>
                </a:moveTo>
                <a:lnTo>
                  <a:pt x="112" y="107"/>
                </a:lnTo>
                <a:lnTo>
                  <a:pt x="0" y="92"/>
                </a:lnTo>
                <a:lnTo>
                  <a:pt x="68"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36"/>
          <p:cNvSpPr>
            <a:spLocks/>
          </p:cNvSpPr>
          <p:nvPr/>
        </p:nvSpPr>
        <p:spPr bwMode="auto">
          <a:xfrm>
            <a:off x="3170238" y="3362325"/>
            <a:ext cx="1370013" cy="493713"/>
          </a:xfrm>
          <a:custGeom>
            <a:avLst/>
            <a:gdLst>
              <a:gd name="T0" fmla="*/ 863 w 863"/>
              <a:gd name="T1" fmla="*/ 311 h 311"/>
              <a:gd name="T2" fmla="*/ 0 w 863"/>
              <a:gd name="T3" fmla="*/ 0 h 311"/>
              <a:gd name="T4" fmla="*/ 863 w 863"/>
              <a:gd name="T5" fmla="*/ 311 h 311"/>
            </a:gdLst>
            <a:ahLst/>
            <a:cxnLst>
              <a:cxn ang="0">
                <a:pos x="T0" y="T1"/>
              </a:cxn>
              <a:cxn ang="0">
                <a:pos x="T2" y="T3"/>
              </a:cxn>
              <a:cxn ang="0">
                <a:pos x="T4" y="T5"/>
              </a:cxn>
            </a:cxnLst>
            <a:rect l="0" t="0" r="r" b="b"/>
            <a:pathLst>
              <a:path w="863" h="311">
                <a:moveTo>
                  <a:pt x="863" y="311"/>
                </a:moveTo>
                <a:lnTo>
                  <a:pt x="0" y="0"/>
                </a:lnTo>
                <a:lnTo>
                  <a:pt x="863" y="311"/>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Line 37"/>
          <p:cNvSpPr>
            <a:spLocks noChangeShapeType="1"/>
          </p:cNvSpPr>
          <p:nvPr/>
        </p:nvSpPr>
        <p:spPr bwMode="auto">
          <a:xfrm flipH="1" flipV="1">
            <a:off x="3170238" y="3362325"/>
            <a:ext cx="1370013"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38"/>
          <p:cNvSpPr>
            <a:spLocks/>
          </p:cNvSpPr>
          <p:nvPr/>
        </p:nvSpPr>
        <p:spPr bwMode="auto">
          <a:xfrm>
            <a:off x="3163888" y="3344863"/>
            <a:ext cx="1257300" cy="484188"/>
          </a:xfrm>
          <a:custGeom>
            <a:avLst/>
            <a:gdLst>
              <a:gd name="T0" fmla="*/ 792 w 792"/>
              <a:gd name="T1" fmla="*/ 284 h 305"/>
              <a:gd name="T2" fmla="*/ 8 w 792"/>
              <a:gd name="T3" fmla="*/ 0 h 305"/>
              <a:gd name="T4" fmla="*/ 0 w 792"/>
              <a:gd name="T5" fmla="*/ 23 h 305"/>
              <a:gd name="T6" fmla="*/ 785 w 792"/>
              <a:gd name="T7" fmla="*/ 305 h 305"/>
              <a:gd name="T8" fmla="*/ 792 w 792"/>
              <a:gd name="T9" fmla="*/ 284 h 305"/>
            </a:gdLst>
            <a:ahLst/>
            <a:cxnLst>
              <a:cxn ang="0">
                <a:pos x="T0" y="T1"/>
              </a:cxn>
              <a:cxn ang="0">
                <a:pos x="T2" y="T3"/>
              </a:cxn>
              <a:cxn ang="0">
                <a:pos x="T4" y="T5"/>
              </a:cxn>
              <a:cxn ang="0">
                <a:pos x="T6" y="T7"/>
              </a:cxn>
              <a:cxn ang="0">
                <a:pos x="T8" y="T9"/>
              </a:cxn>
            </a:cxnLst>
            <a:rect l="0" t="0" r="r" b="b"/>
            <a:pathLst>
              <a:path w="792" h="305">
                <a:moveTo>
                  <a:pt x="792" y="284"/>
                </a:moveTo>
                <a:lnTo>
                  <a:pt x="8" y="0"/>
                </a:lnTo>
                <a:lnTo>
                  <a:pt x="0" y="23"/>
                </a:lnTo>
                <a:lnTo>
                  <a:pt x="785" y="305"/>
                </a:lnTo>
                <a:lnTo>
                  <a:pt x="792" y="284"/>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39"/>
          <p:cNvSpPr>
            <a:spLocks/>
          </p:cNvSpPr>
          <p:nvPr/>
        </p:nvSpPr>
        <p:spPr bwMode="auto">
          <a:xfrm>
            <a:off x="3163888" y="3344863"/>
            <a:ext cx="1257300" cy="484188"/>
          </a:xfrm>
          <a:custGeom>
            <a:avLst/>
            <a:gdLst>
              <a:gd name="T0" fmla="*/ 792 w 792"/>
              <a:gd name="T1" fmla="*/ 284 h 305"/>
              <a:gd name="T2" fmla="*/ 8 w 792"/>
              <a:gd name="T3" fmla="*/ 0 h 305"/>
              <a:gd name="T4" fmla="*/ 0 w 792"/>
              <a:gd name="T5" fmla="*/ 23 h 305"/>
              <a:gd name="T6" fmla="*/ 785 w 792"/>
              <a:gd name="T7" fmla="*/ 305 h 305"/>
            </a:gdLst>
            <a:ahLst/>
            <a:cxnLst>
              <a:cxn ang="0">
                <a:pos x="T0" y="T1"/>
              </a:cxn>
              <a:cxn ang="0">
                <a:pos x="T2" y="T3"/>
              </a:cxn>
              <a:cxn ang="0">
                <a:pos x="T4" y="T5"/>
              </a:cxn>
              <a:cxn ang="0">
                <a:pos x="T6" y="T7"/>
              </a:cxn>
            </a:cxnLst>
            <a:rect l="0" t="0" r="r" b="b"/>
            <a:pathLst>
              <a:path w="792" h="305">
                <a:moveTo>
                  <a:pt x="792" y="284"/>
                </a:moveTo>
                <a:lnTo>
                  <a:pt x="8" y="0"/>
                </a:lnTo>
                <a:lnTo>
                  <a:pt x="0" y="23"/>
                </a:lnTo>
                <a:lnTo>
                  <a:pt x="785" y="30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40"/>
          <p:cNvSpPr>
            <a:spLocks/>
          </p:cNvSpPr>
          <p:nvPr/>
        </p:nvSpPr>
        <p:spPr bwMode="auto">
          <a:xfrm>
            <a:off x="4360863" y="3719513"/>
            <a:ext cx="176213" cy="169863"/>
          </a:xfrm>
          <a:custGeom>
            <a:avLst/>
            <a:gdLst>
              <a:gd name="T0" fmla="*/ 38 w 111"/>
              <a:gd name="T1" fmla="*/ 0 h 107"/>
              <a:gd name="T2" fmla="*/ 111 w 111"/>
              <a:gd name="T3" fmla="*/ 88 h 107"/>
              <a:gd name="T4" fmla="*/ 0 w 111"/>
              <a:gd name="T5" fmla="*/ 107 h 107"/>
              <a:gd name="T6" fmla="*/ 38 w 111"/>
              <a:gd name="T7" fmla="*/ 0 h 107"/>
            </a:gdLst>
            <a:ahLst/>
            <a:cxnLst>
              <a:cxn ang="0">
                <a:pos x="T0" y="T1"/>
              </a:cxn>
              <a:cxn ang="0">
                <a:pos x="T2" y="T3"/>
              </a:cxn>
              <a:cxn ang="0">
                <a:pos x="T4" y="T5"/>
              </a:cxn>
              <a:cxn ang="0">
                <a:pos x="T6" y="T7"/>
              </a:cxn>
            </a:cxnLst>
            <a:rect l="0" t="0" r="r" b="b"/>
            <a:pathLst>
              <a:path w="111" h="107">
                <a:moveTo>
                  <a:pt x="38" y="0"/>
                </a:moveTo>
                <a:lnTo>
                  <a:pt x="111" y="88"/>
                </a:lnTo>
                <a:lnTo>
                  <a:pt x="0" y="107"/>
                </a:lnTo>
                <a:lnTo>
                  <a:pt x="38"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41"/>
          <p:cNvSpPr>
            <a:spLocks/>
          </p:cNvSpPr>
          <p:nvPr/>
        </p:nvSpPr>
        <p:spPr bwMode="auto">
          <a:xfrm>
            <a:off x="2351088" y="4060826"/>
            <a:ext cx="2133600" cy="109538"/>
          </a:xfrm>
          <a:custGeom>
            <a:avLst/>
            <a:gdLst>
              <a:gd name="T0" fmla="*/ 1344 w 1344"/>
              <a:gd name="T1" fmla="*/ 69 h 69"/>
              <a:gd name="T2" fmla="*/ 0 w 1344"/>
              <a:gd name="T3" fmla="*/ 0 h 69"/>
              <a:gd name="T4" fmla="*/ 1344 w 1344"/>
              <a:gd name="T5" fmla="*/ 69 h 69"/>
            </a:gdLst>
            <a:ahLst/>
            <a:cxnLst>
              <a:cxn ang="0">
                <a:pos x="T0" y="T1"/>
              </a:cxn>
              <a:cxn ang="0">
                <a:pos x="T2" y="T3"/>
              </a:cxn>
              <a:cxn ang="0">
                <a:pos x="T4" y="T5"/>
              </a:cxn>
            </a:cxnLst>
            <a:rect l="0" t="0" r="r" b="b"/>
            <a:pathLst>
              <a:path w="1344" h="69">
                <a:moveTo>
                  <a:pt x="1344" y="69"/>
                </a:moveTo>
                <a:lnTo>
                  <a:pt x="0" y="0"/>
                </a:lnTo>
                <a:lnTo>
                  <a:pt x="1344" y="69"/>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Line 42"/>
          <p:cNvSpPr>
            <a:spLocks noChangeShapeType="1"/>
          </p:cNvSpPr>
          <p:nvPr/>
        </p:nvSpPr>
        <p:spPr bwMode="auto">
          <a:xfrm flipH="1" flipV="1">
            <a:off x="2351088" y="4060826"/>
            <a:ext cx="2133600" cy="1095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 name="Freeform 43"/>
          <p:cNvSpPr>
            <a:spLocks/>
          </p:cNvSpPr>
          <p:nvPr/>
        </p:nvSpPr>
        <p:spPr bwMode="auto">
          <a:xfrm>
            <a:off x="2351088" y="4043363"/>
            <a:ext cx="2006600" cy="138113"/>
          </a:xfrm>
          <a:custGeom>
            <a:avLst/>
            <a:gdLst>
              <a:gd name="T0" fmla="*/ 1264 w 1264"/>
              <a:gd name="T1" fmla="*/ 64 h 87"/>
              <a:gd name="T2" fmla="*/ 0 w 1264"/>
              <a:gd name="T3" fmla="*/ 0 h 87"/>
              <a:gd name="T4" fmla="*/ 0 w 1264"/>
              <a:gd name="T5" fmla="*/ 23 h 87"/>
              <a:gd name="T6" fmla="*/ 1262 w 1264"/>
              <a:gd name="T7" fmla="*/ 87 h 87"/>
              <a:gd name="T8" fmla="*/ 1264 w 1264"/>
              <a:gd name="T9" fmla="*/ 64 h 87"/>
            </a:gdLst>
            <a:ahLst/>
            <a:cxnLst>
              <a:cxn ang="0">
                <a:pos x="T0" y="T1"/>
              </a:cxn>
              <a:cxn ang="0">
                <a:pos x="T2" y="T3"/>
              </a:cxn>
              <a:cxn ang="0">
                <a:pos x="T4" y="T5"/>
              </a:cxn>
              <a:cxn ang="0">
                <a:pos x="T6" y="T7"/>
              </a:cxn>
              <a:cxn ang="0">
                <a:pos x="T8" y="T9"/>
              </a:cxn>
            </a:cxnLst>
            <a:rect l="0" t="0" r="r" b="b"/>
            <a:pathLst>
              <a:path w="1264" h="87">
                <a:moveTo>
                  <a:pt x="1264" y="64"/>
                </a:moveTo>
                <a:lnTo>
                  <a:pt x="0" y="0"/>
                </a:lnTo>
                <a:lnTo>
                  <a:pt x="0" y="23"/>
                </a:lnTo>
                <a:lnTo>
                  <a:pt x="1262" y="87"/>
                </a:lnTo>
                <a:lnTo>
                  <a:pt x="1264" y="64"/>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Freeform 44"/>
          <p:cNvSpPr>
            <a:spLocks/>
          </p:cNvSpPr>
          <p:nvPr/>
        </p:nvSpPr>
        <p:spPr bwMode="auto">
          <a:xfrm>
            <a:off x="2351088" y="4043363"/>
            <a:ext cx="2006600" cy="138113"/>
          </a:xfrm>
          <a:custGeom>
            <a:avLst/>
            <a:gdLst>
              <a:gd name="T0" fmla="*/ 1264 w 1264"/>
              <a:gd name="T1" fmla="*/ 64 h 87"/>
              <a:gd name="T2" fmla="*/ 0 w 1264"/>
              <a:gd name="T3" fmla="*/ 0 h 87"/>
              <a:gd name="T4" fmla="*/ 0 w 1264"/>
              <a:gd name="T5" fmla="*/ 23 h 87"/>
              <a:gd name="T6" fmla="*/ 1262 w 1264"/>
              <a:gd name="T7" fmla="*/ 87 h 87"/>
            </a:gdLst>
            <a:ahLst/>
            <a:cxnLst>
              <a:cxn ang="0">
                <a:pos x="T0" y="T1"/>
              </a:cxn>
              <a:cxn ang="0">
                <a:pos x="T2" y="T3"/>
              </a:cxn>
              <a:cxn ang="0">
                <a:pos x="T4" y="T5"/>
              </a:cxn>
              <a:cxn ang="0">
                <a:pos x="T6" y="T7"/>
              </a:cxn>
            </a:cxnLst>
            <a:rect l="0" t="0" r="r" b="b"/>
            <a:pathLst>
              <a:path w="1264" h="87">
                <a:moveTo>
                  <a:pt x="1264" y="64"/>
                </a:moveTo>
                <a:lnTo>
                  <a:pt x="0" y="0"/>
                </a:lnTo>
                <a:lnTo>
                  <a:pt x="0" y="23"/>
                </a:lnTo>
                <a:lnTo>
                  <a:pt x="1262" y="8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45"/>
          <p:cNvSpPr>
            <a:spLocks/>
          </p:cNvSpPr>
          <p:nvPr/>
        </p:nvSpPr>
        <p:spPr bwMode="auto">
          <a:xfrm>
            <a:off x="4324350" y="4073526"/>
            <a:ext cx="160338" cy="180975"/>
          </a:xfrm>
          <a:custGeom>
            <a:avLst/>
            <a:gdLst>
              <a:gd name="T0" fmla="*/ 6 w 101"/>
              <a:gd name="T1" fmla="*/ 0 h 114"/>
              <a:gd name="T2" fmla="*/ 101 w 101"/>
              <a:gd name="T3" fmla="*/ 61 h 114"/>
              <a:gd name="T4" fmla="*/ 0 w 101"/>
              <a:gd name="T5" fmla="*/ 114 h 114"/>
              <a:gd name="T6" fmla="*/ 6 w 101"/>
              <a:gd name="T7" fmla="*/ 0 h 114"/>
            </a:gdLst>
            <a:ahLst/>
            <a:cxnLst>
              <a:cxn ang="0">
                <a:pos x="T0" y="T1"/>
              </a:cxn>
              <a:cxn ang="0">
                <a:pos x="T2" y="T3"/>
              </a:cxn>
              <a:cxn ang="0">
                <a:pos x="T4" y="T5"/>
              </a:cxn>
              <a:cxn ang="0">
                <a:pos x="T6" y="T7"/>
              </a:cxn>
            </a:cxnLst>
            <a:rect l="0" t="0" r="r" b="b"/>
            <a:pathLst>
              <a:path w="101" h="114">
                <a:moveTo>
                  <a:pt x="6" y="0"/>
                </a:moveTo>
                <a:lnTo>
                  <a:pt x="101" y="61"/>
                </a:lnTo>
                <a:lnTo>
                  <a:pt x="0" y="114"/>
                </a:lnTo>
                <a:lnTo>
                  <a:pt x="6"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46"/>
          <p:cNvSpPr>
            <a:spLocks/>
          </p:cNvSpPr>
          <p:nvPr/>
        </p:nvSpPr>
        <p:spPr bwMode="auto">
          <a:xfrm>
            <a:off x="3155950" y="4556126"/>
            <a:ext cx="1362075" cy="407988"/>
          </a:xfrm>
          <a:custGeom>
            <a:avLst/>
            <a:gdLst>
              <a:gd name="T0" fmla="*/ 858 w 858"/>
              <a:gd name="T1" fmla="*/ 0 h 257"/>
              <a:gd name="T2" fmla="*/ 0 w 858"/>
              <a:gd name="T3" fmla="*/ 257 h 257"/>
              <a:gd name="T4" fmla="*/ 858 w 858"/>
              <a:gd name="T5" fmla="*/ 0 h 257"/>
            </a:gdLst>
            <a:ahLst/>
            <a:cxnLst>
              <a:cxn ang="0">
                <a:pos x="T0" y="T1"/>
              </a:cxn>
              <a:cxn ang="0">
                <a:pos x="T2" y="T3"/>
              </a:cxn>
              <a:cxn ang="0">
                <a:pos x="T4" y="T5"/>
              </a:cxn>
            </a:cxnLst>
            <a:rect l="0" t="0" r="r" b="b"/>
            <a:pathLst>
              <a:path w="858" h="257">
                <a:moveTo>
                  <a:pt x="858" y="0"/>
                </a:moveTo>
                <a:lnTo>
                  <a:pt x="0" y="257"/>
                </a:lnTo>
                <a:lnTo>
                  <a:pt x="858" y="0"/>
                </a:lnTo>
                <a:close/>
              </a:path>
            </a:pathLst>
          </a:custGeom>
          <a:solidFill>
            <a:srgbClr val="4AA1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Line 47"/>
          <p:cNvSpPr>
            <a:spLocks noChangeShapeType="1"/>
          </p:cNvSpPr>
          <p:nvPr/>
        </p:nvSpPr>
        <p:spPr bwMode="auto">
          <a:xfrm flipH="1">
            <a:off x="3155950" y="4556126"/>
            <a:ext cx="1362075" cy="4079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48"/>
          <p:cNvSpPr>
            <a:spLocks/>
          </p:cNvSpPr>
          <p:nvPr/>
        </p:nvSpPr>
        <p:spPr bwMode="auto">
          <a:xfrm>
            <a:off x="3149600" y="4575176"/>
            <a:ext cx="1250950" cy="404813"/>
          </a:xfrm>
          <a:custGeom>
            <a:avLst/>
            <a:gdLst>
              <a:gd name="T0" fmla="*/ 780 w 788"/>
              <a:gd name="T1" fmla="*/ 0 h 255"/>
              <a:gd name="T2" fmla="*/ 0 w 788"/>
              <a:gd name="T3" fmla="*/ 234 h 255"/>
              <a:gd name="T4" fmla="*/ 6 w 788"/>
              <a:gd name="T5" fmla="*/ 255 h 255"/>
              <a:gd name="T6" fmla="*/ 788 w 788"/>
              <a:gd name="T7" fmla="*/ 23 h 255"/>
              <a:gd name="T8" fmla="*/ 780 w 788"/>
              <a:gd name="T9" fmla="*/ 0 h 255"/>
            </a:gdLst>
            <a:ahLst/>
            <a:cxnLst>
              <a:cxn ang="0">
                <a:pos x="T0" y="T1"/>
              </a:cxn>
              <a:cxn ang="0">
                <a:pos x="T2" y="T3"/>
              </a:cxn>
              <a:cxn ang="0">
                <a:pos x="T4" y="T5"/>
              </a:cxn>
              <a:cxn ang="0">
                <a:pos x="T6" y="T7"/>
              </a:cxn>
              <a:cxn ang="0">
                <a:pos x="T8" y="T9"/>
              </a:cxn>
            </a:cxnLst>
            <a:rect l="0" t="0" r="r" b="b"/>
            <a:pathLst>
              <a:path w="788" h="255">
                <a:moveTo>
                  <a:pt x="780" y="0"/>
                </a:moveTo>
                <a:lnTo>
                  <a:pt x="0" y="234"/>
                </a:lnTo>
                <a:lnTo>
                  <a:pt x="6" y="255"/>
                </a:lnTo>
                <a:lnTo>
                  <a:pt x="788" y="23"/>
                </a:lnTo>
                <a:lnTo>
                  <a:pt x="780"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 name="Freeform 49"/>
          <p:cNvSpPr>
            <a:spLocks/>
          </p:cNvSpPr>
          <p:nvPr/>
        </p:nvSpPr>
        <p:spPr bwMode="auto">
          <a:xfrm>
            <a:off x="3149600" y="4575176"/>
            <a:ext cx="1250950" cy="404813"/>
          </a:xfrm>
          <a:custGeom>
            <a:avLst/>
            <a:gdLst>
              <a:gd name="T0" fmla="*/ 780 w 788"/>
              <a:gd name="T1" fmla="*/ 0 h 255"/>
              <a:gd name="T2" fmla="*/ 0 w 788"/>
              <a:gd name="T3" fmla="*/ 234 h 255"/>
              <a:gd name="T4" fmla="*/ 6 w 788"/>
              <a:gd name="T5" fmla="*/ 255 h 255"/>
              <a:gd name="T6" fmla="*/ 788 w 788"/>
              <a:gd name="T7" fmla="*/ 23 h 255"/>
            </a:gdLst>
            <a:ahLst/>
            <a:cxnLst>
              <a:cxn ang="0">
                <a:pos x="T0" y="T1"/>
              </a:cxn>
              <a:cxn ang="0">
                <a:pos x="T2" y="T3"/>
              </a:cxn>
              <a:cxn ang="0">
                <a:pos x="T4" y="T5"/>
              </a:cxn>
              <a:cxn ang="0">
                <a:pos x="T6" y="T7"/>
              </a:cxn>
            </a:cxnLst>
            <a:rect l="0" t="0" r="r" b="b"/>
            <a:pathLst>
              <a:path w="788" h="255">
                <a:moveTo>
                  <a:pt x="780" y="0"/>
                </a:moveTo>
                <a:lnTo>
                  <a:pt x="0" y="234"/>
                </a:lnTo>
                <a:lnTo>
                  <a:pt x="6" y="255"/>
                </a:lnTo>
                <a:lnTo>
                  <a:pt x="788" y="2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 name="Freeform 50"/>
          <p:cNvSpPr>
            <a:spLocks/>
          </p:cNvSpPr>
          <p:nvPr/>
        </p:nvSpPr>
        <p:spPr bwMode="auto">
          <a:xfrm>
            <a:off x="4343400" y="4514851"/>
            <a:ext cx="177800" cy="171450"/>
          </a:xfrm>
          <a:custGeom>
            <a:avLst/>
            <a:gdLst>
              <a:gd name="T0" fmla="*/ 0 w 112"/>
              <a:gd name="T1" fmla="*/ 0 h 108"/>
              <a:gd name="T2" fmla="*/ 112 w 112"/>
              <a:gd name="T3" fmla="*/ 26 h 108"/>
              <a:gd name="T4" fmla="*/ 32 w 112"/>
              <a:gd name="T5" fmla="*/ 108 h 108"/>
              <a:gd name="T6" fmla="*/ 0 w 112"/>
              <a:gd name="T7" fmla="*/ 0 h 108"/>
            </a:gdLst>
            <a:ahLst/>
            <a:cxnLst>
              <a:cxn ang="0">
                <a:pos x="T0" y="T1"/>
              </a:cxn>
              <a:cxn ang="0">
                <a:pos x="T2" y="T3"/>
              </a:cxn>
              <a:cxn ang="0">
                <a:pos x="T4" y="T5"/>
              </a:cxn>
              <a:cxn ang="0">
                <a:pos x="T6" y="T7"/>
              </a:cxn>
            </a:cxnLst>
            <a:rect l="0" t="0" r="r" b="b"/>
            <a:pathLst>
              <a:path w="112" h="108">
                <a:moveTo>
                  <a:pt x="0" y="0"/>
                </a:moveTo>
                <a:lnTo>
                  <a:pt x="112" y="26"/>
                </a:lnTo>
                <a:lnTo>
                  <a:pt x="32" y="108"/>
                </a:lnTo>
                <a:lnTo>
                  <a:pt x="0"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6" name="Freeform 51"/>
          <p:cNvSpPr>
            <a:spLocks/>
          </p:cNvSpPr>
          <p:nvPr/>
        </p:nvSpPr>
        <p:spPr bwMode="auto">
          <a:xfrm>
            <a:off x="3721100" y="4856163"/>
            <a:ext cx="933450" cy="635000"/>
          </a:xfrm>
          <a:custGeom>
            <a:avLst/>
            <a:gdLst>
              <a:gd name="T0" fmla="*/ 588 w 588"/>
              <a:gd name="T1" fmla="*/ 0 h 400"/>
              <a:gd name="T2" fmla="*/ 0 w 588"/>
              <a:gd name="T3" fmla="*/ 400 h 400"/>
              <a:gd name="T4" fmla="*/ 588 w 588"/>
              <a:gd name="T5" fmla="*/ 0 h 400"/>
            </a:gdLst>
            <a:ahLst/>
            <a:cxnLst>
              <a:cxn ang="0">
                <a:pos x="T0" y="T1"/>
              </a:cxn>
              <a:cxn ang="0">
                <a:pos x="T2" y="T3"/>
              </a:cxn>
              <a:cxn ang="0">
                <a:pos x="T4" y="T5"/>
              </a:cxn>
            </a:cxnLst>
            <a:rect l="0" t="0" r="r" b="b"/>
            <a:pathLst>
              <a:path w="588" h="400">
                <a:moveTo>
                  <a:pt x="588" y="0"/>
                </a:moveTo>
                <a:lnTo>
                  <a:pt x="0" y="400"/>
                </a:lnTo>
                <a:lnTo>
                  <a:pt x="588"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7" name="Line 52"/>
          <p:cNvSpPr>
            <a:spLocks noChangeShapeType="1"/>
          </p:cNvSpPr>
          <p:nvPr/>
        </p:nvSpPr>
        <p:spPr bwMode="auto">
          <a:xfrm flipH="1">
            <a:off x="3721100" y="4856163"/>
            <a:ext cx="933450" cy="635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8" name="Freeform 53"/>
          <p:cNvSpPr>
            <a:spLocks/>
          </p:cNvSpPr>
          <p:nvPr/>
        </p:nvSpPr>
        <p:spPr bwMode="auto">
          <a:xfrm>
            <a:off x="3708400" y="4913313"/>
            <a:ext cx="849313" cy="592138"/>
          </a:xfrm>
          <a:custGeom>
            <a:avLst/>
            <a:gdLst>
              <a:gd name="T0" fmla="*/ 522 w 535"/>
              <a:gd name="T1" fmla="*/ 0 h 373"/>
              <a:gd name="T2" fmla="*/ 0 w 535"/>
              <a:gd name="T3" fmla="*/ 354 h 373"/>
              <a:gd name="T4" fmla="*/ 13 w 535"/>
              <a:gd name="T5" fmla="*/ 373 h 373"/>
              <a:gd name="T6" fmla="*/ 535 w 535"/>
              <a:gd name="T7" fmla="*/ 19 h 373"/>
              <a:gd name="T8" fmla="*/ 522 w 535"/>
              <a:gd name="T9" fmla="*/ 0 h 373"/>
            </a:gdLst>
            <a:ahLst/>
            <a:cxnLst>
              <a:cxn ang="0">
                <a:pos x="T0" y="T1"/>
              </a:cxn>
              <a:cxn ang="0">
                <a:pos x="T2" y="T3"/>
              </a:cxn>
              <a:cxn ang="0">
                <a:pos x="T4" y="T5"/>
              </a:cxn>
              <a:cxn ang="0">
                <a:pos x="T6" y="T7"/>
              </a:cxn>
              <a:cxn ang="0">
                <a:pos x="T8" y="T9"/>
              </a:cxn>
            </a:cxnLst>
            <a:rect l="0" t="0" r="r" b="b"/>
            <a:pathLst>
              <a:path w="535" h="373">
                <a:moveTo>
                  <a:pt x="522" y="0"/>
                </a:moveTo>
                <a:lnTo>
                  <a:pt x="0" y="354"/>
                </a:lnTo>
                <a:lnTo>
                  <a:pt x="13" y="373"/>
                </a:lnTo>
                <a:lnTo>
                  <a:pt x="535" y="19"/>
                </a:lnTo>
                <a:lnTo>
                  <a:pt x="522"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9" name="Freeform 54"/>
          <p:cNvSpPr>
            <a:spLocks/>
          </p:cNvSpPr>
          <p:nvPr/>
        </p:nvSpPr>
        <p:spPr bwMode="auto">
          <a:xfrm>
            <a:off x="3708400" y="4913313"/>
            <a:ext cx="849313" cy="592138"/>
          </a:xfrm>
          <a:custGeom>
            <a:avLst/>
            <a:gdLst>
              <a:gd name="T0" fmla="*/ 522 w 535"/>
              <a:gd name="T1" fmla="*/ 0 h 373"/>
              <a:gd name="T2" fmla="*/ 0 w 535"/>
              <a:gd name="T3" fmla="*/ 354 h 373"/>
              <a:gd name="T4" fmla="*/ 13 w 535"/>
              <a:gd name="T5" fmla="*/ 373 h 373"/>
              <a:gd name="T6" fmla="*/ 535 w 535"/>
              <a:gd name="T7" fmla="*/ 19 h 373"/>
            </a:gdLst>
            <a:ahLst/>
            <a:cxnLst>
              <a:cxn ang="0">
                <a:pos x="T0" y="T1"/>
              </a:cxn>
              <a:cxn ang="0">
                <a:pos x="T2" y="T3"/>
              </a:cxn>
              <a:cxn ang="0">
                <a:pos x="T4" y="T5"/>
              </a:cxn>
              <a:cxn ang="0">
                <a:pos x="T6" y="T7"/>
              </a:cxn>
            </a:cxnLst>
            <a:rect l="0" t="0" r="r" b="b"/>
            <a:pathLst>
              <a:path w="535" h="373">
                <a:moveTo>
                  <a:pt x="522" y="0"/>
                </a:moveTo>
                <a:lnTo>
                  <a:pt x="0" y="354"/>
                </a:lnTo>
                <a:lnTo>
                  <a:pt x="13" y="373"/>
                </a:lnTo>
                <a:lnTo>
                  <a:pt x="535" y="1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0" name="Freeform 55"/>
          <p:cNvSpPr>
            <a:spLocks/>
          </p:cNvSpPr>
          <p:nvPr/>
        </p:nvSpPr>
        <p:spPr bwMode="auto">
          <a:xfrm>
            <a:off x="4473576" y="4856163"/>
            <a:ext cx="180975" cy="163513"/>
          </a:xfrm>
          <a:custGeom>
            <a:avLst/>
            <a:gdLst>
              <a:gd name="T0" fmla="*/ 0 w 114"/>
              <a:gd name="T1" fmla="*/ 7 h 103"/>
              <a:gd name="T2" fmla="*/ 114 w 114"/>
              <a:gd name="T3" fmla="*/ 0 h 103"/>
              <a:gd name="T4" fmla="*/ 64 w 114"/>
              <a:gd name="T5" fmla="*/ 103 h 103"/>
              <a:gd name="T6" fmla="*/ 0 w 114"/>
              <a:gd name="T7" fmla="*/ 7 h 103"/>
            </a:gdLst>
            <a:ahLst/>
            <a:cxnLst>
              <a:cxn ang="0">
                <a:pos x="T0" y="T1"/>
              </a:cxn>
              <a:cxn ang="0">
                <a:pos x="T2" y="T3"/>
              </a:cxn>
              <a:cxn ang="0">
                <a:pos x="T4" y="T5"/>
              </a:cxn>
              <a:cxn ang="0">
                <a:pos x="T6" y="T7"/>
              </a:cxn>
            </a:cxnLst>
            <a:rect l="0" t="0" r="r" b="b"/>
            <a:pathLst>
              <a:path w="114" h="103">
                <a:moveTo>
                  <a:pt x="0" y="7"/>
                </a:moveTo>
                <a:lnTo>
                  <a:pt x="114" y="0"/>
                </a:lnTo>
                <a:lnTo>
                  <a:pt x="64" y="103"/>
                </a:lnTo>
                <a:lnTo>
                  <a:pt x="0" y="7"/>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1" name="Freeform 56"/>
          <p:cNvSpPr>
            <a:spLocks/>
          </p:cNvSpPr>
          <p:nvPr/>
        </p:nvSpPr>
        <p:spPr bwMode="auto">
          <a:xfrm>
            <a:off x="3427413" y="4991101"/>
            <a:ext cx="1365250" cy="1293813"/>
          </a:xfrm>
          <a:custGeom>
            <a:avLst/>
            <a:gdLst>
              <a:gd name="T0" fmla="*/ 860 w 860"/>
              <a:gd name="T1" fmla="*/ 0 h 815"/>
              <a:gd name="T2" fmla="*/ 0 w 860"/>
              <a:gd name="T3" fmla="*/ 815 h 815"/>
              <a:gd name="T4" fmla="*/ 860 w 860"/>
              <a:gd name="T5" fmla="*/ 0 h 815"/>
            </a:gdLst>
            <a:ahLst/>
            <a:cxnLst>
              <a:cxn ang="0">
                <a:pos x="T0" y="T1"/>
              </a:cxn>
              <a:cxn ang="0">
                <a:pos x="T2" y="T3"/>
              </a:cxn>
              <a:cxn ang="0">
                <a:pos x="T4" y="T5"/>
              </a:cxn>
            </a:cxnLst>
            <a:rect l="0" t="0" r="r" b="b"/>
            <a:pathLst>
              <a:path w="860" h="815">
                <a:moveTo>
                  <a:pt x="860" y="0"/>
                </a:moveTo>
                <a:lnTo>
                  <a:pt x="0" y="815"/>
                </a:lnTo>
                <a:lnTo>
                  <a:pt x="860"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2" name="Line 57"/>
          <p:cNvSpPr>
            <a:spLocks noChangeShapeType="1"/>
          </p:cNvSpPr>
          <p:nvPr/>
        </p:nvSpPr>
        <p:spPr bwMode="auto">
          <a:xfrm flipH="1">
            <a:off x="3427413" y="4991101"/>
            <a:ext cx="1365250" cy="12938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3" name="Freeform 58"/>
          <p:cNvSpPr>
            <a:spLocks/>
          </p:cNvSpPr>
          <p:nvPr/>
        </p:nvSpPr>
        <p:spPr bwMode="auto">
          <a:xfrm>
            <a:off x="3414713" y="5070476"/>
            <a:ext cx="1296988" cy="1227138"/>
          </a:xfrm>
          <a:custGeom>
            <a:avLst/>
            <a:gdLst>
              <a:gd name="T0" fmla="*/ 800 w 817"/>
              <a:gd name="T1" fmla="*/ 0 h 773"/>
              <a:gd name="T2" fmla="*/ 0 w 817"/>
              <a:gd name="T3" fmla="*/ 758 h 773"/>
              <a:gd name="T4" fmla="*/ 16 w 817"/>
              <a:gd name="T5" fmla="*/ 773 h 773"/>
              <a:gd name="T6" fmla="*/ 817 w 817"/>
              <a:gd name="T7" fmla="*/ 15 h 773"/>
              <a:gd name="T8" fmla="*/ 800 w 817"/>
              <a:gd name="T9" fmla="*/ 0 h 773"/>
            </a:gdLst>
            <a:ahLst/>
            <a:cxnLst>
              <a:cxn ang="0">
                <a:pos x="T0" y="T1"/>
              </a:cxn>
              <a:cxn ang="0">
                <a:pos x="T2" y="T3"/>
              </a:cxn>
              <a:cxn ang="0">
                <a:pos x="T4" y="T5"/>
              </a:cxn>
              <a:cxn ang="0">
                <a:pos x="T6" y="T7"/>
              </a:cxn>
              <a:cxn ang="0">
                <a:pos x="T8" y="T9"/>
              </a:cxn>
            </a:cxnLst>
            <a:rect l="0" t="0" r="r" b="b"/>
            <a:pathLst>
              <a:path w="817" h="773">
                <a:moveTo>
                  <a:pt x="800" y="0"/>
                </a:moveTo>
                <a:lnTo>
                  <a:pt x="0" y="758"/>
                </a:lnTo>
                <a:lnTo>
                  <a:pt x="16" y="773"/>
                </a:lnTo>
                <a:lnTo>
                  <a:pt x="817" y="15"/>
                </a:lnTo>
                <a:lnTo>
                  <a:pt x="800"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4" name="Freeform 59"/>
          <p:cNvSpPr>
            <a:spLocks/>
          </p:cNvSpPr>
          <p:nvPr/>
        </p:nvSpPr>
        <p:spPr bwMode="auto">
          <a:xfrm>
            <a:off x="3414713" y="5070476"/>
            <a:ext cx="1296988" cy="1227138"/>
          </a:xfrm>
          <a:custGeom>
            <a:avLst/>
            <a:gdLst>
              <a:gd name="T0" fmla="*/ 800 w 817"/>
              <a:gd name="T1" fmla="*/ 0 h 773"/>
              <a:gd name="T2" fmla="*/ 0 w 817"/>
              <a:gd name="T3" fmla="*/ 758 h 773"/>
              <a:gd name="T4" fmla="*/ 16 w 817"/>
              <a:gd name="T5" fmla="*/ 773 h 773"/>
              <a:gd name="T6" fmla="*/ 817 w 817"/>
              <a:gd name="T7" fmla="*/ 15 h 773"/>
            </a:gdLst>
            <a:ahLst/>
            <a:cxnLst>
              <a:cxn ang="0">
                <a:pos x="T0" y="T1"/>
              </a:cxn>
              <a:cxn ang="0">
                <a:pos x="T2" y="T3"/>
              </a:cxn>
              <a:cxn ang="0">
                <a:pos x="T4" y="T5"/>
              </a:cxn>
              <a:cxn ang="0">
                <a:pos x="T6" y="T7"/>
              </a:cxn>
            </a:cxnLst>
            <a:rect l="0" t="0" r="r" b="b"/>
            <a:pathLst>
              <a:path w="817" h="773">
                <a:moveTo>
                  <a:pt x="800" y="0"/>
                </a:moveTo>
                <a:lnTo>
                  <a:pt x="0" y="758"/>
                </a:lnTo>
                <a:lnTo>
                  <a:pt x="16" y="773"/>
                </a:lnTo>
                <a:lnTo>
                  <a:pt x="817" y="1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5" name="Freeform 60"/>
          <p:cNvSpPr>
            <a:spLocks/>
          </p:cNvSpPr>
          <p:nvPr/>
        </p:nvSpPr>
        <p:spPr bwMode="auto">
          <a:xfrm>
            <a:off x="4618038" y="4991101"/>
            <a:ext cx="174625" cy="176213"/>
          </a:xfrm>
          <a:custGeom>
            <a:avLst/>
            <a:gdLst>
              <a:gd name="T0" fmla="*/ 0 w 110"/>
              <a:gd name="T1" fmla="*/ 27 h 111"/>
              <a:gd name="T2" fmla="*/ 110 w 110"/>
              <a:gd name="T3" fmla="*/ 0 h 111"/>
              <a:gd name="T4" fmla="*/ 78 w 110"/>
              <a:gd name="T5" fmla="*/ 111 h 111"/>
              <a:gd name="T6" fmla="*/ 0 w 110"/>
              <a:gd name="T7" fmla="*/ 27 h 111"/>
            </a:gdLst>
            <a:ahLst/>
            <a:cxnLst>
              <a:cxn ang="0">
                <a:pos x="T0" y="T1"/>
              </a:cxn>
              <a:cxn ang="0">
                <a:pos x="T2" y="T3"/>
              </a:cxn>
              <a:cxn ang="0">
                <a:pos x="T4" y="T5"/>
              </a:cxn>
              <a:cxn ang="0">
                <a:pos x="T6" y="T7"/>
              </a:cxn>
            </a:cxnLst>
            <a:rect l="0" t="0" r="r" b="b"/>
            <a:pathLst>
              <a:path w="110" h="111">
                <a:moveTo>
                  <a:pt x="0" y="27"/>
                </a:moveTo>
                <a:lnTo>
                  <a:pt x="110" y="0"/>
                </a:lnTo>
                <a:lnTo>
                  <a:pt x="78" y="111"/>
                </a:lnTo>
                <a:lnTo>
                  <a:pt x="0" y="27"/>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6" name="Freeform 61"/>
          <p:cNvSpPr>
            <a:spLocks/>
          </p:cNvSpPr>
          <p:nvPr/>
        </p:nvSpPr>
        <p:spPr bwMode="auto">
          <a:xfrm>
            <a:off x="4805363" y="5357813"/>
            <a:ext cx="320675" cy="688975"/>
          </a:xfrm>
          <a:custGeom>
            <a:avLst/>
            <a:gdLst>
              <a:gd name="T0" fmla="*/ 181 w 202"/>
              <a:gd name="T1" fmla="*/ 0 h 434"/>
              <a:gd name="T2" fmla="*/ 0 w 202"/>
              <a:gd name="T3" fmla="*/ 424 h 434"/>
              <a:gd name="T4" fmla="*/ 21 w 202"/>
              <a:gd name="T5" fmla="*/ 434 h 434"/>
              <a:gd name="T6" fmla="*/ 202 w 202"/>
              <a:gd name="T7" fmla="*/ 7 h 434"/>
              <a:gd name="T8" fmla="*/ 181 w 202"/>
              <a:gd name="T9" fmla="*/ 0 h 434"/>
            </a:gdLst>
            <a:ahLst/>
            <a:cxnLst>
              <a:cxn ang="0">
                <a:pos x="T0" y="T1"/>
              </a:cxn>
              <a:cxn ang="0">
                <a:pos x="T2" y="T3"/>
              </a:cxn>
              <a:cxn ang="0">
                <a:pos x="T4" y="T5"/>
              </a:cxn>
              <a:cxn ang="0">
                <a:pos x="T6" y="T7"/>
              </a:cxn>
              <a:cxn ang="0">
                <a:pos x="T8" y="T9"/>
              </a:cxn>
            </a:cxnLst>
            <a:rect l="0" t="0" r="r" b="b"/>
            <a:pathLst>
              <a:path w="202" h="434">
                <a:moveTo>
                  <a:pt x="181" y="0"/>
                </a:moveTo>
                <a:lnTo>
                  <a:pt x="0" y="424"/>
                </a:lnTo>
                <a:lnTo>
                  <a:pt x="21" y="434"/>
                </a:lnTo>
                <a:lnTo>
                  <a:pt x="202" y="7"/>
                </a:lnTo>
                <a:lnTo>
                  <a:pt x="181" y="0"/>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7" name="Freeform 62"/>
          <p:cNvSpPr>
            <a:spLocks/>
          </p:cNvSpPr>
          <p:nvPr/>
        </p:nvSpPr>
        <p:spPr bwMode="auto">
          <a:xfrm>
            <a:off x="4805363" y="5357813"/>
            <a:ext cx="320675" cy="688975"/>
          </a:xfrm>
          <a:custGeom>
            <a:avLst/>
            <a:gdLst>
              <a:gd name="T0" fmla="*/ 181 w 202"/>
              <a:gd name="T1" fmla="*/ 0 h 434"/>
              <a:gd name="T2" fmla="*/ 0 w 202"/>
              <a:gd name="T3" fmla="*/ 424 h 434"/>
              <a:gd name="T4" fmla="*/ 21 w 202"/>
              <a:gd name="T5" fmla="*/ 434 h 434"/>
              <a:gd name="T6" fmla="*/ 202 w 202"/>
              <a:gd name="T7" fmla="*/ 7 h 434"/>
            </a:gdLst>
            <a:ahLst/>
            <a:cxnLst>
              <a:cxn ang="0">
                <a:pos x="T0" y="T1"/>
              </a:cxn>
              <a:cxn ang="0">
                <a:pos x="T2" y="T3"/>
              </a:cxn>
              <a:cxn ang="0">
                <a:pos x="T4" y="T5"/>
              </a:cxn>
              <a:cxn ang="0">
                <a:pos x="T6" y="T7"/>
              </a:cxn>
            </a:cxnLst>
            <a:rect l="0" t="0" r="r" b="b"/>
            <a:pathLst>
              <a:path w="202" h="434">
                <a:moveTo>
                  <a:pt x="181" y="0"/>
                </a:moveTo>
                <a:lnTo>
                  <a:pt x="0" y="424"/>
                </a:lnTo>
                <a:lnTo>
                  <a:pt x="21" y="434"/>
                </a:lnTo>
                <a:lnTo>
                  <a:pt x="202" y="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8" name="Freeform 63"/>
          <p:cNvSpPr>
            <a:spLocks/>
          </p:cNvSpPr>
          <p:nvPr/>
        </p:nvSpPr>
        <p:spPr bwMode="auto">
          <a:xfrm>
            <a:off x="5016501" y="5241926"/>
            <a:ext cx="166688" cy="182563"/>
          </a:xfrm>
          <a:custGeom>
            <a:avLst/>
            <a:gdLst>
              <a:gd name="T0" fmla="*/ 0 w 105"/>
              <a:gd name="T1" fmla="*/ 69 h 115"/>
              <a:gd name="T2" fmla="*/ 90 w 105"/>
              <a:gd name="T3" fmla="*/ 0 h 115"/>
              <a:gd name="T4" fmla="*/ 105 w 105"/>
              <a:gd name="T5" fmla="*/ 115 h 115"/>
              <a:gd name="T6" fmla="*/ 0 w 105"/>
              <a:gd name="T7" fmla="*/ 69 h 115"/>
            </a:gdLst>
            <a:ahLst/>
            <a:cxnLst>
              <a:cxn ang="0">
                <a:pos x="T0" y="T1"/>
              </a:cxn>
              <a:cxn ang="0">
                <a:pos x="T2" y="T3"/>
              </a:cxn>
              <a:cxn ang="0">
                <a:pos x="T4" y="T5"/>
              </a:cxn>
              <a:cxn ang="0">
                <a:pos x="T6" y="T7"/>
              </a:cxn>
            </a:cxnLst>
            <a:rect l="0" t="0" r="r" b="b"/>
            <a:pathLst>
              <a:path w="105" h="115">
                <a:moveTo>
                  <a:pt x="0" y="69"/>
                </a:moveTo>
                <a:lnTo>
                  <a:pt x="90" y="0"/>
                </a:lnTo>
                <a:lnTo>
                  <a:pt x="105" y="115"/>
                </a:lnTo>
                <a:lnTo>
                  <a:pt x="0" y="69"/>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9" name="Rectangle 64"/>
          <p:cNvSpPr>
            <a:spLocks noChangeArrowheads="1"/>
          </p:cNvSpPr>
          <p:nvPr/>
        </p:nvSpPr>
        <p:spPr bwMode="auto">
          <a:xfrm>
            <a:off x="4856163" y="1241425"/>
            <a:ext cx="55086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500" i="0" u="none" strike="noStrike" cap="none" normalizeH="0" baseline="0" dirty="0" smtClean="0">
                <a:ln>
                  <a:noFill/>
                </a:ln>
                <a:solidFill>
                  <a:srgbClr val="FFFFFF"/>
                </a:solidFill>
                <a:effectLst/>
                <a:latin typeface="HelveticaNeueLT Std Med Cn" pitchFamily="34" charset="0"/>
                <a:cs typeface="Arial" pitchFamily="34" charset="0"/>
              </a:rPr>
              <a:t>30%</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70" name="Rectangle 65"/>
          <p:cNvSpPr>
            <a:spLocks noChangeArrowheads="1"/>
          </p:cNvSpPr>
          <p:nvPr/>
        </p:nvSpPr>
        <p:spPr bwMode="auto">
          <a:xfrm>
            <a:off x="3862388" y="2001838"/>
            <a:ext cx="4191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900" i="0" u="none" strike="noStrike" cap="none" normalizeH="0" baseline="0" dirty="0" smtClean="0">
                <a:ln>
                  <a:noFill/>
                </a:ln>
                <a:solidFill>
                  <a:srgbClr val="FFFFFF"/>
                </a:solidFill>
                <a:effectLst/>
                <a:latin typeface="HelveticaNeueLT Std Med Cn" pitchFamily="34" charset="0"/>
                <a:cs typeface="Arial" pitchFamily="34" charset="0"/>
              </a:rPr>
              <a:t>21%</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71" name="Rectangle 66"/>
          <p:cNvSpPr>
            <a:spLocks noChangeArrowheads="1"/>
          </p:cNvSpPr>
          <p:nvPr/>
        </p:nvSpPr>
        <p:spPr bwMode="auto">
          <a:xfrm>
            <a:off x="2879725" y="4741863"/>
            <a:ext cx="506413"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300" i="0" u="none" strike="noStrike" cap="none" normalizeH="0" baseline="0" dirty="0" smtClean="0">
                <a:ln>
                  <a:noFill/>
                </a:ln>
                <a:solidFill>
                  <a:srgbClr val="FFFFFF"/>
                </a:solidFill>
                <a:effectLst/>
                <a:latin typeface="HelveticaNeueLT Std Med Cn" pitchFamily="34" charset="0"/>
                <a:cs typeface="Arial" pitchFamily="34" charset="0"/>
              </a:rPr>
              <a:t>27%</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72" name="Rectangle 67"/>
          <p:cNvSpPr>
            <a:spLocks noChangeArrowheads="1"/>
          </p:cNvSpPr>
          <p:nvPr/>
        </p:nvSpPr>
        <p:spPr bwMode="auto">
          <a:xfrm>
            <a:off x="4657726" y="5934076"/>
            <a:ext cx="39846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rgbClr val="FFFFFF"/>
                </a:solidFill>
                <a:effectLst/>
                <a:latin typeface="HelveticaNeueLT Std Med Cn" pitchFamily="34" charset="0"/>
                <a:cs typeface="Arial" pitchFamily="34" charset="0"/>
              </a:rPr>
              <a:t>10%</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73" name="Rectangle 68"/>
          <p:cNvSpPr>
            <a:spLocks noChangeArrowheads="1"/>
          </p:cNvSpPr>
          <p:nvPr/>
        </p:nvSpPr>
        <p:spPr bwMode="auto">
          <a:xfrm>
            <a:off x="2724150" y="3214688"/>
            <a:ext cx="39211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169DD9"/>
                </a:solidFill>
                <a:effectLst/>
                <a:latin typeface="HelveticaNeueLT Std Med Cn" pitchFamily="34" charset="0"/>
                <a:cs typeface="Arial" pitchFamily="34" charset="0"/>
              </a:rPr>
              <a:t>3%</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4" name="Rectangle 69"/>
          <p:cNvSpPr>
            <a:spLocks noChangeArrowheads="1"/>
          </p:cNvSpPr>
          <p:nvPr/>
        </p:nvSpPr>
        <p:spPr bwMode="auto">
          <a:xfrm>
            <a:off x="1889125" y="3900488"/>
            <a:ext cx="39211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169DD9"/>
                </a:solidFill>
                <a:effectLst/>
                <a:latin typeface="HelveticaNeueLT Std Med Cn" pitchFamily="34" charset="0"/>
                <a:cs typeface="Arial" pitchFamily="34" charset="0"/>
              </a:rPr>
              <a:t>4%</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5" name="Rectangle 70"/>
          <p:cNvSpPr>
            <a:spLocks noChangeArrowheads="1"/>
          </p:cNvSpPr>
          <p:nvPr/>
        </p:nvSpPr>
        <p:spPr bwMode="auto">
          <a:xfrm>
            <a:off x="3373438" y="5457826"/>
            <a:ext cx="3714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b="1" i="0" u="none" strike="noStrike" cap="none" normalizeH="0" baseline="0" smtClean="0">
                <a:ln>
                  <a:noFill/>
                </a:ln>
                <a:solidFill>
                  <a:srgbClr val="169DD9"/>
                </a:solidFill>
                <a:effectLst/>
                <a:latin typeface="HelveticaNeueLT Std Med Cn" pitchFamily="34" charset="0"/>
                <a:cs typeface="Arial" pitchFamily="34" charset="0"/>
              </a:rPr>
              <a:t>2%</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76" name="Rectangle 71"/>
          <p:cNvSpPr>
            <a:spLocks noChangeArrowheads="1"/>
          </p:cNvSpPr>
          <p:nvPr/>
        </p:nvSpPr>
        <p:spPr bwMode="auto">
          <a:xfrm>
            <a:off x="3016250" y="6280151"/>
            <a:ext cx="3714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b="1" i="0" u="none" strike="noStrike" cap="none" normalizeH="0" baseline="0" smtClean="0">
                <a:ln>
                  <a:noFill/>
                </a:ln>
                <a:solidFill>
                  <a:srgbClr val="169DD9"/>
                </a:solidFill>
                <a:effectLst/>
                <a:latin typeface="HelveticaNeueLT Std Med Cn" pitchFamily="34" charset="0"/>
                <a:cs typeface="Arial" pitchFamily="34" charset="0"/>
              </a:rPr>
              <a:t>1%</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77" name="Rectangle 72"/>
          <p:cNvSpPr>
            <a:spLocks noChangeArrowheads="1"/>
          </p:cNvSpPr>
          <p:nvPr/>
        </p:nvSpPr>
        <p:spPr bwMode="auto">
          <a:xfrm>
            <a:off x="5297488" y="3613150"/>
            <a:ext cx="769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none" strike="noStrike" cap="none" normalizeH="0" baseline="0" dirty="0" smtClean="0">
                <a:ln>
                  <a:noFill/>
                </a:ln>
                <a:solidFill>
                  <a:srgbClr val="169DD9"/>
                </a:solidFill>
                <a:effectLst/>
                <a:latin typeface="HelveticaNeueLT Std Med Cn" pitchFamily="34" charset="0"/>
                <a:cs typeface="Arial" pitchFamily="34" charset="0"/>
              </a:rPr>
              <a:t>991</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8" name="Rectangle 73"/>
          <p:cNvSpPr>
            <a:spLocks noChangeArrowheads="1"/>
          </p:cNvSpPr>
          <p:nvPr/>
        </p:nvSpPr>
        <p:spPr bwMode="auto">
          <a:xfrm>
            <a:off x="5062538" y="4002088"/>
            <a:ext cx="1244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none" strike="noStrike" cap="none" normalizeH="0" baseline="0" dirty="0" smtClean="0">
                <a:ln>
                  <a:noFill/>
                </a:ln>
                <a:solidFill>
                  <a:srgbClr val="169DD9"/>
                </a:solidFill>
                <a:effectLst/>
                <a:latin typeface="HelveticaNeueLT Std Med Cn" pitchFamily="34" charset="0"/>
                <a:cs typeface="Arial" pitchFamily="34" charset="0"/>
              </a:rPr>
              <a:t>million</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9" name="Rectangle 74"/>
          <p:cNvSpPr>
            <a:spLocks noChangeArrowheads="1"/>
          </p:cNvSpPr>
          <p:nvPr/>
        </p:nvSpPr>
        <p:spPr bwMode="auto">
          <a:xfrm>
            <a:off x="5273676" y="4395788"/>
            <a:ext cx="8191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none" strike="noStrike" cap="none" normalizeH="0" baseline="0" smtClean="0">
                <a:ln>
                  <a:noFill/>
                </a:ln>
                <a:solidFill>
                  <a:srgbClr val="169DD9"/>
                </a:solidFill>
                <a:effectLst/>
                <a:latin typeface="HelveticaNeueLT Std Med Cn" pitchFamily="34" charset="0"/>
                <a:cs typeface="Arial" pitchFamily="34" charset="0"/>
              </a:rPr>
              <a:t>EUR</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81" name="Rectangle 76"/>
          <p:cNvSpPr>
            <a:spLocks noChangeArrowheads="1"/>
          </p:cNvSpPr>
          <p:nvPr/>
        </p:nvSpPr>
        <p:spPr bwMode="auto">
          <a:xfrm>
            <a:off x="6735763" y="3692525"/>
            <a:ext cx="185261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700" b="1" i="0" u="none" strike="noStrike" cap="none" normalizeH="0" baseline="0" dirty="0" smtClean="0">
                <a:ln>
                  <a:noFill/>
                </a:ln>
                <a:solidFill>
                  <a:srgbClr val="169DD9"/>
                </a:solidFill>
                <a:effectLst/>
                <a:latin typeface="HelveticaNeueLT Std Med Cn" pitchFamily="34" charset="0"/>
                <a:cs typeface="Arial" pitchFamily="34" charset="0"/>
              </a:rPr>
              <a:t>Total income</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2" name="Rectangle 77"/>
          <p:cNvSpPr>
            <a:spLocks noChangeArrowheads="1"/>
          </p:cNvSpPr>
          <p:nvPr/>
        </p:nvSpPr>
        <p:spPr bwMode="auto">
          <a:xfrm>
            <a:off x="6735763" y="4008438"/>
            <a:ext cx="15192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2700" b="1" dirty="0" smtClean="0">
                <a:solidFill>
                  <a:srgbClr val="169DD9"/>
                </a:solidFill>
                <a:latin typeface="HelveticaNeueLT Std Med Cn" pitchFamily="34" charset="0"/>
              </a:rPr>
              <a:t>worldwide</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4" name="Rectangle 79"/>
          <p:cNvSpPr>
            <a:spLocks noChangeArrowheads="1"/>
          </p:cNvSpPr>
          <p:nvPr/>
        </p:nvSpPr>
        <p:spPr bwMode="auto">
          <a:xfrm>
            <a:off x="6735763" y="4329113"/>
            <a:ext cx="78581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700" b="1" i="0" u="none" strike="noStrike" cap="none" normalizeH="0" baseline="0" dirty="0" smtClean="0">
                <a:ln>
                  <a:noFill/>
                </a:ln>
                <a:solidFill>
                  <a:srgbClr val="169DD9"/>
                </a:solidFill>
                <a:effectLst/>
                <a:latin typeface="HelveticaNeueLT Std Med Cn" pitchFamily="34" charset="0"/>
                <a:cs typeface="Arial" pitchFamily="34" charset="0"/>
              </a:rPr>
              <a:t>2013</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5" name="Rectangle 80"/>
          <p:cNvSpPr>
            <a:spLocks noChangeArrowheads="1"/>
          </p:cNvSpPr>
          <p:nvPr/>
        </p:nvSpPr>
        <p:spPr bwMode="auto">
          <a:xfrm>
            <a:off x="3136900" y="1371600"/>
            <a:ext cx="1497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One-off donations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86" name="Rectangle 81"/>
          <p:cNvSpPr>
            <a:spLocks noChangeArrowheads="1"/>
          </p:cNvSpPr>
          <p:nvPr/>
        </p:nvSpPr>
        <p:spPr bwMode="auto">
          <a:xfrm>
            <a:off x="895350" y="2036763"/>
            <a:ext cx="27495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Sponsorships / committed giving</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87" name="Rectangle 82"/>
          <p:cNvSpPr>
            <a:spLocks noChangeArrowheads="1"/>
          </p:cNvSpPr>
          <p:nvPr/>
        </p:nvSpPr>
        <p:spPr bwMode="auto">
          <a:xfrm>
            <a:off x="2400300" y="2801938"/>
            <a:ext cx="11017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Major donors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91" name="Rectangle 89"/>
          <p:cNvSpPr>
            <a:spLocks noChangeArrowheads="1"/>
          </p:cNvSpPr>
          <p:nvPr/>
        </p:nvSpPr>
        <p:spPr bwMode="auto">
          <a:xfrm>
            <a:off x="1590675" y="5557838"/>
            <a:ext cx="166528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Institutional funding</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93" name="Rectangle 92"/>
          <p:cNvSpPr>
            <a:spLocks noChangeArrowheads="1"/>
          </p:cNvSpPr>
          <p:nvPr/>
        </p:nvSpPr>
        <p:spPr bwMode="auto">
          <a:xfrm>
            <a:off x="3560763" y="2789238"/>
            <a:ext cx="39211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169DD9"/>
                </a:solidFill>
                <a:effectLst/>
                <a:latin typeface="HelveticaNeueLT Std Med Cn" pitchFamily="34" charset="0"/>
                <a:cs typeface="Arial" pitchFamily="34" charset="0"/>
              </a:rPr>
              <a:t>3%</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43" name="Rectangle 81"/>
          <p:cNvSpPr>
            <a:spLocks noChangeArrowheads="1"/>
          </p:cNvSpPr>
          <p:nvPr/>
        </p:nvSpPr>
        <p:spPr bwMode="auto">
          <a:xfrm>
            <a:off x="667767" y="3228795"/>
            <a:ext cx="19236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Foundations / Lotteries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144" name="Rectangle 81"/>
          <p:cNvSpPr>
            <a:spLocks noChangeArrowheads="1"/>
          </p:cNvSpPr>
          <p:nvPr/>
        </p:nvSpPr>
        <p:spPr bwMode="auto">
          <a:xfrm>
            <a:off x="330200" y="3923674"/>
            <a:ext cx="14635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Corporate Donors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145" name="Rectangle 81"/>
          <p:cNvSpPr>
            <a:spLocks noChangeArrowheads="1"/>
          </p:cNvSpPr>
          <p:nvPr/>
        </p:nvSpPr>
        <p:spPr bwMode="auto">
          <a:xfrm>
            <a:off x="525100" y="4850294"/>
            <a:ext cx="2168863" cy="43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ts val="17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Governmental subsidies</a:t>
            </a:r>
          </a:p>
          <a:p>
            <a:pPr marL="0" marR="0" lvl="0" indent="0" algn="l" defTabSz="914400" rtl="0" eaLnBrk="1" fontAlgn="base" latinLnBrk="0" hangingPunct="1">
              <a:lnSpc>
                <a:spcPts val="1700"/>
              </a:lnSpc>
              <a:spcBef>
                <a:spcPct val="0"/>
              </a:spcBef>
              <a:spcAft>
                <a:spcPct val="0"/>
              </a:spcAft>
              <a:buClrTx/>
              <a:buSzTx/>
              <a:buFontTx/>
              <a:buNone/>
              <a:tabLst/>
            </a:pPr>
            <a:r>
              <a:rPr lang="en-US" altLang="en-US" sz="1700" dirty="0">
                <a:solidFill>
                  <a:srgbClr val="6E6F71"/>
                </a:solidFill>
                <a:latin typeface="HelveticaNeueLT Std Med Cn" pitchFamily="34" charset="0"/>
              </a:rPr>
              <a:t>f</a:t>
            </a:r>
            <a:r>
              <a:rPr lang="en-US" altLang="en-US" sz="1700" dirty="0" smtClean="0">
                <a:solidFill>
                  <a:srgbClr val="6E6F71"/>
                </a:solidFill>
                <a:latin typeface="HelveticaNeueLT Std Med Cn" pitchFamily="34" charset="0"/>
              </a:rPr>
              <a:t>or domestic </a:t>
            </a:r>
            <a:r>
              <a:rPr lang="en-US" altLang="en-US" sz="1700" dirty="0" err="1" smtClean="0">
                <a:solidFill>
                  <a:srgbClr val="6E6F71"/>
                </a:solidFill>
                <a:latin typeface="HelveticaNeueLT Std Med Cn" pitchFamily="34" charset="0"/>
              </a:rPr>
              <a:t>programmes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146" name="Rectangle 89"/>
          <p:cNvSpPr>
            <a:spLocks noChangeArrowheads="1"/>
          </p:cNvSpPr>
          <p:nvPr/>
        </p:nvSpPr>
        <p:spPr bwMode="auto">
          <a:xfrm>
            <a:off x="1311289" y="6277828"/>
            <a:ext cx="163987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Emergency appeals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147" name="Rectangle 89"/>
          <p:cNvSpPr>
            <a:spLocks noChangeArrowheads="1"/>
          </p:cNvSpPr>
          <p:nvPr/>
        </p:nvSpPr>
        <p:spPr bwMode="auto">
          <a:xfrm>
            <a:off x="5141119" y="5970447"/>
            <a:ext cx="112210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700" i="0" u="none" strike="noStrike" cap="none" normalizeH="0" baseline="0" dirty="0" smtClean="0">
                <a:ln>
                  <a:noFill/>
                </a:ln>
                <a:solidFill>
                  <a:srgbClr val="6E6F71"/>
                </a:solidFill>
                <a:effectLst/>
                <a:latin typeface="HelveticaNeueLT Std Med Cn" pitchFamily="34" charset="0"/>
                <a:cs typeface="Arial" pitchFamily="34" charset="0"/>
              </a:rPr>
              <a:t>Other income</a:t>
            </a:r>
            <a:endParaRPr kumimoji="0" lang="en-US" altLang="en-US" sz="1800" i="0" u="none" strike="noStrike" cap="none" normalizeH="0" baseline="0" dirty="0" smtClean="0">
              <a:ln>
                <a:noFill/>
              </a:ln>
              <a:solidFill>
                <a:schemeClr val="tx1"/>
              </a:solidFill>
              <a:effectLst/>
              <a:cs typeface="Arial" pitchFamily="34" charset="0"/>
            </a:endParaRPr>
          </a:p>
        </p:txBody>
      </p:sp>
    </p:spTree>
    <p:extLst>
      <p:ext uri="{BB962C8B-B14F-4D97-AF65-F5344CB8AC3E}">
        <p14:creationId xmlns:p14="http://schemas.microsoft.com/office/powerpoint/2010/main" val="15959520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 name="Rectangle 3"/>
          <p:cNvSpPr/>
          <p:nvPr/>
        </p:nvSpPr>
        <p:spPr>
          <a:xfrm flipV="1">
            <a:off x="-4222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1"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ts val="3600"/>
              </a:lnSpc>
              <a:buFont typeface="Wingdings" pitchFamily="2" charset="2"/>
              <a:buNone/>
            </a:pPr>
            <a:r>
              <a:rPr lang="de-DE" sz="3600" dirty="0" smtClean="0">
                <a:solidFill>
                  <a:schemeClr val="bg1"/>
                </a:solidFill>
                <a:latin typeface="Franklin Gothic Demi Cond" pitchFamily="34" charset="0"/>
              </a:rPr>
              <a:t>Expenditures by type</a:t>
            </a:r>
            <a:endParaRPr lang="en-GB" dirty="0">
              <a:solidFill>
                <a:schemeClr val="bg1"/>
              </a:solidFill>
              <a:latin typeface="Franklin Gothic Demi Cond" pitchFamily="34" charset="0"/>
            </a:endParaRPr>
          </a:p>
        </p:txBody>
      </p:sp>
      <p:sp>
        <p:nvSpPr>
          <p:cNvPr id="5" name="AutoShape 3"/>
          <p:cNvSpPr>
            <a:spLocks noChangeAspect="1" noChangeArrowheads="1" noTextEdit="1"/>
          </p:cNvSpPr>
          <p:nvPr/>
        </p:nvSpPr>
        <p:spPr bwMode="auto">
          <a:xfrm>
            <a:off x="661988" y="1546225"/>
            <a:ext cx="7488238" cy="465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 name="Line 5"/>
          <p:cNvSpPr>
            <a:spLocks noChangeShapeType="1"/>
          </p:cNvSpPr>
          <p:nvPr/>
        </p:nvSpPr>
        <p:spPr bwMode="auto">
          <a:xfrm flipV="1">
            <a:off x="3255963" y="3876675"/>
            <a:ext cx="2263775" cy="677863"/>
          </a:xfrm>
          <a:prstGeom prst="line">
            <a:avLst/>
          </a:prstGeom>
          <a:noFill/>
          <a:ln w="36513">
            <a:solidFill>
              <a:srgbClr val="169D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Freeform 6"/>
          <p:cNvSpPr>
            <a:spLocks/>
          </p:cNvSpPr>
          <p:nvPr/>
        </p:nvSpPr>
        <p:spPr bwMode="auto">
          <a:xfrm>
            <a:off x="5467351" y="3797300"/>
            <a:ext cx="177800" cy="176213"/>
          </a:xfrm>
          <a:custGeom>
            <a:avLst/>
            <a:gdLst>
              <a:gd name="T0" fmla="*/ 33 w 112"/>
              <a:gd name="T1" fmla="*/ 111 h 111"/>
              <a:gd name="T2" fmla="*/ 112 w 112"/>
              <a:gd name="T3" fmla="*/ 27 h 111"/>
              <a:gd name="T4" fmla="*/ 0 w 112"/>
              <a:gd name="T5" fmla="*/ 0 h 111"/>
              <a:gd name="T6" fmla="*/ 33 w 112"/>
              <a:gd name="T7" fmla="*/ 111 h 111"/>
            </a:gdLst>
            <a:ahLst/>
            <a:cxnLst>
              <a:cxn ang="0">
                <a:pos x="T0" y="T1"/>
              </a:cxn>
              <a:cxn ang="0">
                <a:pos x="T2" y="T3"/>
              </a:cxn>
              <a:cxn ang="0">
                <a:pos x="T4" y="T5"/>
              </a:cxn>
              <a:cxn ang="0">
                <a:pos x="T6" y="T7"/>
              </a:cxn>
            </a:cxnLst>
            <a:rect l="0" t="0" r="r" b="b"/>
            <a:pathLst>
              <a:path w="112" h="111">
                <a:moveTo>
                  <a:pt x="33" y="111"/>
                </a:moveTo>
                <a:lnTo>
                  <a:pt x="112" y="27"/>
                </a:lnTo>
                <a:lnTo>
                  <a:pt x="0" y="0"/>
                </a:lnTo>
                <a:lnTo>
                  <a:pt x="33" y="111"/>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Rectangle 7"/>
          <p:cNvSpPr>
            <a:spLocks noChangeArrowheads="1"/>
          </p:cNvSpPr>
          <p:nvPr/>
        </p:nvSpPr>
        <p:spPr bwMode="auto">
          <a:xfrm>
            <a:off x="1533526" y="3836988"/>
            <a:ext cx="654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700" i="0" u="none" strike="noStrike" cap="none" normalizeH="0" baseline="0" dirty="0" smtClean="0">
                <a:ln>
                  <a:noFill/>
                </a:ln>
                <a:solidFill>
                  <a:srgbClr val="169DD9"/>
                </a:solidFill>
                <a:effectLst/>
                <a:latin typeface="HelveticaNeueLT Std Med Cn" pitchFamily="34" charset="0"/>
                <a:cs typeface="Arial" pitchFamily="34" charset="0"/>
              </a:rPr>
              <a:t>Total</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15" name="Rectangle 11"/>
          <p:cNvSpPr>
            <a:spLocks noChangeArrowheads="1"/>
          </p:cNvSpPr>
          <p:nvPr/>
        </p:nvSpPr>
        <p:spPr bwMode="auto">
          <a:xfrm>
            <a:off x="1985963" y="4165600"/>
            <a:ext cx="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i="0" u="none" strike="noStrike" cap="none" normalizeH="0" baseline="0" dirty="0" smtClean="0">
              <a:ln>
                <a:noFill/>
              </a:ln>
              <a:solidFill>
                <a:schemeClr val="tx1"/>
              </a:solidFill>
              <a:effectLst/>
              <a:cs typeface="Arial" pitchFamily="34" charset="0"/>
            </a:endParaRPr>
          </a:p>
        </p:txBody>
      </p:sp>
      <p:sp>
        <p:nvSpPr>
          <p:cNvPr id="20" name="Freeform 16"/>
          <p:cNvSpPr>
            <a:spLocks/>
          </p:cNvSpPr>
          <p:nvPr/>
        </p:nvSpPr>
        <p:spPr bwMode="auto">
          <a:xfrm>
            <a:off x="3281363" y="1546225"/>
            <a:ext cx="1025525" cy="1023938"/>
          </a:xfrm>
          <a:custGeom>
            <a:avLst/>
            <a:gdLst>
              <a:gd name="T0" fmla="*/ 323 w 646"/>
              <a:gd name="T1" fmla="*/ 0 h 645"/>
              <a:gd name="T2" fmla="*/ 356 w 646"/>
              <a:gd name="T3" fmla="*/ 2 h 645"/>
              <a:gd name="T4" fmla="*/ 418 w 646"/>
              <a:gd name="T5" fmla="*/ 14 h 645"/>
              <a:gd name="T6" fmla="*/ 477 w 646"/>
              <a:gd name="T7" fmla="*/ 39 h 645"/>
              <a:gd name="T8" fmla="*/ 529 w 646"/>
              <a:gd name="T9" fmla="*/ 74 h 645"/>
              <a:gd name="T10" fmla="*/ 572 w 646"/>
              <a:gd name="T11" fmla="*/ 117 h 645"/>
              <a:gd name="T12" fmla="*/ 607 w 646"/>
              <a:gd name="T13" fmla="*/ 169 h 645"/>
              <a:gd name="T14" fmla="*/ 631 w 646"/>
              <a:gd name="T15" fmla="*/ 226 h 645"/>
              <a:gd name="T16" fmla="*/ 644 w 646"/>
              <a:gd name="T17" fmla="*/ 290 h 645"/>
              <a:gd name="T18" fmla="*/ 646 w 646"/>
              <a:gd name="T19" fmla="*/ 323 h 645"/>
              <a:gd name="T20" fmla="*/ 640 w 646"/>
              <a:gd name="T21" fmla="*/ 388 h 645"/>
              <a:gd name="T22" fmla="*/ 621 w 646"/>
              <a:gd name="T23" fmla="*/ 448 h 645"/>
              <a:gd name="T24" fmla="*/ 592 w 646"/>
              <a:gd name="T25" fmla="*/ 502 h 645"/>
              <a:gd name="T26" fmla="*/ 551 w 646"/>
              <a:gd name="T27" fmla="*/ 551 h 645"/>
              <a:gd name="T28" fmla="*/ 504 w 646"/>
              <a:gd name="T29" fmla="*/ 590 h 645"/>
              <a:gd name="T30" fmla="*/ 449 w 646"/>
              <a:gd name="T31" fmla="*/ 619 h 645"/>
              <a:gd name="T32" fmla="*/ 389 w 646"/>
              <a:gd name="T33" fmla="*/ 639 h 645"/>
              <a:gd name="T34" fmla="*/ 323 w 646"/>
              <a:gd name="T35" fmla="*/ 645 h 645"/>
              <a:gd name="T36" fmla="*/ 290 w 646"/>
              <a:gd name="T37" fmla="*/ 645 h 645"/>
              <a:gd name="T38" fmla="*/ 227 w 646"/>
              <a:gd name="T39" fmla="*/ 631 h 645"/>
              <a:gd name="T40" fmla="*/ 169 w 646"/>
              <a:gd name="T41" fmla="*/ 606 h 645"/>
              <a:gd name="T42" fmla="*/ 118 w 646"/>
              <a:gd name="T43" fmla="*/ 573 h 645"/>
              <a:gd name="T44" fmla="*/ 74 w 646"/>
              <a:gd name="T45" fmla="*/ 528 h 645"/>
              <a:gd name="T46" fmla="*/ 39 w 646"/>
              <a:gd name="T47" fmla="*/ 477 h 645"/>
              <a:gd name="T48" fmla="*/ 15 w 646"/>
              <a:gd name="T49" fmla="*/ 419 h 645"/>
              <a:gd name="T50" fmla="*/ 2 w 646"/>
              <a:gd name="T51" fmla="*/ 356 h 645"/>
              <a:gd name="T52" fmla="*/ 0 w 646"/>
              <a:gd name="T53" fmla="*/ 323 h 645"/>
              <a:gd name="T54" fmla="*/ 7 w 646"/>
              <a:gd name="T55" fmla="*/ 257 h 645"/>
              <a:gd name="T56" fmla="*/ 25 w 646"/>
              <a:gd name="T57" fmla="*/ 197 h 645"/>
              <a:gd name="T58" fmla="*/ 56 w 646"/>
              <a:gd name="T59" fmla="*/ 142 h 645"/>
              <a:gd name="T60" fmla="*/ 95 w 646"/>
              <a:gd name="T61" fmla="*/ 93 h 645"/>
              <a:gd name="T62" fmla="*/ 142 w 646"/>
              <a:gd name="T63" fmla="*/ 55 h 645"/>
              <a:gd name="T64" fmla="*/ 198 w 646"/>
              <a:gd name="T65" fmla="*/ 25 h 645"/>
              <a:gd name="T66" fmla="*/ 259 w 646"/>
              <a:gd name="T67" fmla="*/ 6 h 645"/>
              <a:gd name="T68" fmla="*/ 323 w 646"/>
              <a:gd name="T69" fmla="*/ 0 h 645"/>
              <a:gd name="T70" fmla="*/ 323 w 646"/>
              <a:gd name="T71" fmla="*/ 323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6" h="645">
                <a:moveTo>
                  <a:pt x="323" y="323"/>
                </a:moveTo>
                <a:lnTo>
                  <a:pt x="323" y="0"/>
                </a:lnTo>
                <a:lnTo>
                  <a:pt x="323" y="0"/>
                </a:lnTo>
                <a:lnTo>
                  <a:pt x="356" y="2"/>
                </a:lnTo>
                <a:lnTo>
                  <a:pt x="389" y="6"/>
                </a:lnTo>
                <a:lnTo>
                  <a:pt x="418" y="14"/>
                </a:lnTo>
                <a:lnTo>
                  <a:pt x="449" y="25"/>
                </a:lnTo>
                <a:lnTo>
                  <a:pt x="477" y="39"/>
                </a:lnTo>
                <a:lnTo>
                  <a:pt x="504" y="55"/>
                </a:lnTo>
                <a:lnTo>
                  <a:pt x="529" y="74"/>
                </a:lnTo>
                <a:lnTo>
                  <a:pt x="551" y="93"/>
                </a:lnTo>
                <a:lnTo>
                  <a:pt x="572" y="117"/>
                </a:lnTo>
                <a:lnTo>
                  <a:pt x="592" y="142"/>
                </a:lnTo>
                <a:lnTo>
                  <a:pt x="607" y="169"/>
                </a:lnTo>
                <a:lnTo>
                  <a:pt x="621" y="197"/>
                </a:lnTo>
                <a:lnTo>
                  <a:pt x="631" y="226"/>
                </a:lnTo>
                <a:lnTo>
                  <a:pt x="640" y="257"/>
                </a:lnTo>
                <a:lnTo>
                  <a:pt x="644" y="290"/>
                </a:lnTo>
                <a:lnTo>
                  <a:pt x="646" y="323"/>
                </a:lnTo>
                <a:lnTo>
                  <a:pt x="646" y="323"/>
                </a:lnTo>
                <a:lnTo>
                  <a:pt x="644" y="356"/>
                </a:lnTo>
                <a:lnTo>
                  <a:pt x="640" y="388"/>
                </a:lnTo>
                <a:lnTo>
                  <a:pt x="631" y="419"/>
                </a:lnTo>
                <a:lnTo>
                  <a:pt x="621" y="448"/>
                </a:lnTo>
                <a:lnTo>
                  <a:pt x="607" y="477"/>
                </a:lnTo>
                <a:lnTo>
                  <a:pt x="592" y="502"/>
                </a:lnTo>
                <a:lnTo>
                  <a:pt x="572" y="528"/>
                </a:lnTo>
                <a:lnTo>
                  <a:pt x="551" y="551"/>
                </a:lnTo>
                <a:lnTo>
                  <a:pt x="529" y="573"/>
                </a:lnTo>
                <a:lnTo>
                  <a:pt x="504" y="590"/>
                </a:lnTo>
                <a:lnTo>
                  <a:pt x="477" y="606"/>
                </a:lnTo>
                <a:lnTo>
                  <a:pt x="449" y="619"/>
                </a:lnTo>
                <a:lnTo>
                  <a:pt x="418" y="631"/>
                </a:lnTo>
                <a:lnTo>
                  <a:pt x="389" y="639"/>
                </a:lnTo>
                <a:lnTo>
                  <a:pt x="356" y="645"/>
                </a:lnTo>
                <a:lnTo>
                  <a:pt x="323" y="645"/>
                </a:lnTo>
                <a:lnTo>
                  <a:pt x="323" y="645"/>
                </a:lnTo>
                <a:lnTo>
                  <a:pt x="290" y="645"/>
                </a:lnTo>
                <a:lnTo>
                  <a:pt x="259" y="639"/>
                </a:lnTo>
                <a:lnTo>
                  <a:pt x="227" y="631"/>
                </a:lnTo>
                <a:lnTo>
                  <a:pt x="198" y="619"/>
                </a:lnTo>
                <a:lnTo>
                  <a:pt x="169" y="606"/>
                </a:lnTo>
                <a:lnTo>
                  <a:pt x="142" y="590"/>
                </a:lnTo>
                <a:lnTo>
                  <a:pt x="118" y="573"/>
                </a:lnTo>
                <a:lnTo>
                  <a:pt x="95" y="551"/>
                </a:lnTo>
                <a:lnTo>
                  <a:pt x="74" y="528"/>
                </a:lnTo>
                <a:lnTo>
                  <a:pt x="56" y="502"/>
                </a:lnTo>
                <a:lnTo>
                  <a:pt x="39" y="477"/>
                </a:lnTo>
                <a:lnTo>
                  <a:pt x="25" y="448"/>
                </a:lnTo>
                <a:lnTo>
                  <a:pt x="15" y="419"/>
                </a:lnTo>
                <a:lnTo>
                  <a:pt x="7" y="388"/>
                </a:lnTo>
                <a:lnTo>
                  <a:pt x="2" y="356"/>
                </a:lnTo>
                <a:lnTo>
                  <a:pt x="0" y="323"/>
                </a:lnTo>
                <a:lnTo>
                  <a:pt x="0" y="323"/>
                </a:lnTo>
                <a:lnTo>
                  <a:pt x="2" y="290"/>
                </a:lnTo>
                <a:lnTo>
                  <a:pt x="7" y="257"/>
                </a:lnTo>
                <a:lnTo>
                  <a:pt x="15" y="226"/>
                </a:lnTo>
                <a:lnTo>
                  <a:pt x="25" y="197"/>
                </a:lnTo>
                <a:lnTo>
                  <a:pt x="39" y="169"/>
                </a:lnTo>
                <a:lnTo>
                  <a:pt x="56" y="142"/>
                </a:lnTo>
                <a:lnTo>
                  <a:pt x="74" y="117"/>
                </a:lnTo>
                <a:lnTo>
                  <a:pt x="95" y="93"/>
                </a:lnTo>
                <a:lnTo>
                  <a:pt x="118" y="74"/>
                </a:lnTo>
                <a:lnTo>
                  <a:pt x="142" y="55"/>
                </a:lnTo>
                <a:lnTo>
                  <a:pt x="169" y="39"/>
                </a:lnTo>
                <a:lnTo>
                  <a:pt x="198" y="25"/>
                </a:lnTo>
                <a:lnTo>
                  <a:pt x="227" y="14"/>
                </a:lnTo>
                <a:lnTo>
                  <a:pt x="259" y="6"/>
                </a:lnTo>
                <a:lnTo>
                  <a:pt x="290" y="2"/>
                </a:lnTo>
                <a:lnTo>
                  <a:pt x="323" y="0"/>
                </a:lnTo>
                <a:lnTo>
                  <a:pt x="323" y="0"/>
                </a:lnTo>
                <a:lnTo>
                  <a:pt x="323" y="323"/>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7"/>
          <p:cNvSpPr>
            <a:spLocks/>
          </p:cNvSpPr>
          <p:nvPr/>
        </p:nvSpPr>
        <p:spPr bwMode="auto">
          <a:xfrm>
            <a:off x="4170363" y="2890838"/>
            <a:ext cx="544513" cy="544513"/>
          </a:xfrm>
          <a:custGeom>
            <a:avLst/>
            <a:gdLst>
              <a:gd name="T0" fmla="*/ 172 w 343"/>
              <a:gd name="T1" fmla="*/ 0 h 343"/>
              <a:gd name="T2" fmla="*/ 189 w 343"/>
              <a:gd name="T3" fmla="*/ 2 h 343"/>
              <a:gd name="T4" fmla="*/ 223 w 343"/>
              <a:gd name="T5" fmla="*/ 8 h 343"/>
              <a:gd name="T6" fmla="*/ 254 w 343"/>
              <a:gd name="T7" fmla="*/ 22 h 343"/>
              <a:gd name="T8" fmla="*/ 281 w 343"/>
              <a:gd name="T9" fmla="*/ 41 h 343"/>
              <a:gd name="T10" fmla="*/ 304 w 343"/>
              <a:gd name="T11" fmla="*/ 62 h 343"/>
              <a:gd name="T12" fmla="*/ 324 w 343"/>
              <a:gd name="T13" fmla="*/ 92 h 343"/>
              <a:gd name="T14" fmla="*/ 335 w 343"/>
              <a:gd name="T15" fmla="*/ 121 h 343"/>
              <a:gd name="T16" fmla="*/ 343 w 343"/>
              <a:gd name="T17" fmla="*/ 154 h 343"/>
              <a:gd name="T18" fmla="*/ 343 w 343"/>
              <a:gd name="T19" fmla="*/ 172 h 343"/>
              <a:gd name="T20" fmla="*/ 339 w 343"/>
              <a:gd name="T21" fmla="*/ 207 h 343"/>
              <a:gd name="T22" fmla="*/ 330 w 343"/>
              <a:gd name="T23" fmla="*/ 240 h 343"/>
              <a:gd name="T24" fmla="*/ 314 w 343"/>
              <a:gd name="T25" fmla="*/ 269 h 343"/>
              <a:gd name="T26" fmla="*/ 293 w 343"/>
              <a:gd name="T27" fmla="*/ 294 h 343"/>
              <a:gd name="T28" fmla="*/ 267 w 343"/>
              <a:gd name="T29" fmla="*/ 314 h 343"/>
              <a:gd name="T30" fmla="*/ 238 w 343"/>
              <a:gd name="T31" fmla="*/ 331 h 343"/>
              <a:gd name="T32" fmla="*/ 207 w 343"/>
              <a:gd name="T33" fmla="*/ 341 h 343"/>
              <a:gd name="T34" fmla="*/ 172 w 343"/>
              <a:gd name="T35" fmla="*/ 343 h 343"/>
              <a:gd name="T36" fmla="*/ 154 w 343"/>
              <a:gd name="T37" fmla="*/ 343 h 343"/>
              <a:gd name="T38" fmla="*/ 121 w 343"/>
              <a:gd name="T39" fmla="*/ 337 h 343"/>
              <a:gd name="T40" fmla="*/ 90 w 343"/>
              <a:gd name="T41" fmla="*/ 323 h 343"/>
              <a:gd name="T42" fmla="*/ 63 w 343"/>
              <a:gd name="T43" fmla="*/ 304 h 343"/>
              <a:gd name="T44" fmla="*/ 39 w 343"/>
              <a:gd name="T45" fmla="*/ 281 h 343"/>
              <a:gd name="T46" fmla="*/ 22 w 343"/>
              <a:gd name="T47" fmla="*/ 253 h 343"/>
              <a:gd name="T48" fmla="*/ 8 w 343"/>
              <a:gd name="T49" fmla="*/ 224 h 343"/>
              <a:gd name="T50" fmla="*/ 2 w 343"/>
              <a:gd name="T51" fmla="*/ 189 h 343"/>
              <a:gd name="T52" fmla="*/ 0 w 343"/>
              <a:gd name="T53" fmla="*/ 172 h 343"/>
              <a:gd name="T54" fmla="*/ 4 w 343"/>
              <a:gd name="T55" fmla="*/ 138 h 343"/>
              <a:gd name="T56" fmla="*/ 14 w 343"/>
              <a:gd name="T57" fmla="*/ 105 h 343"/>
              <a:gd name="T58" fmla="*/ 30 w 343"/>
              <a:gd name="T59" fmla="*/ 76 h 343"/>
              <a:gd name="T60" fmla="*/ 51 w 343"/>
              <a:gd name="T61" fmla="*/ 51 h 343"/>
              <a:gd name="T62" fmla="*/ 76 w 343"/>
              <a:gd name="T63" fmla="*/ 29 h 343"/>
              <a:gd name="T64" fmla="*/ 106 w 343"/>
              <a:gd name="T65" fmla="*/ 14 h 343"/>
              <a:gd name="T66" fmla="*/ 137 w 343"/>
              <a:gd name="T67" fmla="*/ 4 h 343"/>
              <a:gd name="T68" fmla="*/ 172 w 343"/>
              <a:gd name="T69" fmla="*/ 0 h 343"/>
              <a:gd name="T70" fmla="*/ 172 w 343"/>
              <a:gd name="T71" fmla="*/ 172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3" h="343">
                <a:moveTo>
                  <a:pt x="172" y="172"/>
                </a:moveTo>
                <a:lnTo>
                  <a:pt x="172" y="0"/>
                </a:lnTo>
                <a:lnTo>
                  <a:pt x="172" y="0"/>
                </a:lnTo>
                <a:lnTo>
                  <a:pt x="189" y="2"/>
                </a:lnTo>
                <a:lnTo>
                  <a:pt x="207" y="4"/>
                </a:lnTo>
                <a:lnTo>
                  <a:pt x="223" y="8"/>
                </a:lnTo>
                <a:lnTo>
                  <a:pt x="238" y="14"/>
                </a:lnTo>
                <a:lnTo>
                  <a:pt x="254" y="22"/>
                </a:lnTo>
                <a:lnTo>
                  <a:pt x="267" y="29"/>
                </a:lnTo>
                <a:lnTo>
                  <a:pt x="281" y="41"/>
                </a:lnTo>
                <a:lnTo>
                  <a:pt x="293" y="51"/>
                </a:lnTo>
                <a:lnTo>
                  <a:pt x="304" y="62"/>
                </a:lnTo>
                <a:lnTo>
                  <a:pt x="314" y="76"/>
                </a:lnTo>
                <a:lnTo>
                  <a:pt x="324" y="92"/>
                </a:lnTo>
                <a:lnTo>
                  <a:pt x="330" y="105"/>
                </a:lnTo>
                <a:lnTo>
                  <a:pt x="335" y="121"/>
                </a:lnTo>
                <a:lnTo>
                  <a:pt x="339" y="138"/>
                </a:lnTo>
                <a:lnTo>
                  <a:pt x="343" y="154"/>
                </a:lnTo>
                <a:lnTo>
                  <a:pt x="343" y="172"/>
                </a:lnTo>
                <a:lnTo>
                  <a:pt x="343" y="172"/>
                </a:lnTo>
                <a:lnTo>
                  <a:pt x="343" y="189"/>
                </a:lnTo>
                <a:lnTo>
                  <a:pt x="339" y="207"/>
                </a:lnTo>
                <a:lnTo>
                  <a:pt x="335" y="224"/>
                </a:lnTo>
                <a:lnTo>
                  <a:pt x="330" y="240"/>
                </a:lnTo>
                <a:lnTo>
                  <a:pt x="324" y="253"/>
                </a:lnTo>
                <a:lnTo>
                  <a:pt x="314" y="269"/>
                </a:lnTo>
                <a:lnTo>
                  <a:pt x="304" y="281"/>
                </a:lnTo>
                <a:lnTo>
                  <a:pt x="293" y="294"/>
                </a:lnTo>
                <a:lnTo>
                  <a:pt x="281" y="304"/>
                </a:lnTo>
                <a:lnTo>
                  <a:pt x="267" y="314"/>
                </a:lnTo>
                <a:lnTo>
                  <a:pt x="254" y="323"/>
                </a:lnTo>
                <a:lnTo>
                  <a:pt x="238" y="331"/>
                </a:lnTo>
                <a:lnTo>
                  <a:pt x="223" y="337"/>
                </a:lnTo>
                <a:lnTo>
                  <a:pt x="207" y="341"/>
                </a:lnTo>
                <a:lnTo>
                  <a:pt x="189" y="343"/>
                </a:lnTo>
                <a:lnTo>
                  <a:pt x="172" y="343"/>
                </a:lnTo>
                <a:lnTo>
                  <a:pt x="172" y="343"/>
                </a:lnTo>
                <a:lnTo>
                  <a:pt x="154" y="343"/>
                </a:lnTo>
                <a:lnTo>
                  <a:pt x="137" y="341"/>
                </a:lnTo>
                <a:lnTo>
                  <a:pt x="121" y="337"/>
                </a:lnTo>
                <a:lnTo>
                  <a:pt x="106" y="331"/>
                </a:lnTo>
                <a:lnTo>
                  <a:pt x="90" y="323"/>
                </a:lnTo>
                <a:lnTo>
                  <a:pt x="76" y="314"/>
                </a:lnTo>
                <a:lnTo>
                  <a:pt x="63" y="304"/>
                </a:lnTo>
                <a:lnTo>
                  <a:pt x="51" y="294"/>
                </a:lnTo>
                <a:lnTo>
                  <a:pt x="39" y="281"/>
                </a:lnTo>
                <a:lnTo>
                  <a:pt x="30" y="269"/>
                </a:lnTo>
                <a:lnTo>
                  <a:pt x="22" y="253"/>
                </a:lnTo>
                <a:lnTo>
                  <a:pt x="14" y="240"/>
                </a:lnTo>
                <a:lnTo>
                  <a:pt x="8" y="224"/>
                </a:lnTo>
                <a:lnTo>
                  <a:pt x="4" y="207"/>
                </a:lnTo>
                <a:lnTo>
                  <a:pt x="2" y="189"/>
                </a:lnTo>
                <a:lnTo>
                  <a:pt x="0" y="172"/>
                </a:lnTo>
                <a:lnTo>
                  <a:pt x="0" y="172"/>
                </a:lnTo>
                <a:lnTo>
                  <a:pt x="2" y="154"/>
                </a:lnTo>
                <a:lnTo>
                  <a:pt x="4" y="138"/>
                </a:lnTo>
                <a:lnTo>
                  <a:pt x="8" y="121"/>
                </a:lnTo>
                <a:lnTo>
                  <a:pt x="14" y="105"/>
                </a:lnTo>
                <a:lnTo>
                  <a:pt x="22" y="92"/>
                </a:lnTo>
                <a:lnTo>
                  <a:pt x="30" y="76"/>
                </a:lnTo>
                <a:lnTo>
                  <a:pt x="39" y="62"/>
                </a:lnTo>
                <a:lnTo>
                  <a:pt x="51" y="51"/>
                </a:lnTo>
                <a:lnTo>
                  <a:pt x="63" y="41"/>
                </a:lnTo>
                <a:lnTo>
                  <a:pt x="76" y="29"/>
                </a:lnTo>
                <a:lnTo>
                  <a:pt x="90" y="22"/>
                </a:lnTo>
                <a:lnTo>
                  <a:pt x="106" y="14"/>
                </a:lnTo>
                <a:lnTo>
                  <a:pt x="121" y="8"/>
                </a:lnTo>
                <a:lnTo>
                  <a:pt x="137" y="4"/>
                </a:lnTo>
                <a:lnTo>
                  <a:pt x="154" y="2"/>
                </a:lnTo>
                <a:lnTo>
                  <a:pt x="172" y="0"/>
                </a:lnTo>
                <a:lnTo>
                  <a:pt x="172" y="0"/>
                </a:lnTo>
                <a:lnTo>
                  <a:pt x="172" y="172"/>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8"/>
          <p:cNvSpPr>
            <a:spLocks/>
          </p:cNvSpPr>
          <p:nvPr/>
        </p:nvSpPr>
        <p:spPr bwMode="auto">
          <a:xfrm>
            <a:off x="4937126" y="5295900"/>
            <a:ext cx="133350" cy="133350"/>
          </a:xfrm>
          <a:custGeom>
            <a:avLst/>
            <a:gdLst>
              <a:gd name="T0" fmla="*/ 43 w 84"/>
              <a:gd name="T1" fmla="*/ 41 h 84"/>
              <a:gd name="T2" fmla="*/ 43 w 84"/>
              <a:gd name="T3" fmla="*/ 0 h 84"/>
              <a:gd name="T4" fmla="*/ 43 w 84"/>
              <a:gd name="T5" fmla="*/ 0 h 84"/>
              <a:gd name="T6" fmla="*/ 51 w 84"/>
              <a:gd name="T7" fmla="*/ 0 h 84"/>
              <a:gd name="T8" fmla="*/ 59 w 84"/>
              <a:gd name="T9" fmla="*/ 2 h 84"/>
              <a:gd name="T10" fmla="*/ 67 w 84"/>
              <a:gd name="T11" fmla="*/ 6 h 84"/>
              <a:gd name="T12" fmla="*/ 73 w 84"/>
              <a:gd name="T13" fmla="*/ 12 h 84"/>
              <a:gd name="T14" fmla="*/ 78 w 84"/>
              <a:gd name="T15" fmla="*/ 18 h 84"/>
              <a:gd name="T16" fmla="*/ 82 w 84"/>
              <a:gd name="T17" fmla="*/ 26 h 84"/>
              <a:gd name="T18" fmla="*/ 84 w 84"/>
              <a:gd name="T19" fmla="*/ 33 h 84"/>
              <a:gd name="T20" fmla="*/ 84 w 84"/>
              <a:gd name="T21" fmla="*/ 41 h 84"/>
              <a:gd name="T22" fmla="*/ 84 w 84"/>
              <a:gd name="T23" fmla="*/ 41 h 84"/>
              <a:gd name="T24" fmla="*/ 84 w 84"/>
              <a:gd name="T25" fmla="*/ 49 h 84"/>
              <a:gd name="T26" fmla="*/ 82 w 84"/>
              <a:gd name="T27" fmla="*/ 59 h 84"/>
              <a:gd name="T28" fmla="*/ 78 w 84"/>
              <a:gd name="T29" fmla="*/ 65 h 84"/>
              <a:gd name="T30" fmla="*/ 73 w 84"/>
              <a:gd name="T31" fmla="*/ 70 h 84"/>
              <a:gd name="T32" fmla="*/ 67 w 84"/>
              <a:gd name="T33" fmla="*/ 76 h 84"/>
              <a:gd name="T34" fmla="*/ 59 w 84"/>
              <a:gd name="T35" fmla="*/ 80 h 84"/>
              <a:gd name="T36" fmla="*/ 51 w 84"/>
              <a:gd name="T37" fmla="*/ 82 h 84"/>
              <a:gd name="T38" fmla="*/ 43 w 84"/>
              <a:gd name="T39" fmla="*/ 84 h 84"/>
              <a:gd name="T40" fmla="*/ 43 w 84"/>
              <a:gd name="T41" fmla="*/ 84 h 84"/>
              <a:gd name="T42" fmla="*/ 34 w 84"/>
              <a:gd name="T43" fmla="*/ 82 h 84"/>
              <a:gd name="T44" fmla="*/ 26 w 84"/>
              <a:gd name="T45" fmla="*/ 80 h 84"/>
              <a:gd name="T46" fmla="*/ 20 w 84"/>
              <a:gd name="T47" fmla="*/ 76 h 84"/>
              <a:gd name="T48" fmla="*/ 12 w 84"/>
              <a:gd name="T49" fmla="*/ 70 h 84"/>
              <a:gd name="T50" fmla="*/ 8 w 84"/>
              <a:gd name="T51" fmla="*/ 65 h 84"/>
              <a:gd name="T52" fmla="*/ 4 w 84"/>
              <a:gd name="T53" fmla="*/ 59 h 84"/>
              <a:gd name="T54" fmla="*/ 2 w 84"/>
              <a:gd name="T55" fmla="*/ 49 h 84"/>
              <a:gd name="T56" fmla="*/ 0 w 84"/>
              <a:gd name="T57" fmla="*/ 41 h 84"/>
              <a:gd name="T58" fmla="*/ 0 w 84"/>
              <a:gd name="T59" fmla="*/ 41 h 84"/>
              <a:gd name="T60" fmla="*/ 2 w 84"/>
              <a:gd name="T61" fmla="*/ 33 h 84"/>
              <a:gd name="T62" fmla="*/ 4 w 84"/>
              <a:gd name="T63" fmla="*/ 26 h 84"/>
              <a:gd name="T64" fmla="*/ 8 w 84"/>
              <a:gd name="T65" fmla="*/ 18 h 84"/>
              <a:gd name="T66" fmla="*/ 12 w 84"/>
              <a:gd name="T67" fmla="*/ 12 h 84"/>
              <a:gd name="T68" fmla="*/ 20 w 84"/>
              <a:gd name="T69" fmla="*/ 6 h 84"/>
              <a:gd name="T70" fmla="*/ 26 w 84"/>
              <a:gd name="T71" fmla="*/ 2 h 84"/>
              <a:gd name="T72" fmla="*/ 34 w 84"/>
              <a:gd name="T73" fmla="*/ 0 h 84"/>
              <a:gd name="T74" fmla="*/ 43 w 84"/>
              <a:gd name="T75" fmla="*/ 0 h 84"/>
              <a:gd name="T76" fmla="*/ 43 w 84"/>
              <a:gd name="T77" fmla="*/ 0 h 84"/>
              <a:gd name="T78" fmla="*/ 43 w 84"/>
              <a:gd name="T79" fmla="*/ 4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4" h="84">
                <a:moveTo>
                  <a:pt x="43" y="41"/>
                </a:moveTo>
                <a:lnTo>
                  <a:pt x="43" y="0"/>
                </a:lnTo>
                <a:lnTo>
                  <a:pt x="43" y="0"/>
                </a:lnTo>
                <a:lnTo>
                  <a:pt x="51" y="0"/>
                </a:lnTo>
                <a:lnTo>
                  <a:pt x="59" y="2"/>
                </a:lnTo>
                <a:lnTo>
                  <a:pt x="67" y="6"/>
                </a:lnTo>
                <a:lnTo>
                  <a:pt x="73" y="12"/>
                </a:lnTo>
                <a:lnTo>
                  <a:pt x="78" y="18"/>
                </a:lnTo>
                <a:lnTo>
                  <a:pt x="82" y="26"/>
                </a:lnTo>
                <a:lnTo>
                  <a:pt x="84" y="33"/>
                </a:lnTo>
                <a:lnTo>
                  <a:pt x="84" y="41"/>
                </a:lnTo>
                <a:lnTo>
                  <a:pt x="84" y="41"/>
                </a:lnTo>
                <a:lnTo>
                  <a:pt x="84" y="49"/>
                </a:lnTo>
                <a:lnTo>
                  <a:pt x="82" y="59"/>
                </a:lnTo>
                <a:lnTo>
                  <a:pt x="78" y="65"/>
                </a:lnTo>
                <a:lnTo>
                  <a:pt x="73" y="70"/>
                </a:lnTo>
                <a:lnTo>
                  <a:pt x="67" y="76"/>
                </a:lnTo>
                <a:lnTo>
                  <a:pt x="59" y="80"/>
                </a:lnTo>
                <a:lnTo>
                  <a:pt x="51" y="82"/>
                </a:lnTo>
                <a:lnTo>
                  <a:pt x="43" y="84"/>
                </a:lnTo>
                <a:lnTo>
                  <a:pt x="43" y="84"/>
                </a:lnTo>
                <a:lnTo>
                  <a:pt x="34" y="82"/>
                </a:lnTo>
                <a:lnTo>
                  <a:pt x="26" y="80"/>
                </a:lnTo>
                <a:lnTo>
                  <a:pt x="20" y="76"/>
                </a:lnTo>
                <a:lnTo>
                  <a:pt x="12" y="70"/>
                </a:lnTo>
                <a:lnTo>
                  <a:pt x="8" y="65"/>
                </a:lnTo>
                <a:lnTo>
                  <a:pt x="4" y="59"/>
                </a:lnTo>
                <a:lnTo>
                  <a:pt x="2" y="49"/>
                </a:lnTo>
                <a:lnTo>
                  <a:pt x="0" y="41"/>
                </a:lnTo>
                <a:lnTo>
                  <a:pt x="0" y="41"/>
                </a:lnTo>
                <a:lnTo>
                  <a:pt x="2" y="33"/>
                </a:lnTo>
                <a:lnTo>
                  <a:pt x="4" y="26"/>
                </a:lnTo>
                <a:lnTo>
                  <a:pt x="8" y="18"/>
                </a:lnTo>
                <a:lnTo>
                  <a:pt x="12" y="12"/>
                </a:lnTo>
                <a:lnTo>
                  <a:pt x="20" y="6"/>
                </a:lnTo>
                <a:lnTo>
                  <a:pt x="26" y="2"/>
                </a:lnTo>
                <a:lnTo>
                  <a:pt x="34" y="0"/>
                </a:lnTo>
                <a:lnTo>
                  <a:pt x="43" y="0"/>
                </a:lnTo>
                <a:lnTo>
                  <a:pt x="43" y="0"/>
                </a:lnTo>
                <a:lnTo>
                  <a:pt x="43" y="41"/>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19"/>
          <p:cNvSpPr>
            <a:spLocks/>
          </p:cNvSpPr>
          <p:nvPr/>
        </p:nvSpPr>
        <p:spPr bwMode="auto">
          <a:xfrm>
            <a:off x="4808538" y="4400550"/>
            <a:ext cx="131763" cy="131763"/>
          </a:xfrm>
          <a:custGeom>
            <a:avLst/>
            <a:gdLst>
              <a:gd name="T0" fmla="*/ 43 w 83"/>
              <a:gd name="T1" fmla="*/ 42 h 83"/>
              <a:gd name="T2" fmla="*/ 43 w 83"/>
              <a:gd name="T3" fmla="*/ 0 h 83"/>
              <a:gd name="T4" fmla="*/ 43 w 83"/>
              <a:gd name="T5" fmla="*/ 0 h 83"/>
              <a:gd name="T6" fmla="*/ 50 w 83"/>
              <a:gd name="T7" fmla="*/ 1 h 83"/>
              <a:gd name="T8" fmla="*/ 58 w 83"/>
              <a:gd name="T9" fmla="*/ 3 h 83"/>
              <a:gd name="T10" fmla="*/ 66 w 83"/>
              <a:gd name="T11" fmla="*/ 7 h 83"/>
              <a:gd name="T12" fmla="*/ 72 w 83"/>
              <a:gd name="T13" fmla="*/ 13 h 83"/>
              <a:gd name="T14" fmla="*/ 78 w 83"/>
              <a:gd name="T15" fmla="*/ 19 h 83"/>
              <a:gd name="T16" fmla="*/ 81 w 83"/>
              <a:gd name="T17" fmla="*/ 25 h 83"/>
              <a:gd name="T18" fmla="*/ 83 w 83"/>
              <a:gd name="T19" fmla="*/ 35 h 83"/>
              <a:gd name="T20" fmla="*/ 83 w 83"/>
              <a:gd name="T21" fmla="*/ 42 h 83"/>
              <a:gd name="T22" fmla="*/ 83 w 83"/>
              <a:gd name="T23" fmla="*/ 42 h 83"/>
              <a:gd name="T24" fmla="*/ 83 w 83"/>
              <a:gd name="T25" fmla="*/ 50 h 83"/>
              <a:gd name="T26" fmla="*/ 81 w 83"/>
              <a:gd name="T27" fmla="*/ 58 h 83"/>
              <a:gd name="T28" fmla="*/ 78 w 83"/>
              <a:gd name="T29" fmla="*/ 66 h 83"/>
              <a:gd name="T30" fmla="*/ 72 w 83"/>
              <a:gd name="T31" fmla="*/ 72 h 83"/>
              <a:gd name="T32" fmla="*/ 66 w 83"/>
              <a:gd name="T33" fmla="*/ 77 h 83"/>
              <a:gd name="T34" fmla="*/ 58 w 83"/>
              <a:gd name="T35" fmla="*/ 81 h 83"/>
              <a:gd name="T36" fmla="*/ 50 w 83"/>
              <a:gd name="T37" fmla="*/ 83 h 83"/>
              <a:gd name="T38" fmla="*/ 43 w 83"/>
              <a:gd name="T39" fmla="*/ 83 h 83"/>
              <a:gd name="T40" fmla="*/ 43 w 83"/>
              <a:gd name="T41" fmla="*/ 83 h 83"/>
              <a:gd name="T42" fmla="*/ 33 w 83"/>
              <a:gd name="T43" fmla="*/ 83 h 83"/>
              <a:gd name="T44" fmla="*/ 25 w 83"/>
              <a:gd name="T45" fmla="*/ 81 h 83"/>
              <a:gd name="T46" fmla="*/ 19 w 83"/>
              <a:gd name="T47" fmla="*/ 77 h 83"/>
              <a:gd name="T48" fmla="*/ 11 w 83"/>
              <a:gd name="T49" fmla="*/ 72 h 83"/>
              <a:gd name="T50" fmla="*/ 7 w 83"/>
              <a:gd name="T51" fmla="*/ 66 h 83"/>
              <a:gd name="T52" fmla="*/ 4 w 83"/>
              <a:gd name="T53" fmla="*/ 58 h 83"/>
              <a:gd name="T54" fmla="*/ 2 w 83"/>
              <a:gd name="T55" fmla="*/ 50 h 83"/>
              <a:gd name="T56" fmla="*/ 0 w 83"/>
              <a:gd name="T57" fmla="*/ 42 h 83"/>
              <a:gd name="T58" fmla="*/ 0 w 83"/>
              <a:gd name="T59" fmla="*/ 42 h 83"/>
              <a:gd name="T60" fmla="*/ 2 w 83"/>
              <a:gd name="T61" fmla="*/ 35 h 83"/>
              <a:gd name="T62" fmla="*/ 4 w 83"/>
              <a:gd name="T63" fmla="*/ 25 h 83"/>
              <a:gd name="T64" fmla="*/ 7 w 83"/>
              <a:gd name="T65" fmla="*/ 19 h 83"/>
              <a:gd name="T66" fmla="*/ 11 w 83"/>
              <a:gd name="T67" fmla="*/ 13 h 83"/>
              <a:gd name="T68" fmla="*/ 19 w 83"/>
              <a:gd name="T69" fmla="*/ 7 h 83"/>
              <a:gd name="T70" fmla="*/ 25 w 83"/>
              <a:gd name="T71" fmla="*/ 3 h 83"/>
              <a:gd name="T72" fmla="*/ 33 w 83"/>
              <a:gd name="T73" fmla="*/ 1 h 83"/>
              <a:gd name="T74" fmla="*/ 43 w 83"/>
              <a:gd name="T75" fmla="*/ 0 h 83"/>
              <a:gd name="T76" fmla="*/ 43 w 83"/>
              <a:gd name="T77" fmla="*/ 0 h 83"/>
              <a:gd name="T78" fmla="*/ 43 w 83"/>
              <a:gd name="T79"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3" h="83">
                <a:moveTo>
                  <a:pt x="43" y="42"/>
                </a:moveTo>
                <a:lnTo>
                  <a:pt x="43" y="0"/>
                </a:lnTo>
                <a:lnTo>
                  <a:pt x="43" y="0"/>
                </a:lnTo>
                <a:lnTo>
                  <a:pt x="50" y="1"/>
                </a:lnTo>
                <a:lnTo>
                  <a:pt x="58" y="3"/>
                </a:lnTo>
                <a:lnTo>
                  <a:pt x="66" y="7"/>
                </a:lnTo>
                <a:lnTo>
                  <a:pt x="72" y="13"/>
                </a:lnTo>
                <a:lnTo>
                  <a:pt x="78" y="19"/>
                </a:lnTo>
                <a:lnTo>
                  <a:pt x="81" y="25"/>
                </a:lnTo>
                <a:lnTo>
                  <a:pt x="83" y="35"/>
                </a:lnTo>
                <a:lnTo>
                  <a:pt x="83" y="42"/>
                </a:lnTo>
                <a:lnTo>
                  <a:pt x="83" y="42"/>
                </a:lnTo>
                <a:lnTo>
                  <a:pt x="83" y="50"/>
                </a:lnTo>
                <a:lnTo>
                  <a:pt x="81" y="58"/>
                </a:lnTo>
                <a:lnTo>
                  <a:pt x="78" y="66"/>
                </a:lnTo>
                <a:lnTo>
                  <a:pt x="72" y="72"/>
                </a:lnTo>
                <a:lnTo>
                  <a:pt x="66" y="77"/>
                </a:lnTo>
                <a:lnTo>
                  <a:pt x="58" y="81"/>
                </a:lnTo>
                <a:lnTo>
                  <a:pt x="50" y="83"/>
                </a:lnTo>
                <a:lnTo>
                  <a:pt x="43" y="83"/>
                </a:lnTo>
                <a:lnTo>
                  <a:pt x="43" y="83"/>
                </a:lnTo>
                <a:lnTo>
                  <a:pt x="33" y="83"/>
                </a:lnTo>
                <a:lnTo>
                  <a:pt x="25" y="81"/>
                </a:lnTo>
                <a:lnTo>
                  <a:pt x="19" y="77"/>
                </a:lnTo>
                <a:lnTo>
                  <a:pt x="11" y="72"/>
                </a:lnTo>
                <a:lnTo>
                  <a:pt x="7" y="66"/>
                </a:lnTo>
                <a:lnTo>
                  <a:pt x="4" y="58"/>
                </a:lnTo>
                <a:lnTo>
                  <a:pt x="2" y="50"/>
                </a:lnTo>
                <a:lnTo>
                  <a:pt x="0" y="42"/>
                </a:lnTo>
                <a:lnTo>
                  <a:pt x="0" y="42"/>
                </a:lnTo>
                <a:lnTo>
                  <a:pt x="2" y="35"/>
                </a:lnTo>
                <a:lnTo>
                  <a:pt x="4" y="25"/>
                </a:lnTo>
                <a:lnTo>
                  <a:pt x="7" y="19"/>
                </a:lnTo>
                <a:lnTo>
                  <a:pt x="11" y="13"/>
                </a:lnTo>
                <a:lnTo>
                  <a:pt x="19" y="7"/>
                </a:lnTo>
                <a:lnTo>
                  <a:pt x="25" y="3"/>
                </a:lnTo>
                <a:lnTo>
                  <a:pt x="33" y="1"/>
                </a:lnTo>
                <a:lnTo>
                  <a:pt x="43" y="0"/>
                </a:lnTo>
                <a:lnTo>
                  <a:pt x="43" y="0"/>
                </a:lnTo>
                <a:lnTo>
                  <a:pt x="43" y="42"/>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Freeform 20"/>
          <p:cNvSpPr>
            <a:spLocks/>
          </p:cNvSpPr>
          <p:nvPr/>
        </p:nvSpPr>
        <p:spPr bwMode="auto">
          <a:xfrm>
            <a:off x="5702301" y="3651250"/>
            <a:ext cx="376238" cy="377825"/>
          </a:xfrm>
          <a:custGeom>
            <a:avLst/>
            <a:gdLst>
              <a:gd name="T0" fmla="*/ 118 w 237"/>
              <a:gd name="T1" fmla="*/ 119 h 238"/>
              <a:gd name="T2" fmla="*/ 118 w 237"/>
              <a:gd name="T3" fmla="*/ 0 h 238"/>
              <a:gd name="T4" fmla="*/ 118 w 237"/>
              <a:gd name="T5" fmla="*/ 0 h 238"/>
              <a:gd name="T6" fmla="*/ 130 w 237"/>
              <a:gd name="T7" fmla="*/ 0 h 238"/>
              <a:gd name="T8" fmla="*/ 142 w 237"/>
              <a:gd name="T9" fmla="*/ 2 h 238"/>
              <a:gd name="T10" fmla="*/ 153 w 237"/>
              <a:gd name="T11" fmla="*/ 6 h 238"/>
              <a:gd name="T12" fmla="*/ 165 w 237"/>
              <a:gd name="T13" fmla="*/ 10 h 238"/>
              <a:gd name="T14" fmla="*/ 185 w 237"/>
              <a:gd name="T15" fmla="*/ 22 h 238"/>
              <a:gd name="T16" fmla="*/ 202 w 237"/>
              <a:gd name="T17" fmla="*/ 35 h 238"/>
              <a:gd name="T18" fmla="*/ 216 w 237"/>
              <a:gd name="T19" fmla="*/ 53 h 238"/>
              <a:gd name="T20" fmla="*/ 227 w 237"/>
              <a:gd name="T21" fmla="*/ 72 h 238"/>
              <a:gd name="T22" fmla="*/ 231 w 237"/>
              <a:gd name="T23" fmla="*/ 84 h 238"/>
              <a:gd name="T24" fmla="*/ 235 w 237"/>
              <a:gd name="T25" fmla="*/ 96 h 238"/>
              <a:gd name="T26" fmla="*/ 237 w 237"/>
              <a:gd name="T27" fmla="*/ 107 h 238"/>
              <a:gd name="T28" fmla="*/ 237 w 237"/>
              <a:gd name="T29" fmla="*/ 119 h 238"/>
              <a:gd name="T30" fmla="*/ 237 w 237"/>
              <a:gd name="T31" fmla="*/ 119 h 238"/>
              <a:gd name="T32" fmla="*/ 237 w 237"/>
              <a:gd name="T33" fmla="*/ 131 h 238"/>
              <a:gd name="T34" fmla="*/ 235 w 237"/>
              <a:gd name="T35" fmla="*/ 142 h 238"/>
              <a:gd name="T36" fmla="*/ 231 w 237"/>
              <a:gd name="T37" fmla="*/ 154 h 238"/>
              <a:gd name="T38" fmla="*/ 227 w 237"/>
              <a:gd name="T39" fmla="*/ 166 h 238"/>
              <a:gd name="T40" fmla="*/ 216 w 237"/>
              <a:gd name="T41" fmla="*/ 185 h 238"/>
              <a:gd name="T42" fmla="*/ 202 w 237"/>
              <a:gd name="T43" fmla="*/ 203 h 238"/>
              <a:gd name="T44" fmla="*/ 185 w 237"/>
              <a:gd name="T45" fmla="*/ 218 h 238"/>
              <a:gd name="T46" fmla="*/ 165 w 237"/>
              <a:gd name="T47" fmla="*/ 228 h 238"/>
              <a:gd name="T48" fmla="*/ 153 w 237"/>
              <a:gd name="T49" fmla="*/ 232 h 238"/>
              <a:gd name="T50" fmla="*/ 142 w 237"/>
              <a:gd name="T51" fmla="*/ 236 h 238"/>
              <a:gd name="T52" fmla="*/ 130 w 237"/>
              <a:gd name="T53" fmla="*/ 238 h 238"/>
              <a:gd name="T54" fmla="*/ 118 w 237"/>
              <a:gd name="T55" fmla="*/ 238 h 238"/>
              <a:gd name="T56" fmla="*/ 118 w 237"/>
              <a:gd name="T57" fmla="*/ 238 h 238"/>
              <a:gd name="T58" fmla="*/ 107 w 237"/>
              <a:gd name="T59" fmla="*/ 238 h 238"/>
              <a:gd name="T60" fmla="*/ 95 w 237"/>
              <a:gd name="T61" fmla="*/ 236 h 238"/>
              <a:gd name="T62" fmla="*/ 83 w 237"/>
              <a:gd name="T63" fmla="*/ 232 h 238"/>
              <a:gd name="T64" fmla="*/ 72 w 237"/>
              <a:gd name="T65" fmla="*/ 228 h 238"/>
              <a:gd name="T66" fmla="*/ 52 w 237"/>
              <a:gd name="T67" fmla="*/ 218 h 238"/>
              <a:gd name="T68" fmla="*/ 35 w 237"/>
              <a:gd name="T69" fmla="*/ 203 h 238"/>
              <a:gd name="T70" fmla="*/ 19 w 237"/>
              <a:gd name="T71" fmla="*/ 185 h 238"/>
              <a:gd name="T72" fmla="*/ 9 w 237"/>
              <a:gd name="T73" fmla="*/ 166 h 238"/>
              <a:gd name="T74" fmla="*/ 5 w 237"/>
              <a:gd name="T75" fmla="*/ 154 h 238"/>
              <a:gd name="T76" fmla="*/ 1 w 237"/>
              <a:gd name="T77" fmla="*/ 142 h 238"/>
              <a:gd name="T78" fmla="*/ 0 w 237"/>
              <a:gd name="T79" fmla="*/ 131 h 238"/>
              <a:gd name="T80" fmla="*/ 0 w 237"/>
              <a:gd name="T81" fmla="*/ 119 h 238"/>
              <a:gd name="T82" fmla="*/ 0 w 237"/>
              <a:gd name="T83" fmla="*/ 119 h 238"/>
              <a:gd name="T84" fmla="*/ 0 w 237"/>
              <a:gd name="T85" fmla="*/ 107 h 238"/>
              <a:gd name="T86" fmla="*/ 1 w 237"/>
              <a:gd name="T87" fmla="*/ 96 h 238"/>
              <a:gd name="T88" fmla="*/ 5 w 237"/>
              <a:gd name="T89" fmla="*/ 84 h 238"/>
              <a:gd name="T90" fmla="*/ 9 w 237"/>
              <a:gd name="T91" fmla="*/ 72 h 238"/>
              <a:gd name="T92" fmla="*/ 19 w 237"/>
              <a:gd name="T93" fmla="*/ 53 h 238"/>
              <a:gd name="T94" fmla="*/ 35 w 237"/>
              <a:gd name="T95" fmla="*/ 35 h 238"/>
              <a:gd name="T96" fmla="*/ 52 w 237"/>
              <a:gd name="T97" fmla="*/ 22 h 238"/>
              <a:gd name="T98" fmla="*/ 72 w 237"/>
              <a:gd name="T99" fmla="*/ 10 h 238"/>
              <a:gd name="T100" fmla="*/ 83 w 237"/>
              <a:gd name="T101" fmla="*/ 6 h 238"/>
              <a:gd name="T102" fmla="*/ 95 w 237"/>
              <a:gd name="T103" fmla="*/ 2 h 238"/>
              <a:gd name="T104" fmla="*/ 107 w 237"/>
              <a:gd name="T105" fmla="*/ 0 h 238"/>
              <a:gd name="T106" fmla="*/ 118 w 237"/>
              <a:gd name="T107" fmla="*/ 0 h 238"/>
              <a:gd name="T108" fmla="*/ 118 w 237"/>
              <a:gd name="T109" fmla="*/ 0 h 238"/>
              <a:gd name="T110" fmla="*/ 118 w 237"/>
              <a:gd name="T111"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7" h="238">
                <a:moveTo>
                  <a:pt x="118" y="119"/>
                </a:moveTo>
                <a:lnTo>
                  <a:pt x="118" y="0"/>
                </a:lnTo>
                <a:lnTo>
                  <a:pt x="118" y="0"/>
                </a:lnTo>
                <a:lnTo>
                  <a:pt x="130" y="0"/>
                </a:lnTo>
                <a:lnTo>
                  <a:pt x="142" y="2"/>
                </a:lnTo>
                <a:lnTo>
                  <a:pt x="153" y="6"/>
                </a:lnTo>
                <a:lnTo>
                  <a:pt x="165" y="10"/>
                </a:lnTo>
                <a:lnTo>
                  <a:pt x="185" y="22"/>
                </a:lnTo>
                <a:lnTo>
                  <a:pt x="202" y="35"/>
                </a:lnTo>
                <a:lnTo>
                  <a:pt x="216" y="53"/>
                </a:lnTo>
                <a:lnTo>
                  <a:pt x="227" y="72"/>
                </a:lnTo>
                <a:lnTo>
                  <a:pt x="231" y="84"/>
                </a:lnTo>
                <a:lnTo>
                  <a:pt x="235" y="96"/>
                </a:lnTo>
                <a:lnTo>
                  <a:pt x="237" y="107"/>
                </a:lnTo>
                <a:lnTo>
                  <a:pt x="237" y="119"/>
                </a:lnTo>
                <a:lnTo>
                  <a:pt x="237" y="119"/>
                </a:lnTo>
                <a:lnTo>
                  <a:pt x="237" y="131"/>
                </a:lnTo>
                <a:lnTo>
                  <a:pt x="235" y="142"/>
                </a:lnTo>
                <a:lnTo>
                  <a:pt x="231" y="154"/>
                </a:lnTo>
                <a:lnTo>
                  <a:pt x="227" y="166"/>
                </a:lnTo>
                <a:lnTo>
                  <a:pt x="216" y="185"/>
                </a:lnTo>
                <a:lnTo>
                  <a:pt x="202" y="203"/>
                </a:lnTo>
                <a:lnTo>
                  <a:pt x="185" y="218"/>
                </a:lnTo>
                <a:lnTo>
                  <a:pt x="165" y="228"/>
                </a:lnTo>
                <a:lnTo>
                  <a:pt x="153" y="232"/>
                </a:lnTo>
                <a:lnTo>
                  <a:pt x="142" y="236"/>
                </a:lnTo>
                <a:lnTo>
                  <a:pt x="130" y="238"/>
                </a:lnTo>
                <a:lnTo>
                  <a:pt x="118" y="238"/>
                </a:lnTo>
                <a:lnTo>
                  <a:pt x="118" y="238"/>
                </a:lnTo>
                <a:lnTo>
                  <a:pt x="107" y="238"/>
                </a:lnTo>
                <a:lnTo>
                  <a:pt x="95" y="236"/>
                </a:lnTo>
                <a:lnTo>
                  <a:pt x="83" y="232"/>
                </a:lnTo>
                <a:lnTo>
                  <a:pt x="72" y="228"/>
                </a:lnTo>
                <a:lnTo>
                  <a:pt x="52" y="218"/>
                </a:lnTo>
                <a:lnTo>
                  <a:pt x="35" y="203"/>
                </a:lnTo>
                <a:lnTo>
                  <a:pt x="19" y="185"/>
                </a:lnTo>
                <a:lnTo>
                  <a:pt x="9" y="166"/>
                </a:lnTo>
                <a:lnTo>
                  <a:pt x="5" y="154"/>
                </a:lnTo>
                <a:lnTo>
                  <a:pt x="1" y="142"/>
                </a:lnTo>
                <a:lnTo>
                  <a:pt x="0" y="131"/>
                </a:lnTo>
                <a:lnTo>
                  <a:pt x="0" y="119"/>
                </a:lnTo>
                <a:lnTo>
                  <a:pt x="0" y="119"/>
                </a:lnTo>
                <a:lnTo>
                  <a:pt x="0" y="107"/>
                </a:lnTo>
                <a:lnTo>
                  <a:pt x="1" y="96"/>
                </a:lnTo>
                <a:lnTo>
                  <a:pt x="5" y="84"/>
                </a:lnTo>
                <a:lnTo>
                  <a:pt x="9" y="72"/>
                </a:lnTo>
                <a:lnTo>
                  <a:pt x="19" y="53"/>
                </a:lnTo>
                <a:lnTo>
                  <a:pt x="35" y="35"/>
                </a:lnTo>
                <a:lnTo>
                  <a:pt x="52" y="22"/>
                </a:lnTo>
                <a:lnTo>
                  <a:pt x="72" y="10"/>
                </a:lnTo>
                <a:lnTo>
                  <a:pt x="83" y="6"/>
                </a:lnTo>
                <a:lnTo>
                  <a:pt x="95" y="2"/>
                </a:lnTo>
                <a:lnTo>
                  <a:pt x="107" y="0"/>
                </a:lnTo>
                <a:lnTo>
                  <a:pt x="118" y="0"/>
                </a:lnTo>
                <a:lnTo>
                  <a:pt x="118" y="0"/>
                </a:lnTo>
                <a:lnTo>
                  <a:pt x="118" y="119"/>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Freeform 21"/>
          <p:cNvSpPr>
            <a:spLocks/>
          </p:cNvSpPr>
          <p:nvPr/>
        </p:nvSpPr>
        <p:spPr bwMode="auto">
          <a:xfrm>
            <a:off x="4467226" y="5732463"/>
            <a:ext cx="233363" cy="228600"/>
          </a:xfrm>
          <a:custGeom>
            <a:avLst/>
            <a:gdLst>
              <a:gd name="T0" fmla="*/ 73 w 147"/>
              <a:gd name="T1" fmla="*/ 72 h 144"/>
              <a:gd name="T2" fmla="*/ 73 w 147"/>
              <a:gd name="T3" fmla="*/ 0 h 144"/>
              <a:gd name="T4" fmla="*/ 73 w 147"/>
              <a:gd name="T5" fmla="*/ 0 h 144"/>
              <a:gd name="T6" fmla="*/ 88 w 147"/>
              <a:gd name="T7" fmla="*/ 0 h 144"/>
              <a:gd name="T8" fmla="*/ 102 w 147"/>
              <a:gd name="T9" fmla="*/ 4 h 144"/>
              <a:gd name="T10" fmla="*/ 113 w 147"/>
              <a:gd name="T11" fmla="*/ 12 h 144"/>
              <a:gd name="T12" fmla="*/ 125 w 147"/>
              <a:gd name="T13" fmla="*/ 19 h 144"/>
              <a:gd name="T14" fmla="*/ 133 w 147"/>
              <a:gd name="T15" fmla="*/ 31 h 144"/>
              <a:gd name="T16" fmla="*/ 141 w 147"/>
              <a:gd name="T17" fmla="*/ 43 h 144"/>
              <a:gd name="T18" fmla="*/ 145 w 147"/>
              <a:gd name="T19" fmla="*/ 56 h 144"/>
              <a:gd name="T20" fmla="*/ 147 w 147"/>
              <a:gd name="T21" fmla="*/ 72 h 144"/>
              <a:gd name="T22" fmla="*/ 147 w 147"/>
              <a:gd name="T23" fmla="*/ 72 h 144"/>
              <a:gd name="T24" fmla="*/ 145 w 147"/>
              <a:gd name="T25" fmla="*/ 86 h 144"/>
              <a:gd name="T26" fmla="*/ 141 w 147"/>
              <a:gd name="T27" fmla="*/ 99 h 144"/>
              <a:gd name="T28" fmla="*/ 133 w 147"/>
              <a:gd name="T29" fmla="*/ 113 h 144"/>
              <a:gd name="T30" fmla="*/ 125 w 147"/>
              <a:gd name="T31" fmla="*/ 123 h 144"/>
              <a:gd name="T32" fmla="*/ 113 w 147"/>
              <a:gd name="T33" fmla="*/ 132 h 144"/>
              <a:gd name="T34" fmla="*/ 102 w 147"/>
              <a:gd name="T35" fmla="*/ 138 h 144"/>
              <a:gd name="T36" fmla="*/ 88 w 147"/>
              <a:gd name="T37" fmla="*/ 144 h 144"/>
              <a:gd name="T38" fmla="*/ 73 w 147"/>
              <a:gd name="T39" fmla="*/ 144 h 144"/>
              <a:gd name="T40" fmla="*/ 73 w 147"/>
              <a:gd name="T41" fmla="*/ 144 h 144"/>
              <a:gd name="T42" fmla="*/ 59 w 147"/>
              <a:gd name="T43" fmla="*/ 144 h 144"/>
              <a:gd name="T44" fmla="*/ 45 w 147"/>
              <a:gd name="T45" fmla="*/ 138 h 144"/>
              <a:gd name="T46" fmla="*/ 34 w 147"/>
              <a:gd name="T47" fmla="*/ 132 h 144"/>
              <a:gd name="T48" fmla="*/ 22 w 147"/>
              <a:gd name="T49" fmla="*/ 123 h 144"/>
              <a:gd name="T50" fmla="*/ 12 w 147"/>
              <a:gd name="T51" fmla="*/ 113 h 144"/>
              <a:gd name="T52" fmla="*/ 6 w 147"/>
              <a:gd name="T53" fmla="*/ 99 h 144"/>
              <a:gd name="T54" fmla="*/ 2 w 147"/>
              <a:gd name="T55" fmla="*/ 86 h 144"/>
              <a:gd name="T56" fmla="*/ 0 w 147"/>
              <a:gd name="T57" fmla="*/ 72 h 144"/>
              <a:gd name="T58" fmla="*/ 0 w 147"/>
              <a:gd name="T59" fmla="*/ 72 h 144"/>
              <a:gd name="T60" fmla="*/ 2 w 147"/>
              <a:gd name="T61" fmla="*/ 56 h 144"/>
              <a:gd name="T62" fmla="*/ 6 w 147"/>
              <a:gd name="T63" fmla="*/ 43 h 144"/>
              <a:gd name="T64" fmla="*/ 12 w 147"/>
              <a:gd name="T65" fmla="*/ 31 h 144"/>
              <a:gd name="T66" fmla="*/ 22 w 147"/>
              <a:gd name="T67" fmla="*/ 19 h 144"/>
              <a:gd name="T68" fmla="*/ 34 w 147"/>
              <a:gd name="T69" fmla="*/ 12 h 144"/>
              <a:gd name="T70" fmla="*/ 45 w 147"/>
              <a:gd name="T71" fmla="*/ 4 h 144"/>
              <a:gd name="T72" fmla="*/ 59 w 147"/>
              <a:gd name="T73" fmla="*/ 0 h 144"/>
              <a:gd name="T74" fmla="*/ 73 w 147"/>
              <a:gd name="T75" fmla="*/ 0 h 144"/>
              <a:gd name="T76" fmla="*/ 73 w 147"/>
              <a:gd name="T77" fmla="*/ 0 h 144"/>
              <a:gd name="T78" fmla="*/ 73 w 147"/>
              <a:gd name="T79" fmla="*/ 7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7" h="144">
                <a:moveTo>
                  <a:pt x="73" y="72"/>
                </a:moveTo>
                <a:lnTo>
                  <a:pt x="73" y="0"/>
                </a:lnTo>
                <a:lnTo>
                  <a:pt x="73" y="0"/>
                </a:lnTo>
                <a:lnTo>
                  <a:pt x="88" y="0"/>
                </a:lnTo>
                <a:lnTo>
                  <a:pt x="102" y="4"/>
                </a:lnTo>
                <a:lnTo>
                  <a:pt x="113" y="12"/>
                </a:lnTo>
                <a:lnTo>
                  <a:pt x="125" y="19"/>
                </a:lnTo>
                <a:lnTo>
                  <a:pt x="133" y="31"/>
                </a:lnTo>
                <a:lnTo>
                  <a:pt x="141" y="43"/>
                </a:lnTo>
                <a:lnTo>
                  <a:pt x="145" y="56"/>
                </a:lnTo>
                <a:lnTo>
                  <a:pt x="147" y="72"/>
                </a:lnTo>
                <a:lnTo>
                  <a:pt x="147" y="72"/>
                </a:lnTo>
                <a:lnTo>
                  <a:pt x="145" y="86"/>
                </a:lnTo>
                <a:lnTo>
                  <a:pt x="141" y="99"/>
                </a:lnTo>
                <a:lnTo>
                  <a:pt x="133" y="113"/>
                </a:lnTo>
                <a:lnTo>
                  <a:pt x="125" y="123"/>
                </a:lnTo>
                <a:lnTo>
                  <a:pt x="113" y="132"/>
                </a:lnTo>
                <a:lnTo>
                  <a:pt x="102" y="138"/>
                </a:lnTo>
                <a:lnTo>
                  <a:pt x="88" y="144"/>
                </a:lnTo>
                <a:lnTo>
                  <a:pt x="73" y="144"/>
                </a:lnTo>
                <a:lnTo>
                  <a:pt x="73" y="144"/>
                </a:lnTo>
                <a:lnTo>
                  <a:pt x="59" y="144"/>
                </a:lnTo>
                <a:lnTo>
                  <a:pt x="45" y="138"/>
                </a:lnTo>
                <a:lnTo>
                  <a:pt x="34" y="132"/>
                </a:lnTo>
                <a:lnTo>
                  <a:pt x="22" y="123"/>
                </a:lnTo>
                <a:lnTo>
                  <a:pt x="12" y="113"/>
                </a:lnTo>
                <a:lnTo>
                  <a:pt x="6" y="99"/>
                </a:lnTo>
                <a:lnTo>
                  <a:pt x="2" y="86"/>
                </a:lnTo>
                <a:lnTo>
                  <a:pt x="0" y="72"/>
                </a:lnTo>
                <a:lnTo>
                  <a:pt x="0" y="72"/>
                </a:lnTo>
                <a:lnTo>
                  <a:pt x="2" y="56"/>
                </a:lnTo>
                <a:lnTo>
                  <a:pt x="6" y="43"/>
                </a:lnTo>
                <a:lnTo>
                  <a:pt x="12" y="31"/>
                </a:lnTo>
                <a:lnTo>
                  <a:pt x="22" y="19"/>
                </a:lnTo>
                <a:lnTo>
                  <a:pt x="34" y="12"/>
                </a:lnTo>
                <a:lnTo>
                  <a:pt x="45" y="4"/>
                </a:lnTo>
                <a:lnTo>
                  <a:pt x="59" y="0"/>
                </a:lnTo>
                <a:lnTo>
                  <a:pt x="73" y="0"/>
                </a:lnTo>
                <a:lnTo>
                  <a:pt x="73" y="0"/>
                </a:lnTo>
                <a:lnTo>
                  <a:pt x="73" y="72"/>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Line 22"/>
          <p:cNvSpPr>
            <a:spLocks noChangeShapeType="1"/>
          </p:cNvSpPr>
          <p:nvPr/>
        </p:nvSpPr>
        <p:spPr bwMode="auto">
          <a:xfrm flipV="1">
            <a:off x="3255963" y="2776538"/>
            <a:ext cx="384175" cy="1778000"/>
          </a:xfrm>
          <a:prstGeom prst="line">
            <a:avLst/>
          </a:prstGeom>
          <a:noFill/>
          <a:ln w="36513">
            <a:solidFill>
              <a:srgbClr val="169D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 name="Freeform 23"/>
          <p:cNvSpPr>
            <a:spLocks/>
          </p:cNvSpPr>
          <p:nvPr/>
        </p:nvSpPr>
        <p:spPr bwMode="auto">
          <a:xfrm>
            <a:off x="3543301" y="2646363"/>
            <a:ext cx="179388" cy="176213"/>
          </a:xfrm>
          <a:custGeom>
            <a:avLst/>
            <a:gdLst>
              <a:gd name="T0" fmla="*/ 113 w 113"/>
              <a:gd name="T1" fmla="*/ 111 h 111"/>
              <a:gd name="T2" fmla="*/ 78 w 113"/>
              <a:gd name="T3" fmla="*/ 0 h 111"/>
              <a:gd name="T4" fmla="*/ 0 w 113"/>
              <a:gd name="T5" fmla="*/ 86 h 111"/>
              <a:gd name="T6" fmla="*/ 113 w 113"/>
              <a:gd name="T7" fmla="*/ 111 h 111"/>
            </a:gdLst>
            <a:ahLst/>
            <a:cxnLst>
              <a:cxn ang="0">
                <a:pos x="T0" y="T1"/>
              </a:cxn>
              <a:cxn ang="0">
                <a:pos x="T2" y="T3"/>
              </a:cxn>
              <a:cxn ang="0">
                <a:pos x="T4" y="T5"/>
              </a:cxn>
              <a:cxn ang="0">
                <a:pos x="T6" y="T7"/>
              </a:cxn>
            </a:cxnLst>
            <a:rect l="0" t="0" r="r" b="b"/>
            <a:pathLst>
              <a:path w="113" h="111">
                <a:moveTo>
                  <a:pt x="113" y="111"/>
                </a:moveTo>
                <a:lnTo>
                  <a:pt x="78" y="0"/>
                </a:lnTo>
                <a:lnTo>
                  <a:pt x="0" y="86"/>
                </a:lnTo>
                <a:lnTo>
                  <a:pt x="113" y="111"/>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Line 24"/>
          <p:cNvSpPr>
            <a:spLocks noChangeShapeType="1"/>
          </p:cNvSpPr>
          <p:nvPr/>
        </p:nvSpPr>
        <p:spPr bwMode="auto">
          <a:xfrm flipV="1">
            <a:off x="3255963" y="3530600"/>
            <a:ext cx="874713" cy="1023938"/>
          </a:xfrm>
          <a:prstGeom prst="line">
            <a:avLst/>
          </a:prstGeom>
          <a:noFill/>
          <a:ln w="36513">
            <a:solidFill>
              <a:srgbClr val="169D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 name="Freeform 25"/>
          <p:cNvSpPr>
            <a:spLocks/>
          </p:cNvSpPr>
          <p:nvPr/>
        </p:nvSpPr>
        <p:spPr bwMode="auto">
          <a:xfrm>
            <a:off x="4041776" y="3429000"/>
            <a:ext cx="176213" cy="182563"/>
          </a:xfrm>
          <a:custGeom>
            <a:avLst/>
            <a:gdLst>
              <a:gd name="T0" fmla="*/ 89 w 111"/>
              <a:gd name="T1" fmla="*/ 115 h 115"/>
              <a:gd name="T2" fmla="*/ 111 w 111"/>
              <a:gd name="T3" fmla="*/ 0 h 115"/>
              <a:gd name="T4" fmla="*/ 0 w 111"/>
              <a:gd name="T5" fmla="*/ 39 h 115"/>
              <a:gd name="T6" fmla="*/ 89 w 111"/>
              <a:gd name="T7" fmla="*/ 115 h 115"/>
            </a:gdLst>
            <a:ahLst/>
            <a:cxnLst>
              <a:cxn ang="0">
                <a:pos x="T0" y="T1"/>
              </a:cxn>
              <a:cxn ang="0">
                <a:pos x="T2" y="T3"/>
              </a:cxn>
              <a:cxn ang="0">
                <a:pos x="T4" y="T5"/>
              </a:cxn>
              <a:cxn ang="0">
                <a:pos x="T6" y="T7"/>
              </a:cxn>
            </a:cxnLst>
            <a:rect l="0" t="0" r="r" b="b"/>
            <a:pathLst>
              <a:path w="111" h="115">
                <a:moveTo>
                  <a:pt x="89" y="115"/>
                </a:moveTo>
                <a:lnTo>
                  <a:pt x="111" y="0"/>
                </a:lnTo>
                <a:lnTo>
                  <a:pt x="0" y="39"/>
                </a:lnTo>
                <a:lnTo>
                  <a:pt x="89" y="115"/>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Line 26"/>
          <p:cNvSpPr>
            <a:spLocks noChangeShapeType="1"/>
          </p:cNvSpPr>
          <p:nvPr/>
        </p:nvSpPr>
        <p:spPr bwMode="auto">
          <a:xfrm flipV="1">
            <a:off x="3255963" y="4479925"/>
            <a:ext cx="1327150" cy="117475"/>
          </a:xfrm>
          <a:prstGeom prst="line">
            <a:avLst/>
          </a:prstGeom>
          <a:noFill/>
          <a:ln w="36513">
            <a:solidFill>
              <a:srgbClr val="169D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 name="Freeform 27"/>
          <p:cNvSpPr>
            <a:spLocks/>
          </p:cNvSpPr>
          <p:nvPr/>
        </p:nvSpPr>
        <p:spPr bwMode="auto">
          <a:xfrm>
            <a:off x="4548188" y="4387850"/>
            <a:ext cx="166688" cy="185738"/>
          </a:xfrm>
          <a:custGeom>
            <a:avLst/>
            <a:gdLst>
              <a:gd name="T0" fmla="*/ 10 w 105"/>
              <a:gd name="T1" fmla="*/ 117 h 117"/>
              <a:gd name="T2" fmla="*/ 105 w 105"/>
              <a:gd name="T3" fmla="*/ 50 h 117"/>
              <a:gd name="T4" fmla="*/ 0 w 105"/>
              <a:gd name="T5" fmla="*/ 0 h 117"/>
              <a:gd name="T6" fmla="*/ 10 w 105"/>
              <a:gd name="T7" fmla="*/ 117 h 117"/>
            </a:gdLst>
            <a:ahLst/>
            <a:cxnLst>
              <a:cxn ang="0">
                <a:pos x="T0" y="T1"/>
              </a:cxn>
              <a:cxn ang="0">
                <a:pos x="T2" y="T3"/>
              </a:cxn>
              <a:cxn ang="0">
                <a:pos x="T4" y="T5"/>
              </a:cxn>
              <a:cxn ang="0">
                <a:pos x="T6" y="T7"/>
              </a:cxn>
            </a:cxnLst>
            <a:rect l="0" t="0" r="r" b="b"/>
            <a:pathLst>
              <a:path w="105" h="117">
                <a:moveTo>
                  <a:pt x="10" y="117"/>
                </a:moveTo>
                <a:lnTo>
                  <a:pt x="105" y="50"/>
                </a:lnTo>
                <a:lnTo>
                  <a:pt x="0" y="0"/>
                </a:lnTo>
                <a:lnTo>
                  <a:pt x="10" y="117"/>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Rectangle 28"/>
          <p:cNvSpPr>
            <a:spLocks noChangeArrowheads="1"/>
          </p:cNvSpPr>
          <p:nvPr/>
        </p:nvSpPr>
        <p:spPr bwMode="auto">
          <a:xfrm>
            <a:off x="3409951" y="1731963"/>
            <a:ext cx="83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800" i="0" u="none" strike="noStrike" cap="none" normalizeH="0" baseline="0" dirty="0" smtClean="0">
                <a:ln>
                  <a:noFill/>
                </a:ln>
                <a:solidFill>
                  <a:srgbClr val="FFFFFF"/>
                </a:solidFill>
                <a:effectLst/>
                <a:latin typeface="HelveticaNeueLT Std Med Cn" pitchFamily="34" charset="0"/>
                <a:cs typeface="Arial" pitchFamily="34" charset="0"/>
              </a:rPr>
              <a:t>65%</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33" name="Rectangle 29"/>
          <p:cNvSpPr>
            <a:spLocks noChangeArrowheads="1"/>
          </p:cNvSpPr>
          <p:nvPr/>
        </p:nvSpPr>
        <p:spPr bwMode="auto">
          <a:xfrm>
            <a:off x="4214813" y="2998788"/>
            <a:ext cx="4651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100" i="0" u="none" strike="noStrike" cap="none" normalizeH="0" baseline="0" dirty="0" smtClean="0">
                <a:ln>
                  <a:noFill/>
                </a:ln>
                <a:solidFill>
                  <a:srgbClr val="FFFFFF"/>
                </a:solidFill>
                <a:effectLst/>
                <a:latin typeface="HelveticaNeueLT Std Med Cn" pitchFamily="34" charset="0"/>
                <a:cs typeface="Arial" pitchFamily="34" charset="0"/>
              </a:rPr>
              <a:t>19%</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34" name="Rectangle 30"/>
          <p:cNvSpPr>
            <a:spLocks noChangeArrowheads="1"/>
          </p:cNvSpPr>
          <p:nvPr/>
        </p:nvSpPr>
        <p:spPr bwMode="auto">
          <a:xfrm>
            <a:off x="5734051" y="3681413"/>
            <a:ext cx="317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i="0" u="none" strike="noStrike" cap="none" normalizeH="0" baseline="0" dirty="0" smtClean="0">
                <a:ln>
                  <a:noFill/>
                </a:ln>
                <a:solidFill>
                  <a:srgbClr val="FFFFFF"/>
                </a:solidFill>
                <a:effectLst/>
                <a:latin typeface="HelveticaNeueLT Std Med Cn" pitchFamily="34" charset="0"/>
                <a:cs typeface="Arial" pitchFamily="34" charset="0"/>
              </a:rPr>
              <a:t>8%</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35" name="Line 31"/>
          <p:cNvSpPr>
            <a:spLocks noChangeShapeType="1"/>
          </p:cNvSpPr>
          <p:nvPr/>
        </p:nvSpPr>
        <p:spPr bwMode="auto">
          <a:xfrm>
            <a:off x="3255963" y="4554538"/>
            <a:ext cx="1500188" cy="685800"/>
          </a:xfrm>
          <a:prstGeom prst="line">
            <a:avLst/>
          </a:prstGeom>
          <a:noFill/>
          <a:ln w="36513">
            <a:solidFill>
              <a:srgbClr val="169D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 name="Freeform 32"/>
          <p:cNvSpPr>
            <a:spLocks/>
          </p:cNvSpPr>
          <p:nvPr/>
        </p:nvSpPr>
        <p:spPr bwMode="auto">
          <a:xfrm>
            <a:off x="4691063" y="5145088"/>
            <a:ext cx="185738" cy="166688"/>
          </a:xfrm>
          <a:custGeom>
            <a:avLst/>
            <a:gdLst>
              <a:gd name="T0" fmla="*/ 0 w 117"/>
              <a:gd name="T1" fmla="*/ 105 h 105"/>
              <a:gd name="T2" fmla="*/ 117 w 117"/>
              <a:gd name="T3" fmla="*/ 93 h 105"/>
              <a:gd name="T4" fmla="*/ 48 w 117"/>
              <a:gd name="T5" fmla="*/ 0 h 105"/>
              <a:gd name="T6" fmla="*/ 0 w 117"/>
              <a:gd name="T7" fmla="*/ 105 h 105"/>
            </a:gdLst>
            <a:ahLst/>
            <a:cxnLst>
              <a:cxn ang="0">
                <a:pos x="T0" y="T1"/>
              </a:cxn>
              <a:cxn ang="0">
                <a:pos x="T2" y="T3"/>
              </a:cxn>
              <a:cxn ang="0">
                <a:pos x="T4" y="T5"/>
              </a:cxn>
              <a:cxn ang="0">
                <a:pos x="T6" y="T7"/>
              </a:cxn>
            </a:cxnLst>
            <a:rect l="0" t="0" r="r" b="b"/>
            <a:pathLst>
              <a:path w="117" h="105">
                <a:moveTo>
                  <a:pt x="0" y="105"/>
                </a:moveTo>
                <a:lnTo>
                  <a:pt x="117" y="93"/>
                </a:lnTo>
                <a:lnTo>
                  <a:pt x="48" y="0"/>
                </a:lnTo>
                <a:lnTo>
                  <a:pt x="0" y="105"/>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Line 33"/>
          <p:cNvSpPr>
            <a:spLocks noChangeShapeType="1"/>
          </p:cNvSpPr>
          <p:nvPr/>
        </p:nvSpPr>
        <p:spPr bwMode="auto">
          <a:xfrm>
            <a:off x="3255963" y="4554538"/>
            <a:ext cx="1090613" cy="1060450"/>
          </a:xfrm>
          <a:prstGeom prst="line">
            <a:avLst/>
          </a:prstGeom>
          <a:noFill/>
          <a:ln w="36513">
            <a:solidFill>
              <a:srgbClr val="169D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 name="Freeform 34"/>
          <p:cNvSpPr>
            <a:spLocks/>
          </p:cNvSpPr>
          <p:nvPr/>
        </p:nvSpPr>
        <p:spPr bwMode="auto">
          <a:xfrm>
            <a:off x="4264026" y="5530850"/>
            <a:ext cx="179388" cy="176213"/>
          </a:xfrm>
          <a:custGeom>
            <a:avLst/>
            <a:gdLst>
              <a:gd name="T0" fmla="*/ 0 w 113"/>
              <a:gd name="T1" fmla="*/ 84 h 111"/>
              <a:gd name="T2" fmla="*/ 113 w 113"/>
              <a:gd name="T3" fmla="*/ 111 h 111"/>
              <a:gd name="T4" fmla="*/ 82 w 113"/>
              <a:gd name="T5" fmla="*/ 0 h 111"/>
              <a:gd name="T6" fmla="*/ 0 w 113"/>
              <a:gd name="T7" fmla="*/ 84 h 111"/>
            </a:gdLst>
            <a:ahLst/>
            <a:cxnLst>
              <a:cxn ang="0">
                <a:pos x="T0" y="T1"/>
              </a:cxn>
              <a:cxn ang="0">
                <a:pos x="T2" y="T3"/>
              </a:cxn>
              <a:cxn ang="0">
                <a:pos x="T4" y="T5"/>
              </a:cxn>
              <a:cxn ang="0">
                <a:pos x="T6" y="T7"/>
              </a:cxn>
            </a:cxnLst>
            <a:rect l="0" t="0" r="r" b="b"/>
            <a:pathLst>
              <a:path w="113" h="111">
                <a:moveTo>
                  <a:pt x="0" y="84"/>
                </a:moveTo>
                <a:lnTo>
                  <a:pt x="113" y="111"/>
                </a:lnTo>
                <a:lnTo>
                  <a:pt x="82" y="0"/>
                </a:lnTo>
                <a:lnTo>
                  <a:pt x="0" y="84"/>
                </a:lnTo>
                <a:close/>
              </a:path>
            </a:pathLst>
          </a:custGeom>
          <a:solidFill>
            <a:srgbClr val="169D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5"/>
          <p:cNvSpPr>
            <a:spLocks/>
          </p:cNvSpPr>
          <p:nvPr/>
        </p:nvSpPr>
        <p:spPr bwMode="auto">
          <a:xfrm>
            <a:off x="2393951" y="3692525"/>
            <a:ext cx="1724025" cy="1724025"/>
          </a:xfrm>
          <a:custGeom>
            <a:avLst/>
            <a:gdLst>
              <a:gd name="T0" fmla="*/ 0 w 1086"/>
              <a:gd name="T1" fmla="*/ 570 h 1086"/>
              <a:gd name="T2" fmla="*/ 9 w 1086"/>
              <a:gd name="T3" fmla="*/ 652 h 1086"/>
              <a:gd name="T4" fmla="*/ 33 w 1086"/>
              <a:gd name="T5" fmla="*/ 730 h 1086"/>
              <a:gd name="T6" fmla="*/ 64 w 1086"/>
              <a:gd name="T7" fmla="*/ 802 h 1086"/>
              <a:gd name="T8" fmla="*/ 107 w 1086"/>
              <a:gd name="T9" fmla="*/ 868 h 1086"/>
              <a:gd name="T10" fmla="*/ 157 w 1086"/>
              <a:gd name="T11" fmla="*/ 927 h 1086"/>
              <a:gd name="T12" fmla="*/ 218 w 1086"/>
              <a:gd name="T13" fmla="*/ 977 h 1086"/>
              <a:gd name="T14" fmla="*/ 284 w 1086"/>
              <a:gd name="T15" fmla="*/ 1020 h 1086"/>
              <a:gd name="T16" fmla="*/ 356 w 1086"/>
              <a:gd name="T17" fmla="*/ 1053 h 1086"/>
              <a:gd name="T18" fmla="*/ 434 w 1086"/>
              <a:gd name="T19" fmla="*/ 1075 h 1086"/>
              <a:gd name="T20" fmla="*/ 514 w 1086"/>
              <a:gd name="T21" fmla="*/ 1084 h 1086"/>
              <a:gd name="T22" fmla="*/ 570 w 1086"/>
              <a:gd name="T23" fmla="*/ 1084 h 1086"/>
              <a:gd name="T24" fmla="*/ 652 w 1086"/>
              <a:gd name="T25" fmla="*/ 1075 h 1086"/>
              <a:gd name="T26" fmla="*/ 730 w 1086"/>
              <a:gd name="T27" fmla="*/ 1053 h 1086"/>
              <a:gd name="T28" fmla="*/ 802 w 1086"/>
              <a:gd name="T29" fmla="*/ 1020 h 1086"/>
              <a:gd name="T30" fmla="*/ 868 w 1086"/>
              <a:gd name="T31" fmla="*/ 977 h 1086"/>
              <a:gd name="T32" fmla="*/ 927 w 1086"/>
              <a:gd name="T33" fmla="*/ 927 h 1086"/>
              <a:gd name="T34" fmla="*/ 977 w 1086"/>
              <a:gd name="T35" fmla="*/ 868 h 1086"/>
              <a:gd name="T36" fmla="*/ 1020 w 1086"/>
              <a:gd name="T37" fmla="*/ 802 h 1086"/>
              <a:gd name="T38" fmla="*/ 1053 w 1086"/>
              <a:gd name="T39" fmla="*/ 730 h 1086"/>
              <a:gd name="T40" fmla="*/ 1075 w 1086"/>
              <a:gd name="T41" fmla="*/ 652 h 1086"/>
              <a:gd name="T42" fmla="*/ 1084 w 1086"/>
              <a:gd name="T43" fmla="*/ 570 h 1086"/>
              <a:gd name="T44" fmla="*/ 1084 w 1086"/>
              <a:gd name="T45" fmla="*/ 514 h 1086"/>
              <a:gd name="T46" fmla="*/ 1075 w 1086"/>
              <a:gd name="T47" fmla="*/ 432 h 1086"/>
              <a:gd name="T48" fmla="*/ 1053 w 1086"/>
              <a:gd name="T49" fmla="*/ 356 h 1086"/>
              <a:gd name="T50" fmla="*/ 1020 w 1086"/>
              <a:gd name="T51" fmla="*/ 284 h 1086"/>
              <a:gd name="T52" fmla="*/ 977 w 1086"/>
              <a:gd name="T53" fmla="*/ 218 h 1086"/>
              <a:gd name="T54" fmla="*/ 927 w 1086"/>
              <a:gd name="T55" fmla="*/ 157 h 1086"/>
              <a:gd name="T56" fmla="*/ 868 w 1086"/>
              <a:gd name="T57" fmla="*/ 107 h 1086"/>
              <a:gd name="T58" fmla="*/ 802 w 1086"/>
              <a:gd name="T59" fmla="*/ 64 h 1086"/>
              <a:gd name="T60" fmla="*/ 730 w 1086"/>
              <a:gd name="T61" fmla="*/ 33 h 1086"/>
              <a:gd name="T62" fmla="*/ 652 w 1086"/>
              <a:gd name="T63" fmla="*/ 9 h 1086"/>
              <a:gd name="T64" fmla="*/ 570 w 1086"/>
              <a:gd name="T65" fmla="*/ 0 h 1086"/>
              <a:gd name="T66" fmla="*/ 514 w 1086"/>
              <a:gd name="T67" fmla="*/ 0 h 1086"/>
              <a:gd name="T68" fmla="*/ 434 w 1086"/>
              <a:gd name="T69" fmla="*/ 9 h 1086"/>
              <a:gd name="T70" fmla="*/ 356 w 1086"/>
              <a:gd name="T71" fmla="*/ 33 h 1086"/>
              <a:gd name="T72" fmla="*/ 284 w 1086"/>
              <a:gd name="T73" fmla="*/ 64 h 1086"/>
              <a:gd name="T74" fmla="*/ 218 w 1086"/>
              <a:gd name="T75" fmla="*/ 107 h 1086"/>
              <a:gd name="T76" fmla="*/ 157 w 1086"/>
              <a:gd name="T77" fmla="*/ 157 h 1086"/>
              <a:gd name="T78" fmla="*/ 107 w 1086"/>
              <a:gd name="T79" fmla="*/ 218 h 1086"/>
              <a:gd name="T80" fmla="*/ 64 w 1086"/>
              <a:gd name="T81" fmla="*/ 284 h 1086"/>
              <a:gd name="T82" fmla="*/ 33 w 1086"/>
              <a:gd name="T83" fmla="*/ 356 h 1086"/>
              <a:gd name="T84" fmla="*/ 9 w 1086"/>
              <a:gd name="T85" fmla="*/ 432 h 1086"/>
              <a:gd name="T86" fmla="*/ 0 w 1086"/>
              <a:gd name="T87" fmla="*/ 514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86" h="1086">
                <a:moveTo>
                  <a:pt x="0" y="543"/>
                </a:moveTo>
                <a:lnTo>
                  <a:pt x="0" y="543"/>
                </a:lnTo>
                <a:lnTo>
                  <a:pt x="0" y="570"/>
                </a:lnTo>
                <a:lnTo>
                  <a:pt x="2" y="597"/>
                </a:lnTo>
                <a:lnTo>
                  <a:pt x="5" y="625"/>
                </a:lnTo>
                <a:lnTo>
                  <a:pt x="9" y="652"/>
                </a:lnTo>
                <a:lnTo>
                  <a:pt x="17" y="677"/>
                </a:lnTo>
                <a:lnTo>
                  <a:pt x="23" y="705"/>
                </a:lnTo>
                <a:lnTo>
                  <a:pt x="33" y="730"/>
                </a:lnTo>
                <a:lnTo>
                  <a:pt x="42" y="753"/>
                </a:lnTo>
                <a:lnTo>
                  <a:pt x="52" y="779"/>
                </a:lnTo>
                <a:lnTo>
                  <a:pt x="64" y="802"/>
                </a:lnTo>
                <a:lnTo>
                  <a:pt x="78" y="823"/>
                </a:lnTo>
                <a:lnTo>
                  <a:pt x="91" y="847"/>
                </a:lnTo>
                <a:lnTo>
                  <a:pt x="107" y="868"/>
                </a:lnTo>
                <a:lnTo>
                  <a:pt x="122" y="888"/>
                </a:lnTo>
                <a:lnTo>
                  <a:pt x="140" y="907"/>
                </a:lnTo>
                <a:lnTo>
                  <a:pt x="157" y="927"/>
                </a:lnTo>
                <a:lnTo>
                  <a:pt x="177" y="944"/>
                </a:lnTo>
                <a:lnTo>
                  <a:pt x="196" y="962"/>
                </a:lnTo>
                <a:lnTo>
                  <a:pt x="218" y="977"/>
                </a:lnTo>
                <a:lnTo>
                  <a:pt x="239" y="993"/>
                </a:lnTo>
                <a:lnTo>
                  <a:pt x="261" y="1006"/>
                </a:lnTo>
                <a:lnTo>
                  <a:pt x="284" y="1020"/>
                </a:lnTo>
                <a:lnTo>
                  <a:pt x="307" y="1032"/>
                </a:lnTo>
                <a:lnTo>
                  <a:pt x="331" y="1043"/>
                </a:lnTo>
                <a:lnTo>
                  <a:pt x="356" y="1053"/>
                </a:lnTo>
                <a:lnTo>
                  <a:pt x="381" y="1061"/>
                </a:lnTo>
                <a:lnTo>
                  <a:pt x="407" y="1069"/>
                </a:lnTo>
                <a:lnTo>
                  <a:pt x="434" y="1075"/>
                </a:lnTo>
                <a:lnTo>
                  <a:pt x="459" y="1078"/>
                </a:lnTo>
                <a:lnTo>
                  <a:pt x="487" y="1082"/>
                </a:lnTo>
                <a:lnTo>
                  <a:pt x="514" y="1084"/>
                </a:lnTo>
                <a:lnTo>
                  <a:pt x="543" y="1086"/>
                </a:lnTo>
                <a:lnTo>
                  <a:pt x="543" y="1086"/>
                </a:lnTo>
                <a:lnTo>
                  <a:pt x="570" y="1084"/>
                </a:lnTo>
                <a:lnTo>
                  <a:pt x="598" y="1082"/>
                </a:lnTo>
                <a:lnTo>
                  <a:pt x="625" y="1078"/>
                </a:lnTo>
                <a:lnTo>
                  <a:pt x="652" y="1075"/>
                </a:lnTo>
                <a:lnTo>
                  <a:pt x="677" y="1069"/>
                </a:lnTo>
                <a:lnTo>
                  <a:pt x="705" y="1061"/>
                </a:lnTo>
                <a:lnTo>
                  <a:pt x="730" y="1053"/>
                </a:lnTo>
                <a:lnTo>
                  <a:pt x="753" y="1043"/>
                </a:lnTo>
                <a:lnTo>
                  <a:pt x="779" y="1032"/>
                </a:lnTo>
                <a:lnTo>
                  <a:pt x="802" y="1020"/>
                </a:lnTo>
                <a:lnTo>
                  <a:pt x="823" y="1006"/>
                </a:lnTo>
                <a:lnTo>
                  <a:pt x="847" y="993"/>
                </a:lnTo>
                <a:lnTo>
                  <a:pt x="868" y="977"/>
                </a:lnTo>
                <a:lnTo>
                  <a:pt x="888" y="962"/>
                </a:lnTo>
                <a:lnTo>
                  <a:pt x="907" y="944"/>
                </a:lnTo>
                <a:lnTo>
                  <a:pt x="927" y="927"/>
                </a:lnTo>
                <a:lnTo>
                  <a:pt x="944" y="907"/>
                </a:lnTo>
                <a:lnTo>
                  <a:pt x="962" y="888"/>
                </a:lnTo>
                <a:lnTo>
                  <a:pt x="977" y="868"/>
                </a:lnTo>
                <a:lnTo>
                  <a:pt x="993" y="847"/>
                </a:lnTo>
                <a:lnTo>
                  <a:pt x="1007" y="823"/>
                </a:lnTo>
                <a:lnTo>
                  <a:pt x="1020" y="802"/>
                </a:lnTo>
                <a:lnTo>
                  <a:pt x="1032" y="779"/>
                </a:lnTo>
                <a:lnTo>
                  <a:pt x="1044" y="753"/>
                </a:lnTo>
                <a:lnTo>
                  <a:pt x="1053" y="730"/>
                </a:lnTo>
                <a:lnTo>
                  <a:pt x="1061" y="705"/>
                </a:lnTo>
                <a:lnTo>
                  <a:pt x="1069" y="677"/>
                </a:lnTo>
                <a:lnTo>
                  <a:pt x="1075" y="652"/>
                </a:lnTo>
                <a:lnTo>
                  <a:pt x="1081" y="625"/>
                </a:lnTo>
                <a:lnTo>
                  <a:pt x="1082" y="597"/>
                </a:lnTo>
                <a:lnTo>
                  <a:pt x="1084" y="570"/>
                </a:lnTo>
                <a:lnTo>
                  <a:pt x="1086" y="543"/>
                </a:lnTo>
                <a:lnTo>
                  <a:pt x="1086" y="543"/>
                </a:lnTo>
                <a:lnTo>
                  <a:pt x="1084" y="514"/>
                </a:lnTo>
                <a:lnTo>
                  <a:pt x="1082" y="486"/>
                </a:lnTo>
                <a:lnTo>
                  <a:pt x="1081" y="459"/>
                </a:lnTo>
                <a:lnTo>
                  <a:pt x="1075" y="432"/>
                </a:lnTo>
                <a:lnTo>
                  <a:pt x="1069" y="407"/>
                </a:lnTo>
                <a:lnTo>
                  <a:pt x="1061" y="381"/>
                </a:lnTo>
                <a:lnTo>
                  <a:pt x="1053" y="356"/>
                </a:lnTo>
                <a:lnTo>
                  <a:pt x="1044" y="331"/>
                </a:lnTo>
                <a:lnTo>
                  <a:pt x="1032" y="307"/>
                </a:lnTo>
                <a:lnTo>
                  <a:pt x="1020" y="284"/>
                </a:lnTo>
                <a:lnTo>
                  <a:pt x="1007" y="261"/>
                </a:lnTo>
                <a:lnTo>
                  <a:pt x="993" y="239"/>
                </a:lnTo>
                <a:lnTo>
                  <a:pt x="977" y="218"/>
                </a:lnTo>
                <a:lnTo>
                  <a:pt x="962" y="196"/>
                </a:lnTo>
                <a:lnTo>
                  <a:pt x="944" y="177"/>
                </a:lnTo>
                <a:lnTo>
                  <a:pt x="927" y="157"/>
                </a:lnTo>
                <a:lnTo>
                  <a:pt x="907" y="140"/>
                </a:lnTo>
                <a:lnTo>
                  <a:pt x="888" y="122"/>
                </a:lnTo>
                <a:lnTo>
                  <a:pt x="868" y="107"/>
                </a:lnTo>
                <a:lnTo>
                  <a:pt x="847" y="91"/>
                </a:lnTo>
                <a:lnTo>
                  <a:pt x="823" y="77"/>
                </a:lnTo>
                <a:lnTo>
                  <a:pt x="802" y="64"/>
                </a:lnTo>
                <a:lnTo>
                  <a:pt x="779" y="52"/>
                </a:lnTo>
                <a:lnTo>
                  <a:pt x="753" y="42"/>
                </a:lnTo>
                <a:lnTo>
                  <a:pt x="730" y="33"/>
                </a:lnTo>
                <a:lnTo>
                  <a:pt x="705" y="23"/>
                </a:lnTo>
                <a:lnTo>
                  <a:pt x="677" y="15"/>
                </a:lnTo>
                <a:lnTo>
                  <a:pt x="652" y="9"/>
                </a:lnTo>
                <a:lnTo>
                  <a:pt x="625" y="5"/>
                </a:lnTo>
                <a:lnTo>
                  <a:pt x="598" y="2"/>
                </a:lnTo>
                <a:lnTo>
                  <a:pt x="570" y="0"/>
                </a:lnTo>
                <a:lnTo>
                  <a:pt x="543" y="0"/>
                </a:lnTo>
                <a:lnTo>
                  <a:pt x="543" y="0"/>
                </a:lnTo>
                <a:lnTo>
                  <a:pt x="514" y="0"/>
                </a:lnTo>
                <a:lnTo>
                  <a:pt x="487" y="2"/>
                </a:lnTo>
                <a:lnTo>
                  <a:pt x="459" y="5"/>
                </a:lnTo>
                <a:lnTo>
                  <a:pt x="434" y="9"/>
                </a:lnTo>
                <a:lnTo>
                  <a:pt x="407" y="15"/>
                </a:lnTo>
                <a:lnTo>
                  <a:pt x="381" y="23"/>
                </a:lnTo>
                <a:lnTo>
                  <a:pt x="356" y="33"/>
                </a:lnTo>
                <a:lnTo>
                  <a:pt x="331" y="42"/>
                </a:lnTo>
                <a:lnTo>
                  <a:pt x="307" y="52"/>
                </a:lnTo>
                <a:lnTo>
                  <a:pt x="284" y="64"/>
                </a:lnTo>
                <a:lnTo>
                  <a:pt x="261" y="77"/>
                </a:lnTo>
                <a:lnTo>
                  <a:pt x="239" y="91"/>
                </a:lnTo>
                <a:lnTo>
                  <a:pt x="218" y="107"/>
                </a:lnTo>
                <a:lnTo>
                  <a:pt x="196" y="122"/>
                </a:lnTo>
                <a:lnTo>
                  <a:pt x="177" y="140"/>
                </a:lnTo>
                <a:lnTo>
                  <a:pt x="157" y="157"/>
                </a:lnTo>
                <a:lnTo>
                  <a:pt x="140" y="177"/>
                </a:lnTo>
                <a:lnTo>
                  <a:pt x="122" y="196"/>
                </a:lnTo>
                <a:lnTo>
                  <a:pt x="107" y="218"/>
                </a:lnTo>
                <a:lnTo>
                  <a:pt x="91" y="239"/>
                </a:lnTo>
                <a:lnTo>
                  <a:pt x="78" y="261"/>
                </a:lnTo>
                <a:lnTo>
                  <a:pt x="64" y="284"/>
                </a:lnTo>
                <a:lnTo>
                  <a:pt x="52" y="307"/>
                </a:lnTo>
                <a:lnTo>
                  <a:pt x="42" y="331"/>
                </a:lnTo>
                <a:lnTo>
                  <a:pt x="33" y="356"/>
                </a:lnTo>
                <a:lnTo>
                  <a:pt x="23" y="381"/>
                </a:lnTo>
                <a:lnTo>
                  <a:pt x="17" y="407"/>
                </a:lnTo>
                <a:lnTo>
                  <a:pt x="9" y="432"/>
                </a:lnTo>
                <a:lnTo>
                  <a:pt x="5" y="459"/>
                </a:lnTo>
                <a:lnTo>
                  <a:pt x="2" y="486"/>
                </a:lnTo>
                <a:lnTo>
                  <a:pt x="0" y="514"/>
                </a:lnTo>
                <a:lnTo>
                  <a:pt x="0" y="543"/>
                </a:lnTo>
                <a:lnTo>
                  <a:pt x="0" y="543"/>
                </a:lnTo>
                <a:close/>
              </a:path>
            </a:pathLst>
          </a:custGeom>
          <a:solidFill>
            <a:srgbClr val="E6E7E9"/>
          </a:solidFill>
          <a:ln w="98425">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40" name="Rectangle 36"/>
          <p:cNvSpPr>
            <a:spLocks noChangeArrowheads="1"/>
          </p:cNvSpPr>
          <p:nvPr/>
        </p:nvSpPr>
        <p:spPr bwMode="auto">
          <a:xfrm>
            <a:off x="2946401" y="3921125"/>
            <a:ext cx="6111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300" i="0" u="none" strike="noStrike" cap="none" normalizeH="0" baseline="0" dirty="0" smtClean="0">
                <a:ln>
                  <a:noFill/>
                </a:ln>
                <a:solidFill>
                  <a:srgbClr val="169DD9"/>
                </a:solidFill>
                <a:effectLst/>
                <a:latin typeface="HelveticaNeueLT Std Med Cn" pitchFamily="34" charset="0"/>
                <a:cs typeface="Arial" pitchFamily="34" charset="0"/>
              </a:rPr>
              <a:t>975</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41" name="Rectangle 37"/>
          <p:cNvSpPr>
            <a:spLocks noChangeArrowheads="1"/>
          </p:cNvSpPr>
          <p:nvPr/>
        </p:nvSpPr>
        <p:spPr bwMode="auto">
          <a:xfrm>
            <a:off x="2705101" y="4322763"/>
            <a:ext cx="10906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300" i="0" u="none" strike="noStrike" cap="none" normalizeH="0" baseline="0" dirty="0" smtClean="0">
                <a:ln>
                  <a:noFill/>
                </a:ln>
                <a:solidFill>
                  <a:srgbClr val="169DD9"/>
                </a:solidFill>
                <a:effectLst/>
                <a:latin typeface="HelveticaNeueLT Std Med Cn" pitchFamily="34" charset="0"/>
                <a:cs typeface="Arial" pitchFamily="34" charset="0"/>
              </a:rPr>
              <a:t>million</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42" name="Rectangle 38"/>
          <p:cNvSpPr>
            <a:spLocks noChangeArrowheads="1"/>
          </p:cNvSpPr>
          <p:nvPr/>
        </p:nvSpPr>
        <p:spPr bwMode="auto">
          <a:xfrm>
            <a:off x="2832101" y="4724400"/>
            <a:ext cx="6588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300" i="0" u="none" strike="noStrike" cap="none" normalizeH="0" baseline="0" dirty="0" smtClean="0">
                <a:ln>
                  <a:noFill/>
                </a:ln>
                <a:solidFill>
                  <a:srgbClr val="169DD9"/>
                </a:solidFill>
                <a:effectLst/>
                <a:latin typeface="HelveticaNeueLT Std Med Cn" pitchFamily="34" charset="0"/>
                <a:cs typeface="Arial" pitchFamily="34" charset="0"/>
              </a:rPr>
              <a:t>EUR</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43" name="Rectangle 39"/>
          <p:cNvSpPr>
            <a:spLocks noChangeArrowheads="1"/>
          </p:cNvSpPr>
          <p:nvPr/>
        </p:nvSpPr>
        <p:spPr bwMode="auto">
          <a:xfrm>
            <a:off x="3265488" y="4724400"/>
            <a:ext cx="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i="0" u="none" strike="noStrike" cap="none" normalizeH="0" baseline="0" dirty="0" smtClean="0">
              <a:ln>
                <a:noFill/>
              </a:ln>
              <a:solidFill>
                <a:schemeClr val="tx1"/>
              </a:solidFill>
              <a:effectLst/>
              <a:cs typeface="Arial" pitchFamily="34" charset="0"/>
            </a:endParaRPr>
          </a:p>
        </p:txBody>
      </p:sp>
      <p:sp>
        <p:nvSpPr>
          <p:cNvPr id="44" name="Rectangle 40"/>
          <p:cNvSpPr>
            <a:spLocks noChangeArrowheads="1"/>
          </p:cNvSpPr>
          <p:nvPr/>
        </p:nvSpPr>
        <p:spPr bwMode="auto">
          <a:xfrm>
            <a:off x="3516313" y="4724400"/>
            <a:ext cx="15716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300" i="0" u="none" strike="noStrike" cap="none" normalizeH="0" baseline="0" smtClean="0">
                <a:ln>
                  <a:noFill/>
                </a:ln>
                <a:solidFill>
                  <a:srgbClr val="169DD9"/>
                </a:solidFill>
                <a:effectLst/>
                <a:latin typeface="HelveticaNeueLT Std Med Cn" pitchFamily="34" charset="0"/>
                <a:cs typeface="Arial" pitchFamily="34" charset="0"/>
              </a:rPr>
              <a:t>*</a:t>
            </a:r>
            <a:endParaRPr kumimoji="0" lang="en-US" altLang="en-US" sz="1800" i="0" u="none" strike="noStrike" cap="none" normalizeH="0" baseline="0" smtClean="0">
              <a:ln>
                <a:noFill/>
              </a:ln>
              <a:solidFill>
                <a:schemeClr val="tx1"/>
              </a:solidFill>
              <a:effectLst/>
              <a:cs typeface="Arial" pitchFamily="34" charset="0"/>
            </a:endParaRPr>
          </a:p>
        </p:txBody>
      </p:sp>
      <p:sp>
        <p:nvSpPr>
          <p:cNvPr id="45" name="Rectangle 41"/>
          <p:cNvSpPr>
            <a:spLocks noChangeArrowheads="1"/>
          </p:cNvSpPr>
          <p:nvPr/>
        </p:nvSpPr>
        <p:spPr bwMode="auto">
          <a:xfrm>
            <a:off x="5105401" y="5249863"/>
            <a:ext cx="3016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900" i="0" u="none" strike="noStrike" cap="none" normalizeH="0" baseline="0" smtClean="0">
                <a:ln>
                  <a:noFill/>
                </a:ln>
                <a:solidFill>
                  <a:srgbClr val="169DD9"/>
                </a:solidFill>
                <a:effectLst/>
                <a:latin typeface="HelveticaNeueLT Std Med Cn" pitchFamily="34" charset="0"/>
                <a:cs typeface="Arial" pitchFamily="34" charset="0"/>
              </a:rPr>
              <a:t>1%</a:t>
            </a:r>
            <a:endParaRPr kumimoji="0" lang="en-US" altLang="en-US" sz="1800" i="0" u="none" strike="noStrike" cap="none" normalizeH="0" baseline="0" smtClean="0">
              <a:ln>
                <a:noFill/>
              </a:ln>
              <a:solidFill>
                <a:schemeClr val="tx1"/>
              </a:solidFill>
              <a:effectLst/>
              <a:cs typeface="Arial" pitchFamily="34" charset="0"/>
            </a:endParaRPr>
          </a:p>
        </p:txBody>
      </p:sp>
      <p:sp>
        <p:nvSpPr>
          <p:cNvPr id="46" name="Rectangle 42"/>
          <p:cNvSpPr>
            <a:spLocks noChangeArrowheads="1"/>
          </p:cNvSpPr>
          <p:nvPr/>
        </p:nvSpPr>
        <p:spPr bwMode="auto">
          <a:xfrm>
            <a:off x="5002213" y="4344988"/>
            <a:ext cx="3016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900" i="0" u="none" strike="noStrike" cap="none" normalizeH="0" baseline="0" dirty="0" smtClean="0">
                <a:ln>
                  <a:noFill/>
                </a:ln>
                <a:solidFill>
                  <a:srgbClr val="169DD9"/>
                </a:solidFill>
                <a:effectLst/>
                <a:latin typeface="HelveticaNeueLT Std Med Cn" pitchFamily="34" charset="0"/>
                <a:cs typeface="Arial" pitchFamily="34" charset="0"/>
              </a:rPr>
              <a:t>3%</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47" name="Rectangle 43"/>
          <p:cNvSpPr>
            <a:spLocks noChangeArrowheads="1"/>
          </p:cNvSpPr>
          <p:nvPr/>
        </p:nvSpPr>
        <p:spPr bwMode="auto">
          <a:xfrm>
            <a:off x="4733926" y="5767388"/>
            <a:ext cx="3016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900" i="0" u="none" strike="noStrike" cap="none" normalizeH="0" baseline="0" dirty="0" smtClean="0">
                <a:ln>
                  <a:noFill/>
                </a:ln>
                <a:solidFill>
                  <a:srgbClr val="169DD9"/>
                </a:solidFill>
                <a:effectLst/>
                <a:latin typeface="HelveticaNeueLT Std Med Cn" pitchFamily="34" charset="0"/>
                <a:cs typeface="Arial" pitchFamily="34" charset="0"/>
              </a:rPr>
              <a:t>4%</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48" name="Rectangle 44"/>
          <p:cNvSpPr>
            <a:spLocks noChangeArrowheads="1"/>
          </p:cNvSpPr>
          <p:nvPr/>
        </p:nvSpPr>
        <p:spPr bwMode="auto">
          <a:xfrm>
            <a:off x="4443413" y="1608138"/>
            <a:ext cx="3845605" cy="97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ts val="1900"/>
              </a:lnSpc>
              <a:spcBef>
                <a:spcPct val="0"/>
              </a:spcBef>
              <a:spcAft>
                <a:spcPct val="0"/>
              </a:spcAft>
              <a:buClrTx/>
              <a:buSzTx/>
              <a:buFontTx/>
              <a:buNone/>
              <a:tabLst/>
            </a:pPr>
            <a:r>
              <a:rPr kumimoji="0" lang="en-US" altLang="en-US" sz="1800" i="0" u="none" strike="noStrike" cap="none" normalizeH="0" baseline="0" dirty="0" err="1" smtClean="0">
                <a:ln>
                  <a:noFill/>
                </a:ln>
                <a:solidFill>
                  <a:srgbClr val="6E6F71"/>
                </a:solidFill>
                <a:effectLst/>
                <a:latin typeface="HelveticaNeueLT Std Med Cn" pitchFamily="34" charset="0"/>
                <a:cs typeface="Arial" pitchFamily="34" charset="0"/>
              </a:rPr>
              <a:t>Programme</a:t>
            </a:r>
            <a:r>
              <a:rPr kumimoji="0" lang="en-US" altLang="en-US" sz="1800" i="0" u="none" strike="noStrike" cap="none" normalizeH="0" baseline="0" dirty="0" smtClean="0">
                <a:ln>
                  <a:noFill/>
                </a:ln>
                <a:solidFill>
                  <a:srgbClr val="6E6F71"/>
                </a:solidFill>
                <a:effectLst/>
                <a:latin typeface="HelveticaNeueLT Std Med Cn" pitchFamily="34" charset="0"/>
                <a:cs typeface="Arial" pitchFamily="34" charset="0"/>
              </a:rPr>
              <a:t> support (SOS villages youth </a:t>
            </a:r>
          </a:p>
          <a:p>
            <a:pPr marL="0" marR="0" lvl="0" indent="0" algn="l" defTabSz="914400" rtl="0" eaLnBrk="1" fontAlgn="base" latinLnBrk="0" hangingPunct="1">
              <a:lnSpc>
                <a:spcPts val="1900"/>
              </a:lnSpc>
              <a:spcBef>
                <a:spcPct val="0"/>
              </a:spcBef>
              <a:spcAft>
                <a:spcPct val="0"/>
              </a:spcAft>
              <a:buClrTx/>
              <a:buSzTx/>
              <a:buFontTx/>
              <a:buNone/>
              <a:tabLst/>
            </a:pPr>
            <a:r>
              <a:rPr lang="en-US" altLang="en-US" dirty="0" err="1">
                <a:solidFill>
                  <a:srgbClr val="6E6F71"/>
                </a:solidFill>
                <a:latin typeface="HelveticaNeueLT Std Med Cn" pitchFamily="34" charset="0"/>
              </a:rPr>
              <a:t>p</a:t>
            </a:r>
            <a:r>
              <a:rPr lang="en-US" altLang="en-US" dirty="0" err="1" smtClean="0">
                <a:solidFill>
                  <a:srgbClr val="6E6F71"/>
                </a:solidFill>
                <a:latin typeface="HelveticaNeueLT Std Med Cn" pitchFamily="34" charset="0"/>
              </a:rPr>
              <a:t>rogrammes</a:t>
            </a:r>
            <a:r>
              <a:rPr lang="en-US" altLang="en-US" dirty="0" smtClean="0">
                <a:solidFill>
                  <a:srgbClr val="6E6F71"/>
                </a:solidFill>
                <a:latin typeface="HelveticaNeueLT Std Med Cn" pitchFamily="34" charset="0"/>
              </a:rPr>
              <a:t>, kindergartens, vocationa</a:t>
            </a:r>
            <a:r>
              <a:rPr lang="en-US" altLang="en-US" dirty="0" smtClean="0"/>
              <a:t>l</a:t>
            </a:r>
          </a:p>
          <a:p>
            <a:pPr marL="0" marR="0" lvl="0" indent="0" algn="l" defTabSz="914400" rtl="0" eaLnBrk="1" fontAlgn="base" latinLnBrk="0" hangingPunct="1">
              <a:lnSpc>
                <a:spcPts val="1900"/>
              </a:lnSpc>
              <a:spcBef>
                <a:spcPct val="0"/>
              </a:spcBef>
              <a:spcAft>
                <a:spcPct val="0"/>
              </a:spcAft>
              <a:buClrTx/>
              <a:buSzTx/>
              <a:buFontTx/>
              <a:buNone/>
              <a:tabLst/>
            </a:pPr>
            <a:r>
              <a:rPr lang="en-US" altLang="en-US" dirty="0">
                <a:solidFill>
                  <a:srgbClr val="6E6F71"/>
                </a:solidFill>
                <a:latin typeface="HelveticaNeueLT Std Med Cn" pitchFamily="34" charset="0"/>
              </a:rPr>
              <a:t>t</a:t>
            </a:r>
            <a:r>
              <a:rPr lang="en-US" altLang="en-US" dirty="0" smtClean="0">
                <a:solidFill>
                  <a:srgbClr val="6E6F71"/>
                </a:solidFill>
                <a:latin typeface="HelveticaNeueLT Std Med Cn" pitchFamily="34" charset="0"/>
              </a:rPr>
              <a:t>raining </a:t>
            </a:r>
            <a:r>
              <a:rPr lang="en-US" altLang="en-US" dirty="0" err="1" smtClean="0">
                <a:solidFill>
                  <a:srgbClr val="6E6F71"/>
                </a:solidFill>
                <a:latin typeface="HelveticaNeueLT Std Med Cn" pitchFamily="34" charset="0"/>
              </a:rPr>
              <a:t>programmes</a:t>
            </a:r>
            <a:r>
              <a:rPr lang="en-US" altLang="en-US" dirty="0" smtClean="0">
                <a:solidFill>
                  <a:srgbClr val="6E6F71"/>
                </a:solidFill>
                <a:latin typeface="HelveticaNeueLT Std Med Cn" pitchFamily="34" charset="0"/>
              </a:rPr>
              <a:t>, family strengthening</a:t>
            </a:r>
          </a:p>
          <a:p>
            <a:pPr marL="0" marR="0" lvl="0" indent="0" algn="l" defTabSz="914400" rtl="0" eaLnBrk="1" fontAlgn="base" latinLnBrk="0" hangingPunct="1">
              <a:lnSpc>
                <a:spcPts val="1900"/>
              </a:lnSpc>
              <a:spcBef>
                <a:spcPct val="0"/>
              </a:spcBef>
              <a:spcAft>
                <a:spcPct val="0"/>
              </a:spcAft>
              <a:buClrTx/>
              <a:buSzTx/>
              <a:buFontTx/>
              <a:buNone/>
              <a:tabLst/>
            </a:pPr>
            <a:r>
              <a:rPr lang="en-US" altLang="en-US" dirty="0" err="1">
                <a:solidFill>
                  <a:srgbClr val="6E6F71"/>
                </a:solidFill>
                <a:latin typeface="HelveticaNeueLT Std Med Cn" pitchFamily="34" charset="0"/>
              </a:rPr>
              <a:t>p</a:t>
            </a:r>
            <a:r>
              <a:rPr lang="en-US" altLang="en-US" dirty="0" err="1" smtClean="0">
                <a:solidFill>
                  <a:srgbClr val="6E6F71"/>
                </a:solidFill>
                <a:latin typeface="HelveticaNeueLT Std Med Cn" pitchFamily="34" charset="0"/>
              </a:rPr>
              <a:t>rogrammes</a:t>
            </a:r>
            <a:r>
              <a:rPr lang="en-US" altLang="en-US" dirty="0" smtClean="0">
                <a:solidFill>
                  <a:srgbClr val="6E6F71"/>
                </a:solidFill>
                <a:latin typeface="HelveticaNeueLT Std Med Cn" pitchFamily="34" charset="0"/>
              </a:rPr>
              <a:t> and medical </a:t>
            </a:r>
            <a:r>
              <a:rPr lang="en-US" altLang="en-US" dirty="0" err="1" smtClean="0">
                <a:solidFill>
                  <a:srgbClr val="6E6F71"/>
                </a:solidFill>
                <a:latin typeface="HelveticaNeueLT Std Med Cn" pitchFamily="34" charset="0"/>
              </a:rPr>
              <a:t>centres</a:t>
            </a:r>
            <a:r>
              <a:rPr lang="en-US" altLang="en-US" dirty="0" smtClean="0">
                <a:solidFill>
                  <a:srgbClr val="6E6F71"/>
                </a:solidFill>
                <a:latin typeface="HelveticaNeueLT Std Med Cn" pitchFamily="34" charset="0"/>
              </a:rPr>
              <a:t>)</a:t>
            </a:r>
          </a:p>
        </p:txBody>
      </p:sp>
      <p:sp>
        <p:nvSpPr>
          <p:cNvPr id="79" name="Rectangle 75"/>
          <p:cNvSpPr>
            <a:spLocks noChangeArrowheads="1"/>
          </p:cNvSpPr>
          <p:nvPr/>
        </p:nvSpPr>
        <p:spPr bwMode="auto">
          <a:xfrm>
            <a:off x="7161213" y="2286000"/>
            <a:ext cx="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i="0" u="none" strike="noStrike" cap="none" normalizeH="0" baseline="0" dirty="0" smtClean="0">
              <a:ln>
                <a:noFill/>
              </a:ln>
              <a:solidFill>
                <a:schemeClr val="tx1"/>
              </a:solidFill>
              <a:effectLst/>
              <a:cs typeface="Arial" pitchFamily="34" charset="0"/>
            </a:endParaRPr>
          </a:p>
        </p:txBody>
      </p:sp>
      <p:sp>
        <p:nvSpPr>
          <p:cNvPr id="80" name="Rectangle 76"/>
          <p:cNvSpPr>
            <a:spLocks noChangeArrowheads="1"/>
          </p:cNvSpPr>
          <p:nvPr/>
        </p:nvSpPr>
        <p:spPr bwMode="auto">
          <a:xfrm>
            <a:off x="4883930" y="2948038"/>
            <a:ext cx="2957541"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ts val="1900"/>
              </a:lnSpc>
              <a:spcBef>
                <a:spcPct val="0"/>
              </a:spcBef>
              <a:spcAft>
                <a:spcPct val="0"/>
              </a:spcAft>
              <a:buClrTx/>
              <a:buSzTx/>
              <a:buFontTx/>
              <a:buNone/>
              <a:tabLst/>
            </a:pPr>
            <a:r>
              <a:rPr kumimoji="0" lang="en-US" altLang="en-US" sz="1800" i="0" u="none" strike="noStrike" cap="none" normalizeH="0" baseline="0" dirty="0" smtClean="0">
                <a:ln>
                  <a:noFill/>
                </a:ln>
                <a:solidFill>
                  <a:srgbClr val="6E6F71"/>
                </a:solidFill>
                <a:effectLst/>
                <a:latin typeface="HelveticaNeueLT Std Med Cn" pitchFamily="34" charset="0"/>
                <a:cs typeface="Arial" pitchFamily="34" charset="0"/>
              </a:rPr>
              <a:t>Information and fundraising work</a:t>
            </a:r>
          </a:p>
          <a:p>
            <a:pPr marL="0" marR="0" lvl="0" indent="0" algn="l" defTabSz="914400" rtl="0" eaLnBrk="1" fontAlgn="base" latinLnBrk="0" hangingPunct="1">
              <a:lnSpc>
                <a:spcPts val="1900"/>
              </a:lnSpc>
              <a:spcBef>
                <a:spcPct val="0"/>
              </a:spcBef>
              <a:spcAft>
                <a:spcPct val="0"/>
              </a:spcAft>
              <a:buClrTx/>
              <a:buSzTx/>
              <a:buFontTx/>
              <a:buNone/>
              <a:tabLst/>
            </a:pPr>
            <a:r>
              <a:rPr lang="en-US" altLang="en-US" dirty="0">
                <a:solidFill>
                  <a:srgbClr val="6E6F71"/>
                </a:solidFill>
                <a:latin typeface="HelveticaNeueLT Std Med Cn" pitchFamily="34" charset="0"/>
              </a:rPr>
              <a:t>i</a:t>
            </a:r>
            <a:r>
              <a:rPr lang="en-US" altLang="en-US" dirty="0" smtClean="0">
                <a:solidFill>
                  <a:srgbClr val="6E6F71"/>
                </a:solidFill>
                <a:latin typeface="HelveticaNeueLT Std Med Cn" pitchFamily="34" charset="0"/>
              </a:rPr>
              <a:t>n PSAs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88" name="Rectangle 84"/>
          <p:cNvSpPr>
            <a:spLocks noChangeArrowheads="1"/>
          </p:cNvSpPr>
          <p:nvPr/>
        </p:nvSpPr>
        <p:spPr bwMode="auto">
          <a:xfrm>
            <a:off x="6169026" y="3722688"/>
            <a:ext cx="16671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i="0" u="none" strike="noStrike" cap="none" normalizeH="0" baseline="0" dirty="0" smtClean="0">
                <a:ln>
                  <a:noFill/>
                </a:ln>
                <a:solidFill>
                  <a:srgbClr val="6E6F71"/>
                </a:solidFill>
                <a:effectLst/>
                <a:latin typeface="HelveticaNeueLT Std Med Cn" pitchFamily="34" charset="0"/>
                <a:cs typeface="Arial" pitchFamily="34" charset="0"/>
              </a:rPr>
              <a:t>Other </a:t>
            </a:r>
            <a:r>
              <a:rPr kumimoji="0" lang="en-US" altLang="en-US" sz="1800" i="0" u="none" strike="noStrike" cap="none" normalizeH="0" baseline="0" dirty="0" err="1" smtClean="0">
                <a:ln>
                  <a:noFill/>
                </a:ln>
                <a:solidFill>
                  <a:srgbClr val="6E6F71"/>
                </a:solidFill>
                <a:effectLst/>
                <a:latin typeface="HelveticaNeueLT Std Med Cn" pitchFamily="34" charset="0"/>
                <a:cs typeface="Arial" pitchFamily="34" charset="0"/>
              </a:rPr>
              <a:t>programmes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92" name="Rectangle 88"/>
          <p:cNvSpPr>
            <a:spLocks noChangeArrowheads="1"/>
          </p:cNvSpPr>
          <p:nvPr/>
        </p:nvSpPr>
        <p:spPr bwMode="auto">
          <a:xfrm>
            <a:off x="5367338" y="4357688"/>
            <a:ext cx="3176369" cy="730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ts val="1900"/>
              </a:lnSpc>
              <a:spcBef>
                <a:spcPct val="0"/>
              </a:spcBef>
              <a:spcAft>
                <a:spcPct val="0"/>
              </a:spcAft>
              <a:buClrTx/>
              <a:buSzTx/>
              <a:buFontTx/>
              <a:buNone/>
              <a:tabLst/>
            </a:pPr>
            <a:r>
              <a:rPr kumimoji="0" lang="en-US" altLang="en-US" sz="1800" i="0" u="none" strike="noStrike" cap="none" normalizeH="0" baseline="0" dirty="0" smtClean="0">
                <a:ln>
                  <a:noFill/>
                </a:ln>
                <a:solidFill>
                  <a:srgbClr val="6E6F71"/>
                </a:solidFill>
                <a:effectLst/>
                <a:latin typeface="HelveticaNeueLT Std Med Cn" pitchFamily="34" charset="0"/>
                <a:cs typeface="Arial" pitchFamily="34" charset="0"/>
              </a:rPr>
              <a:t>Construction and</a:t>
            </a:r>
            <a:r>
              <a:rPr kumimoji="0" lang="en-US" altLang="en-US" sz="1800" i="0" u="none" strike="noStrike" cap="none" normalizeH="0" dirty="0" smtClean="0">
                <a:ln>
                  <a:noFill/>
                </a:ln>
                <a:solidFill>
                  <a:srgbClr val="6E6F71"/>
                </a:solidFill>
                <a:effectLst/>
                <a:latin typeface="HelveticaNeueLT Std Med Cn" pitchFamily="34" charset="0"/>
                <a:cs typeface="Arial" pitchFamily="34" charset="0"/>
              </a:rPr>
              <a:t> </a:t>
            </a:r>
            <a:r>
              <a:rPr kumimoji="0" lang="en-US" altLang="en-US" sz="1800" i="0" u="none" strike="noStrike" cap="none" normalizeH="0" baseline="0" dirty="0" smtClean="0">
                <a:ln>
                  <a:noFill/>
                </a:ln>
                <a:solidFill>
                  <a:srgbClr val="6E6F71"/>
                </a:solidFill>
                <a:effectLst/>
                <a:latin typeface="HelveticaNeueLT Std Med Cn" pitchFamily="34" charset="0"/>
                <a:cs typeface="Arial" pitchFamily="34" charset="0"/>
              </a:rPr>
              <a:t>investment </a:t>
            </a:r>
          </a:p>
          <a:p>
            <a:pPr marL="0" marR="0" lvl="0" indent="0" algn="l" defTabSz="914400" rtl="0" eaLnBrk="1" fontAlgn="base" latinLnBrk="0" hangingPunct="1">
              <a:lnSpc>
                <a:spcPts val="1900"/>
              </a:lnSpc>
              <a:spcBef>
                <a:spcPct val="0"/>
              </a:spcBef>
              <a:spcAft>
                <a:spcPct val="0"/>
              </a:spcAft>
              <a:buClrTx/>
              <a:buSzTx/>
              <a:buFontTx/>
              <a:buNone/>
              <a:tabLst/>
            </a:pPr>
            <a:r>
              <a:rPr kumimoji="0" lang="en-US" altLang="en-US" sz="1800" i="0" u="none" strike="noStrike" cap="none" normalizeH="0" baseline="0" dirty="0" smtClean="0">
                <a:ln>
                  <a:noFill/>
                </a:ln>
                <a:solidFill>
                  <a:srgbClr val="6E6F71"/>
                </a:solidFill>
                <a:effectLst/>
                <a:latin typeface="HelveticaNeueLT Std Med Cn" pitchFamily="34" charset="0"/>
                <a:cs typeface="Arial" pitchFamily="34" charset="0"/>
              </a:rPr>
              <a:t>funds from SOS Promoting and Supporting Associations</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96" name="Rectangle 92"/>
          <p:cNvSpPr>
            <a:spLocks noChangeArrowheads="1"/>
          </p:cNvSpPr>
          <p:nvPr/>
        </p:nvSpPr>
        <p:spPr bwMode="auto">
          <a:xfrm>
            <a:off x="5451476" y="5262563"/>
            <a:ext cx="15004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i="0" u="none" strike="noStrike" cap="none" normalizeH="0" baseline="0" dirty="0" smtClean="0">
                <a:ln>
                  <a:noFill/>
                </a:ln>
                <a:solidFill>
                  <a:srgbClr val="6E6F71"/>
                </a:solidFill>
                <a:effectLst/>
                <a:latin typeface="HelveticaNeueLT Std Med Cn" pitchFamily="34" charset="0"/>
                <a:cs typeface="Arial" pitchFamily="34" charset="0"/>
              </a:rPr>
              <a:t>Emergency relief</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103" name="Rectangle 99"/>
          <p:cNvSpPr>
            <a:spLocks noChangeArrowheads="1"/>
          </p:cNvSpPr>
          <p:nvPr/>
        </p:nvSpPr>
        <p:spPr bwMode="auto">
          <a:xfrm>
            <a:off x="5118125" y="5792607"/>
            <a:ext cx="2715487" cy="4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ts val="1900"/>
              </a:lnSpc>
              <a:spcBef>
                <a:spcPct val="0"/>
              </a:spcBef>
              <a:spcAft>
                <a:spcPct val="0"/>
              </a:spcAft>
              <a:buClrTx/>
              <a:buSzTx/>
              <a:buFontTx/>
              <a:buNone/>
              <a:tabLst/>
            </a:pPr>
            <a:r>
              <a:rPr kumimoji="0" lang="en-US" altLang="en-US" sz="1800" i="0" u="none" strike="noStrike" cap="none" normalizeH="0" baseline="0" dirty="0" smtClean="0">
                <a:ln>
                  <a:noFill/>
                </a:ln>
                <a:solidFill>
                  <a:srgbClr val="6E6F71"/>
                </a:solidFill>
                <a:effectLst/>
                <a:latin typeface="HelveticaNeueLT Std Med Cn" pitchFamily="34" charset="0"/>
                <a:cs typeface="Arial" pitchFamily="34" charset="0"/>
              </a:rPr>
              <a:t>International</a:t>
            </a:r>
            <a:r>
              <a:rPr kumimoji="0" lang="en-US" altLang="en-US" sz="1800" i="0" u="none" strike="noStrike" cap="none" normalizeH="0" dirty="0" smtClean="0">
                <a:ln>
                  <a:noFill/>
                </a:ln>
                <a:solidFill>
                  <a:srgbClr val="6E6F71"/>
                </a:solidFill>
                <a:effectLst/>
                <a:latin typeface="HelveticaNeueLT Std Med Cn" pitchFamily="34" charset="0"/>
                <a:cs typeface="Arial" pitchFamily="34" charset="0"/>
              </a:rPr>
              <a:t> coordination and </a:t>
            </a:r>
          </a:p>
          <a:p>
            <a:pPr marL="0" marR="0" lvl="0" indent="0" algn="l" defTabSz="914400" rtl="0" eaLnBrk="1" fontAlgn="base" latinLnBrk="0" hangingPunct="1">
              <a:lnSpc>
                <a:spcPts val="1900"/>
              </a:lnSpc>
              <a:spcBef>
                <a:spcPct val="0"/>
              </a:spcBef>
              <a:spcAft>
                <a:spcPct val="0"/>
              </a:spcAft>
              <a:buClrTx/>
              <a:buSzTx/>
              <a:buFontTx/>
              <a:buNone/>
              <a:tabLst/>
            </a:pPr>
            <a:r>
              <a:rPr lang="en-US" altLang="en-US" dirty="0" err="1">
                <a:solidFill>
                  <a:srgbClr val="6E6F71"/>
                </a:solidFill>
                <a:latin typeface="HelveticaNeueLT Std Med Cn" pitchFamily="34" charset="0"/>
              </a:rPr>
              <a:t>p</a:t>
            </a:r>
            <a:r>
              <a:rPr lang="en-US" altLang="en-US" baseline="0" dirty="0" err="1" smtClean="0">
                <a:solidFill>
                  <a:srgbClr val="6E6F71"/>
                </a:solidFill>
                <a:latin typeface="HelveticaNeueLT Std Med Cn" pitchFamily="34" charset="0"/>
              </a:rPr>
              <a:t>rogramme</a:t>
            </a:r>
            <a:r>
              <a:rPr lang="en-US" altLang="en-US" dirty="0" smtClean="0">
                <a:solidFill>
                  <a:srgbClr val="6E6F71"/>
                </a:solidFill>
                <a:latin typeface="HelveticaNeueLT Std Med Cn" pitchFamily="34" charset="0"/>
              </a:rPr>
              <a:t> support</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112" name="Freeform 108"/>
          <p:cNvSpPr>
            <a:spLocks/>
          </p:cNvSpPr>
          <p:nvPr/>
        </p:nvSpPr>
        <p:spPr bwMode="auto">
          <a:xfrm>
            <a:off x="2393951" y="4570413"/>
            <a:ext cx="3175" cy="73025"/>
          </a:xfrm>
          <a:custGeom>
            <a:avLst/>
            <a:gdLst>
              <a:gd name="T0" fmla="*/ 0 w 2"/>
              <a:gd name="T1" fmla="*/ 0 h 46"/>
              <a:gd name="T2" fmla="*/ 0 w 2"/>
              <a:gd name="T3" fmla="*/ 27 h 46"/>
              <a:gd name="T4" fmla="*/ 2 w 2"/>
              <a:gd name="T5" fmla="*/ 46 h 46"/>
            </a:gdLst>
            <a:ahLst/>
            <a:cxnLst>
              <a:cxn ang="0">
                <a:pos x="T0" y="T1"/>
              </a:cxn>
              <a:cxn ang="0">
                <a:pos x="T2" y="T3"/>
              </a:cxn>
              <a:cxn ang="0">
                <a:pos x="T4" y="T5"/>
              </a:cxn>
            </a:cxnLst>
            <a:rect l="0" t="0" r="r" b="b"/>
            <a:pathLst>
              <a:path w="2" h="46">
                <a:moveTo>
                  <a:pt x="0" y="0"/>
                </a:moveTo>
                <a:lnTo>
                  <a:pt x="0" y="27"/>
                </a:lnTo>
                <a:lnTo>
                  <a:pt x="2" y="46"/>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3" name="Freeform 109"/>
          <p:cNvSpPr>
            <a:spLocks/>
          </p:cNvSpPr>
          <p:nvPr/>
        </p:nvSpPr>
        <p:spPr bwMode="auto">
          <a:xfrm>
            <a:off x="2405063" y="4714875"/>
            <a:ext cx="15875" cy="74613"/>
          </a:xfrm>
          <a:custGeom>
            <a:avLst/>
            <a:gdLst>
              <a:gd name="T0" fmla="*/ 0 w 10"/>
              <a:gd name="T1" fmla="*/ 0 h 47"/>
              <a:gd name="T2" fmla="*/ 2 w 10"/>
              <a:gd name="T3" fmla="*/ 18 h 47"/>
              <a:gd name="T4" fmla="*/ 8 w 10"/>
              <a:gd name="T5" fmla="*/ 43 h 47"/>
              <a:gd name="T6" fmla="*/ 10 w 10"/>
              <a:gd name="T7" fmla="*/ 47 h 47"/>
            </a:gdLst>
            <a:ahLst/>
            <a:cxnLst>
              <a:cxn ang="0">
                <a:pos x="T0" y="T1"/>
              </a:cxn>
              <a:cxn ang="0">
                <a:pos x="T2" y="T3"/>
              </a:cxn>
              <a:cxn ang="0">
                <a:pos x="T4" y="T5"/>
              </a:cxn>
              <a:cxn ang="0">
                <a:pos x="T6" y="T7"/>
              </a:cxn>
            </a:cxnLst>
            <a:rect l="0" t="0" r="r" b="b"/>
            <a:pathLst>
              <a:path w="10" h="47">
                <a:moveTo>
                  <a:pt x="0" y="0"/>
                </a:moveTo>
                <a:lnTo>
                  <a:pt x="2" y="18"/>
                </a:lnTo>
                <a:lnTo>
                  <a:pt x="8" y="43"/>
                </a:lnTo>
                <a:lnTo>
                  <a:pt x="10" y="47"/>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4" name="Freeform 110"/>
          <p:cNvSpPr>
            <a:spLocks/>
          </p:cNvSpPr>
          <p:nvPr/>
        </p:nvSpPr>
        <p:spPr bwMode="auto">
          <a:xfrm>
            <a:off x="2443163" y="4860925"/>
            <a:ext cx="26988" cy="68263"/>
          </a:xfrm>
          <a:custGeom>
            <a:avLst/>
            <a:gdLst>
              <a:gd name="T0" fmla="*/ 0 w 17"/>
              <a:gd name="T1" fmla="*/ 0 h 43"/>
              <a:gd name="T2" fmla="*/ 2 w 17"/>
              <a:gd name="T3" fmla="*/ 4 h 43"/>
              <a:gd name="T4" fmla="*/ 11 w 17"/>
              <a:gd name="T5" fmla="*/ 27 h 43"/>
              <a:gd name="T6" fmla="*/ 17 w 17"/>
              <a:gd name="T7" fmla="*/ 43 h 43"/>
            </a:gdLst>
            <a:ahLst/>
            <a:cxnLst>
              <a:cxn ang="0">
                <a:pos x="T0" y="T1"/>
              </a:cxn>
              <a:cxn ang="0">
                <a:pos x="T2" y="T3"/>
              </a:cxn>
              <a:cxn ang="0">
                <a:pos x="T4" y="T5"/>
              </a:cxn>
              <a:cxn ang="0">
                <a:pos x="T6" y="T7"/>
              </a:cxn>
            </a:cxnLst>
            <a:rect l="0" t="0" r="r" b="b"/>
            <a:pathLst>
              <a:path w="17" h="43">
                <a:moveTo>
                  <a:pt x="0" y="0"/>
                </a:moveTo>
                <a:lnTo>
                  <a:pt x="2" y="4"/>
                </a:lnTo>
                <a:lnTo>
                  <a:pt x="11" y="27"/>
                </a:lnTo>
                <a:lnTo>
                  <a:pt x="17" y="43"/>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5" name="Freeform 111"/>
          <p:cNvSpPr>
            <a:spLocks/>
          </p:cNvSpPr>
          <p:nvPr/>
        </p:nvSpPr>
        <p:spPr bwMode="auto">
          <a:xfrm>
            <a:off x="2505076" y="4992688"/>
            <a:ext cx="39688" cy="65088"/>
          </a:xfrm>
          <a:custGeom>
            <a:avLst/>
            <a:gdLst>
              <a:gd name="T0" fmla="*/ 0 w 25"/>
              <a:gd name="T1" fmla="*/ 0 h 41"/>
              <a:gd name="T2" fmla="*/ 8 w 25"/>
              <a:gd name="T3" fmla="*/ 14 h 41"/>
              <a:gd name="T4" fmla="*/ 21 w 25"/>
              <a:gd name="T5" fmla="*/ 37 h 41"/>
              <a:gd name="T6" fmla="*/ 25 w 25"/>
              <a:gd name="T7" fmla="*/ 41 h 41"/>
            </a:gdLst>
            <a:ahLst/>
            <a:cxnLst>
              <a:cxn ang="0">
                <a:pos x="T0" y="T1"/>
              </a:cxn>
              <a:cxn ang="0">
                <a:pos x="T2" y="T3"/>
              </a:cxn>
              <a:cxn ang="0">
                <a:pos x="T4" y="T5"/>
              </a:cxn>
              <a:cxn ang="0">
                <a:pos x="T6" y="T7"/>
              </a:cxn>
            </a:cxnLst>
            <a:rect l="0" t="0" r="r" b="b"/>
            <a:pathLst>
              <a:path w="25" h="41">
                <a:moveTo>
                  <a:pt x="0" y="0"/>
                </a:moveTo>
                <a:lnTo>
                  <a:pt x="8" y="14"/>
                </a:lnTo>
                <a:lnTo>
                  <a:pt x="21" y="37"/>
                </a:lnTo>
                <a:lnTo>
                  <a:pt x="25" y="41"/>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6" name="Freeform 112"/>
          <p:cNvSpPr>
            <a:spLocks/>
          </p:cNvSpPr>
          <p:nvPr/>
        </p:nvSpPr>
        <p:spPr bwMode="auto">
          <a:xfrm>
            <a:off x="2587626" y="5116513"/>
            <a:ext cx="49213" cy="55563"/>
          </a:xfrm>
          <a:custGeom>
            <a:avLst/>
            <a:gdLst>
              <a:gd name="T0" fmla="*/ 0 w 31"/>
              <a:gd name="T1" fmla="*/ 0 h 35"/>
              <a:gd name="T2" fmla="*/ 0 w 31"/>
              <a:gd name="T3" fmla="*/ 0 h 35"/>
              <a:gd name="T4" fmla="*/ 18 w 31"/>
              <a:gd name="T5" fmla="*/ 20 h 35"/>
              <a:gd name="T6" fmla="*/ 31 w 31"/>
              <a:gd name="T7" fmla="*/ 35 h 35"/>
            </a:gdLst>
            <a:ahLst/>
            <a:cxnLst>
              <a:cxn ang="0">
                <a:pos x="T0" y="T1"/>
              </a:cxn>
              <a:cxn ang="0">
                <a:pos x="T2" y="T3"/>
              </a:cxn>
              <a:cxn ang="0">
                <a:pos x="T4" y="T5"/>
              </a:cxn>
              <a:cxn ang="0">
                <a:pos x="T6" y="T7"/>
              </a:cxn>
            </a:cxnLst>
            <a:rect l="0" t="0" r="r" b="b"/>
            <a:pathLst>
              <a:path w="31" h="35">
                <a:moveTo>
                  <a:pt x="0" y="0"/>
                </a:moveTo>
                <a:lnTo>
                  <a:pt x="0" y="0"/>
                </a:lnTo>
                <a:lnTo>
                  <a:pt x="18" y="20"/>
                </a:lnTo>
                <a:lnTo>
                  <a:pt x="31" y="35"/>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7" name="Freeform 113"/>
          <p:cNvSpPr>
            <a:spLocks/>
          </p:cNvSpPr>
          <p:nvPr/>
        </p:nvSpPr>
        <p:spPr bwMode="auto">
          <a:xfrm>
            <a:off x="2693988" y="5222875"/>
            <a:ext cx="58738" cy="46038"/>
          </a:xfrm>
          <a:custGeom>
            <a:avLst/>
            <a:gdLst>
              <a:gd name="T0" fmla="*/ 0 w 37"/>
              <a:gd name="T1" fmla="*/ 0 h 29"/>
              <a:gd name="T2" fmla="*/ 7 w 37"/>
              <a:gd name="T3" fmla="*/ 7 h 29"/>
              <a:gd name="T4" fmla="*/ 29 w 37"/>
              <a:gd name="T5" fmla="*/ 23 h 29"/>
              <a:gd name="T6" fmla="*/ 37 w 37"/>
              <a:gd name="T7" fmla="*/ 29 h 29"/>
            </a:gdLst>
            <a:ahLst/>
            <a:cxnLst>
              <a:cxn ang="0">
                <a:pos x="T0" y="T1"/>
              </a:cxn>
              <a:cxn ang="0">
                <a:pos x="T2" y="T3"/>
              </a:cxn>
              <a:cxn ang="0">
                <a:pos x="T4" y="T5"/>
              </a:cxn>
              <a:cxn ang="0">
                <a:pos x="T6" y="T7"/>
              </a:cxn>
            </a:cxnLst>
            <a:rect l="0" t="0" r="r" b="b"/>
            <a:pathLst>
              <a:path w="37" h="29">
                <a:moveTo>
                  <a:pt x="0" y="0"/>
                </a:moveTo>
                <a:lnTo>
                  <a:pt x="7" y="7"/>
                </a:lnTo>
                <a:lnTo>
                  <a:pt x="29" y="23"/>
                </a:lnTo>
                <a:lnTo>
                  <a:pt x="37" y="29"/>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 name="Freeform 114"/>
          <p:cNvSpPr>
            <a:spLocks/>
          </p:cNvSpPr>
          <p:nvPr/>
        </p:nvSpPr>
        <p:spPr bwMode="auto">
          <a:xfrm>
            <a:off x="2814638" y="5308600"/>
            <a:ext cx="63500" cy="36513"/>
          </a:xfrm>
          <a:custGeom>
            <a:avLst/>
            <a:gdLst>
              <a:gd name="T0" fmla="*/ 0 w 40"/>
              <a:gd name="T1" fmla="*/ 0 h 23"/>
              <a:gd name="T2" fmla="*/ 19 w 40"/>
              <a:gd name="T3" fmla="*/ 12 h 23"/>
              <a:gd name="T4" fmla="*/ 40 w 40"/>
              <a:gd name="T5" fmla="*/ 23 h 23"/>
            </a:gdLst>
            <a:ahLst/>
            <a:cxnLst>
              <a:cxn ang="0">
                <a:pos x="T0" y="T1"/>
              </a:cxn>
              <a:cxn ang="0">
                <a:pos x="T2" y="T3"/>
              </a:cxn>
              <a:cxn ang="0">
                <a:pos x="T4" y="T5"/>
              </a:cxn>
            </a:cxnLst>
            <a:rect l="0" t="0" r="r" b="b"/>
            <a:pathLst>
              <a:path w="40" h="23">
                <a:moveTo>
                  <a:pt x="0" y="0"/>
                </a:moveTo>
                <a:lnTo>
                  <a:pt x="19" y="12"/>
                </a:lnTo>
                <a:lnTo>
                  <a:pt x="40" y="23"/>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 name="Freeform 115"/>
          <p:cNvSpPr>
            <a:spLocks/>
          </p:cNvSpPr>
          <p:nvPr/>
        </p:nvSpPr>
        <p:spPr bwMode="auto">
          <a:xfrm>
            <a:off x="2946401" y="5373688"/>
            <a:ext cx="68263" cy="25400"/>
          </a:xfrm>
          <a:custGeom>
            <a:avLst/>
            <a:gdLst>
              <a:gd name="T0" fmla="*/ 0 w 43"/>
              <a:gd name="T1" fmla="*/ 0 h 16"/>
              <a:gd name="T2" fmla="*/ 8 w 43"/>
              <a:gd name="T3" fmla="*/ 4 h 16"/>
              <a:gd name="T4" fmla="*/ 33 w 43"/>
              <a:gd name="T5" fmla="*/ 12 h 16"/>
              <a:gd name="T6" fmla="*/ 43 w 43"/>
              <a:gd name="T7" fmla="*/ 16 h 16"/>
            </a:gdLst>
            <a:ahLst/>
            <a:cxnLst>
              <a:cxn ang="0">
                <a:pos x="T0" y="T1"/>
              </a:cxn>
              <a:cxn ang="0">
                <a:pos x="T2" y="T3"/>
              </a:cxn>
              <a:cxn ang="0">
                <a:pos x="T4" y="T5"/>
              </a:cxn>
              <a:cxn ang="0">
                <a:pos x="T6" y="T7"/>
              </a:cxn>
            </a:cxnLst>
            <a:rect l="0" t="0" r="r" b="b"/>
            <a:pathLst>
              <a:path w="43" h="16">
                <a:moveTo>
                  <a:pt x="0" y="0"/>
                </a:moveTo>
                <a:lnTo>
                  <a:pt x="8" y="4"/>
                </a:lnTo>
                <a:lnTo>
                  <a:pt x="33" y="12"/>
                </a:lnTo>
                <a:lnTo>
                  <a:pt x="43" y="16"/>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 name="Freeform 116"/>
          <p:cNvSpPr>
            <a:spLocks/>
          </p:cNvSpPr>
          <p:nvPr/>
        </p:nvSpPr>
        <p:spPr bwMode="auto">
          <a:xfrm>
            <a:off x="3089276" y="5416550"/>
            <a:ext cx="71438" cy="9525"/>
          </a:xfrm>
          <a:custGeom>
            <a:avLst/>
            <a:gdLst>
              <a:gd name="T0" fmla="*/ 0 w 45"/>
              <a:gd name="T1" fmla="*/ 0 h 6"/>
              <a:gd name="T2" fmla="*/ 21 w 45"/>
              <a:gd name="T3" fmla="*/ 4 h 6"/>
              <a:gd name="T4" fmla="*/ 45 w 45"/>
              <a:gd name="T5" fmla="*/ 6 h 6"/>
            </a:gdLst>
            <a:ahLst/>
            <a:cxnLst>
              <a:cxn ang="0">
                <a:pos x="T0" y="T1"/>
              </a:cxn>
              <a:cxn ang="0">
                <a:pos x="T2" y="T3"/>
              </a:cxn>
              <a:cxn ang="0">
                <a:pos x="T4" y="T5"/>
              </a:cxn>
            </a:cxnLst>
            <a:rect l="0" t="0" r="r" b="b"/>
            <a:pathLst>
              <a:path w="45" h="6">
                <a:moveTo>
                  <a:pt x="0" y="0"/>
                </a:moveTo>
                <a:lnTo>
                  <a:pt x="21" y="4"/>
                </a:lnTo>
                <a:lnTo>
                  <a:pt x="45" y="6"/>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 name="Freeform 117"/>
          <p:cNvSpPr>
            <a:spLocks/>
          </p:cNvSpPr>
          <p:nvPr/>
        </p:nvSpPr>
        <p:spPr bwMode="auto">
          <a:xfrm>
            <a:off x="3233738" y="5429250"/>
            <a:ext cx="74613" cy="3175"/>
          </a:xfrm>
          <a:custGeom>
            <a:avLst/>
            <a:gdLst>
              <a:gd name="T0" fmla="*/ 0 w 47"/>
              <a:gd name="T1" fmla="*/ 2 h 2"/>
              <a:gd name="T2" fmla="*/ 14 w 47"/>
              <a:gd name="T3" fmla="*/ 2 h 2"/>
              <a:gd name="T4" fmla="*/ 41 w 47"/>
              <a:gd name="T5" fmla="*/ 0 h 2"/>
              <a:gd name="T6" fmla="*/ 47 w 47"/>
              <a:gd name="T7" fmla="*/ 0 h 2"/>
            </a:gdLst>
            <a:ahLst/>
            <a:cxnLst>
              <a:cxn ang="0">
                <a:pos x="T0" y="T1"/>
              </a:cxn>
              <a:cxn ang="0">
                <a:pos x="T2" y="T3"/>
              </a:cxn>
              <a:cxn ang="0">
                <a:pos x="T4" y="T5"/>
              </a:cxn>
              <a:cxn ang="0">
                <a:pos x="T6" y="T7"/>
              </a:cxn>
            </a:cxnLst>
            <a:rect l="0" t="0" r="r" b="b"/>
            <a:pathLst>
              <a:path w="47" h="2">
                <a:moveTo>
                  <a:pt x="0" y="2"/>
                </a:moveTo>
                <a:lnTo>
                  <a:pt x="14" y="2"/>
                </a:lnTo>
                <a:lnTo>
                  <a:pt x="41" y="0"/>
                </a:lnTo>
                <a:lnTo>
                  <a:pt x="47"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 name="Freeform 118"/>
          <p:cNvSpPr>
            <a:spLocks/>
          </p:cNvSpPr>
          <p:nvPr/>
        </p:nvSpPr>
        <p:spPr bwMode="auto">
          <a:xfrm>
            <a:off x="3382963" y="5407025"/>
            <a:ext cx="74613" cy="15875"/>
          </a:xfrm>
          <a:custGeom>
            <a:avLst/>
            <a:gdLst>
              <a:gd name="T0" fmla="*/ 0 w 47"/>
              <a:gd name="T1" fmla="*/ 10 h 10"/>
              <a:gd name="T2" fmla="*/ 2 w 47"/>
              <a:gd name="T3" fmla="*/ 10 h 10"/>
              <a:gd name="T4" fmla="*/ 29 w 47"/>
              <a:gd name="T5" fmla="*/ 4 h 10"/>
              <a:gd name="T6" fmla="*/ 47 w 47"/>
              <a:gd name="T7" fmla="*/ 0 h 10"/>
            </a:gdLst>
            <a:ahLst/>
            <a:cxnLst>
              <a:cxn ang="0">
                <a:pos x="T0" y="T1"/>
              </a:cxn>
              <a:cxn ang="0">
                <a:pos x="T2" y="T3"/>
              </a:cxn>
              <a:cxn ang="0">
                <a:pos x="T4" y="T5"/>
              </a:cxn>
              <a:cxn ang="0">
                <a:pos x="T6" y="T7"/>
              </a:cxn>
            </a:cxnLst>
            <a:rect l="0" t="0" r="r" b="b"/>
            <a:pathLst>
              <a:path w="47" h="10">
                <a:moveTo>
                  <a:pt x="0" y="10"/>
                </a:moveTo>
                <a:lnTo>
                  <a:pt x="2" y="10"/>
                </a:lnTo>
                <a:lnTo>
                  <a:pt x="29" y="4"/>
                </a:lnTo>
                <a:lnTo>
                  <a:pt x="47"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 name="Freeform 119"/>
          <p:cNvSpPr>
            <a:spLocks/>
          </p:cNvSpPr>
          <p:nvPr/>
        </p:nvSpPr>
        <p:spPr bwMode="auto">
          <a:xfrm>
            <a:off x="3527426" y="5360988"/>
            <a:ext cx="68263" cy="28575"/>
          </a:xfrm>
          <a:custGeom>
            <a:avLst/>
            <a:gdLst>
              <a:gd name="T0" fmla="*/ 0 w 43"/>
              <a:gd name="T1" fmla="*/ 18 h 18"/>
              <a:gd name="T2" fmla="*/ 16 w 43"/>
              <a:gd name="T3" fmla="*/ 12 h 18"/>
              <a:gd name="T4" fmla="*/ 39 w 43"/>
              <a:gd name="T5" fmla="*/ 2 h 18"/>
              <a:gd name="T6" fmla="*/ 43 w 43"/>
              <a:gd name="T7" fmla="*/ 0 h 18"/>
            </a:gdLst>
            <a:ahLst/>
            <a:cxnLst>
              <a:cxn ang="0">
                <a:pos x="T0" y="T1"/>
              </a:cxn>
              <a:cxn ang="0">
                <a:pos x="T2" y="T3"/>
              </a:cxn>
              <a:cxn ang="0">
                <a:pos x="T4" y="T5"/>
              </a:cxn>
              <a:cxn ang="0">
                <a:pos x="T6" y="T7"/>
              </a:cxn>
            </a:cxnLst>
            <a:rect l="0" t="0" r="r" b="b"/>
            <a:pathLst>
              <a:path w="43" h="18">
                <a:moveTo>
                  <a:pt x="0" y="18"/>
                </a:moveTo>
                <a:lnTo>
                  <a:pt x="16" y="12"/>
                </a:lnTo>
                <a:lnTo>
                  <a:pt x="39" y="2"/>
                </a:lnTo>
                <a:lnTo>
                  <a:pt x="43"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 name="Freeform 120"/>
          <p:cNvSpPr>
            <a:spLocks/>
          </p:cNvSpPr>
          <p:nvPr/>
        </p:nvSpPr>
        <p:spPr bwMode="auto">
          <a:xfrm>
            <a:off x="3663951" y="5289550"/>
            <a:ext cx="61913" cy="41275"/>
          </a:xfrm>
          <a:custGeom>
            <a:avLst/>
            <a:gdLst>
              <a:gd name="T0" fmla="*/ 0 w 39"/>
              <a:gd name="T1" fmla="*/ 26 h 26"/>
              <a:gd name="T2" fmla="*/ 2 w 39"/>
              <a:gd name="T3" fmla="*/ 24 h 26"/>
              <a:gd name="T4" fmla="*/ 23 w 39"/>
              <a:gd name="T5" fmla="*/ 10 h 26"/>
              <a:gd name="T6" fmla="*/ 39 w 39"/>
              <a:gd name="T7" fmla="*/ 0 h 26"/>
            </a:gdLst>
            <a:ahLst/>
            <a:cxnLst>
              <a:cxn ang="0">
                <a:pos x="T0" y="T1"/>
              </a:cxn>
              <a:cxn ang="0">
                <a:pos x="T2" y="T3"/>
              </a:cxn>
              <a:cxn ang="0">
                <a:pos x="T4" y="T5"/>
              </a:cxn>
              <a:cxn ang="0">
                <a:pos x="T6" y="T7"/>
              </a:cxn>
            </a:cxnLst>
            <a:rect l="0" t="0" r="r" b="b"/>
            <a:pathLst>
              <a:path w="39" h="26">
                <a:moveTo>
                  <a:pt x="0" y="26"/>
                </a:moveTo>
                <a:lnTo>
                  <a:pt x="2" y="24"/>
                </a:lnTo>
                <a:lnTo>
                  <a:pt x="23" y="10"/>
                </a:lnTo>
                <a:lnTo>
                  <a:pt x="39"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 name="Freeform 121"/>
          <p:cNvSpPr>
            <a:spLocks/>
          </p:cNvSpPr>
          <p:nvPr/>
        </p:nvSpPr>
        <p:spPr bwMode="auto">
          <a:xfrm>
            <a:off x="3787776" y="5200650"/>
            <a:ext cx="55563" cy="46038"/>
          </a:xfrm>
          <a:custGeom>
            <a:avLst/>
            <a:gdLst>
              <a:gd name="T0" fmla="*/ 0 w 35"/>
              <a:gd name="T1" fmla="*/ 29 h 29"/>
              <a:gd name="T2" fmla="*/ 10 w 35"/>
              <a:gd name="T3" fmla="*/ 21 h 29"/>
              <a:gd name="T4" fmla="*/ 29 w 35"/>
              <a:gd name="T5" fmla="*/ 4 h 29"/>
              <a:gd name="T6" fmla="*/ 35 w 35"/>
              <a:gd name="T7" fmla="*/ 0 h 29"/>
            </a:gdLst>
            <a:ahLst/>
            <a:cxnLst>
              <a:cxn ang="0">
                <a:pos x="T0" y="T1"/>
              </a:cxn>
              <a:cxn ang="0">
                <a:pos x="T2" y="T3"/>
              </a:cxn>
              <a:cxn ang="0">
                <a:pos x="T4" y="T5"/>
              </a:cxn>
              <a:cxn ang="0">
                <a:pos x="T6" y="T7"/>
              </a:cxn>
            </a:cxnLst>
            <a:rect l="0" t="0" r="r" b="b"/>
            <a:pathLst>
              <a:path w="35" h="29">
                <a:moveTo>
                  <a:pt x="0" y="29"/>
                </a:moveTo>
                <a:lnTo>
                  <a:pt x="10" y="21"/>
                </a:lnTo>
                <a:lnTo>
                  <a:pt x="29" y="4"/>
                </a:lnTo>
                <a:lnTo>
                  <a:pt x="35"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 name="Freeform 122"/>
          <p:cNvSpPr>
            <a:spLocks/>
          </p:cNvSpPr>
          <p:nvPr/>
        </p:nvSpPr>
        <p:spPr bwMode="auto">
          <a:xfrm>
            <a:off x="3895726" y="5089525"/>
            <a:ext cx="46038" cy="58738"/>
          </a:xfrm>
          <a:custGeom>
            <a:avLst/>
            <a:gdLst>
              <a:gd name="T0" fmla="*/ 0 w 29"/>
              <a:gd name="T1" fmla="*/ 37 h 37"/>
              <a:gd name="T2" fmla="*/ 16 w 29"/>
              <a:gd name="T3" fmla="*/ 17 h 37"/>
              <a:gd name="T4" fmla="*/ 29 w 29"/>
              <a:gd name="T5" fmla="*/ 0 h 37"/>
            </a:gdLst>
            <a:ahLst/>
            <a:cxnLst>
              <a:cxn ang="0">
                <a:pos x="T0" y="T1"/>
              </a:cxn>
              <a:cxn ang="0">
                <a:pos x="T2" y="T3"/>
              </a:cxn>
              <a:cxn ang="0">
                <a:pos x="T4" y="T5"/>
              </a:cxn>
            </a:cxnLst>
            <a:rect l="0" t="0" r="r" b="b"/>
            <a:pathLst>
              <a:path w="29" h="37">
                <a:moveTo>
                  <a:pt x="0" y="37"/>
                </a:moveTo>
                <a:lnTo>
                  <a:pt x="16" y="17"/>
                </a:lnTo>
                <a:lnTo>
                  <a:pt x="29"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 name="Freeform 123"/>
          <p:cNvSpPr>
            <a:spLocks/>
          </p:cNvSpPr>
          <p:nvPr/>
        </p:nvSpPr>
        <p:spPr bwMode="auto">
          <a:xfrm>
            <a:off x="3986213" y="4965700"/>
            <a:ext cx="36513" cy="61913"/>
          </a:xfrm>
          <a:custGeom>
            <a:avLst/>
            <a:gdLst>
              <a:gd name="T0" fmla="*/ 0 w 23"/>
              <a:gd name="T1" fmla="*/ 39 h 39"/>
              <a:gd name="T2" fmla="*/ 4 w 23"/>
              <a:gd name="T3" fmla="*/ 31 h 39"/>
              <a:gd name="T4" fmla="*/ 17 w 23"/>
              <a:gd name="T5" fmla="*/ 10 h 39"/>
              <a:gd name="T6" fmla="*/ 23 w 23"/>
              <a:gd name="T7" fmla="*/ 0 h 39"/>
            </a:gdLst>
            <a:ahLst/>
            <a:cxnLst>
              <a:cxn ang="0">
                <a:pos x="T0" y="T1"/>
              </a:cxn>
              <a:cxn ang="0">
                <a:pos x="T2" y="T3"/>
              </a:cxn>
              <a:cxn ang="0">
                <a:pos x="T4" y="T5"/>
              </a:cxn>
              <a:cxn ang="0">
                <a:pos x="T6" y="T7"/>
              </a:cxn>
            </a:cxnLst>
            <a:rect l="0" t="0" r="r" b="b"/>
            <a:pathLst>
              <a:path w="23" h="39">
                <a:moveTo>
                  <a:pt x="0" y="39"/>
                </a:moveTo>
                <a:lnTo>
                  <a:pt x="4" y="31"/>
                </a:lnTo>
                <a:lnTo>
                  <a:pt x="17" y="10"/>
                </a:lnTo>
                <a:lnTo>
                  <a:pt x="23"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 name="Freeform 124"/>
          <p:cNvSpPr>
            <a:spLocks/>
          </p:cNvSpPr>
          <p:nvPr/>
        </p:nvSpPr>
        <p:spPr bwMode="auto">
          <a:xfrm>
            <a:off x="4052888" y="4826000"/>
            <a:ext cx="25400" cy="71438"/>
          </a:xfrm>
          <a:custGeom>
            <a:avLst/>
            <a:gdLst>
              <a:gd name="T0" fmla="*/ 0 w 16"/>
              <a:gd name="T1" fmla="*/ 45 h 45"/>
              <a:gd name="T2" fmla="*/ 8 w 16"/>
              <a:gd name="T3" fmla="*/ 26 h 45"/>
              <a:gd name="T4" fmla="*/ 16 w 16"/>
              <a:gd name="T5" fmla="*/ 0 h 45"/>
            </a:gdLst>
            <a:ahLst/>
            <a:cxnLst>
              <a:cxn ang="0">
                <a:pos x="T0" y="T1"/>
              </a:cxn>
              <a:cxn ang="0">
                <a:pos x="T2" y="T3"/>
              </a:cxn>
              <a:cxn ang="0">
                <a:pos x="T4" y="T5"/>
              </a:cxn>
            </a:cxnLst>
            <a:rect l="0" t="0" r="r" b="b"/>
            <a:pathLst>
              <a:path w="16" h="45">
                <a:moveTo>
                  <a:pt x="0" y="45"/>
                </a:moveTo>
                <a:lnTo>
                  <a:pt x="8" y="26"/>
                </a:lnTo>
                <a:lnTo>
                  <a:pt x="16"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 name="Freeform 125"/>
          <p:cNvSpPr>
            <a:spLocks/>
          </p:cNvSpPr>
          <p:nvPr/>
        </p:nvSpPr>
        <p:spPr bwMode="auto">
          <a:xfrm>
            <a:off x="4097338" y="4681538"/>
            <a:ext cx="12700" cy="74613"/>
          </a:xfrm>
          <a:custGeom>
            <a:avLst/>
            <a:gdLst>
              <a:gd name="T0" fmla="*/ 0 w 8"/>
              <a:gd name="T1" fmla="*/ 47 h 47"/>
              <a:gd name="T2" fmla="*/ 2 w 8"/>
              <a:gd name="T3" fmla="*/ 39 h 47"/>
              <a:gd name="T4" fmla="*/ 8 w 8"/>
              <a:gd name="T5" fmla="*/ 11 h 47"/>
              <a:gd name="T6" fmla="*/ 8 w 8"/>
              <a:gd name="T7" fmla="*/ 0 h 47"/>
            </a:gdLst>
            <a:ahLst/>
            <a:cxnLst>
              <a:cxn ang="0">
                <a:pos x="T0" y="T1"/>
              </a:cxn>
              <a:cxn ang="0">
                <a:pos x="T2" y="T3"/>
              </a:cxn>
              <a:cxn ang="0">
                <a:pos x="T4" y="T5"/>
              </a:cxn>
              <a:cxn ang="0">
                <a:pos x="T6" y="T7"/>
              </a:cxn>
            </a:cxnLst>
            <a:rect l="0" t="0" r="r" b="b"/>
            <a:pathLst>
              <a:path w="8" h="47">
                <a:moveTo>
                  <a:pt x="0" y="47"/>
                </a:moveTo>
                <a:lnTo>
                  <a:pt x="2" y="39"/>
                </a:lnTo>
                <a:lnTo>
                  <a:pt x="8" y="11"/>
                </a:lnTo>
                <a:lnTo>
                  <a:pt x="8"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 name="Freeform 126"/>
          <p:cNvSpPr>
            <a:spLocks/>
          </p:cNvSpPr>
          <p:nvPr/>
        </p:nvSpPr>
        <p:spPr bwMode="auto">
          <a:xfrm>
            <a:off x="4117976" y="4535488"/>
            <a:ext cx="0" cy="74613"/>
          </a:xfrm>
          <a:custGeom>
            <a:avLst/>
            <a:gdLst>
              <a:gd name="T0" fmla="*/ 47 h 47"/>
              <a:gd name="T1" fmla="*/ 22 h 47"/>
              <a:gd name="T2" fmla="*/ 0 h 47"/>
            </a:gdLst>
            <a:ahLst/>
            <a:cxnLst>
              <a:cxn ang="0">
                <a:pos x="0" y="T0"/>
              </a:cxn>
              <a:cxn ang="0">
                <a:pos x="0" y="T1"/>
              </a:cxn>
              <a:cxn ang="0">
                <a:pos x="0" y="T2"/>
              </a:cxn>
            </a:cxnLst>
            <a:rect l="0" t="0" r="r" b="b"/>
            <a:pathLst>
              <a:path h="47">
                <a:moveTo>
                  <a:pt x="0" y="47"/>
                </a:moveTo>
                <a:lnTo>
                  <a:pt x="0" y="22"/>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 name="Freeform 127"/>
          <p:cNvSpPr>
            <a:spLocks/>
          </p:cNvSpPr>
          <p:nvPr/>
        </p:nvSpPr>
        <p:spPr bwMode="auto">
          <a:xfrm>
            <a:off x="4100513" y="4387850"/>
            <a:ext cx="11113" cy="74613"/>
          </a:xfrm>
          <a:custGeom>
            <a:avLst/>
            <a:gdLst>
              <a:gd name="T0" fmla="*/ 7 w 7"/>
              <a:gd name="T1" fmla="*/ 47 h 47"/>
              <a:gd name="T2" fmla="*/ 6 w 7"/>
              <a:gd name="T3" fmla="*/ 31 h 47"/>
              <a:gd name="T4" fmla="*/ 0 w 7"/>
              <a:gd name="T5" fmla="*/ 4 h 47"/>
              <a:gd name="T6" fmla="*/ 0 w 7"/>
              <a:gd name="T7" fmla="*/ 0 h 47"/>
            </a:gdLst>
            <a:ahLst/>
            <a:cxnLst>
              <a:cxn ang="0">
                <a:pos x="T0" y="T1"/>
              </a:cxn>
              <a:cxn ang="0">
                <a:pos x="T2" y="T3"/>
              </a:cxn>
              <a:cxn ang="0">
                <a:pos x="T4" y="T5"/>
              </a:cxn>
              <a:cxn ang="0">
                <a:pos x="T6" y="T7"/>
              </a:cxn>
            </a:cxnLst>
            <a:rect l="0" t="0" r="r" b="b"/>
            <a:pathLst>
              <a:path w="7" h="47">
                <a:moveTo>
                  <a:pt x="7" y="47"/>
                </a:moveTo>
                <a:lnTo>
                  <a:pt x="6" y="31"/>
                </a:lnTo>
                <a:lnTo>
                  <a:pt x="0" y="4"/>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 name="Freeform 128"/>
          <p:cNvSpPr>
            <a:spLocks/>
          </p:cNvSpPr>
          <p:nvPr/>
        </p:nvSpPr>
        <p:spPr bwMode="auto">
          <a:xfrm>
            <a:off x="4056063" y="4244975"/>
            <a:ext cx="25400" cy="71438"/>
          </a:xfrm>
          <a:custGeom>
            <a:avLst/>
            <a:gdLst>
              <a:gd name="T0" fmla="*/ 16 w 16"/>
              <a:gd name="T1" fmla="*/ 45 h 45"/>
              <a:gd name="T2" fmla="*/ 14 w 16"/>
              <a:gd name="T3" fmla="*/ 43 h 45"/>
              <a:gd name="T4" fmla="*/ 6 w 16"/>
              <a:gd name="T5" fmla="*/ 18 h 45"/>
              <a:gd name="T6" fmla="*/ 0 w 16"/>
              <a:gd name="T7" fmla="*/ 0 h 45"/>
            </a:gdLst>
            <a:ahLst/>
            <a:cxnLst>
              <a:cxn ang="0">
                <a:pos x="T0" y="T1"/>
              </a:cxn>
              <a:cxn ang="0">
                <a:pos x="T2" y="T3"/>
              </a:cxn>
              <a:cxn ang="0">
                <a:pos x="T4" y="T5"/>
              </a:cxn>
              <a:cxn ang="0">
                <a:pos x="T6" y="T7"/>
              </a:cxn>
            </a:cxnLst>
            <a:rect l="0" t="0" r="r" b="b"/>
            <a:pathLst>
              <a:path w="16" h="45">
                <a:moveTo>
                  <a:pt x="16" y="45"/>
                </a:moveTo>
                <a:lnTo>
                  <a:pt x="14" y="43"/>
                </a:lnTo>
                <a:lnTo>
                  <a:pt x="6" y="18"/>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 name="Freeform 129"/>
          <p:cNvSpPr>
            <a:spLocks/>
          </p:cNvSpPr>
          <p:nvPr/>
        </p:nvSpPr>
        <p:spPr bwMode="auto">
          <a:xfrm>
            <a:off x="3989388" y="4111625"/>
            <a:ext cx="36513" cy="65088"/>
          </a:xfrm>
          <a:custGeom>
            <a:avLst/>
            <a:gdLst>
              <a:gd name="T0" fmla="*/ 23 w 23"/>
              <a:gd name="T1" fmla="*/ 41 h 41"/>
              <a:gd name="T2" fmla="*/ 15 w 23"/>
              <a:gd name="T3" fmla="*/ 30 h 41"/>
              <a:gd name="T4" fmla="*/ 2 w 23"/>
              <a:gd name="T5" fmla="*/ 6 h 41"/>
              <a:gd name="T6" fmla="*/ 0 w 23"/>
              <a:gd name="T7" fmla="*/ 0 h 41"/>
            </a:gdLst>
            <a:ahLst/>
            <a:cxnLst>
              <a:cxn ang="0">
                <a:pos x="T0" y="T1"/>
              </a:cxn>
              <a:cxn ang="0">
                <a:pos x="T2" y="T3"/>
              </a:cxn>
              <a:cxn ang="0">
                <a:pos x="T4" y="T5"/>
              </a:cxn>
              <a:cxn ang="0">
                <a:pos x="T6" y="T7"/>
              </a:cxn>
            </a:cxnLst>
            <a:rect l="0" t="0" r="r" b="b"/>
            <a:pathLst>
              <a:path w="23" h="41">
                <a:moveTo>
                  <a:pt x="23" y="41"/>
                </a:moveTo>
                <a:lnTo>
                  <a:pt x="15" y="30"/>
                </a:lnTo>
                <a:lnTo>
                  <a:pt x="2" y="6"/>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 name="Freeform 130"/>
          <p:cNvSpPr>
            <a:spLocks/>
          </p:cNvSpPr>
          <p:nvPr/>
        </p:nvSpPr>
        <p:spPr bwMode="auto">
          <a:xfrm>
            <a:off x="3898901" y="3994150"/>
            <a:ext cx="46038" cy="58738"/>
          </a:xfrm>
          <a:custGeom>
            <a:avLst/>
            <a:gdLst>
              <a:gd name="T0" fmla="*/ 29 w 29"/>
              <a:gd name="T1" fmla="*/ 37 h 37"/>
              <a:gd name="T2" fmla="*/ 14 w 29"/>
              <a:gd name="T3" fmla="*/ 16 h 37"/>
              <a:gd name="T4" fmla="*/ 0 w 29"/>
              <a:gd name="T5" fmla="*/ 0 h 37"/>
            </a:gdLst>
            <a:ahLst/>
            <a:cxnLst>
              <a:cxn ang="0">
                <a:pos x="T0" y="T1"/>
              </a:cxn>
              <a:cxn ang="0">
                <a:pos x="T2" y="T3"/>
              </a:cxn>
              <a:cxn ang="0">
                <a:pos x="T4" y="T5"/>
              </a:cxn>
            </a:cxnLst>
            <a:rect l="0" t="0" r="r" b="b"/>
            <a:pathLst>
              <a:path w="29" h="37">
                <a:moveTo>
                  <a:pt x="29" y="37"/>
                </a:moveTo>
                <a:lnTo>
                  <a:pt x="14" y="16"/>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 name="Freeform 131"/>
          <p:cNvSpPr>
            <a:spLocks/>
          </p:cNvSpPr>
          <p:nvPr/>
        </p:nvSpPr>
        <p:spPr bwMode="auto">
          <a:xfrm>
            <a:off x="3790951" y="3892550"/>
            <a:ext cx="55563" cy="49213"/>
          </a:xfrm>
          <a:custGeom>
            <a:avLst/>
            <a:gdLst>
              <a:gd name="T0" fmla="*/ 35 w 35"/>
              <a:gd name="T1" fmla="*/ 31 h 31"/>
              <a:gd name="T2" fmla="*/ 27 w 35"/>
              <a:gd name="T3" fmla="*/ 24 h 31"/>
              <a:gd name="T4" fmla="*/ 8 w 35"/>
              <a:gd name="T5" fmla="*/ 6 h 31"/>
              <a:gd name="T6" fmla="*/ 0 w 35"/>
              <a:gd name="T7" fmla="*/ 0 h 31"/>
            </a:gdLst>
            <a:ahLst/>
            <a:cxnLst>
              <a:cxn ang="0">
                <a:pos x="T0" y="T1"/>
              </a:cxn>
              <a:cxn ang="0">
                <a:pos x="T2" y="T3"/>
              </a:cxn>
              <a:cxn ang="0">
                <a:pos x="T4" y="T5"/>
              </a:cxn>
              <a:cxn ang="0">
                <a:pos x="T6" y="T7"/>
              </a:cxn>
            </a:cxnLst>
            <a:rect l="0" t="0" r="r" b="b"/>
            <a:pathLst>
              <a:path w="35" h="31">
                <a:moveTo>
                  <a:pt x="35" y="31"/>
                </a:moveTo>
                <a:lnTo>
                  <a:pt x="27" y="24"/>
                </a:lnTo>
                <a:lnTo>
                  <a:pt x="8" y="6"/>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 name="Freeform 132"/>
          <p:cNvSpPr>
            <a:spLocks/>
          </p:cNvSpPr>
          <p:nvPr/>
        </p:nvSpPr>
        <p:spPr bwMode="auto">
          <a:xfrm>
            <a:off x="3667126" y="3813175"/>
            <a:ext cx="65088" cy="36513"/>
          </a:xfrm>
          <a:custGeom>
            <a:avLst/>
            <a:gdLst>
              <a:gd name="T0" fmla="*/ 41 w 41"/>
              <a:gd name="T1" fmla="*/ 23 h 23"/>
              <a:gd name="T2" fmla="*/ 21 w 41"/>
              <a:gd name="T3" fmla="*/ 11 h 23"/>
              <a:gd name="T4" fmla="*/ 0 w 41"/>
              <a:gd name="T5" fmla="*/ 0 h 23"/>
            </a:gdLst>
            <a:ahLst/>
            <a:cxnLst>
              <a:cxn ang="0">
                <a:pos x="T0" y="T1"/>
              </a:cxn>
              <a:cxn ang="0">
                <a:pos x="T2" y="T3"/>
              </a:cxn>
              <a:cxn ang="0">
                <a:pos x="T4" y="T5"/>
              </a:cxn>
            </a:cxnLst>
            <a:rect l="0" t="0" r="r" b="b"/>
            <a:pathLst>
              <a:path w="41" h="23">
                <a:moveTo>
                  <a:pt x="41" y="23"/>
                </a:moveTo>
                <a:lnTo>
                  <a:pt x="21" y="11"/>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 name="Freeform 133"/>
          <p:cNvSpPr>
            <a:spLocks/>
          </p:cNvSpPr>
          <p:nvPr/>
        </p:nvSpPr>
        <p:spPr bwMode="auto">
          <a:xfrm>
            <a:off x="3530601" y="3751263"/>
            <a:ext cx="71438" cy="26988"/>
          </a:xfrm>
          <a:custGeom>
            <a:avLst/>
            <a:gdLst>
              <a:gd name="T0" fmla="*/ 45 w 45"/>
              <a:gd name="T1" fmla="*/ 17 h 17"/>
              <a:gd name="T2" fmla="*/ 37 w 45"/>
              <a:gd name="T3" fmla="*/ 15 h 17"/>
              <a:gd name="T4" fmla="*/ 14 w 45"/>
              <a:gd name="T5" fmla="*/ 5 h 17"/>
              <a:gd name="T6" fmla="*/ 0 w 45"/>
              <a:gd name="T7" fmla="*/ 0 h 17"/>
            </a:gdLst>
            <a:ahLst/>
            <a:cxnLst>
              <a:cxn ang="0">
                <a:pos x="T0" y="T1"/>
              </a:cxn>
              <a:cxn ang="0">
                <a:pos x="T2" y="T3"/>
              </a:cxn>
              <a:cxn ang="0">
                <a:pos x="T4" y="T5"/>
              </a:cxn>
              <a:cxn ang="0">
                <a:pos x="T6" y="T7"/>
              </a:cxn>
            </a:cxnLst>
            <a:rect l="0" t="0" r="r" b="b"/>
            <a:pathLst>
              <a:path w="45" h="17">
                <a:moveTo>
                  <a:pt x="45" y="17"/>
                </a:moveTo>
                <a:lnTo>
                  <a:pt x="37" y="15"/>
                </a:lnTo>
                <a:lnTo>
                  <a:pt x="14" y="5"/>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 name="Freeform 134"/>
          <p:cNvSpPr>
            <a:spLocks/>
          </p:cNvSpPr>
          <p:nvPr/>
        </p:nvSpPr>
        <p:spPr bwMode="auto">
          <a:xfrm>
            <a:off x="3389313" y="3716338"/>
            <a:ext cx="71438" cy="15875"/>
          </a:xfrm>
          <a:custGeom>
            <a:avLst/>
            <a:gdLst>
              <a:gd name="T0" fmla="*/ 45 w 45"/>
              <a:gd name="T1" fmla="*/ 10 h 10"/>
              <a:gd name="T2" fmla="*/ 25 w 45"/>
              <a:gd name="T3" fmla="*/ 4 h 10"/>
              <a:gd name="T4" fmla="*/ 0 w 45"/>
              <a:gd name="T5" fmla="*/ 0 h 10"/>
            </a:gdLst>
            <a:ahLst/>
            <a:cxnLst>
              <a:cxn ang="0">
                <a:pos x="T0" y="T1"/>
              </a:cxn>
              <a:cxn ang="0">
                <a:pos x="T2" y="T3"/>
              </a:cxn>
              <a:cxn ang="0">
                <a:pos x="T4" y="T5"/>
              </a:cxn>
            </a:cxnLst>
            <a:rect l="0" t="0" r="r" b="b"/>
            <a:pathLst>
              <a:path w="45" h="10">
                <a:moveTo>
                  <a:pt x="45" y="10"/>
                </a:moveTo>
                <a:lnTo>
                  <a:pt x="25" y="4"/>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 name="Freeform 135"/>
          <p:cNvSpPr>
            <a:spLocks/>
          </p:cNvSpPr>
          <p:nvPr/>
        </p:nvSpPr>
        <p:spPr bwMode="auto">
          <a:xfrm>
            <a:off x="3240088" y="3706813"/>
            <a:ext cx="74613" cy="0"/>
          </a:xfrm>
          <a:custGeom>
            <a:avLst/>
            <a:gdLst>
              <a:gd name="T0" fmla="*/ 47 w 47"/>
              <a:gd name="T1" fmla="*/ 37 w 47"/>
              <a:gd name="T2" fmla="*/ 10 w 47"/>
              <a:gd name="T3" fmla="*/ 0 w 47"/>
            </a:gdLst>
            <a:ahLst/>
            <a:cxnLst>
              <a:cxn ang="0">
                <a:pos x="T0" y="0"/>
              </a:cxn>
              <a:cxn ang="0">
                <a:pos x="T1" y="0"/>
              </a:cxn>
              <a:cxn ang="0">
                <a:pos x="T2" y="0"/>
              </a:cxn>
              <a:cxn ang="0">
                <a:pos x="T3" y="0"/>
              </a:cxn>
            </a:cxnLst>
            <a:rect l="0" t="0" r="r" b="b"/>
            <a:pathLst>
              <a:path w="47">
                <a:moveTo>
                  <a:pt x="47" y="0"/>
                </a:moveTo>
                <a:lnTo>
                  <a:pt x="37" y="0"/>
                </a:lnTo>
                <a:lnTo>
                  <a:pt x="10" y="0"/>
                </a:lnTo>
                <a:lnTo>
                  <a:pt x="0" y="0"/>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 name="Freeform 136"/>
          <p:cNvSpPr>
            <a:spLocks/>
          </p:cNvSpPr>
          <p:nvPr/>
        </p:nvSpPr>
        <p:spPr bwMode="auto">
          <a:xfrm>
            <a:off x="3092451" y="3709988"/>
            <a:ext cx="74613" cy="12700"/>
          </a:xfrm>
          <a:custGeom>
            <a:avLst/>
            <a:gdLst>
              <a:gd name="T0" fmla="*/ 47 w 47"/>
              <a:gd name="T1" fmla="*/ 0 h 8"/>
              <a:gd name="T2" fmla="*/ 19 w 47"/>
              <a:gd name="T3" fmla="*/ 4 h 8"/>
              <a:gd name="T4" fmla="*/ 0 w 47"/>
              <a:gd name="T5" fmla="*/ 8 h 8"/>
            </a:gdLst>
            <a:ahLst/>
            <a:cxnLst>
              <a:cxn ang="0">
                <a:pos x="T0" y="T1"/>
              </a:cxn>
              <a:cxn ang="0">
                <a:pos x="T2" y="T3"/>
              </a:cxn>
              <a:cxn ang="0">
                <a:pos x="T4" y="T5"/>
              </a:cxn>
            </a:cxnLst>
            <a:rect l="0" t="0" r="r" b="b"/>
            <a:pathLst>
              <a:path w="47" h="8">
                <a:moveTo>
                  <a:pt x="47" y="0"/>
                </a:moveTo>
                <a:lnTo>
                  <a:pt x="19" y="4"/>
                </a:lnTo>
                <a:lnTo>
                  <a:pt x="0" y="8"/>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 name="Freeform 137"/>
          <p:cNvSpPr>
            <a:spLocks/>
          </p:cNvSpPr>
          <p:nvPr/>
        </p:nvSpPr>
        <p:spPr bwMode="auto">
          <a:xfrm>
            <a:off x="2949576" y="3738563"/>
            <a:ext cx="71438" cy="23813"/>
          </a:xfrm>
          <a:custGeom>
            <a:avLst/>
            <a:gdLst>
              <a:gd name="T0" fmla="*/ 45 w 45"/>
              <a:gd name="T1" fmla="*/ 0 h 15"/>
              <a:gd name="T2" fmla="*/ 31 w 45"/>
              <a:gd name="T3" fmla="*/ 4 h 15"/>
              <a:gd name="T4" fmla="*/ 6 w 45"/>
              <a:gd name="T5" fmla="*/ 13 h 15"/>
              <a:gd name="T6" fmla="*/ 0 w 45"/>
              <a:gd name="T7" fmla="*/ 15 h 15"/>
            </a:gdLst>
            <a:ahLst/>
            <a:cxnLst>
              <a:cxn ang="0">
                <a:pos x="T0" y="T1"/>
              </a:cxn>
              <a:cxn ang="0">
                <a:pos x="T2" y="T3"/>
              </a:cxn>
              <a:cxn ang="0">
                <a:pos x="T4" y="T5"/>
              </a:cxn>
              <a:cxn ang="0">
                <a:pos x="T6" y="T7"/>
              </a:cxn>
            </a:cxnLst>
            <a:rect l="0" t="0" r="r" b="b"/>
            <a:pathLst>
              <a:path w="45" h="15">
                <a:moveTo>
                  <a:pt x="45" y="0"/>
                </a:moveTo>
                <a:lnTo>
                  <a:pt x="31" y="4"/>
                </a:lnTo>
                <a:lnTo>
                  <a:pt x="6" y="13"/>
                </a:lnTo>
                <a:lnTo>
                  <a:pt x="0" y="15"/>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 name="Freeform 138"/>
          <p:cNvSpPr>
            <a:spLocks/>
          </p:cNvSpPr>
          <p:nvPr/>
        </p:nvSpPr>
        <p:spPr bwMode="auto">
          <a:xfrm>
            <a:off x="2816226" y="3790950"/>
            <a:ext cx="65088" cy="33338"/>
          </a:xfrm>
          <a:custGeom>
            <a:avLst/>
            <a:gdLst>
              <a:gd name="T0" fmla="*/ 41 w 41"/>
              <a:gd name="T1" fmla="*/ 0 h 21"/>
              <a:gd name="T2" fmla="*/ 41 w 41"/>
              <a:gd name="T3" fmla="*/ 0 h 21"/>
              <a:gd name="T4" fmla="*/ 18 w 41"/>
              <a:gd name="T5" fmla="*/ 12 h 21"/>
              <a:gd name="T6" fmla="*/ 0 w 41"/>
              <a:gd name="T7" fmla="*/ 21 h 21"/>
            </a:gdLst>
            <a:ahLst/>
            <a:cxnLst>
              <a:cxn ang="0">
                <a:pos x="T0" y="T1"/>
              </a:cxn>
              <a:cxn ang="0">
                <a:pos x="T2" y="T3"/>
              </a:cxn>
              <a:cxn ang="0">
                <a:pos x="T4" y="T5"/>
              </a:cxn>
              <a:cxn ang="0">
                <a:pos x="T6" y="T7"/>
              </a:cxn>
            </a:cxnLst>
            <a:rect l="0" t="0" r="r" b="b"/>
            <a:pathLst>
              <a:path w="41" h="21">
                <a:moveTo>
                  <a:pt x="41" y="0"/>
                </a:moveTo>
                <a:lnTo>
                  <a:pt x="41" y="0"/>
                </a:lnTo>
                <a:lnTo>
                  <a:pt x="18" y="12"/>
                </a:lnTo>
                <a:lnTo>
                  <a:pt x="0" y="21"/>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 name="Freeform 139"/>
          <p:cNvSpPr>
            <a:spLocks/>
          </p:cNvSpPr>
          <p:nvPr/>
        </p:nvSpPr>
        <p:spPr bwMode="auto">
          <a:xfrm>
            <a:off x="2695576" y="3865563"/>
            <a:ext cx="60325" cy="46038"/>
          </a:xfrm>
          <a:custGeom>
            <a:avLst/>
            <a:gdLst>
              <a:gd name="T0" fmla="*/ 38 w 38"/>
              <a:gd name="T1" fmla="*/ 0 h 29"/>
              <a:gd name="T2" fmla="*/ 28 w 38"/>
              <a:gd name="T3" fmla="*/ 7 h 29"/>
              <a:gd name="T4" fmla="*/ 6 w 38"/>
              <a:gd name="T5" fmla="*/ 23 h 29"/>
              <a:gd name="T6" fmla="*/ 0 w 38"/>
              <a:gd name="T7" fmla="*/ 29 h 29"/>
            </a:gdLst>
            <a:ahLst/>
            <a:cxnLst>
              <a:cxn ang="0">
                <a:pos x="T0" y="T1"/>
              </a:cxn>
              <a:cxn ang="0">
                <a:pos x="T2" y="T3"/>
              </a:cxn>
              <a:cxn ang="0">
                <a:pos x="T4" y="T5"/>
              </a:cxn>
              <a:cxn ang="0">
                <a:pos x="T6" y="T7"/>
              </a:cxn>
            </a:cxnLst>
            <a:rect l="0" t="0" r="r" b="b"/>
            <a:pathLst>
              <a:path w="38" h="29">
                <a:moveTo>
                  <a:pt x="38" y="0"/>
                </a:moveTo>
                <a:lnTo>
                  <a:pt x="28" y="7"/>
                </a:lnTo>
                <a:lnTo>
                  <a:pt x="6" y="23"/>
                </a:lnTo>
                <a:lnTo>
                  <a:pt x="0" y="29"/>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 name="Freeform 140"/>
          <p:cNvSpPr>
            <a:spLocks/>
          </p:cNvSpPr>
          <p:nvPr/>
        </p:nvSpPr>
        <p:spPr bwMode="auto">
          <a:xfrm>
            <a:off x="2590801" y="3960813"/>
            <a:ext cx="49213" cy="55563"/>
          </a:xfrm>
          <a:custGeom>
            <a:avLst/>
            <a:gdLst>
              <a:gd name="T0" fmla="*/ 31 w 31"/>
              <a:gd name="T1" fmla="*/ 0 h 35"/>
              <a:gd name="T2" fmla="*/ 16 w 31"/>
              <a:gd name="T3" fmla="*/ 18 h 35"/>
              <a:gd name="T4" fmla="*/ 0 w 31"/>
              <a:gd name="T5" fmla="*/ 35 h 35"/>
            </a:gdLst>
            <a:ahLst/>
            <a:cxnLst>
              <a:cxn ang="0">
                <a:pos x="T0" y="T1"/>
              </a:cxn>
              <a:cxn ang="0">
                <a:pos x="T2" y="T3"/>
              </a:cxn>
              <a:cxn ang="0">
                <a:pos x="T4" y="T5"/>
              </a:cxn>
            </a:cxnLst>
            <a:rect l="0" t="0" r="r" b="b"/>
            <a:pathLst>
              <a:path w="31" h="35">
                <a:moveTo>
                  <a:pt x="31" y="0"/>
                </a:moveTo>
                <a:lnTo>
                  <a:pt x="16" y="18"/>
                </a:lnTo>
                <a:lnTo>
                  <a:pt x="0" y="35"/>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 name="Freeform 141"/>
          <p:cNvSpPr>
            <a:spLocks/>
          </p:cNvSpPr>
          <p:nvPr/>
        </p:nvSpPr>
        <p:spPr bwMode="auto">
          <a:xfrm>
            <a:off x="2508251" y="4075113"/>
            <a:ext cx="39688" cy="65088"/>
          </a:xfrm>
          <a:custGeom>
            <a:avLst/>
            <a:gdLst>
              <a:gd name="T0" fmla="*/ 25 w 25"/>
              <a:gd name="T1" fmla="*/ 0 h 41"/>
              <a:gd name="T2" fmla="*/ 19 w 25"/>
              <a:gd name="T3" fmla="*/ 8 h 41"/>
              <a:gd name="T4" fmla="*/ 6 w 25"/>
              <a:gd name="T5" fmla="*/ 29 h 41"/>
              <a:gd name="T6" fmla="*/ 0 w 25"/>
              <a:gd name="T7" fmla="*/ 41 h 41"/>
            </a:gdLst>
            <a:ahLst/>
            <a:cxnLst>
              <a:cxn ang="0">
                <a:pos x="T0" y="T1"/>
              </a:cxn>
              <a:cxn ang="0">
                <a:pos x="T2" y="T3"/>
              </a:cxn>
              <a:cxn ang="0">
                <a:pos x="T4" y="T5"/>
              </a:cxn>
              <a:cxn ang="0">
                <a:pos x="T6" y="T7"/>
              </a:cxn>
            </a:cxnLst>
            <a:rect l="0" t="0" r="r" b="b"/>
            <a:pathLst>
              <a:path w="25" h="41">
                <a:moveTo>
                  <a:pt x="25" y="0"/>
                </a:moveTo>
                <a:lnTo>
                  <a:pt x="19" y="8"/>
                </a:lnTo>
                <a:lnTo>
                  <a:pt x="6" y="29"/>
                </a:lnTo>
                <a:lnTo>
                  <a:pt x="0" y="41"/>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 name="Freeform 142"/>
          <p:cNvSpPr>
            <a:spLocks/>
          </p:cNvSpPr>
          <p:nvPr/>
        </p:nvSpPr>
        <p:spPr bwMode="auto">
          <a:xfrm>
            <a:off x="2446338" y="4205288"/>
            <a:ext cx="26988" cy="68263"/>
          </a:xfrm>
          <a:custGeom>
            <a:avLst/>
            <a:gdLst>
              <a:gd name="T0" fmla="*/ 17 w 17"/>
              <a:gd name="T1" fmla="*/ 0 h 43"/>
              <a:gd name="T2" fmla="*/ 9 w 17"/>
              <a:gd name="T3" fmla="*/ 17 h 43"/>
              <a:gd name="T4" fmla="*/ 0 w 17"/>
              <a:gd name="T5" fmla="*/ 43 h 43"/>
              <a:gd name="T6" fmla="*/ 0 w 17"/>
              <a:gd name="T7" fmla="*/ 43 h 43"/>
            </a:gdLst>
            <a:ahLst/>
            <a:cxnLst>
              <a:cxn ang="0">
                <a:pos x="T0" y="T1"/>
              </a:cxn>
              <a:cxn ang="0">
                <a:pos x="T2" y="T3"/>
              </a:cxn>
              <a:cxn ang="0">
                <a:pos x="T4" y="T5"/>
              </a:cxn>
              <a:cxn ang="0">
                <a:pos x="T6" y="T7"/>
              </a:cxn>
            </a:cxnLst>
            <a:rect l="0" t="0" r="r" b="b"/>
            <a:pathLst>
              <a:path w="17" h="43">
                <a:moveTo>
                  <a:pt x="17" y="0"/>
                </a:moveTo>
                <a:lnTo>
                  <a:pt x="9" y="17"/>
                </a:lnTo>
                <a:lnTo>
                  <a:pt x="0" y="43"/>
                </a:lnTo>
                <a:lnTo>
                  <a:pt x="0" y="43"/>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 name="Freeform 143"/>
          <p:cNvSpPr>
            <a:spLocks/>
          </p:cNvSpPr>
          <p:nvPr/>
        </p:nvSpPr>
        <p:spPr bwMode="auto">
          <a:xfrm>
            <a:off x="2405063" y="4343400"/>
            <a:ext cx="15875" cy="71438"/>
          </a:xfrm>
          <a:custGeom>
            <a:avLst/>
            <a:gdLst>
              <a:gd name="T0" fmla="*/ 10 w 10"/>
              <a:gd name="T1" fmla="*/ 0 h 45"/>
              <a:gd name="T2" fmla="*/ 8 w 10"/>
              <a:gd name="T3" fmla="*/ 6 h 45"/>
              <a:gd name="T4" fmla="*/ 2 w 10"/>
              <a:gd name="T5" fmla="*/ 32 h 45"/>
              <a:gd name="T6" fmla="*/ 0 w 10"/>
              <a:gd name="T7" fmla="*/ 45 h 45"/>
            </a:gdLst>
            <a:ahLst/>
            <a:cxnLst>
              <a:cxn ang="0">
                <a:pos x="T0" y="T1"/>
              </a:cxn>
              <a:cxn ang="0">
                <a:pos x="T2" y="T3"/>
              </a:cxn>
              <a:cxn ang="0">
                <a:pos x="T4" y="T5"/>
              </a:cxn>
              <a:cxn ang="0">
                <a:pos x="T6" y="T7"/>
              </a:cxn>
            </a:cxnLst>
            <a:rect l="0" t="0" r="r" b="b"/>
            <a:pathLst>
              <a:path w="10" h="45">
                <a:moveTo>
                  <a:pt x="10" y="0"/>
                </a:moveTo>
                <a:lnTo>
                  <a:pt x="8" y="6"/>
                </a:lnTo>
                <a:lnTo>
                  <a:pt x="2" y="32"/>
                </a:lnTo>
                <a:lnTo>
                  <a:pt x="0" y="45"/>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 name="Freeform 144"/>
          <p:cNvSpPr>
            <a:spLocks/>
          </p:cNvSpPr>
          <p:nvPr/>
        </p:nvSpPr>
        <p:spPr bwMode="auto">
          <a:xfrm>
            <a:off x="2393951" y="4489450"/>
            <a:ext cx="3175" cy="74613"/>
          </a:xfrm>
          <a:custGeom>
            <a:avLst/>
            <a:gdLst>
              <a:gd name="T0" fmla="*/ 2 w 2"/>
              <a:gd name="T1" fmla="*/ 0 h 47"/>
              <a:gd name="T2" fmla="*/ 0 w 2"/>
              <a:gd name="T3" fmla="*/ 21 h 47"/>
              <a:gd name="T4" fmla="*/ 0 w 2"/>
              <a:gd name="T5" fmla="*/ 47 h 47"/>
            </a:gdLst>
            <a:ahLst/>
            <a:cxnLst>
              <a:cxn ang="0">
                <a:pos x="T0" y="T1"/>
              </a:cxn>
              <a:cxn ang="0">
                <a:pos x="T2" y="T3"/>
              </a:cxn>
              <a:cxn ang="0">
                <a:pos x="T4" y="T5"/>
              </a:cxn>
            </a:cxnLst>
            <a:rect l="0" t="0" r="r" b="b"/>
            <a:pathLst>
              <a:path w="2" h="47">
                <a:moveTo>
                  <a:pt x="2" y="0"/>
                </a:moveTo>
                <a:lnTo>
                  <a:pt x="0" y="21"/>
                </a:lnTo>
                <a:lnTo>
                  <a:pt x="0" y="47"/>
                </a:lnTo>
              </a:path>
            </a:pathLst>
          </a:custGeom>
          <a:noFill/>
          <a:ln w="25400">
            <a:solidFill>
              <a:srgbClr val="BBBD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51" name="Picture 15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20208" y="2621960"/>
            <a:ext cx="1440343" cy="1094378"/>
          </a:xfrm>
          <a:prstGeom prst="rect">
            <a:avLst/>
          </a:prstGeom>
        </p:spPr>
      </p:pic>
      <p:sp>
        <p:nvSpPr>
          <p:cNvPr id="152" name="Rectangle 9"/>
          <p:cNvSpPr>
            <a:spLocks noChangeArrowheads="1"/>
          </p:cNvSpPr>
          <p:nvPr/>
        </p:nvSpPr>
        <p:spPr bwMode="auto">
          <a:xfrm>
            <a:off x="661988" y="4165600"/>
            <a:ext cx="15779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700" i="0" u="none" strike="noStrike" cap="none" normalizeH="0" baseline="0" dirty="0" smtClean="0">
                <a:ln>
                  <a:noFill/>
                </a:ln>
                <a:solidFill>
                  <a:srgbClr val="169DD9"/>
                </a:solidFill>
                <a:effectLst/>
                <a:latin typeface="HelveticaNeueLT Std Med Cn" pitchFamily="34" charset="0"/>
                <a:cs typeface="Arial" pitchFamily="34" charset="0"/>
              </a:rPr>
              <a:t>expenditure</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287" name="Rectangle 13"/>
          <p:cNvSpPr>
            <a:spLocks noChangeArrowheads="1"/>
          </p:cNvSpPr>
          <p:nvPr/>
        </p:nvSpPr>
        <p:spPr bwMode="auto">
          <a:xfrm>
            <a:off x="847726" y="4489450"/>
            <a:ext cx="13906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700" i="0" u="none" strike="noStrike" cap="none" normalizeH="0" baseline="0" dirty="0" smtClean="0">
                <a:ln>
                  <a:noFill/>
                </a:ln>
                <a:solidFill>
                  <a:srgbClr val="169DD9"/>
                </a:solidFill>
                <a:effectLst/>
                <a:latin typeface="HelveticaNeueLT Std Med Cn" pitchFamily="34" charset="0"/>
                <a:cs typeface="Arial" pitchFamily="34" charset="0"/>
              </a:rPr>
              <a:t>worldwide</a:t>
            </a:r>
            <a:endParaRPr kumimoji="0" lang="en-US" altLang="en-US" sz="1800" i="0" u="none" strike="noStrike" cap="none" normalizeH="0" baseline="0" dirty="0" smtClean="0">
              <a:ln>
                <a:noFill/>
              </a:ln>
              <a:solidFill>
                <a:schemeClr val="tx1"/>
              </a:solidFill>
              <a:effectLst/>
              <a:cs typeface="Arial" pitchFamily="34" charset="0"/>
            </a:endParaRPr>
          </a:p>
        </p:txBody>
      </p:sp>
      <p:sp>
        <p:nvSpPr>
          <p:cNvPr id="288" name="Rectangle 15"/>
          <p:cNvSpPr>
            <a:spLocks noChangeArrowheads="1"/>
          </p:cNvSpPr>
          <p:nvPr/>
        </p:nvSpPr>
        <p:spPr bwMode="auto">
          <a:xfrm>
            <a:off x="1579563" y="4818063"/>
            <a:ext cx="6667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700" i="0" u="none" strike="noStrike" cap="none" normalizeH="0" baseline="0" dirty="0" smtClean="0">
                <a:ln>
                  <a:noFill/>
                </a:ln>
                <a:solidFill>
                  <a:srgbClr val="169DD9"/>
                </a:solidFill>
                <a:effectLst/>
                <a:latin typeface="HelveticaNeueLT Std Med Cn" pitchFamily="34" charset="0"/>
                <a:cs typeface="Arial" pitchFamily="34" charset="0"/>
              </a:rPr>
              <a:t>2013</a:t>
            </a:r>
            <a:endParaRPr kumimoji="0" lang="en-US" altLang="en-US" sz="1800" i="0" u="none" strike="noStrike" cap="none" normalizeH="0" baseline="0" dirty="0" smtClean="0">
              <a:ln>
                <a:noFill/>
              </a:ln>
              <a:solidFill>
                <a:schemeClr val="tx1"/>
              </a:solidFill>
              <a:effectLst/>
              <a:cs typeface="Arial" pitchFamily="34" charset="0"/>
            </a:endParaRPr>
          </a:p>
        </p:txBody>
      </p:sp>
    </p:spTree>
    <p:extLst>
      <p:ext uri="{BB962C8B-B14F-4D97-AF65-F5344CB8AC3E}">
        <p14:creationId xmlns:p14="http://schemas.microsoft.com/office/powerpoint/2010/main" val="42266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t="13056"/>
          <a:stretch/>
        </p:blipFill>
        <p:spPr>
          <a:xfrm>
            <a:off x="0" y="85725"/>
            <a:ext cx="9144000" cy="5962649"/>
          </a:xfrm>
          <a:prstGeom prst="rect">
            <a:avLst/>
          </a:prstGeom>
        </p:spPr>
      </p:pic>
      <p:sp>
        <p:nvSpPr>
          <p:cNvPr id="31" name="Rectangle 3"/>
          <p:cNvSpPr/>
          <p:nvPr/>
        </p:nvSpPr>
        <p:spPr>
          <a:xfrm flipH="1" flipV="1">
            <a:off x="-23178" y="-15245"/>
            <a:ext cx="9205461" cy="1238115"/>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 name="connsiteX0" fmla="*/ 12357 w 9144000"/>
              <a:gd name="connsiteY0" fmla="*/ 4633784 h 6858000"/>
              <a:gd name="connsiteX1" fmla="*/ 9144000 w 9144000"/>
              <a:gd name="connsiteY1" fmla="*/ 0 h 6858000"/>
              <a:gd name="connsiteX2" fmla="*/ 9144000 w 9144000"/>
              <a:gd name="connsiteY2" fmla="*/ 6858000 h 6858000"/>
              <a:gd name="connsiteX3" fmla="*/ 0 w 9144000"/>
              <a:gd name="connsiteY3" fmla="*/ 6858000 h 6858000"/>
              <a:gd name="connsiteX4" fmla="*/ 12357 w 9144000"/>
              <a:gd name="connsiteY4" fmla="*/ 4633784 h 6858000"/>
              <a:gd name="connsiteX0" fmla="*/ 12357 w 9205784"/>
              <a:gd name="connsiteY0" fmla="*/ 259492 h 2483708"/>
              <a:gd name="connsiteX1" fmla="*/ 9205784 w 9205784"/>
              <a:gd name="connsiteY1" fmla="*/ 0 h 2483708"/>
              <a:gd name="connsiteX2" fmla="*/ 9144000 w 9205784"/>
              <a:gd name="connsiteY2" fmla="*/ 2483708 h 2483708"/>
              <a:gd name="connsiteX3" fmla="*/ 0 w 9205784"/>
              <a:gd name="connsiteY3" fmla="*/ 2483708 h 2483708"/>
              <a:gd name="connsiteX4" fmla="*/ 12357 w 9205784"/>
              <a:gd name="connsiteY4" fmla="*/ 259492 h 2483708"/>
              <a:gd name="connsiteX0" fmla="*/ 12357 w 9403492"/>
              <a:gd name="connsiteY0" fmla="*/ 0 h 2224216"/>
              <a:gd name="connsiteX1" fmla="*/ 9403492 w 9403492"/>
              <a:gd name="connsiteY1" fmla="*/ 766119 h 2224216"/>
              <a:gd name="connsiteX2" fmla="*/ 9144000 w 9403492"/>
              <a:gd name="connsiteY2" fmla="*/ 2224216 h 2224216"/>
              <a:gd name="connsiteX3" fmla="*/ 0 w 9403492"/>
              <a:gd name="connsiteY3" fmla="*/ 2224216 h 2224216"/>
              <a:gd name="connsiteX4" fmla="*/ 12357 w 9403492"/>
              <a:gd name="connsiteY4" fmla="*/ 0 h 2224216"/>
              <a:gd name="connsiteX0" fmla="*/ 12357 w 9378778"/>
              <a:gd name="connsiteY0" fmla="*/ 0 h 2224216"/>
              <a:gd name="connsiteX1" fmla="*/ 9378778 w 9378778"/>
              <a:gd name="connsiteY1" fmla="*/ 864973 h 2224216"/>
              <a:gd name="connsiteX2" fmla="*/ 9144000 w 9378778"/>
              <a:gd name="connsiteY2" fmla="*/ 2224216 h 2224216"/>
              <a:gd name="connsiteX3" fmla="*/ 0 w 9378778"/>
              <a:gd name="connsiteY3" fmla="*/ 2224216 h 2224216"/>
              <a:gd name="connsiteX4" fmla="*/ 12357 w 9378778"/>
              <a:gd name="connsiteY4" fmla="*/ 0 h 2224216"/>
              <a:gd name="connsiteX0" fmla="*/ 0 w 9403492"/>
              <a:gd name="connsiteY0" fmla="*/ 0 h 2162432"/>
              <a:gd name="connsiteX1" fmla="*/ 9403492 w 9403492"/>
              <a:gd name="connsiteY1" fmla="*/ 803189 h 2162432"/>
              <a:gd name="connsiteX2" fmla="*/ 9168714 w 9403492"/>
              <a:gd name="connsiteY2" fmla="*/ 2162432 h 2162432"/>
              <a:gd name="connsiteX3" fmla="*/ 24714 w 9403492"/>
              <a:gd name="connsiteY3" fmla="*/ 2162432 h 2162432"/>
              <a:gd name="connsiteX4" fmla="*/ 0 w 9403492"/>
              <a:gd name="connsiteY4" fmla="*/ 0 h 2162432"/>
              <a:gd name="connsiteX0" fmla="*/ 0 w 9548725"/>
              <a:gd name="connsiteY0" fmla="*/ 0 h 2221809"/>
              <a:gd name="connsiteX1" fmla="*/ 9403492 w 9548725"/>
              <a:gd name="connsiteY1" fmla="*/ 803189 h 2221809"/>
              <a:gd name="connsiteX2" fmla="*/ 9548725 w 9548725"/>
              <a:gd name="connsiteY2" fmla="*/ 2221809 h 2221809"/>
              <a:gd name="connsiteX3" fmla="*/ 24714 w 9548725"/>
              <a:gd name="connsiteY3" fmla="*/ 2162432 h 2221809"/>
              <a:gd name="connsiteX4" fmla="*/ 0 w 9548725"/>
              <a:gd name="connsiteY4" fmla="*/ 0 h 2221809"/>
              <a:gd name="connsiteX0" fmla="*/ 0 w 9548725"/>
              <a:gd name="connsiteY0" fmla="*/ 0 h 2221809"/>
              <a:gd name="connsiteX1" fmla="*/ 9510370 w 9548725"/>
              <a:gd name="connsiteY1" fmla="*/ 815064 h 2221809"/>
              <a:gd name="connsiteX2" fmla="*/ 9548725 w 9548725"/>
              <a:gd name="connsiteY2" fmla="*/ 2221809 h 2221809"/>
              <a:gd name="connsiteX3" fmla="*/ 24714 w 9548725"/>
              <a:gd name="connsiteY3" fmla="*/ 2162432 h 2221809"/>
              <a:gd name="connsiteX4" fmla="*/ 0 w 9548725"/>
              <a:gd name="connsiteY4" fmla="*/ 0 h 2221809"/>
              <a:gd name="connsiteX0" fmla="*/ 10911 w 9524011"/>
              <a:gd name="connsiteY0" fmla="*/ 0 h 1972427"/>
              <a:gd name="connsiteX1" fmla="*/ 9485656 w 9524011"/>
              <a:gd name="connsiteY1" fmla="*/ 565682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1972427"/>
              <a:gd name="connsiteX1" fmla="*/ 9509407 w 9524011"/>
              <a:gd name="connsiteY1" fmla="*/ 815064 h 1972427"/>
              <a:gd name="connsiteX2" fmla="*/ 9524011 w 9524011"/>
              <a:gd name="connsiteY2" fmla="*/ 1972427 h 1972427"/>
              <a:gd name="connsiteX3" fmla="*/ 0 w 9524011"/>
              <a:gd name="connsiteY3" fmla="*/ 1913050 h 1972427"/>
              <a:gd name="connsiteX4" fmla="*/ 10911 w 9524011"/>
              <a:gd name="connsiteY4" fmla="*/ 0 h 1972427"/>
              <a:gd name="connsiteX0" fmla="*/ 10911 w 9524011"/>
              <a:gd name="connsiteY0" fmla="*/ 0 h 2131915"/>
              <a:gd name="connsiteX1" fmla="*/ 9509407 w 9524011"/>
              <a:gd name="connsiteY1" fmla="*/ 974552 h 2131915"/>
              <a:gd name="connsiteX2" fmla="*/ 9524011 w 9524011"/>
              <a:gd name="connsiteY2" fmla="*/ 2131915 h 2131915"/>
              <a:gd name="connsiteX3" fmla="*/ 0 w 9524011"/>
              <a:gd name="connsiteY3" fmla="*/ 2072538 h 2131915"/>
              <a:gd name="connsiteX4" fmla="*/ 10911 w 9524011"/>
              <a:gd name="connsiteY4" fmla="*/ 0 h 2131915"/>
              <a:gd name="connsiteX0" fmla="*/ 0 w 9513100"/>
              <a:gd name="connsiteY0" fmla="*/ 0 h 2131915"/>
              <a:gd name="connsiteX1" fmla="*/ 9498496 w 9513100"/>
              <a:gd name="connsiteY1" fmla="*/ 974552 h 2131915"/>
              <a:gd name="connsiteX2" fmla="*/ 9513100 w 9513100"/>
              <a:gd name="connsiteY2" fmla="*/ 2131915 h 2131915"/>
              <a:gd name="connsiteX3" fmla="*/ 42252 w 9513100"/>
              <a:gd name="connsiteY3" fmla="*/ 1349524 h 2131915"/>
              <a:gd name="connsiteX4" fmla="*/ 0 w 9513100"/>
              <a:gd name="connsiteY4" fmla="*/ 0 h 2131915"/>
              <a:gd name="connsiteX0" fmla="*/ 0 w 9630058"/>
              <a:gd name="connsiteY0" fmla="*/ 0 h 1349524"/>
              <a:gd name="connsiteX1" fmla="*/ 9498496 w 9630058"/>
              <a:gd name="connsiteY1" fmla="*/ 974552 h 1349524"/>
              <a:gd name="connsiteX2" fmla="*/ 9630058 w 9630058"/>
              <a:gd name="connsiteY2" fmla="*/ 1185617 h 1349524"/>
              <a:gd name="connsiteX3" fmla="*/ 42252 w 9630058"/>
              <a:gd name="connsiteY3" fmla="*/ 1349524 h 1349524"/>
              <a:gd name="connsiteX4" fmla="*/ 0 w 9630058"/>
              <a:gd name="connsiteY4" fmla="*/ 0 h 1349524"/>
              <a:gd name="connsiteX0" fmla="*/ 0 w 9523732"/>
              <a:gd name="connsiteY0" fmla="*/ 0 h 1349524"/>
              <a:gd name="connsiteX1" fmla="*/ 9498496 w 9523732"/>
              <a:gd name="connsiteY1" fmla="*/ 974552 h 1349524"/>
              <a:gd name="connsiteX2" fmla="*/ 9523732 w 9523732"/>
              <a:gd name="connsiteY2" fmla="*/ 1323840 h 1349524"/>
              <a:gd name="connsiteX3" fmla="*/ 42252 w 9523732"/>
              <a:gd name="connsiteY3" fmla="*/ 1349524 h 1349524"/>
              <a:gd name="connsiteX4" fmla="*/ 0 w 9523732"/>
              <a:gd name="connsiteY4" fmla="*/ 0 h 1349524"/>
              <a:gd name="connsiteX0" fmla="*/ 0 w 9523732"/>
              <a:gd name="connsiteY0" fmla="*/ 0 h 1349524"/>
              <a:gd name="connsiteX1" fmla="*/ 9455966 w 9523732"/>
              <a:gd name="connsiteY1" fmla="*/ 655575 h 1349524"/>
              <a:gd name="connsiteX2" fmla="*/ 9523732 w 9523732"/>
              <a:gd name="connsiteY2" fmla="*/ 1323840 h 1349524"/>
              <a:gd name="connsiteX3" fmla="*/ 42252 w 9523732"/>
              <a:gd name="connsiteY3" fmla="*/ 1349524 h 1349524"/>
              <a:gd name="connsiteX4" fmla="*/ 0 w 9523732"/>
              <a:gd name="connsiteY4" fmla="*/ 0 h 1349524"/>
              <a:gd name="connsiteX0" fmla="*/ 0 w 9455966"/>
              <a:gd name="connsiteY0" fmla="*/ 0 h 1349524"/>
              <a:gd name="connsiteX1" fmla="*/ 9455966 w 9455966"/>
              <a:gd name="connsiteY1" fmla="*/ 655575 h 1349524"/>
              <a:gd name="connsiteX2" fmla="*/ 9361807 w 9455966"/>
              <a:gd name="connsiteY2" fmla="*/ 1333365 h 1349524"/>
              <a:gd name="connsiteX3" fmla="*/ 42252 w 9455966"/>
              <a:gd name="connsiteY3" fmla="*/ 1349524 h 1349524"/>
              <a:gd name="connsiteX4" fmla="*/ 0 w 9455966"/>
              <a:gd name="connsiteY4" fmla="*/ 0 h 1349524"/>
              <a:gd name="connsiteX0" fmla="*/ 0 w 9361807"/>
              <a:gd name="connsiteY0" fmla="*/ 0 h 1349524"/>
              <a:gd name="connsiteX1" fmla="*/ 9360716 w 9361807"/>
              <a:gd name="connsiteY1" fmla="*/ 655575 h 1349524"/>
              <a:gd name="connsiteX2" fmla="*/ 9361807 w 9361807"/>
              <a:gd name="connsiteY2" fmla="*/ 1333365 h 1349524"/>
              <a:gd name="connsiteX3" fmla="*/ 42252 w 9361807"/>
              <a:gd name="connsiteY3" fmla="*/ 1349524 h 1349524"/>
              <a:gd name="connsiteX4" fmla="*/ 0 w 9361807"/>
              <a:gd name="connsiteY4" fmla="*/ 0 h 1349524"/>
              <a:gd name="connsiteX0" fmla="*/ 129198 w 9319555"/>
              <a:gd name="connsiteY0" fmla="*/ 0 h 1330474"/>
              <a:gd name="connsiteX1" fmla="*/ 9318464 w 9319555"/>
              <a:gd name="connsiteY1" fmla="*/ 636525 h 1330474"/>
              <a:gd name="connsiteX2" fmla="*/ 9319555 w 9319555"/>
              <a:gd name="connsiteY2" fmla="*/ 1314315 h 1330474"/>
              <a:gd name="connsiteX3" fmla="*/ 0 w 9319555"/>
              <a:gd name="connsiteY3" fmla="*/ 1330474 h 1330474"/>
              <a:gd name="connsiteX4" fmla="*/ 129198 w 9319555"/>
              <a:gd name="connsiteY4" fmla="*/ 0 h 1330474"/>
              <a:gd name="connsiteX0" fmla="*/ 0 w 9190357"/>
              <a:gd name="connsiteY0" fmla="*/ 0 h 1314315"/>
              <a:gd name="connsiteX1" fmla="*/ 9189266 w 9190357"/>
              <a:gd name="connsiteY1" fmla="*/ 636525 h 1314315"/>
              <a:gd name="connsiteX2" fmla="*/ 9190357 w 9190357"/>
              <a:gd name="connsiteY2" fmla="*/ 1314315 h 1314315"/>
              <a:gd name="connsiteX3" fmla="*/ 23202 w 9190357"/>
              <a:gd name="connsiteY3" fmla="*/ 1301899 h 1314315"/>
              <a:gd name="connsiteX4" fmla="*/ 0 w 9190357"/>
              <a:gd name="connsiteY4" fmla="*/ 0 h 1314315"/>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0 w 9190357"/>
              <a:gd name="connsiteY4" fmla="*/ 0 h 1301899"/>
              <a:gd name="connsiteX0" fmla="*/ 0 w 9190357"/>
              <a:gd name="connsiteY0" fmla="*/ 0 h 1301899"/>
              <a:gd name="connsiteX1" fmla="*/ 9189266 w 9190357"/>
              <a:gd name="connsiteY1" fmla="*/ 636525 h 1301899"/>
              <a:gd name="connsiteX2" fmla="*/ 9190357 w 9190357"/>
              <a:gd name="connsiteY2" fmla="*/ 1228590 h 1301899"/>
              <a:gd name="connsiteX3" fmla="*/ 23202 w 9190357"/>
              <a:gd name="connsiteY3" fmla="*/ 1301899 h 1301899"/>
              <a:gd name="connsiteX4" fmla="*/ 4128 w 9190357"/>
              <a:gd name="connsiteY4" fmla="*/ 1184770 h 1301899"/>
              <a:gd name="connsiteX5" fmla="*/ 0 w 9190357"/>
              <a:gd name="connsiteY5" fmla="*/ 0 h 1301899"/>
              <a:gd name="connsiteX0" fmla="*/ 5797 w 9196154"/>
              <a:gd name="connsiteY0" fmla="*/ 0 h 1235224"/>
              <a:gd name="connsiteX1" fmla="*/ 9195063 w 9196154"/>
              <a:gd name="connsiteY1" fmla="*/ 636525 h 1235224"/>
              <a:gd name="connsiteX2" fmla="*/ 9196154 w 9196154"/>
              <a:gd name="connsiteY2" fmla="*/ 1228590 h 1235224"/>
              <a:gd name="connsiteX3" fmla="*/ 424 w 9196154"/>
              <a:gd name="connsiteY3" fmla="*/ 1235224 h 1235224"/>
              <a:gd name="connsiteX4" fmla="*/ 9925 w 9196154"/>
              <a:gd name="connsiteY4" fmla="*/ 1184770 h 1235224"/>
              <a:gd name="connsiteX5" fmla="*/ 5797 w 9196154"/>
              <a:gd name="connsiteY5" fmla="*/ 0 h 1235224"/>
              <a:gd name="connsiteX0" fmla="*/ 15174 w 9205531"/>
              <a:gd name="connsiteY0" fmla="*/ 0 h 1228590"/>
              <a:gd name="connsiteX1" fmla="*/ 9204440 w 9205531"/>
              <a:gd name="connsiteY1" fmla="*/ 636525 h 1228590"/>
              <a:gd name="connsiteX2" fmla="*/ 9205531 w 9205531"/>
              <a:gd name="connsiteY2" fmla="*/ 1228590 h 1228590"/>
              <a:gd name="connsiteX3" fmla="*/ 276 w 9205531"/>
              <a:gd name="connsiteY3" fmla="*/ 1178074 h 1228590"/>
              <a:gd name="connsiteX4" fmla="*/ 19302 w 9205531"/>
              <a:gd name="connsiteY4" fmla="*/ 1184770 h 1228590"/>
              <a:gd name="connsiteX5" fmla="*/ 15174 w 9205531"/>
              <a:gd name="connsiteY5" fmla="*/ 0 h 1228590"/>
              <a:gd name="connsiteX0" fmla="*/ 15104 w 9205461"/>
              <a:gd name="connsiteY0" fmla="*/ 0 h 1233396"/>
              <a:gd name="connsiteX1" fmla="*/ 9204370 w 9205461"/>
              <a:gd name="connsiteY1" fmla="*/ 636525 h 1233396"/>
              <a:gd name="connsiteX2" fmla="*/ 9205461 w 9205461"/>
              <a:gd name="connsiteY2" fmla="*/ 1228590 h 1233396"/>
              <a:gd name="connsiteX3" fmla="*/ 206 w 9205461"/>
              <a:gd name="connsiteY3" fmla="*/ 1178074 h 1233396"/>
              <a:gd name="connsiteX4" fmla="*/ 28757 w 9205461"/>
              <a:gd name="connsiteY4" fmla="*/ 1232395 h 1233396"/>
              <a:gd name="connsiteX5" fmla="*/ 15104 w 9205461"/>
              <a:gd name="connsiteY5" fmla="*/ 0 h 1233396"/>
              <a:gd name="connsiteX0" fmla="*/ 15104 w 9205461"/>
              <a:gd name="connsiteY0" fmla="*/ 0 h 1235784"/>
              <a:gd name="connsiteX1" fmla="*/ 9204370 w 9205461"/>
              <a:gd name="connsiteY1" fmla="*/ 636525 h 1235784"/>
              <a:gd name="connsiteX2" fmla="*/ 9205461 w 9205461"/>
              <a:gd name="connsiteY2" fmla="*/ 1228590 h 1235784"/>
              <a:gd name="connsiteX3" fmla="*/ 206 w 9205461"/>
              <a:gd name="connsiteY3" fmla="*/ 1235224 h 1235784"/>
              <a:gd name="connsiteX4" fmla="*/ 28757 w 9205461"/>
              <a:gd name="connsiteY4" fmla="*/ 1232395 h 1235784"/>
              <a:gd name="connsiteX5" fmla="*/ 15104 w 9205461"/>
              <a:gd name="connsiteY5" fmla="*/ 0 h 1235784"/>
              <a:gd name="connsiteX0" fmla="*/ 15104 w 9205461"/>
              <a:gd name="connsiteY0" fmla="*/ 0 h 1238115"/>
              <a:gd name="connsiteX1" fmla="*/ 9204370 w 9205461"/>
              <a:gd name="connsiteY1" fmla="*/ 636525 h 1238115"/>
              <a:gd name="connsiteX2" fmla="*/ 9205461 w 9205461"/>
              <a:gd name="connsiteY2" fmla="*/ 1238115 h 1238115"/>
              <a:gd name="connsiteX3" fmla="*/ 206 w 9205461"/>
              <a:gd name="connsiteY3" fmla="*/ 1235224 h 1238115"/>
              <a:gd name="connsiteX4" fmla="*/ 28757 w 9205461"/>
              <a:gd name="connsiteY4" fmla="*/ 1232395 h 1238115"/>
              <a:gd name="connsiteX5" fmla="*/ 15104 w 9205461"/>
              <a:gd name="connsiteY5" fmla="*/ 0 h 123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5461" h="1238115">
                <a:moveTo>
                  <a:pt x="15104" y="0"/>
                </a:moveTo>
                <a:lnTo>
                  <a:pt x="9204370" y="636525"/>
                </a:lnTo>
                <a:cubicBezTo>
                  <a:pt x="9204734" y="862455"/>
                  <a:pt x="9205097" y="1012185"/>
                  <a:pt x="9205461" y="1238115"/>
                </a:cubicBezTo>
                <a:lnTo>
                  <a:pt x="206" y="1235224"/>
                </a:lnTo>
                <a:cubicBezTo>
                  <a:pt x="-2977" y="1224756"/>
                  <a:pt x="31940" y="1242863"/>
                  <a:pt x="28757" y="1232395"/>
                </a:cubicBezTo>
                <a:lnTo>
                  <a:pt x="15104" y="0"/>
                </a:lnTo>
                <a:close/>
              </a:path>
            </a:pathLst>
          </a:cu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4" name="Content Placeholder 2"/>
          <p:cNvSpPr txBox="1">
            <a:spLocks/>
          </p:cNvSpPr>
          <p:nvPr/>
        </p:nvSpPr>
        <p:spPr bwMode="auto">
          <a:xfrm>
            <a:off x="463674" y="164354"/>
            <a:ext cx="8383443" cy="69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Clr>
                <a:srgbClr val="EC7404"/>
              </a:buClr>
              <a:buFont typeface="Wingdings" pitchFamily="2" charset="2"/>
              <a:buChar char="§"/>
              <a:defRPr sz="2800" kern="1200">
                <a:solidFill>
                  <a:srgbClr val="262626"/>
                </a:solidFill>
                <a:latin typeface="Arial"/>
                <a:ea typeface="ＭＳ Ｐゴシック" pitchFamily="30" charset="-128"/>
                <a:cs typeface="ＭＳ Ｐゴシック" pitchFamily="30" charset="-128"/>
              </a:defRPr>
            </a:lvl1pPr>
            <a:lvl2pPr marL="742950" indent="-285750" algn="l" defTabSz="457200" rtl="0" eaLnBrk="0" fontAlgn="base" hangingPunct="0">
              <a:spcBef>
                <a:spcPct val="20000"/>
              </a:spcBef>
              <a:spcAft>
                <a:spcPct val="0"/>
              </a:spcAft>
              <a:buClr>
                <a:srgbClr val="009EE0"/>
              </a:buClr>
              <a:buSzPct val="130000"/>
              <a:buFont typeface="Arial" charset="0"/>
              <a:buChar char="•"/>
              <a:defRPr sz="2600" kern="1200">
                <a:solidFill>
                  <a:srgbClr val="404040"/>
                </a:solidFill>
                <a:latin typeface="Arial"/>
                <a:ea typeface="ＭＳ Ｐゴシック" pitchFamily="30" charset="-128"/>
                <a:cs typeface="Arial"/>
              </a:defRPr>
            </a:lvl2pPr>
            <a:lvl3pPr marL="1143000" indent="-228600" algn="l" defTabSz="457200" rtl="0" eaLnBrk="0" fontAlgn="base" hangingPunct="0">
              <a:spcBef>
                <a:spcPct val="20000"/>
              </a:spcBef>
              <a:spcAft>
                <a:spcPct val="0"/>
              </a:spcAft>
              <a:buClr>
                <a:srgbClr val="76B856"/>
              </a:buClr>
              <a:buSzPct val="85000"/>
              <a:buFont typeface="Wingdings" pitchFamily="2" charset="2"/>
              <a:buChar char="§"/>
              <a:defRPr sz="2400" kern="1200">
                <a:solidFill>
                  <a:srgbClr val="404040"/>
                </a:solidFill>
                <a:latin typeface="Arial"/>
                <a:ea typeface="ＭＳ Ｐゴシック" pitchFamily="30" charset="-128"/>
                <a:cs typeface="Arial"/>
              </a:defRPr>
            </a:lvl3pPr>
            <a:lvl4pPr marL="1600200" indent="-228600" algn="l" defTabSz="457200" rtl="0" eaLnBrk="0" fontAlgn="base" hangingPunct="0">
              <a:spcBef>
                <a:spcPct val="20000"/>
              </a:spcBef>
              <a:spcAft>
                <a:spcPct val="0"/>
              </a:spcAft>
              <a:buClr>
                <a:srgbClr val="E74361"/>
              </a:buClr>
              <a:buFont typeface="Arial" charset="0"/>
              <a:buChar char="–"/>
              <a:defRPr sz="2200" kern="1200">
                <a:solidFill>
                  <a:srgbClr val="404040"/>
                </a:solidFill>
                <a:latin typeface="Arial"/>
                <a:ea typeface="ＭＳ Ｐゴシック" pitchFamily="30" charset="-128"/>
                <a:cs typeface="Arial"/>
              </a:defRPr>
            </a:lvl4pPr>
            <a:lvl5pPr marL="2057400" indent="-228600" algn="l" defTabSz="457200" rtl="0" eaLnBrk="0" fontAlgn="base" hangingPunct="0">
              <a:spcBef>
                <a:spcPct val="20000"/>
              </a:spcBef>
              <a:spcAft>
                <a:spcPct val="0"/>
              </a:spcAft>
              <a:buClr>
                <a:srgbClr val="009EE0"/>
              </a:buClr>
              <a:buFont typeface="Arial" charset="0"/>
              <a:buChar char="»"/>
              <a:defRPr sz="2000" kern="1200">
                <a:solidFill>
                  <a:srgbClr val="7F7F7F"/>
                </a:solidFill>
                <a:latin typeface="Arial"/>
                <a:ea typeface="ＭＳ Ｐゴシック" pitchFamily="30"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lnSpc>
                <a:spcPts val="3600"/>
              </a:lnSpc>
              <a:buFont typeface="Wingdings" pitchFamily="2" charset="2"/>
              <a:buNone/>
            </a:pPr>
            <a:r>
              <a:rPr lang="de-DE" sz="3600" dirty="0" smtClean="0">
                <a:solidFill>
                  <a:schemeClr val="bg1"/>
                </a:solidFill>
                <a:latin typeface="Franklin Gothic Demi Cond" pitchFamily="34" charset="0"/>
              </a:rPr>
              <a:t>Together we can achieve more!</a:t>
            </a:r>
            <a:endParaRPr lang="en-GB" dirty="0">
              <a:solidFill>
                <a:schemeClr val="bg1"/>
              </a:solidFill>
              <a:latin typeface="Franklin Gothic Demi Cond" pitchFamily="34" charset="0"/>
            </a:endParaRPr>
          </a:p>
        </p:txBody>
      </p:sp>
      <p:sp>
        <p:nvSpPr>
          <p:cNvPr id="14" name="Rectangle 13"/>
          <p:cNvSpPr/>
          <p:nvPr/>
        </p:nvSpPr>
        <p:spPr>
          <a:xfrm>
            <a:off x="0" y="6261974"/>
            <a:ext cx="2314207" cy="596026"/>
          </a:xfrm>
          <a:prstGeom prst="rect">
            <a:avLst/>
          </a:prstGeom>
          <a:solidFill>
            <a:srgbClr val="009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ectangle 14"/>
          <p:cNvSpPr/>
          <p:nvPr/>
        </p:nvSpPr>
        <p:spPr>
          <a:xfrm>
            <a:off x="0" y="5865975"/>
            <a:ext cx="2314207" cy="396000"/>
          </a:xfrm>
          <a:prstGeom prst="rect">
            <a:avLst/>
          </a:prstGeom>
          <a:solidFill>
            <a:srgbClr val="76B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 name="Rectangle 15"/>
          <p:cNvSpPr/>
          <p:nvPr/>
        </p:nvSpPr>
        <p:spPr>
          <a:xfrm>
            <a:off x="0" y="5469975"/>
            <a:ext cx="2314207" cy="396000"/>
          </a:xfrm>
          <a:prstGeom prst="rect">
            <a:avLst/>
          </a:prstGeom>
          <a:solidFill>
            <a:srgbClr val="EC74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 name="Rectangle 17"/>
          <p:cNvSpPr/>
          <p:nvPr/>
        </p:nvSpPr>
        <p:spPr>
          <a:xfrm>
            <a:off x="0" y="4726318"/>
            <a:ext cx="9144000" cy="396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Rectangle 16"/>
          <p:cNvSpPr/>
          <p:nvPr/>
        </p:nvSpPr>
        <p:spPr>
          <a:xfrm>
            <a:off x="0" y="5073975"/>
            <a:ext cx="2314207" cy="396000"/>
          </a:xfrm>
          <a:prstGeom prst="rect">
            <a:avLst/>
          </a:prstGeom>
          <a:solidFill>
            <a:srgbClr val="E743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TextBox 18"/>
          <p:cNvSpPr txBox="1"/>
          <p:nvPr/>
        </p:nvSpPr>
        <p:spPr>
          <a:xfrm>
            <a:off x="95250" y="5077784"/>
            <a:ext cx="2409825" cy="400110"/>
          </a:xfrm>
          <a:prstGeom prst="rect">
            <a:avLst/>
          </a:prstGeom>
          <a:noFill/>
        </p:spPr>
        <p:txBody>
          <a:bodyPr wrap="square" rtlCol="0">
            <a:spAutoFit/>
          </a:bodyPr>
          <a:lstStyle/>
          <a:p>
            <a:r>
              <a:rPr lang="de-DE" sz="2000" smtClean="0">
                <a:solidFill>
                  <a:schemeClr val="bg1"/>
                </a:solidFill>
                <a:latin typeface="Franklin Gothic Demi Cond" pitchFamily="34" charset="0"/>
              </a:rPr>
              <a:t>Individual donors</a:t>
            </a:r>
            <a:endParaRPr lang="en-GB" sz="2000">
              <a:solidFill>
                <a:schemeClr val="bg1"/>
              </a:solidFill>
              <a:latin typeface="Franklin Gothic Demi Cond" pitchFamily="34" charset="0"/>
            </a:endParaRPr>
          </a:p>
        </p:txBody>
      </p:sp>
      <p:sp>
        <p:nvSpPr>
          <p:cNvPr id="20" name="TextBox 19"/>
          <p:cNvSpPr txBox="1"/>
          <p:nvPr/>
        </p:nvSpPr>
        <p:spPr>
          <a:xfrm>
            <a:off x="95249" y="5450443"/>
            <a:ext cx="2409825" cy="400110"/>
          </a:xfrm>
          <a:prstGeom prst="rect">
            <a:avLst/>
          </a:prstGeom>
          <a:noFill/>
        </p:spPr>
        <p:txBody>
          <a:bodyPr wrap="square" rtlCol="0">
            <a:spAutoFit/>
          </a:bodyPr>
          <a:lstStyle/>
          <a:p>
            <a:r>
              <a:rPr lang="de-DE" sz="2000" smtClean="0">
                <a:solidFill>
                  <a:schemeClr val="bg1"/>
                </a:solidFill>
                <a:latin typeface="Franklin Gothic Demi Cond" pitchFamily="34" charset="0"/>
              </a:rPr>
              <a:t>Institutional donors</a:t>
            </a:r>
            <a:endParaRPr lang="en-GB" sz="2000">
              <a:solidFill>
                <a:schemeClr val="bg1"/>
              </a:solidFill>
              <a:latin typeface="Franklin Gothic Demi Cond" pitchFamily="34" charset="0"/>
            </a:endParaRPr>
          </a:p>
        </p:txBody>
      </p:sp>
      <p:sp>
        <p:nvSpPr>
          <p:cNvPr id="21" name="TextBox 20"/>
          <p:cNvSpPr txBox="1"/>
          <p:nvPr/>
        </p:nvSpPr>
        <p:spPr>
          <a:xfrm>
            <a:off x="95249" y="5845018"/>
            <a:ext cx="2409825" cy="400110"/>
          </a:xfrm>
          <a:prstGeom prst="rect">
            <a:avLst/>
          </a:prstGeom>
          <a:noFill/>
        </p:spPr>
        <p:txBody>
          <a:bodyPr wrap="square" rtlCol="0">
            <a:spAutoFit/>
          </a:bodyPr>
          <a:lstStyle/>
          <a:p>
            <a:r>
              <a:rPr lang="de-DE" sz="2000" smtClean="0">
                <a:solidFill>
                  <a:schemeClr val="bg1"/>
                </a:solidFill>
                <a:latin typeface="Franklin Gothic Demi Cond" pitchFamily="34" charset="0"/>
              </a:rPr>
              <a:t>Corporate Partners</a:t>
            </a:r>
            <a:endParaRPr lang="en-GB" sz="2000">
              <a:solidFill>
                <a:schemeClr val="bg1"/>
              </a:solidFill>
              <a:latin typeface="Franklin Gothic Demi Cond" pitchFamily="34" charset="0"/>
            </a:endParaRPr>
          </a:p>
        </p:txBody>
      </p:sp>
      <p:sp>
        <p:nvSpPr>
          <p:cNvPr id="22" name="TextBox 21"/>
          <p:cNvSpPr txBox="1"/>
          <p:nvPr/>
        </p:nvSpPr>
        <p:spPr>
          <a:xfrm>
            <a:off x="95249" y="6256259"/>
            <a:ext cx="2409825" cy="400110"/>
          </a:xfrm>
          <a:prstGeom prst="rect">
            <a:avLst/>
          </a:prstGeom>
          <a:noFill/>
        </p:spPr>
        <p:txBody>
          <a:bodyPr wrap="square" rtlCol="0">
            <a:spAutoFit/>
          </a:bodyPr>
          <a:lstStyle/>
          <a:p>
            <a:r>
              <a:rPr lang="de-DE" sz="2000" smtClean="0">
                <a:solidFill>
                  <a:schemeClr val="bg1"/>
                </a:solidFill>
                <a:latin typeface="Franklin Gothic Demi Cond" pitchFamily="34" charset="0"/>
              </a:rPr>
              <a:t>Other NGOs</a:t>
            </a:r>
            <a:endParaRPr lang="en-GB" sz="2000">
              <a:solidFill>
                <a:schemeClr val="bg1"/>
              </a:solidFill>
              <a:latin typeface="Franklin Gothic Demi Cond" pitchFamily="34" charset="0"/>
            </a:endParaRPr>
          </a:p>
        </p:txBody>
      </p:sp>
      <p:sp>
        <p:nvSpPr>
          <p:cNvPr id="23" name="Rectangle 22"/>
          <p:cNvSpPr/>
          <p:nvPr/>
        </p:nvSpPr>
        <p:spPr>
          <a:xfrm>
            <a:off x="2257425" y="5077784"/>
            <a:ext cx="6886575" cy="396000"/>
          </a:xfrm>
          <a:prstGeom prst="rect">
            <a:avLst/>
          </a:prstGeom>
          <a:solidFill>
            <a:srgbClr val="EA68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TextBox 9"/>
          <p:cNvSpPr txBox="1"/>
          <p:nvPr/>
        </p:nvSpPr>
        <p:spPr>
          <a:xfrm>
            <a:off x="2314207" y="5090052"/>
            <a:ext cx="4682375" cy="369332"/>
          </a:xfrm>
          <a:prstGeom prst="rect">
            <a:avLst/>
          </a:prstGeom>
          <a:noFill/>
        </p:spPr>
        <p:txBody>
          <a:bodyPr wrap="square" rtlCol="0">
            <a:spAutoFit/>
          </a:bodyPr>
          <a:lstStyle/>
          <a:p>
            <a:r>
              <a:rPr lang="de-DE" b="1" smtClean="0">
                <a:solidFill>
                  <a:schemeClr val="bg1"/>
                </a:solidFill>
                <a:latin typeface="Arial Narrow" pitchFamily="34" charset="0"/>
              </a:rPr>
              <a:t>4.2 million individual supporters worldwide</a:t>
            </a:r>
            <a:endParaRPr lang="en-GB" b="1">
              <a:solidFill>
                <a:schemeClr val="bg1"/>
              </a:solidFill>
              <a:latin typeface="Arial Narrow" pitchFamily="34" charset="0"/>
            </a:endParaRPr>
          </a:p>
        </p:txBody>
      </p:sp>
      <p:sp>
        <p:nvSpPr>
          <p:cNvPr id="24" name="Rectangle 23"/>
          <p:cNvSpPr/>
          <p:nvPr/>
        </p:nvSpPr>
        <p:spPr>
          <a:xfrm>
            <a:off x="2257425" y="5469975"/>
            <a:ext cx="6886575" cy="396000"/>
          </a:xfrm>
          <a:prstGeom prst="rect">
            <a:avLst/>
          </a:prstGeom>
          <a:solidFill>
            <a:srgbClr val="F08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p:cNvSpPr/>
          <p:nvPr/>
        </p:nvSpPr>
        <p:spPr>
          <a:xfrm>
            <a:off x="2257425" y="5865975"/>
            <a:ext cx="6886575" cy="396000"/>
          </a:xfrm>
          <a:prstGeom prst="rect">
            <a:avLst/>
          </a:prstGeom>
          <a:solidFill>
            <a:srgbClr val="91C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Rectangle 25"/>
          <p:cNvSpPr/>
          <p:nvPr/>
        </p:nvSpPr>
        <p:spPr>
          <a:xfrm>
            <a:off x="2257425" y="6261974"/>
            <a:ext cx="6886576" cy="596026"/>
          </a:xfrm>
          <a:prstGeom prst="rect">
            <a:avLst/>
          </a:prstGeom>
          <a:solidFill>
            <a:srgbClr val="00B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TextBox 26"/>
          <p:cNvSpPr txBox="1"/>
          <p:nvPr/>
        </p:nvSpPr>
        <p:spPr>
          <a:xfrm>
            <a:off x="2323731" y="5470093"/>
            <a:ext cx="6820268" cy="369332"/>
          </a:xfrm>
          <a:prstGeom prst="rect">
            <a:avLst/>
          </a:prstGeom>
          <a:noFill/>
        </p:spPr>
        <p:txBody>
          <a:bodyPr wrap="square" rtlCol="0">
            <a:spAutoFit/>
          </a:bodyPr>
          <a:lstStyle/>
          <a:p>
            <a:r>
              <a:rPr lang="de-DE" b="1" smtClean="0">
                <a:solidFill>
                  <a:schemeClr val="bg1"/>
                </a:solidFill>
                <a:latin typeface="Arial Narrow" pitchFamily="34" charset="0"/>
              </a:rPr>
              <a:t>e.g. ECHO, Norad, Austrian Development Cooperation, BMZ, etc... </a:t>
            </a:r>
            <a:endParaRPr lang="en-GB" b="1">
              <a:solidFill>
                <a:schemeClr val="bg1"/>
              </a:solidFill>
              <a:latin typeface="Arial Narrow" pitchFamily="34" charset="0"/>
            </a:endParaRPr>
          </a:p>
        </p:txBody>
      </p:sp>
      <p:sp>
        <p:nvSpPr>
          <p:cNvPr id="28" name="TextBox 27"/>
          <p:cNvSpPr txBox="1"/>
          <p:nvPr/>
        </p:nvSpPr>
        <p:spPr>
          <a:xfrm>
            <a:off x="2314207" y="5857875"/>
            <a:ext cx="6820268" cy="369332"/>
          </a:xfrm>
          <a:prstGeom prst="rect">
            <a:avLst/>
          </a:prstGeom>
          <a:noFill/>
        </p:spPr>
        <p:txBody>
          <a:bodyPr wrap="square" rtlCol="0">
            <a:spAutoFit/>
          </a:bodyPr>
          <a:lstStyle/>
          <a:p>
            <a:r>
              <a:rPr lang="de-DE" b="1" smtClean="0">
                <a:solidFill>
                  <a:schemeClr val="bg1"/>
                </a:solidFill>
                <a:latin typeface="Arial Narrow" pitchFamily="34" charset="0"/>
              </a:rPr>
              <a:t>e.g. Microsoft, Allen &amp; Overy, Deutsch Post DHL, HSBC, etc...</a:t>
            </a:r>
            <a:endParaRPr lang="en-GB" b="1">
              <a:solidFill>
                <a:schemeClr val="bg1"/>
              </a:solidFill>
              <a:latin typeface="Arial Narrow" pitchFamily="34" charset="0"/>
            </a:endParaRPr>
          </a:p>
        </p:txBody>
      </p:sp>
      <p:sp>
        <p:nvSpPr>
          <p:cNvPr id="29" name="TextBox 28"/>
          <p:cNvSpPr txBox="1"/>
          <p:nvPr/>
        </p:nvSpPr>
        <p:spPr>
          <a:xfrm>
            <a:off x="2314575" y="6242985"/>
            <a:ext cx="6820268" cy="369332"/>
          </a:xfrm>
          <a:prstGeom prst="rect">
            <a:avLst/>
          </a:prstGeom>
          <a:noFill/>
        </p:spPr>
        <p:txBody>
          <a:bodyPr wrap="square" rtlCol="0">
            <a:spAutoFit/>
          </a:bodyPr>
          <a:lstStyle/>
          <a:p>
            <a:r>
              <a:rPr lang="de-DE" b="1" dirty="0" smtClean="0">
                <a:solidFill>
                  <a:schemeClr val="bg1"/>
                </a:solidFill>
                <a:latin typeface="Arial Narrow" pitchFamily="34" charset="0"/>
              </a:rPr>
              <a:t>e.g. Habitat for Humanity, Plan International, Unicef</a:t>
            </a:r>
            <a:endParaRPr lang="en-GB" b="1" dirty="0">
              <a:solidFill>
                <a:schemeClr val="bg1"/>
              </a:solidFill>
              <a:latin typeface="Arial Narrow" pitchFamily="34" charset="0"/>
            </a:endParaRPr>
          </a:p>
        </p:txBody>
      </p:sp>
      <p:sp>
        <p:nvSpPr>
          <p:cNvPr id="30" name="TextBox 29"/>
          <p:cNvSpPr txBox="1"/>
          <p:nvPr/>
        </p:nvSpPr>
        <p:spPr>
          <a:xfrm>
            <a:off x="85725" y="4696784"/>
            <a:ext cx="8751867" cy="400110"/>
          </a:xfrm>
          <a:prstGeom prst="rect">
            <a:avLst/>
          </a:prstGeom>
          <a:noFill/>
        </p:spPr>
        <p:txBody>
          <a:bodyPr wrap="square" rtlCol="0">
            <a:spAutoFit/>
          </a:bodyPr>
          <a:lstStyle/>
          <a:p>
            <a:r>
              <a:rPr lang="de-DE" sz="2000" smtClean="0">
                <a:solidFill>
                  <a:schemeClr val="tx1">
                    <a:lumMod val="90000"/>
                    <a:lumOff val="10000"/>
                  </a:schemeClr>
                </a:solidFill>
                <a:latin typeface="Franklin Gothic Demi Cond" pitchFamily="34" charset="0"/>
              </a:rPr>
              <a:t>OUR PARTNERS:</a:t>
            </a:r>
            <a:endParaRPr lang="en-GB" sz="2000">
              <a:solidFill>
                <a:schemeClr val="tx1">
                  <a:lumMod val="90000"/>
                  <a:lumOff val="10000"/>
                </a:schemeClr>
              </a:solidFill>
              <a:latin typeface="Franklin Gothic Demi Cond" pitchFamily="34" charset="0"/>
            </a:endParaRPr>
          </a:p>
        </p:txBody>
      </p:sp>
    </p:spTree>
    <p:extLst>
      <p:ext uri="{BB962C8B-B14F-4D97-AF65-F5344CB8AC3E}">
        <p14:creationId xmlns:p14="http://schemas.microsoft.com/office/powerpoint/2010/main" val="4825422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0" y="0"/>
            <a:ext cx="9144000" cy="6858000"/>
          </a:xfrm>
          <a:prstGeom prst="rect">
            <a:avLst/>
          </a:prstGeom>
        </p:spPr>
      </p:pic>
      <p:sp>
        <p:nvSpPr>
          <p:cNvPr id="4" name="Title 1"/>
          <p:cNvSpPr>
            <a:spLocks noGrp="1"/>
          </p:cNvSpPr>
          <p:nvPr>
            <p:ph type="title"/>
          </p:nvPr>
        </p:nvSpPr>
        <p:spPr>
          <a:xfrm>
            <a:off x="629378" y="1508057"/>
            <a:ext cx="3491345" cy="1413267"/>
          </a:xfrm>
        </p:spPr>
        <p:txBody>
          <a:bodyPr/>
          <a:lstStyle/>
          <a:p>
            <a:pPr algn="l">
              <a:lnSpc>
                <a:spcPts val="3100"/>
              </a:lnSpc>
            </a:pPr>
            <a:r>
              <a:rPr lang="en-GB" sz="3100" i="1" dirty="0" smtClean="0">
                <a:solidFill>
                  <a:schemeClr val="tx1">
                    <a:lumMod val="90000"/>
                    <a:lumOff val="10000"/>
                  </a:schemeClr>
                </a:solidFill>
                <a:latin typeface="Arial Narrow" pitchFamily="34" charset="0"/>
              </a:rPr>
              <a:t>“Good things happen when people do more than they have to.”</a:t>
            </a:r>
            <a:endParaRPr lang="en-GB" sz="3100" dirty="0">
              <a:solidFill>
                <a:schemeClr val="tx1">
                  <a:lumMod val="90000"/>
                  <a:lumOff val="10000"/>
                </a:schemeClr>
              </a:solidFill>
              <a:latin typeface="Arial Narrow" pitchFamily="34" charset="0"/>
            </a:endParaRPr>
          </a:p>
        </p:txBody>
      </p:sp>
      <p:sp>
        <p:nvSpPr>
          <p:cNvPr id="6" name="TextBox 5"/>
          <p:cNvSpPr txBox="1"/>
          <p:nvPr/>
        </p:nvSpPr>
        <p:spPr>
          <a:xfrm>
            <a:off x="641253" y="2956955"/>
            <a:ext cx="3645728" cy="707886"/>
          </a:xfrm>
          <a:prstGeom prst="rect">
            <a:avLst/>
          </a:prstGeom>
          <a:noFill/>
        </p:spPr>
        <p:txBody>
          <a:bodyPr wrap="square" rtlCol="0">
            <a:spAutoFit/>
          </a:bodyPr>
          <a:lstStyle/>
          <a:p>
            <a:r>
              <a:rPr lang="de-AT" sz="2000">
                <a:solidFill>
                  <a:schemeClr val="tx1">
                    <a:lumMod val="90000"/>
                    <a:lumOff val="10000"/>
                  </a:schemeClr>
                </a:solidFill>
                <a:latin typeface="Arial Narrow" pitchFamily="34" charset="0"/>
              </a:rPr>
              <a:t>Hermann </a:t>
            </a:r>
            <a:r>
              <a:rPr lang="de-AT" sz="2000" smtClean="0">
                <a:solidFill>
                  <a:schemeClr val="tx1">
                    <a:lumMod val="90000"/>
                    <a:lumOff val="10000"/>
                  </a:schemeClr>
                </a:solidFill>
                <a:latin typeface="Arial Narrow" pitchFamily="34" charset="0"/>
              </a:rPr>
              <a:t>Gmeiner, </a:t>
            </a:r>
            <a:r>
              <a:rPr lang="de-AT" sz="2000">
                <a:solidFill>
                  <a:schemeClr val="tx1">
                    <a:lumMod val="90000"/>
                    <a:lumOff val="10000"/>
                  </a:schemeClr>
                </a:solidFill>
                <a:latin typeface="Arial Narrow" pitchFamily="34" charset="0"/>
              </a:rPr>
              <a:t/>
            </a:r>
            <a:br>
              <a:rPr lang="de-AT" sz="2000">
                <a:solidFill>
                  <a:schemeClr val="tx1">
                    <a:lumMod val="90000"/>
                    <a:lumOff val="10000"/>
                  </a:schemeClr>
                </a:solidFill>
                <a:latin typeface="Arial Narrow" pitchFamily="34" charset="0"/>
              </a:rPr>
            </a:br>
            <a:r>
              <a:rPr lang="de-AT" sz="2000" smtClean="0">
                <a:solidFill>
                  <a:schemeClr val="tx1">
                    <a:lumMod val="90000"/>
                    <a:lumOff val="10000"/>
                  </a:schemeClr>
                </a:solidFill>
                <a:latin typeface="Arial Narrow" pitchFamily="34" charset="0"/>
              </a:rPr>
              <a:t>founder </a:t>
            </a:r>
            <a:r>
              <a:rPr lang="de-AT" sz="2000">
                <a:solidFill>
                  <a:schemeClr val="tx1">
                    <a:lumMod val="90000"/>
                    <a:lumOff val="10000"/>
                  </a:schemeClr>
                </a:solidFill>
                <a:latin typeface="Arial Narrow" pitchFamily="34" charset="0"/>
              </a:rPr>
              <a:t>of </a:t>
            </a:r>
            <a:r>
              <a:rPr lang="de-AT" sz="2000" smtClean="0">
                <a:solidFill>
                  <a:schemeClr val="tx1">
                    <a:lumMod val="90000"/>
                    <a:lumOff val="10000"/>
                  </a:schemeClr>
                </a:solidFill>
                <a:latin typeface="Arial Narrow" pitchFamily="34" charset="0"/>
              </a:rPr>
              <a:t>SOS </a:t>
            </a:r>
            <a:r>
              <a:rPr lang="de-AT" sz="2000">
                <a:solidFill>
                  <a:schemeClr val="tx1">
                    <a:lumMod val="90000"/>
                    <a:lumOff val="10000"/>
                  </a:schemeClr>
                </a:solidFill>
                <a:latin typeface="Arial Narrow" pitchFamily="34" charset="0"/>
              </a:rPr>
              <a:t>Children’s </a:t>
            </a:r>
            <a:r>
              <a:rPr lang="de-AT" sz="2000" smtClean="0">
                <a:solidFill>
                  <a:schemeClr val="tx1">
                    <a:lumMod val="90000"/>
                    <a:lumOff val="10000"/>
                  </a:schemeClr>
                </a:solidFill>
                <a:latin typeface="Arial Narrow" pitchFamily="34" charset="0"/>
              </a:rPr>
              <a:t>Villages</a:t>
            </a:r>
            <a:endParaRPr lang="en-GB" sz="2000">
              <a:latin typeface="Arial Narrow" pitchFamily="34" charset="0"/>
            </a:endParaRPr>
          </a:p>
        </p:txBody>
      </p:sp>
      <p:sp>
        <p:nvSpPr>
          <p:cNvPr id="7" name="TextBox 6"/>
          <p:cNvSpPr txBox="1"/>
          <p:nvPr/>
        </p:nvSpPr>
        <p:spPr>
          <a:xfrm>
            <a:off x="94995" y="6256310"/>
            <a:ext cx="3645728" cy="400110"/>
          </a:xfrm>
          <a:prstGeom prst="rect">
            <a:avLst/>
          </a:prstGeom>
          <a:noFill/>
        </p:spPr>
        <p:txBody>
          <a:bodyPr wrap="square" rtlCol="0">
            <a:spAutoFit/>
          </a:bodyPr>
          <a:lstStyle/>
          <a:p>
            <a:r>
              <a:rPr lang="de-AT" sz="2000" b="1" smtClean="0">
                <a:solidFill>
                  <a:schemeClr val="tx1">
                    <a:lumMod val="90000"/>
                    <a:lumOff val="10000"/>
                  </a:schemeClr>
                </a:solidFill>
                <a:latin typeface="Arial Narrow" pitchFamily="34" charset="0"/>
              </a:rPr>
              <a:t>www.sos-childrensvillages.org</a:t>
            </a:r>
            <a:endParaRPr lang="en-GB" sz="2000" b="1">
              <a:latin typeface="Arial Narrow" pitchFamily="34" charset="0"/>
            </a:endParaRPr>
          </a:p>
        </p:txBody>
      </p:sp>
      <p:pic>
        <p:nvPicPr>
          <p:cNvPr id="8" name="Picture 7"/>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85738" y="194182"/>
            <a:ext cx="2157412" cy="718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544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tel 1"/>
          <p:cNvSpPr>
            <a:spLocks noGrp="1"/>
          </p:cNvSpPr>
          <p:nvPr>
            <p:ph type="title"/>
          </p:nvPr>
        </p:nvSpPr>
        <p:spPr>
          <a:xfrm>
            <a:off x="628650" y="365126"/>
            <a:ext cx="7886700" cy="5649912"/>
          </a:xfrm>
        </p:spPr>
        <p:txBody>
          <a:bodyPr/>
          <a:lstStyle/>
          <a:p>
            <a:pPr algn="l"/>
            <a:r>
              <a:rPr lang="nb-NO" dirty="0" smtClean="0">
                <a:solidFill>
                  <a:schemeClr val="tx1"/>
                </a:solidFill>
              </a:rPr>
              <a:t>How </a:t>
            </a:r>
            <a:r>
              <a:rPr lang="nb-NO" dirty="0" err="1" smtClean="0">
                <a:solidFill>
                  <a:schemeClr val="tx1"/>
                </a:solidFill>
              </a:rPr>
              <a:t>can</a:t>
            </a:r>
            <a:r>
              <a:rPr lang="nb-NO" dirty="0" smtClean="0">
                <a:solidFill>
                  <a:schemeClr val="tx1"/>
                </a:solidFill>
              </a:rPr>
              <a:t> YOU and </a:t>
            </a:r>
            <a:r>
              <a:rPr lang="nb-NO" dirty="0" err="1" smtClean="0">
                <a:solidFill>
                  <a:schemeClr val="tx1"/>
                </a:solidFill>
              </a:rPr>
              <a:t>Worldskills</a:t>
            </a:r>
            <a:r>
              <a:rPr lang="nb-NO" dirty="0" smtClean="0">
                <a:solidFill>
                  <a:schemeClr val="tx1"/>
                </a:solidFill>
              </a:rPr>
              <a:t> </a:t>
            </a:r>
            <a:r>
              <a:rPr lang="nb-NO" dirty="0" err="1" smtClean="0">
                <a:solidFill>
                  <a:schemeClr val="tx1"/>
                </a:solidFill>
              </a:rPr>
              <a:t>help</a:t>
            </a:r>
            <a:r>
              <a:rPr lang="nb-NO" dirty="0" smtClean="0">
                <a:solidFill>
                  <a:schemeClr val="tx1"/>
                </a:solidFill>
              </a:rPr>
              <a:t>?</a:t>
            </a:r>
            <a:br>
              <a:rPr lang="nb-NO" dirty="0" smtClean="0">
                <a:solidFill>
                  <a:schemeClr val="tx1"/>
                </a:solidFill>
              </a:rPr>
            </a:br>
            <a:r>
              <a:rPr lang="nb-NO" dirty="0" smtClean="0">
                <a:solidFill>
                  <a:schemeClr val="tx1"/>
                </a:solidFill>
              </a:rPr>
              <a:t/>
            </a:r>
            <a:br>
              <a:rPr lang="nb-NO" dirty="0" smtClean="0">
                <a:solidFill>
                  <a:schemeClr val="tx1"/>
                </a:solidFill>
              </a:rPr>
            </a:br>
            <a:r>
              <a:rPr lang="nb-NO" dirty="0" smtClean="0">
                <a:solidFill>
                  <a:schemeClr val="tx1"/>
                </a:solidFill>
              </a:rPr>
              <a:t>Our goal </a:t>
            </a:r>
            <a:r>
              <a:rPr lang="nb-NO" dirty="0">
                <a:solidFill>
                  <a:schemeClr val="tx1"/>
                </a:solidFill>
              </a:rPr>
              <a:t>is, to </a:t>
            </a:r>
            <a:r>
              <a:rPr lang="nb-NO" dirty="0" err="1">
                <a:solidFill>
                  <a:schemeClr val="tx1"/>
                </a:solidFill>
              </a:rPr>
              <a:t>teach</a:t>
            </a:r>
            <a:r>
              <a:rPr lang="nb-NO" dirty="0">
                <a:solidFill>
                  <a:schemeClr val="tx1"/>
                </a:solidFill>
              </a:rPr>
              <a:t> </a:t>
            </a:r>
            <a:r>
              <a:rPr lang="nb-NO" dirty="0" err="1">
                <a:solidFill>
                  <a:schemeClr val="tx1"/>
                </a:solidFill>
              </a:rPr>
              <a:t>schoolchildren</a:t>
            </a:r>
            <a:r>
              <a:rPr lang="nb-NO" dirty="0">
                <a:solidFill>
                  <a:schemeClr val="tx1"/>
                </a:solidFill>
              </a:rPr>
              <a:t> all over </a:t>
            </a:r>
            <a:r>
              <a:rPr lang="nb-NO" dirty="0" err="1">
                <a:solidFill>
                  <a:schemeClr val="tx1"/>
                </a:solidFill>
              </a:rPr>
              <a:t>the</a:t>
            </a:r>
            <a:r>
              <a:rPr lang="nb-NO" dirty="0">
                <a:solidFill>
                  <a:schemeClr val="tx1"/>
                </a:solidFill>
              </a:rPr>
              <a:t> </a:t>
            </a:r>
            <a:r>
              <a:rPr lang="nb-NO" dirty="0" err="1">
                <a:solidFill>
                  <a:schemeClr val="tx1"/>
                </a:solidFill>
              </a:rPr>
              <a:t>world</a:t>
            </a:r>
            <a:r>
              <a:rPr lang="nb-NO" dirty="0">
                <a:solidFill>
                  <a:schemeClr val="tx1"/>
                </a:solidFill>
              </a:rPr>
              <a:t> </a:t>
            </a:r>
            <a:r>
              <a:rPr lang="nb-NO" dirty="0" err="1">
                <a:solidFill>
                  <a:schemeClr val="tx1"/>
                </a:solidFill>
              </a:rPr>
              <a:t>about</a:t>
            </a:r>
            <a:r>
              <a:rPr lang="nb-NO" dirty="0">
                <a:solidFill>
                  <a:schemeClr val="tx1"/>
                </a:solidFill>
              </a:rPr>
              <a:t> </a:t>
            </a:r>
            <a:r>
              <a:rPr lang="nb-NO" dirty="0" err="1">
                <a:solidFill>
                  <a:schemeClr val="tx1"/>
                </a:solidFill>
              </a:rPr>
              <a:t>the</a:t>
            </a:r>
            <a:r>
              <a:rPr lang="nb-NO" dirty="0">
                <a:solidFill>
                  <a:schemeClr val="tx1"/>
                </a:solidFill>
              </a:rPr>
              <a:t> </a:t>
            </a:r>
            <a:r>
              <a:rPr lang="nb-NO" dirty="0" err="1">
                <a:solidFill>
                  <a:schemeClr val="tx1"/>
                </a:solidFill>
              </a:rPr>
              <a:t>cause</a:t>
            </a:r>
            <a:r>
              <a:rPr lang="nb-NO" dirty="0">
                <a:solidFill>
                  <a:schemeClr val="tx1"/>
                </a:solidFill>
              </a:rPr>
              <a:t> and </a:t>
            </a:r>
            <a:r>
              <a:rPr lang="nb-NO" dirty="0" err="1">
                <a:solidFill>
                  <a:schemeClr val="tx1"/>
                </a:solidFill>
              </a:rPr>
              <a:t>get</a:t>
            </a:r>
            <a:r>
              <a:rPr lang="nb-NO" dirty="0">
                <a:solidFill>
                  <a:schemeClr val="tx1"/>
                </a:solidFill>
              </a:rPr>
              <a:t> </a:t>
            </a:r>
            <a:r>
              <a:rPr lang="nb-NO" dirty="0" err="1">
                <a:solidFill>
                  <a:schemeClr val="tx1"/>
                </a:solidFill>
              </a:rPr>
              <a:t>them</a:t>
            </a:r>
            <a:r>
              <a:rPr lang="nb-NO" dirty="0">
                <a:solidFill>
                  <a:schemeClr val="tx1"/>
                </a:solidFill>
              </a:rPr>
              <a:t> </a:t>
            </a:r>
            <a:r>
              <a:rPr lang="nb-NO" dirty="0" err="1">
                <a:solidFill>
                  <a:schemeClr val="tx1"/>
                </a:solidFill>
              </a:rPr>
              <a:t>engaged</a:t>
            </a:r>
            <a:r>
              <a:rPr lang="nb-NO" dirty="0" smtClean="0">
                <a:solidFill>
                  <a:schemeClr val="tx1"/>
                </a:solidFill>
              </a:rPr>
              <a:t>.</a:t>
            </a:r>
            <a:br>
              <a:rPr lang="nb-NO" dirty="0" smtClean="0">
                <a:solidFill>
                  <a:schemeClr val="tx1"/>
                </a:solidFill>
              </a:rPr>
            </a:br>
            <a:r>
              <a:rPr lang="nb-NO" dirty="0">
                <a:solidFill>
                  <a:schemeClr val="tx1"/>
                </a:solidFill>
              </a:rPr>
              <a:t/>
            </a:r>
            <a:br>
              <a:rPr lang="nb-NO" dirty="0">
                <a:solidFill>
                  <a:schemeClr val="tx1"/>
                </a:solidFill>
              </a:rPr>
            </a:br>
            <a:r>
              <a:rPr lang="nb-NO" dirty="0">
                <a:solidFill>
                  <a:schemeClr val="tx1"/>
                </a:solidFill>
              </a:rPr>
              <a:t>The material </a:t>
            </a:r>
            <a:r>
              <a:rPr lang="nb-NO" dirty="0" err="1">
                <a:solidFill>
                  <a:schemeClr val="tx1"/>
                </a:solidFill>
              </a:rPr>
              <a:t>you</a:t>
            </a:r>
            <a:r>
              <a:rPr lang="nb-NO" dirty="0">
                <a:solidFill>
                  <a:schemeClr val="tx1"/>
                </a:solidFill>
              </a:rPr>
              <a:t> all </a:t>
            </a:r>
            <a:r>
              <a:rPr lang="nb-NO" dirty="0" err="1">
                <a:solidFill>
                  <a:schemeClr val="tx1"/>
                </a:solidFill>
              </a:rPr>
              <a:t>produce</a:t>
            </a:r>
            <a:r>
              <a:rPr lang="nb-NO" dirty="0">
                <a:solidFill>
                  <a:schemeClr val="tx1"/>
                </a:solidFill>
              </a:rPr>
              <a:t>, </a:t>
            </a:r>
            <a:r>
              <a:rPr lang="nb-NO" dirty="0" err="1">
                <a:solidFill>
                  <a:schemeClr val="tx1"/>
                </a:solidFill>
              </a:rPr>
              <a:t>will</a:t>
            </a:r>
            <a:r>
              <a:rPr lang="nb-NO" dirty="0">
                <a:solidFill>
                  <a:schemeClr val="tx1"/>
                </a:solidFill>
              </a:rPr>
              <a:t> be </a:t>
            </a:r>
            <a:r>
              <a:rPr lang="nb-NO" dirty="0" err="1">
                <a:solidFill>
                  <a:schemeClr val="tx1"/>
                </a:solidFill>
              </a:rPr>
              <a:t>distributed</a:t>
            </a:r>
            <a:r>
              <a:rPr lang="nb-NO" dirty="0">
                <a:solidFill>
                  <a:schemeClr val="tx1"/>
                </a:solidFill>
              </a:rPr>
              <a:t> from </a:t>
            </a:r>
            <a:r>
              <a:rPr lang="nb-NO" dirty="0" err="1">
                <a:solidFill>
                  <a:schemeClr val="tx1"/>
                </a:solidFill>
              </a:rPr>
              <a:t>the</a:t>
            </a:r>
            <a:r>
              <a:rPr lang="nb-NO" dirty="0">
                <a:solidFill>
                  <a:schemeClr val="tx1"/>
                </a:solidFill>
              </a:rPr>
              <a:t> </a:t>
            </a:r>
            <a:r>
              <a:rPr lang="nb-NO" dirty="0" err="1">
                <a:solidFill>
                  <a:schemeClr val="tx1"/>
                </a:solidFill>
              </a:rPr>
              <a:t>organization</a:t>
            </a:r>
            <a:r>
              <a:rPr lang="nb-NO" dirty="0">
                <a:solidFill>
                  <a:schemeClr val="tx1"/>
                </a:solidFill>
              </a:rPr>
              <a:t> to </a:t>
            </a:r>
            <a:r>
              <a:rPr lang="nb-NO" dirty="0" err="1">
                <a:solidFill>
                  <a:schemeClr val="tx1"/>
                </a:solidFill>
              </a:rPr>
              <a:t>teach</a:t>
            </a:r>
            <a:r>
              <a:rPr lang="nb-NO" dirty="0">
                <a:solidFill>
                  <a:schemeClr val="tx1"/>
                </a:solidFill>
              </a:rPr>
              <a:t> </a:t>
            </a:r>
            <a:r>
              <a:rPr lang="nb-NO" dirty="0" err="1">
                <a:solidFill>
                  <a:schemeClr val="tx1"/>
                </a:solidFill>
              </a:rPr>
              <a:t>children</a:t>
            </a:r>
            <a:r>
              <a:rPr lang="nb-NO" dirty="0">
                <a:solidFill>
                  <a:schemeClr val="tx1"/>
                </a:solidFill>
              </a:rPr>
              <a:t> in a </a:t>
            </a:r>
            <a:r>
              <a:rPr lang="nb-NO" dirty="0" err="1">
                <a:solidFill>
                  <a:schemeClr val="tx1"/>
                </a:solidFill>
              </a:rPr>
              <a:t>fun</a:t>
            </a:r>
            <a:r>
              <a:rPr lang="nb-NO" dirty="0">
                <a:solidFill>
                  <a:schemeClr val="tx1"/>
                </a:solidFill>
              </a:rPr>
              <a:t> </a:t>
            </a:r>
            <a:r>
              <a:rPr lang="nb-NO" dirty="0" err="1">
                <a:solidFill>
                  <a:schemeClr val="tx1"/>
                </a:solidFill>
              </a:rPr>
              <a:t>way</a:t>
            </a:r>
            <a:r>
              <a:rPr lang="nb-NO" dirty="0">
                <a:solidFill>
                  <a:schemeClr val="tx1"/>
                </a:solidFill>
              </a:rPr>
              <a:t>.</a:t>
            </a:r>
            <a:br>
              <a:rPr lang="nb-NO" dirty="0">
                <a:solidFill>
                  <a:schemeClr val="tx1"/>
                </a:solidFill>
              </a:rPr>
            </a:br>
            <a:endParaRPr lang="nb-NO" dirty="0">
              <a:solidFill>
                <a:schemeClr val="tx1"/>
              </a:solidFill>
            </a:endParaRPr>
          </a:p>
        </p:txBody>
      </p:sp>
    </p:spTree>
    <p:extLst>
      <p:ext uri="{BB962C8B-B14F-4D97-AF65-F5344CB8AC3E}">
        <p14:creationId xmlns:p14="http://schemas.microsoft.com/office/powerpoint/2010/main" val="13346846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a:xfrm>
            <a:off x="438912" y="365126"/>
            <a:ext cx="8266176" cy="5649912"/>
          </a:xfrm>
        </p:spPr>
        <p:txBody>
          <a:bodyPr>
            <a:noAutofit/>
          </a:bodyPr>
          <a:lstStyle/>
          <a:p>
            <a:pPr algn="l"/>
            <a:r>
              <a:rPr lang="nb-NO" sz="3200" b="1" dirty="0" err="1" smtClean="0">
                <a:latin typeface="Arial Narrow" charset="0"/>
                <a:ea typeface="Arial Narrow" charset="0"/>
                <a:cs typeface="Arial Narrow" charset="0"/>
              </a:rPr>
              <a:t>What</a:t>
            </a:r>
            <a:r>
              <a:rPr lang="nb-NO" sz="3200" b="1" dirty="0" smtClean="0">
                <a:latin typeface="Arial Narrow" charset="0"/>
                <a:ea typeface="Arial Narrow" charset="0"/>
                <a:cs typeface="Arial Narrow" charset="0"/>
              </a:rPr>
              <a:t> </a:t>
            </a:r>
            <a:r>
              <a:rPr lang="nb-NO" sz="3200" b="1" dirty="0" err="1" smtClean="0">
                <a:latin typeface="Arial Narrow" charset="0"/>
                <a:ea typeface="Arial Narrow" charset="0"/>
                <a:cs typeface="Arial Narrow" charset="0"/>
              </a:rPr>
              <a:t>will</a:t>
            </a:r>
            <a:r>
              <a:rPr lang="nb-NO" sz="3200" b="1" dirty="0" smtClean="0">
                <a:latin typeface="Arial Narrow" charset="0"/>
                <a:ea typeface="Arial Narrow" charset="0"/>
                <a:cs typeface="Arial Narrow" charset="0"/>
              </a:rPr>
              <a:t> </a:t>
            </a:r>
            <a:r>
              <a:rPr lang="nb-NO" sz="3200" b="1" dirty="0" err="1" smtClean="0">
                <a:latin typeface="Arial Narrow" charset="0"/>
                <a:ea typeface="Arial Narrow" charset="0"/>
                <a:cs typeface="Arial Narrow" charset="0"/>
              </a:rPr>
              <a:t>we</a:t>
            </a:r>
            <a:r>
              <a:rPr lang="nb-NO" sz="3200" b="1" dirty="0" smtClean="0">
                <a:latin typeface="Arial Narrow" charset="0"/>
                <a:ea typeface="Arial Narrow" charset="0"/>
                <a:cs typeface="Arial Narrow" charset="0"/>
              </a:rPr>
              <a:t> make?</a:t>
            </a:r>
            <a:r>
              <a:rPr lang="nb-NO" sz="3200" dirty="0" smtClean="0">
                <a:latin typeface="Arial Narrow" charset="0"/>
                <a:ea typeface="Arial Narrow" charset="0"/>
                <a:cs typeface="Arial Narrow" charset="0"/>
              </a:rPr>
              <a:t/>
            </a:r>
            <a:br>
              <a:rPr lang="nb-NO" sz="3200" dirty="0" smtClean="0">
                <a:latin typeface="Arial Narrow" charset="0"/>
                <a:ea typeface="Arial Narrow" charset="0"/>
                <a:cs typeface="Arial Narrow" charset="0"/>
              </a:rPr>
            </a:br>
            <a:r>
              <a:rPr lang="nb-NO" sz="3200" dirty="0">
                <a:latin typeface="Arial Narrow" charset="0"/>
                <a:ea typeface="Arial Narrow" charset="0"/>
                <a:cs typeface="Arial Narrow" charset="0"/>
              </a:rPr>
              <a:t>TASK 1</a:t>
            </a:r>
            <a:br>
              <a:rPr lang="nb-NO" sz="3200" dirty="0">
                <a:latin typeface="Arial Narrow" charset="0"/>
                <a:ea typeface="Arial Narrow" charset="0"/>
                <a:cs typeface="Arial Narrow" charset="0"/>
              </a:rPr>
            </a:br>
            <a:r>
              <a:rPr lang="nb-NO" sz="3200" dirty="0" smtClean="0">
                <a:latin typeface="Arial Narrow" charset="0"/>
                <a:ea typeface="Arial Narrow" charset="0"/>
                <a:cs typeface="Arial Narrow" charset="0"/>
              </a:rPr>
              <a:t>Make a </a:t>
            </a:r>
            <a:r>
              <a:rPr lang="nb-NO" sz="3200" dirty="0" err="1">
                <a:latin typeface="Arial Narrow" charset="0"/>
                <a:ea typeface="Arial Narrow" charset="0"/>
                <a:cs typeface="Arial Narrow" charset="0"/>
              </a:rPr>
              <a:t>fun</a:t>
            </a:r>
            <a:r>
              <a:rPr lang="nb-NO" sz="3200" dirty="0">
                <a:latin typeface="Arial Narrow" charset="0"/>
                <a:ea typeface="Arial Narrow" charset="0"/>
                <a:cs typeface="Arial Narrow" charset="0"/>
              </a:rPr>
              <a:t>, happy and </a:t>
            </a:r>
            <a:r>
              <a:rPr lang="nb-NO" sz="3200" dirty="0" err="1">
                <a:latin typeface="Arial Narrow" charset="0"/>
                <a:ea typeface="Arial Narrow" charset="0"/>
                <a:cs typeface="Arial Narrow" charset="0"/>
              </a:rPr>
              <a:t>creative</a:t>
            </a:r>
            <a:r>
              <a:rPr lang="nb-NO" sz="3200" dirty="0">
                <a:latin typeface="Arial Narrow" charset="0"/>
                <a:ea typeface="Arial Narrow" charset="0"/>
                <a:cs typeface="Arial Narrow" charset="0"/>
              </a:rPr>
              <a:t> house for </a:t>
            </a:r>
            <a:r>
              <a:rPr lang="nb-NO" sz="3200" dirty="0" err="1">
                <a:latin typeface="Arial Narrow" charset="0"/>
                <a:ea typeface="Arial Narrow" charset="0"/>
                <a:cs typeface="Arial Narrow" charset="0"/>
              </a:rPr>
              <a:t>children</a:t>
            </a:r>
            <a:r>
              <a:rPr lang="nb-NO" sz="3200" dirty="0">
                <a:latin typeface="Arial Narrow" charset="0"/>
                <a:ea typeface="Arial Narrow" charset="0"/>
                <a:cs typeface="Arial Narrow" charset="0"/>
              </a:rPr>
              <a:t>. </a:t>
            </a:r>
            <a:r>
              <a:rPr lang="nb-NO" sz="3200" dirty="0" smtClean="0">
                <a:latin typeface="Arial Narrow" charset="0"/>
                <a:ea typeface="Arial Narrow" charset="0"/>
                <a:cs typeface="Arial Narrow" charset="0"/>
              </a:rPr>
              <a:t>It </a:t>
            </a:r>
            <a:r>
              <a:rPr lang="nb-NO" sz="3200" dirty="0" err="1">
                <a:latin typeface="Arial Narrow" charset="0"/>
                <a:ea typeface="Arial Narrow" charset="0"/>
                <a:cs typeface="Arial Narrow" charset="0"/>
              </a:rPr>
              <a:t>should</a:t>
            </a:r>
            <a:r>
              <a:rPr lang="nb-NO" sz="3200" dirty="0">
                <a:latin typeface="Arial Narrow" charset="0"/>
                <a:ea typeface="Arial Narrow" charset="0"/>
                <a:cs typeface="Arial Narrow" charset="0"/>
              </a:rPr>
              <a:t> have </a:t>
            </a:r>
            <a:r>
              <a:rPr lang="nb-NO" sz="3200" dirty="0" err="1">
                <a:latin typeface="Arial Narrow" charset="0"/>
                <a:ea typeface="Arial Narrow" charset="0"/>
                <a:cs typeface="Arial Narrow" charset="0"/>
              </a:rPr>
              <a:t>details</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the</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children</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will</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enjoy</a:t>
            </a:r>
            <a:r>
              <a:rPr lang="nb-NO" sz="3200" dirty="0">
                <a:latin typeface="Arial Narrow" charset="0"/>
                <a:ea typeface="Arial Narrow" charset="0"/>
                <a:cs typeface="Arial Narrow" charset="0"/>
              </a:rPr>
              <a:t> to </a:t>
            </a:r>
            <a:r>
              <a:rPr lang="nb-NO" sz="3200" dirty="0" err="1">
                <a:latin typeface="Arial Narrow" charset="0"/>
                <a:ea typeface="Arial Narrow" charset="0"/>
                <a:cs typeface="Arial Narrow" charset="0"/>
              </a:rPr>
              <a:t>look</a:t>
            </a:r>
            <a:r>
              <a:rPr lang="nb-NO" sz="3200" dirty="0">
                <a:latin typeface="Arial Narrow" charset="0"/>
                <a:ea typeface="Arial Narrow" charset="0"/>
                <a:cs typeface="Arial Narrow" charset="0"/>
              </a:rPr>
              <a:t> at and talk </a:t>
            </a:r>
            <a:r>
              <a:rPr lang="nb-NO" sz="3200" dirty="0" err="1">
                <a:latin typeface="Arial Narrow" charset="0"/>
                <a:ea typeface="Arial Narrow" charset="0"/>
                <a:cs typeface="Arial Narrow" charset="0"/>
              </a:rPr>
              <a:t>about</a:t>
            </a:r>
            <a:r>
              <a:rPr lang="nb-NO" sz="3200" dirty="0">
                <a:latin typeface="Arial Narrow" charset="0"/>
                <a:ea typeface="Arial Narrow" charset="0"/>
                <a:cs typeface="Arial Narrow" charset="0"/>
              </a:rPr>
              <a:t>.</a:t>
            </a:r>
            <a:br>
              <a:rPr lang="nb-NO" sz="3200" dirty="0">
                <a:latin typeface="Arial Narrow" charset="0"/>
                <a:ea typeface="Arial Narrow" charset="0"/>
                <a:cs typeface="Arial Narrow" charset="0"/>
              </a:rPr>
            </a:br>
            <a:r>
              <a:rPr lang="nb-NO" sz="3200" dirty="0">
                <a:latin typeface="Arial Narrow" charset="0"/>
                <a:ea typeface="Arial Narrow" charset="0"/>
                <a:cs typeface="Arial Narrow" charset="0"/>
              </a:rPr>
              <a:t> </a:t>
            </a:r>
            <a:br>
              <a:rPr lang="nb-NO" sz="3200" dirty="0">
                <a:latin typeface="Arial Narrow" charset="0"/>
                <a:ea typeface="Arial Narrow" charset="0"/>
                <a:cs typeface="Arial Narrow" charset="0"/>
              </a:rPr>
            </a:br>
            <a:r>
              <a:rPr lang="nb-NO" sz="3200" dirty="0">
                <a:latin typeface="Arial Narrow" charset="0"/>
                <a:ea typeface="Arial Narrow" charset="0"/>
                <a:cs typeface="Arial Narrow" charset="0"/>
              </a:rPr>
              <a:t>The house must </a:t>
            </a:r>
            <a:r>
              <a:rPr lang="nb-NO" sz="3200" dirty="0" smtClean="0">
                <a:latin typeface="Arial Narrow" charset="0"/>
                <a:ea typeface="Arial Narrow" charset="0"/>
                <a:cs typeface="Arial Narrow" charset="0"/>
              </a:rPr>
              <a:t>have:</a:t>
            </a:r>
            <a:br>
              <a:rPr lang="nb-NO" sz="3200" dirty="0" smtClean="0">
                <a:latin typeface="Arial Narrow" charset="0"/>
                <a:ea typeface="Arial Narrow" charset="0"/>
                <a:cs typeface="Arial Narrow" charset="0"/>
              </a:rPr>
            </a:br>
            <a:r>
              <a:rPr lang="nb-NO" sz="3200" dirty="0" err="1" smtClean="0">
                <a:latin typeface="Arial Narrow" charset="0"/>
                <a:ea typeface="Arial Narrow" charset="0"/>
                <a:cs typeface="Arial Narrow" charset="0"/>
              </a:rPr>
              <a:t>Background</a:t>
            </a:r>
            <a:r>
              <a:rPr lang="nb-NO" sz="3200" dirty="0" smtClean="0">
                <a:latin typeface="Arial Narrow" charset="0"/>
                <a:ea typeface="Arial Narrow" charset="0"/>
                <a:cs typeface="Arial Narrow" charset="0"/>
              </a:rPr>
              <a:t> </a:t>
            </a:r>
            <a:r>
              <a:rPr lang="nb-NO" sz="3200" dirty="0" err="1">
                <a:latin typeface="Arial Narrow" charset="0"/>
                <a:ea typeface="Arial Narrow" charset="0"/>
                <a:cs typeface="Arial Narrow" charset="0"/>
              </a:rPr>
              <a:t>colour</a:t>
            </a:r>
            <a:r>
              <a:rPr lang="nb-NO" sz="3200" dirty="0">
                <a:latin typeface="Arial Narrow" charset="0"/>
                <a:ea typeface="Arial Narrow" charset="0"/>
                <a:cs typeface="Arial Narrow" charset="0"/>
              </a:rPr>
              <a:t>. </a:t>
            </a:r>
            <a:r>
              <a:rPr lang="nb-NO" sz="3200" dirty="0" smtClean="0">
                <a:latin typeface="Arial Narrow" charset="0"/>
                <a:ea typeface="Arial Narrow" charset="0"/>
                <a:cs typeface="Arial Narrow" charset="0"/>
              </a:rPr>
              <a:t/>
            </a:r>
            <a:br>
              <a:rPr lang="nb-NO" sz="3200" dirty="0" smtClean="0">
                <a:latin typeface="Arial Narrow" charset="0"/>
                <a:ea typeface="Arial Narrow" charset="0"/>
                <a:cs typeface="Arial Narrow" charset="0"/>
              </a:rPr>
            </a:br>
            <a:r>
              <a:rPr lang="nb-NO" sz="3200" dirty="0" smtClean="0">
                <a:latin typeface="Arial Narrow" charset="0"/>
                <a:ea typeface="Arial Narrow" charset="0"/>
                <a:cs typeface="Arial Narrow" charset="0"/>
              </a:rPr>
              <a:t>Windows</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doors</a:t>
            </a:r>
            <a:r>
              <a:rPr lang="nb-NO" sz="3200" dirty="0">
                <a:latin typeface="Arial Narrow" charset="0"/>
                <a:ea typeface="Arial Narrow" charset="0"/>
                <a:cs typeface="Arial Narrow" charset="0"/>
              </a:rPr>
              <a:t> or </a:t>
            </a:r>
            <a:r>
              <a:rPr lang="nb-NO" sz="3200" dirty="0" err="1">
                <a:latin typeface="Arial Narrow" charset="0"/>
                <a:ea typeface="Arial Narrow" charset="0"/>
                <a:cs typeface="Arial Narrow" charset="0"/>
              </a:rPr>
              <a:t>other</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openings</a:t>
            </a:r>
            <a:r>
              <a:rPr lang="nb-NO" sz="3200" dirty="0">
                <a:latin typeface="Arial Narrow" charset="0"/>
                <a:ea typeface="Arial Narrow" charset="0"/>
                <a:cs typeface="Arial Narrow" charset="0"/>
              </a:rPr>
              <a:t> to let </a:t>
            </a:r>
            <a:r>
              <a:rPr lang="nb-NO" sz="3200" dirty="0" err="1">
                <a:latin typeface="Arial Narrow" charset="0"/>
                <a:ea typeface="Arial Narrow" charset="0"/>
                <a:cs typeface="Arial Narrow" charset="0"/>
              </a:rPr>
              <a:t>light</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through</a:t>
            </a:r>
            <a:r>
              <a:rPr lang="nb-NO" sz="3200" dirty="0">
                <a:latin typeface="Arial Narrow" charset="0"/>
                <a:ea typeface="Arial Narrow" charset="0"/>
                <a:cs typeface="Arial Narrow" charset="0"/>
              </a:rPr>
              <a:t>.</a:t>
            </a:r>
            <a:br>
              <a:rPr lang="nb-NO" sz="3200" dirty="0">
                <a:latin typeface="Arial Narrow" charset="0"/>
                <a:ea typeface="Arial Narrow" charset="0"/>
                <a:cs typeface="Arial Narrow" charset="0"/>
              </a:rPr>
            </a:br>
            <a:r>
              <a:rPr lang="nb-NO" sz="3200" dirty="0">
                <a:latin typeface="Arial Narrow" charset="0"/>
                <a:ea typeface="Arial Narrow" charset="0"/>
                <a:cs typeface="Arial Narrow" charset="0"/>
              </a:rPr>
              <a:t>It must have an </a:t>
            </a:r>
            <a:r>
              <a:rPr lang="nb-NO" sz="3200" dirty="0" err="1">
                <a:latin typeface="Arial Narrow" charset="0"/>
                <a:ea typeface="Arial Narrow" charset="0"/>
                <a:cs typeface="Arial Narrow" charset="0"/>
              </a:rPr>
              <a:t>opening</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big</a:t>
            </a:r>
            <a:r>
              <a:rPr lang="nb-NO" sz="3200" dirty="0">
                <a:latin typeface="Arial Narrow" charset="0"/>
                <a:ea typeface="Arial Narrow" charset="0"/>
                <a:cs typeface="Arial Narrow" charset="0"/>
              </a:rPr>
              <a:t> </a:t>
            </a:r>
            <a:r>
              <a:rPr lang="nb-NO" sz="3200" dirty="0" err="1">
                <a:latin typeface="Arial Narrow" charset="0"/>
                <a:ea typeface="Arial Narrow" charset="0"/>
                <a:cs typeface="Arial Narrow" charset="0"/>
              </a:rPr>
              <a:t>enough</a:t>
            </a:r>
            <a:r>
              <a:rPr lang="nb-NO" sz="3200" dirty="0">
                <a:latin typeface="Arial Narrow" charset="0"/>
                <a:ea typeface="Arial Narrow" charset="0"/>
                <a:cs typeface="Arial Narrow" charset="0"/>
              </a:rPr>
              <a:t> to </a:t>
            </a:r>
            <a:r>
              <a:rPr lang="nb-NO" sz="3200" dirty="0" err="1">
                <a:latin typeface="Arial Narrow" charset="0"/>
                <a:ea typeface="Arial Narrow" charset="0"/>
                <a:cs typeface="Arial Narrow" charset="0"/>
              </a:rPr>
              <a:t>insert</a:t>
            </a:r>
            <a:r>
              <a:rPr lang="nb-NO" sz="3200" dirty="0">
                <a:latin typeface="Arial Narrow" charset="0"/>
                <a:ea typeface="Arial Narrow" charset="0"/>
                <a:cs typeface="Arial Narrow" charset="0"/>
              </a:rPr>
              <a:t> LED </a:t>
            </a:r>
            <a:r>
              <a:rPr lang="nb-NO" sz="3200" dirty="0" err="1" smtClean="0">
                <a:latin typeface="Arial Narrow" charset="0"/>
                <a:ea typeface="Arial Narrow" charset="0"/>
                <a:cs typeface="Arial Narrow" charset="0"/>
              </a:rPr>
              <a:t>candle</a:t>
            </a:r>
            <a:r>
              <a:rPr lang="nb-NO" sz="3200" dirty="0" smtClean="0">
                <a:latin typeface="Arial Narrow" charset="0"/>
                <a:ea typeface="Arial Narrow" charset="0"/>
                <a:cs typeface="Arial Narrow" charset="0"/>
              </a:rPr>
              <a:t> (</a:t>
            </a:r>
            <a:r>
              <a:rPr lang="nb-NO" sz="3200" dirty="0" err="1" smtClean="0">
                <a:latin typeface="Arial Narrow" charset="0"/>
                <a:ea typeface="Arial Narrow" charset="0"/>
                <a:cs typeface="Arial Narrow" charset="0"/>
              </a:rPr>
              <a:t>Provided</a:t>
            </a:r>
            <a:r>
              <a:rPr lang="nb-NO" sz="3200" dirty="0" smtClean="0">
                <a:latin typeface="Arial Narrow" charset="0"/>
                <a:ea typeface="Arial Narrow" charset="0"/>
                <a:cs typeface="Arial Narrow" charset="0"/>
              </a:rPr>
              <a:t>)</a:t>
            </a:r>
            <a:br>
              <a:rPr lang="nb-NO" sz="3200" dirty="0" smtClean="0">
                <a:latin typeface="Arial Narrow" charset="0"/>
                <a:ea typeface="Arial Narrow" charset="0"/>
                <a:cs typeface="Arial Narrow" charset="0"/>
              </a:rPr>
            </a:br>
            <a:endParaRPr lang="nb-NO" sz="3200" dirty="0">
              <a:latin typeface="Arial Narrow" charset="0"/>
              <a:ea typeface="Arial Narrow" charset="0"/>
              <a:cs typeface="Arial Narrow" charset="0"/>
            </a:endParaRPr>
          </a:p>
        </p:txBody>
      </p:sp>
    </p:spTree>
    <p:extLst>
      <p:ext uri="{BB962C8B-B14F-4D97-AF65-F5344CB8AC3E}">
        <p14:creationId xmlns:p14="http://schemas.microsoft.com/office/powerpoint/2010/main" val="58599634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a:xfrm>
            <a:off x="628650" y="365126"/>
            <a:ext cx="7886700" cy="749299"/>
          </a:xfrm>
        </p:spPr>
        <p:txBody>
          <a:bodyPr/>
          <a:lstStyle/>
          <a:p>
            <a:r>
              <a:rPr lang="nb-NO" smtClean="0"/>
              <a:t>Sample:</a:t>
            </a:r>
            <a:endParaRPr lang="nb-NO"/>
          </a:p>
        </p:txBody>
      </p:sp>
      <p:pic>
        <p:nvPicPr>
          <p:cNvPr id="5" name="Plassholder for innhold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4288" y="1285875"/>
            <a:ext cx="7236814" cy="4891088"/>
          </a:xfrm>
        </p:spPr>
      </p:pic>
      <p:sp>
        <p:nvSpPr>
          <p:cNvPr id="4" name="Plassholder for lysbildenummer 3"/>
          <p:cNvSpPr>
            <a:spLocks noGrp="1"/>
          </p:cNvSpPr>
          <p:nvPr>
            <p:ph type="sldNum" sz="quarter" idx="4294967295"/>
          </p:nvPr>
        </p:nvSpPr>
        <p:spPr>
          <a:xfrm>
            <a:off x="7086600" y="6356350"/>
            <a:ext cx="2057400" cy="365125"/>
          </a:xfrm>
          <a:prstGeom prst="rect">
            <a:avLst/>
          </a:prstGeom>
        </p:spPr>
        <p:txBody>
          <a:bodyPr/>
          <a:lstStyle/>
          <a:p>
            <a:fld id="{EF0DA2FB-8204-DE4B-9A1E-200F16D1A565}" type="slidenum">
              <a:rPr lang="nb-NO" smtClean="0"/>
              <a:t>40</a:t>
            </a:fld>
            <a:endParaRPr lang="nb-NO"/>
          </a:p>
        </p:txBody>
      </p:sp>
    </p:spTree>
    <p:extLst>
      <p:ext uri="{BB962C8B-B14F-4D97-AF65-F5344CB8AC3E}">
        <p14:creationId xmlns:p14="http://schemas.microsoft.com/office/powerpoint/2010/main" val="4805652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a:xfrm>
            <a:off x="628650" y="365126"/>
            <a:ext cx="7886700" cy="749299"/>
          </a:xfrm>
        </p:spPr>
        <p:txBody>
          <a:bodyPr/>
          <a:lstStyle/>
          <a:p>
            <a:r>
              <a:rPr lang="nb-NO" dirty="0" smtClean="0">
                <a:latin typeface="Arial Narrow" charset="0"/>
                <a:ea typeface="Arial Narrow" charset="0"/>
                <a:cs typeface="Arial Narrow" charset="0"/>
              </a:rPr>
              <a:t>Sample:</a:t>
            </a:r>
            <a:endParaRPr lang="nb-NO" dirty="0">
              <a:latin typeface="Arial Narrow" charset="0"/>
              <a:ea typeface="Arial Narrow" charset="0"/>
              <a:cs typeface="Arial Narrow" charset="0"/>
            </a:endParaRPr>
          </a:p>
        </p:txBody>
      </p:sp>
      <p:sp>
        <p:nvSpPr>
          <p:cNvPr id="4" name="Plassholder for lysbildenummer 3"/>
          <p:cNvSpPr>
            <a:spLocks noGrp="1"/>
          </p:cNvSpPr>
          <p:nvPr>
            <p:ph type="sldNum" sz="quarter" idx="4294967295"/>
          </p:nvPr>
        </p:nvSpPr>
        <p:spPr>
          <a:xfrm>
            <a:off x="6457950" y="6356351"/>
            <a:ext cx="2057400" cy="365125"/>
          </a:xfrm>
          <a:prstGeom prst="rect">
            <a:avLst/>
          </a:prstGeom>
        </p:spPr>
        <p:txBody>
          <a:bodyPr/>
          <a:lstStyle/>
          <a:p>
            <a:fld id="{EF0DA2FB-8204-DE4B-9A1E-200F16D1A565}" type="slidenum">
              <a:rPr lang="nb-NO" smtClean="0"/>
              <a:t>41</a:t>
            </a:fld>
            <a:endParaRPr lang="nb-NO"/>
          </a:p>
        </p:txBody>
      </p:sp>
      <p:pic>
        <p:nvPicPr>
          <p:cNvPr id="6" name="Plassholder for innhold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53582" y="1354138"/>
            <a:ext cx="3261768" cy="4351338"/>
          </a:xfrm>
        </p:spPr>
      </p:pic>
      <p:pic>
        <p:nvPicPr>
          <p:cNvPr id="8" name="Bild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813" y="1697037"/>
            <a:ext cx="4043362" cy="3209017"/>
          </a:xfrm>
          <a:prstGeom prst="rect">
            <a:avLst/>
          </a:prstGeom>
        </p:spPr>
      </p:pic>
    </p:spTree>
    <p:extLst>
      <p:ext uri="{BB962C8B-B14F-4D97-AF65-F5344CB8AC3E}">
        <p14:creationId xmlns:p14="http://schemas.microsoft.com/office/powerpoint/2010/main" val="1478260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a:xfrm>
            <a:off x="628650" y="365126"/>
            <a:ext cx="7886700" cy="1878012"/>
          </a:xfrm>
        </p:spPr>
        <p:txBody>
          <a:bodyPr>
            <a:normAutofit/>
          </a:bodyPr>
          <a:lstStyle/>
          <a:p>
            <a:pPr algn="l"/>
            <a:r>
              <a:rPr lang="nb-NO" sz="3600" b="1" dirty="0" err="1">
                <a:latin typeface="Arial Narrow" charset="0"/>
                <a:ea typeface="Arial Narrow" charset="0"/>
                <a:cs typeface="Arial Narrow" charset="0"/>
              </a:rPr>
              <a:t>Task</a:t>
            </a:r>
            <a:r>
              <a:rPr lang="nb-NO" sz="3600" b="1" dirty="0">
                <a:latin typeface="Arial Narrow" charset="0"/>
                <a:ea typeface="Arial Narrow" charset="0"/>
                <a:cs typeface="Arial Narrow" charset="0"/>
              </a:rPr>
              <a:t> 2</a:t>
            </a:r>
            <a:r>
              <a:rPr lang="nb-NO" sz="3600" b="1" dirty="0" smtClean="0">
                <a:latin typeface="Arial Narrow" charset="0"/>
                <a:ea typeface="Arial Narrow" charset="0"/>
                <a:cs typeface="Arial Narrow" charset="0"/>
              </a:rPr>
              <a:t>: ”A </a:t>
            </a:r>
            <a:r>
              <a:rPr lang="nb-NO" sz="3600" b="1" dirty="0" err="1" smtClean="0">
                <a:latin typeface="Arial Narrow" charset="0"/>
                <a:ea typeface="Arial Narrow" charset="0"/>
                <a:cs typeface="Arial Narrow" charset="0"/>
              </a:rPr>
              <a:t>child</a:t>
            </a:r>
            <a:r>
              <a:rPr lang="nb-NO" sz="3600" b="1" dirty="0" smtClean="0">
                <a:latin typeface="Arial Narrow" charset="0"/>
                <a:ea typeface="Arial Narrow" charset="0"/>
                <a:cs typeface="Arial Narrow" charset="0"/>
              </a:rPr>
              <a:t> </a:t>
            </a:r>
            <a:r>
              <a:rPr lang="nb-NO" sz="3600" b="1" dirty="0" err="1" smtClean="0">
                <a:latin typeface="Arial Narrow" charset="0"/>
                <a:ea typeface="Arial Narrow" charset="0"/>
                <a:cs typeface="Arial Narrow" charset="0"/>
              </a:rPr>
              <a:t>should</a:t>
            </a:r>
            <a:r>
              <a:rPr lang="nb-NO" sz="3600" b="1" dirty="0" smtClean="0">
                <a:latin typeface="Arial Narrow" charset="0"/>
                <a:ea typeface="Arial Narrow" charset="0"/>
                <a:cs typeface="Arial Narrow" charset="0"/>
              </a:rPr>
              <a:t> never be </a:t>
            </a:r>
            <a:r>
              <a:rPr lang="nb-NO" sz="3600" b="1" dirty="0" err="1" smtClean="0">
                <a:latin typeface="Arial Narrow" charset="0"/>
                <a:ea typeface="Arial Narrow" charset="0"/>
                <a:cs typeface="Arial Narrow" charset="0"/>
              </a:rPr>
              <a:t>alone</a:t>
            </a:r>
            <a:r>
              <a:rPr lang="nb-NO" sz="3600" b="1" dirty="0" smtClean="0">
                <a:latin typeface="Arial Narrow" charset="0"/>
                <a:ea typeface="Arial Narrow" charset="0"/>
                <a:cs typeface="Arial Narrow" charset="0"/>
              </a:rPr>
              <a:t>”</a:t>
            </a:r>
            <a:r>
              <a:rPr lang="nb-NO" dirty="0">
                <a:latin typeface="Arial Narrow" charset="0"/>
                <a:ea typeface="Arial Narrow" charset="0"/>
                <a:cs typeface="Arial Narrow" charset="0"/>
              </a:rPr>
              <a:t/>
            </a:r>
            <a:br>
              <a:rPr lang="nb-NO" dirty="0">
                <a:latin typeface="Arial Narrow" charset="0"/>
                <a:ea typeface="Arial Narrow" charset="0"/>
                <a:cs typeface="Arial Narrow" charset="0"/>
              </a:rPr>
            </a:br>
            <a:r>
              <a:rPr lang="nb-NO" sz="2700" dirty="0" smtClean="0">
                <a:latin typeface="Arial Narrow" charset="0"/>
                <a:ea typeface="Arial Narrow" charset="0"/>
                <a:cs typeface="Arial Narrow" charset="0"/>
              </a:rPr>
              <a:t>Make </a:t>
            </a:r>
            <a:r>
              <a:rPr lang="nb-NO" sz="2700" dirty="0" err="1">
                <a:latin typeface="Arial Narrow" charset="0"/>
                <a:ea typeface="Arial Narrow" charset="0"/>
                <a:cs typeface="Arial Narrow" charset="0"/>
              </a:rPr>
              <a:t>two</a:t>
            </a:r>
            <a:r>
              <a:rPr lang="nb-NO" sz="2700" dirty="0">
                <a:latin typeface="Arial Narrow" charset="0"/>
                <a:ea typeface="Arial Narrow" charset="0"/>
                <a:cs typeface="Arial Narrow" charset="0"/>
              </a:rPr>
              <a:t> </a:t>
            </a:r>
            <a:r>
              <a:rPr lang="nb-NO" sz="2700" dirty="0" err="1">
                <a:latin typeface="Arial Narrow" charset="0"/>
                <a:ea typeface="Arial Narrow" charset="0"/>
                <a:cs typeface="Arial Narrow" charset="0"/>
              </a:rPr>
              <a:t>figures</a:t>
            </a:r>
            <a:r>
              <a:rPr lang="nb-NO" sz="2700" dirty="0">
                <a:latin typeface="Arial Narrow" charset="0"/>
                <a:ea typeface="Arial Narrow" charset="0"/>
                <a:cs typeface="Arial Narrow" charset="0"/>
              </a:rPr>
              <a:t> </a:t>
            </a:r>
            <a:r>
              <a:rPr lang="nb-NO" sz="2700" dirty="0" err="1">
                <a:latin typeface="Arial Narrow" charset="0"/>
                <a:ea typeface="Arial Narrow" charset="0"/>
                <a:cs typeface="Arial Narrow" charset="0"/>
              </a:rPr>
              <a:t>of</a:t>
            </a:r>
            <a:r>
              <a:rPr lang="nb-NO" sz="2700" dirty="0">
                <a:latin typeface="Arial Narrow" charset="0"/>
                <a:ea typeface="Arial Narrow" charset="0"/>
                <a:cs typeface="Arial Narrow" charset="0"/>
              </a:rPr>
              <a:t> persons. </a:t>
            </a:r>
            <a:r>
              <a:rPr lang="nb-NO" sz="2700" dirty="0" smtClean="0">
                <a:latin typeface="Arial Narrow" charset="0"/>
                <a:ea typeface="Arial Narrow" charset="0"/>
                <a:cs typeface="Arial Narrow" charset="0"/>
              </a:rPr>
              <a:t/>
            </a:r>
            <a:br>
              <a:rPr lang="nb-NO" sz="2700" dirty="0" smtClean="0">
                <a:latin typeface="Arial Narrow" charset="0"/>
                <a:ea typeface="Arial Narrow" charset="0"/>
                <a:cs typeface="Arial Narrow" charset="0"/>
              </a:rPr>
            </a:br>
            <a:r>
              <a:rPr lang="nb-NO" sz="2700" dirty="0" smtClean="0">
                <a:latin typeface="Arial Narrow" charset="0"/>
                <a:ea typeface="Arial Narrow" charset="0"/>
                <a:cs typeface="Arial Narrow" charset="0"/>
              </a:rPr>
              <a:t>It </a:t>
            </a:r>
            <a:r>
              <a:rPr lang="nb-NO" sz="2700" dirty="0" err="1">
                <a:latin typeface="Arial Narrow" charset="0"/>
                <a:ea typeface="Arial Narrow" charset="0"/>
                <a:cs typeface="Arial Narrow" charset="0"/>
              </a:rPr>
              <a:t>can</a:t>
            </a:r>
            <a:r>
              <a:rPr lang="nb-NO" sz="2700" dirty="0">
                <a:latin typeface="Arial Narrow" charset="0"/>
                <a:ea typeface="Arial Narrow" charset="0"/>
                <a:cs typeface="Arial Narrow" charset="0"/>
              </a:rPr>
              <a:t> be </a:t>
            </a:r>
            <a:r>
              <a:rPr lang="nb-NO" sz="2700" dirty="0" err="1">
                <a:latin typeface="Arial Narrow" charset="0"/>
                <a:ea typeface="Arial Narrow" charset="0"/>
                <a:cs typeface="Arial Narrow" charset="0"/>
              </a:rPr>
              <a:t>child</a:t>
            </a:r>
            <a:r>
              <a:rPr lang="nb-NO" sz="2700" dirty="0">
                <a:latin typeface="Arial Narrow" charset="0"/>
                <a:ea typeface="Arial Narrow" charset="0"/>
                <a:cs typeface="Arial Narrow" charset="0"/>
              </a:rPr>
              <a:t>, </a:t>
            </a:r>
            <a:r>
              <a:rPr lang="nb-NO" sz="2700" dirty="0" err="1">
                <a:latin typeface="Arial Narrow" charset="0"/>
                <a:ea typeface="Arial Narrow" charset="0"/>
                <a:cs typeface="Arial Narrow" charset="0"/>
              </a:rPr>
              <a:t>teacher</a:t>
            </a:r>
            <a:r>
              <a:rPr lang="nb-NO" sz="2700" dirty="0">
                <a:latin typeface="Arial Narrow" charset="0"/>
                <a:ea typeface="Arial Narrow" charset="0"/>
                <a:cs typeface="Arial Narrow" charset="0"/>
              </a:rPr>
              <a:t> or </a:t>
            </a:r>
            <a:r>
              <a:rPr lang="nb-NO" sz="2700" dirty="0" err="1">
                <a:latin typeface="Arial Narrow" charset="0"/>
                <a:ea typeface="Arial Narrow" charset="0"/>
                <a:cs typeface="Arial Narrow" charset="0"/>
              </a:rPr>
              <a:t>other</a:t>
            </a:r>
            <a:r>
              <a:rPr lang="nb-NO" sz="2700" dirty="0">
                <a:latin typeface="Arial Narrow" charset="0"/>
                <a:ea typeface="Arial Narrow" charset="0"/>
                <a:cs typeface="Arial Narrow" charset="0"/>
              </a:rPr>
              <a:t>.</a:t>
            </a:r>
            <a:r>
              <a:rPr lang="nb-NO" sz="4000" dirty="0">
                <a:latin typeface="Arial Narrow" charset="0"/>
                <a:ea typeface="Arial Narrow" charset="0"/>
                <a:cs typeface="Arial Narrow" charset="0"/>
              </a:rPr>
              <a:t> </a:t>
            </a:r>
          </a:p>
        </p:txBody>
      </p:sp>
      <p:pic>
        <p:nvPicPr>
          <p:cNvPr id="5" name="Plassholder for innhold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255" y="2418556"/>
            <a:ext cx="4671264" cy="2540000"/>
          </a:xfrm>
        </p:spPr>
      </p:pic>
      <p:sp>
        <p:nvSpPr>
          <p:cNvPr id="4" name="Plassholder for lysbildenummer 3"/>
          <p:cNvSpPr>
            <a:spLocks noGrp="1"/>
          </p:cNvSpPr>
          <p:nvPr>
            <p:ph type="sldNum" sz="quarter" idx="4294967295"/>
          </p:nvPr>
        </p:nvSpPr>
        <p:spPr>
          <a:xfrm>
            <a:off x="6457950" y="6356351"/>
            <a:ext cx="2057400" cy="365125"/>
          </a:xfrm>
          <a:prstGeom prst="rect">
            <a:avLst/>
          </a:prstGeom>
        </p:spPr>
        <p:txBody>
          <a:bodyPr/>
          <a:lstStyle/>
          <a:p>
            <a:fld id="{EF0DA2FB-8204-DE4B-9A1E-200F16D1A565}" type="slidenum">
              <a:rPr lang="nb-NO" smtClean="0"/>
              <a:t>42</a:t>
            </a:fld>
            <a:endParaRPr lang="nb-NO"/>
          </a:p>
        </p:txBody>
      </p:sp>
      <p:pic>
        <p:nvPicPr>
          <p:cNvPr id="6" name="Bild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5521" y="1516856"/>
            <a:ext cx="2641600" cy="2171700"/>
          </a:xfrm>
          <a:prstGeom prst="rect">
            <a:avLst/>
          </a:prstGeom>
        </p:spPr>
      </p:pic>
      <p:pic>
        <p:nvPicPr>
          <p:cNvPr id="7" name="Bilde 6"/>
          <p:cNvPicPr>
            <a:picLocks noChangeAspect="1"/>
          </p:cNvPicPr>
          <p:nvPr/>
        </p:nvPicPr>
        <p:blipFill rotWithShape="1">
          <a:blip r:embed="rId4">
            <a:extLst>
              <a:ext uri="{28A0092B-C50C-407E-A947-70E740481C1C}">
                <a14:useLocalDpi xmlns:a14="http://schemas.microsoft.com/office/drawing/2010/main" val="0"/>
              </a:ext>
            </a:extLst>
          </a:blip>
          <a:srcRect l="10675" r="10640"/>
          <a:stretch/>
        </p:blipFill>
        <p:spPr>
          <a:xfrm>
            <a:off x="5086350" y="4181476"/>
            <a:ext cx="3686175" cy="2540000"/>
          </a:xfrm>
          <a:prstGeom prst="rect">
            <a:avLst/>
          </a:prstGeom>
        </p:spPr>
      </p:pic>
    </p:spTree>
    <p:extLst>
      <p:ext uri="{BB962C8B-B14F-4D97-AF65-F5344CB8AC3E}">
        <p14:creationId xmlns:p14="http://schemas.microsoft.com/office/powerpoint/2010/main" val="20205869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a:xfrm>
            <a:off x="414528" y="217489"/>
            <a:ext cx="8550085" cy="696912"/>
          </a:xfrm>
        </p:spPr>
        <p:txBody>
          <a:bodyPr/>
          <a:lstStyle/>
          <a:p>
            <a:r>
              <a:rPr lang="nb-NO" sz="3600" dirty="0" smtClean="0"/>
              <a:t>The </a:t>
            </a:r>
            <a:r>
              <a:rPr lang="nb-NO" sz="3600" dirty="0" err="1" smtClean="0"/>
              <a:t>children</a:t>
            </a:r>
            <a:r>
              <a:rPr lang="nb-NO" sz="3600" dirty="0" smtClean="0"/>
              <a:t> </a:t>
            </a:r>
            <a:r>
              <a:rPr lang="nb-NO" sz="3600" dirty="0" err="1" smtClean="0"/>
              <a:t>will</a:t>
            </a:r>
            <a:r>
              <a:rPr lang="nb-NO" sz="3600" dirty="0" smtClean="0"/>
              <a:t> </a:t>
            </a:r>
            <a:r>
              <a:rPr lang="nb-NO" sz="3600" dirty="0" err="1" smtClean="0"/>
              <a:t>also</a:t>
            </a:r>
            <a:r>
              <a:rPr lang="nb-NO" sz="3600" dirty="0" smtClean="0"/>
              <a:t> have </a:t>
            </a:r>
            <a:r>
              <a:rPr lang="nb-NO" sz="3600" dirty="0" err="1" smtClean="0"/>
              <a:t>your</a:t>
            </a:r>
            <a:r>
              <a:rPr lang="nb-NO" sz="3600" dirty="0" smtClean="0"/>
              <a:t> </a:t>
            </a:r>
            <a:r>
              <a:rPr lang="nb-NO" sz="3600" dirty="0" err="1" smtClean="0"/>
              <a:t>dieline</a:t>
            </a:r>
            <a:r>
              <a:rPr lang="nb-NO" sz="3600" dirty="0" smtClean="0"/>
              <a:t> </a:t>
            </a:r>
            <a:r>
              <a:rPr lang="nb-NO" sz="3600" u="sng" dirty="0" err="1" smtClean="0"/>
              <a:t>only</a:t>
            </a:r>
            <a:r>
              <a:rPr lang="nb-NO" sz="3600" dirty="0" smtClean="0"/>
              <a:t> for </a:t>
            </a:r>
            <a:r>
              <a:rPr lang="nb-NO" sz="3600" dirty="0" err="1" smtClean="0"/>
              <a:t>their</a:t>
            </a:r>
            <a:r>
              <a:rPr lang="nb-NO" sz="3600" dirty="0" smtClean="0"/>
              <a:t> </a:t>
            </a:r>
            <a:r>
              <a:rPr lang="nb-NO" sz="3600" dirty="0" err="1" smtClean="0"/>
              <a:t>own</a:t>
            </a:r>
            <a:r>
              <a:rPr lang="nb-NO" sz="3600" dirty="0" smtClean="0"/>
              <a:t> </a:t>
            </a:r>
            <a:r>
              <a:rPr lang="nb-NO" sz="3600" dirty="0" err="1" smtClean="0"/>
              <a:t>version</a:t>
            </a:r>
            <a:r>
              <a:rPr lang="nb-NO" sz="3600" dirty="0" smtClean="0"/>
              <a:t>:</a:t>
            </a:r>
            <a:endParaRPr lang="nb-NO" sz="3600" dirty="0"/>
          </a:p>
        </p:txBody>
      </p:sp>
      <p:pic>
        <p:nvPicPr>
          <p:cNvPr id="5" name="Plassholder for innhold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6597" y="1825625"/>
            <a:ext cx="7290805" cy="4351338"/>
          </a:xfrm>
        </p:spPr>
      </p:pic>
      <p:sp>
        <p:nvSpPr>
          <p:cNvPr id="4" name="Plassholder for lysbildenummer 3"/>
          <p:cNvSpPr>
            <a:spLocks noGrp="1"/>
          </p:cNvSpPr>
          <p:nvPr>
            <p:ph type="sldNum" sz="quarter" idx="4294967295"/>
          </p:nvPr>
        </p:nvSpPr>
        <p:spPr>
          <a:xfrm>
            <a:off x="6457950" y="6356351"/>
            <a:ext cx="2057400" cy="365125"/>
          </a:xfrm>
          <a:prstGeom prst="rect">
            <a:avLst/>
          </a:prstGeom>
        </p:spPr>
        <p:txBody>
          <a:bodyPr/>
          <a:lstStyle/>
          <a:p>
            <a:fld id="{EF0DA2FB-8204-DE4B-9A1E-200F16D1A565}" type="slidenum">
              <a:rPr lang="nb-NO" smtClean="0"/>
              <a:t>43</a:t>
            </a:fld>
            <a:endParaRPr lang="nb-NO"/>
          </a:p>
        </p:txBody>
      </p:sp>
    </p:spTree>
    <p:extLst>
      <p:ext uri="{BB962C8B-B14F-4D97-AF65-F5344CB8AC3E}">
        <p14:creationId xmlns:p14="http://schemas.microsoft.com/office/powerpoint/2010/main" val="1845286359"/>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Design">
  <a:themeElements>
    <a:clrScheme name="1_Office-Design 3">
      <a:dk1>
        <a:srgbClr val="262626"/>
      </a:dk1>
      <a:lt1>
        <a:srgbClr val="FFFFFF"/>
      </a:lt1>
      <a:dk2>
        <a:srgbClr val="009EE0"/>
      </a:dk2>
      <a:lt2>
        <a:srgbClr val="EEECE1"/>
      </a:lt2>
      <a:accent1>
        <a:srgbClr val="009EE0"/>
      </a:accent1>
      <a:accent2>
        <a:srgbClr val="EC7404"/>
      </a:accent2>
      <a:accent3>
        <a:srgbClr val="FFFFFF"/>
      </a:accent3>
      <a:accent4>
        <a:srgbClr val="1F1F1F"/>
      </a:accent4>
      <a:accent5>
        <a:srgbClr val="AACCED"/>
      </a:accent5>
      <a:accent6>
        <a:srgbClr val="D66803"/>
      </a:accent6>
      <a:hlink>
        <a:srgbClr val="76B856"/>
      </a:hlink>
      <a:folHlink>
        <a:srgbClr val="E7436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Office-Desig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1_Office-Design 2">
        <a:dk1>
          <a:srgbClr val="262626"/>
        </a:dk1>
        <a:lt1>
          <a:srgbClr val="FFFFFF"/>
        </a:lt1>
        <a:dk2>
          <a:srgbClr val="009EE0"/>
        </a:dk2>
        <a:lt2>
          <a:srgbClr val="EEECE1"/>
        </a:lt2>
        <a:accent1>
          <a:srgbClr val="009EE0"/>
        </a:accent1>
        <a:accent2>
          <a:srgbClr val="EC7404"/>
        </a:accent2>
        <a:accent3>
          <a:srgbClr val="FFFFFF"/>
        </a:accent3>
        <a:accent4>
          <a:srgbClr val="1F1F1F"/>
        </a:accent4>
        <a:accent5>
          <a:srgbClr val="AACCED"/>
        </a:accent5>
        <a:accent6>
          <a:srgbClr val="D66803"/>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1_Office-Design 3">
        <a:dk1>
          <a:srgbClr val="262626"/>
        </a:dk1>
        <a:lt1>
          <a:srgbClr val="FFFFFF"/>
        </a:lt1>
        <a:dk2>
          <a:srgbClr val="009EE0"/>
        </a:dk2>
        <a:lt2>
          <a:srgbClr val="EEECE1"/>
        </a:lt2>
        <a:accent1>
          <a:srgbClr val="009EE0"/>
        </a:accent1>
        <a:accent2>
          <a:srgbClr val="EC7404"/>
        </a:accent2>
        <a:accent3>
          <a:srgbClr val="FFFFFF"/>
        </a:accent3>
        <a:accent4>
          <a:srgbClr val="1F1F1F"/>
        </a:accent4>
        <a:accent5>
          <a:srgbClr val="AACCED"/>
        </a:accent5>
        <a:accent6>
          <a:srgbClr val="D66803"/>
        </a:accent6>
        <a:hlink>
          <a:srgbClr val="76B856"/>
        </a:hlink>
        <a:folHlink>
          <a:srgbClr val="E7436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9D26CBFB55F6B4BA0137931FE6D8F34" ma:contentTypeVersion="1" ma:contentTypeDescription="Create a new document." ma:contentTypeScope="" ma:versionID="45a879f30c080f5cad99e72c1a00a763">
  <xsd:schema xmlns:xsd="http://www.w3.org/2001/XMLSchema" xmlns:xs="http://www.w3.org/2001/XMLSchema" xmlns:p="http://schemas.microsoft.com/office/2006/metadata/properties" xmlns:ns1="http://schemas.microsoft.com/sharepoint/v3" targetNamespace="http://schemas.microsoft.com/office/2006/metadata/properties" ma:root="true" ma:fieldsID="6390485e8d980b116eacd443da866ac7"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D9F3AB79-C697-470D-ADC6-C7057B4FA41C}">
  <ds:schemaRefs>
    <ds:schemaRef ds:uri="http://schemas.microsoft.com/sharepoint/v3/contenttype/forms"/>
  </ds:schemaRefs>
</ds:datastoreItem>
</file>

<file path=customXml/itemProps2.xml><?xml version="1.0" encoding="utf-8"?>
<ds:datastoreItem xmlns:ds="http://schemas.openxmlformats.org/officeDocument/2006/customXml" ds:itemID="{6EA2272D-B9A8-42C6-B262-C7628E3FAC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363C68C-95E7-4679-9433-F588D322A009}">
  <ds:schemaRefs>
    <ds:schemaRef ds:uri="http://purl.org/dc/elements/1.1/"/>
    <ds:schemaRef ds:uri="http://schemas.microsoft.com/office/2006/documentManagement/types"/>
    <ds:schemaRef ds:uri="http://www.w3.org/XML/1998/namespace"/>
    <ds:schemaRef ds:uri="http://purl.org/dc/terms/"/>
    <ds:schemaRef ds:uri="http://schemas.microsoft.com/sharepoint/v3"/>
    <ds:schemaRef ds:uri="http://schemas.microsoft.com/office/2006/metadata/properties"/>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25</TotalTime>
  <Words>3508</Words>
  <Application>Microsoft Macintosh PowerPoint</Application>
  <PresentationFormat>Skjermfremvisning (4:3)</PresentationFormat>
  <Paragraphs>561</Paragraphs>
  <Slides>43</Slides>
  <Notes>37</Notes>
  <HiddenSlides>20</HiddenSlides>
  <MMClips>0</MMClips>
  <ScaleCrop>false</ScaleCrop>
  <HeadingPairs>
    <vt:vector size="6" baseType="variant">
      <vt:variant>
        <vt:lpstr>Brukte skrifter</vt:lpstr>
      </vt:variant>
      <vt:variant>
        <vt:i4>10</vt:i4>
      </vt:variant>
      <vt:variant>
        <vt:lpstr>Tema</vt:lpstr>
      </vt:variant>
      <vt:variant>
        <vt:i4>2</vt:i4>
      </vt:variant>
      <vt:variant>
        <vt:lpstr>Lysbildetitler</vt:lpstr>
      </vt:variant>
      <vt:variant>
        <vt:i4>43</vt:i4>
      </vt:variant>
    </vt:vector>
  </HeadingPairs>
  <TitlesOfParts>
    <vt:vector size="55" baseType="lpstr">
      <vt:lpstr>Aharoni</vt:lpstr>
      <vt:lpstr>Arial Narrow</vt:lpstr>
      <vt:lpstr>Calibri</vt:lpstr>
      <vt:lpstr>Franklin Gothic Demi Cond</vt:lpstr>
      <vt:lpstr>Franklin Gothic Medium Cond</vt:lpstr>
      <vt:lpstr>HelveticaNeueLT Std Cn</vt:lpstr>
      <vt:lpstr>HelveticaNeueLT Std Med Cn</vt:lpstr>
      <vt:lpstr>ＭＳ Ｐゴシック</vt:lpstr>
      <vt:lpstr>Wingdings</vt:lpstr>
      <vt:lpstr>Arial</vt:lpstr>
      <vt:lpstr>1_Office-Design</vt:lpstr>
      <vt:lpstr>Custom Design</vt:lpstr>
      <vt:lpstr>PowerPoint-presentasjon</vt:lpstr>
      <vt:lpstr>WHY we do what we do...</vt:lpstr>
      <vt:lpstr>PowerPoint-presentasjon</vt:lpstr>
      <vt:lpstr>PowerPoint-presentasjon</vt:lpstr>
      <vt:lpstr>PowerPoint-presentasjon</vt:lpstr>
      <vt:lpstr>PowerPoint-presentasjon</vt:lpstr>
      <vt:lpstr>PowerPoint-presentasjon</vt:lpstr>
      <vt:lpstr>Every child is unique,  and so is the way we work...</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“Good things happen when people do more than they have to.”</vt:lpstr>
      <vt:lpstr>How can YOU and Worldskills help?  Our goal is, to teach schoolchildren all over the world about the cause and get them engaged.  The material you all produce, will be distributed from the organization to teach children in a fun way. </vt:lpstr>
      <vt:lpstr>What will we make? TASK 1 Make a fun, happy and creative house for children. It should have details the children will enjoy to look at and talk about.   The house must have: Background colour.  Windows, doors or other openings to let light through. It must have an opening big enough to insert LED candle (Provided) </vt:lpstr>
      <vt:lpstr>Sample:</vt:lpstr>
      <vt:lpstr>Sample:</vt:lpstr>
      <vt:lpstr>Task 2: ”A child should never be alone” Make two figures of persons.  It can be child, teacher or other. </vt:lpstr>
      <vt:lpstr>The children will also have your dieline only for their own version:</vt:lpstr>
    </vt:vector>
  </TitlesOfParts>
  <Company>Fischer</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presentation</dc:title>
  <dc:creator>tpf Fischer</dc:creator>
  <cp:lastModifiedBy>Microsoft Office-bruker</cp:lastModifiedBy>
  <cp:revision>461</cp:revision>
  <cp:lastPrinted>2017-09-10T09:26:26Z</cp:lastPrinted>
  <dcterms:created xsi:type="dcterms:W3CDTF">2009-08-03T15:33:20Z</dcterms:created>
  <dcterms:modified xsi:type="dcterms:W3CDTF">2017-09-10T09:45:17Z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0x01010089D26CBFB55F6B4BA0137931FE6D8F34</vt:lpwstr>
  </property>
</Properties>
</file>